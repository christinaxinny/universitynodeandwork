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9"/>
  </p:notesMasterIdLst>
  <p:sldIdLst>
    <p:sldId id="480" r:id="rId2"/>
    <p:sldId id="311" r:id="rId3"/>
    <p:sldId id="312" r:id="rId4"/>
    <p:sldId id="328" r:id="rId5"/>
    <p:sldId id="313" r:id="rId6"/>
    <p:sldId id="314" r:id="rId7"/>
    <p:sldId id="377" r:id="rId8"/>
    <p:sldId id="481" r:id="rId9"/>
    <p:sldId id="331" r:id="rId10"/>
    <p:sldId id="379" r:id="rId11"/>
    <p:sldId id="325" r:id="rId12"/>
    <p:sldId id="380" r:id="rId13"/>
    <p:sldId id="381" r:id="rId14"/>
    <p:sldId id="470" r:id="rId15"/>
    <p:sldId id="471" r:id="rId16"/>
    <p:sldId id="472" r:id="rId17"/>
    <p:sldId id="473" r:id="rId18"/>
    <p:sldId id="474" r:id="rId19"/>
    <p:sldId id="475" r:id="rId20"/>
    <p:sldId id="388" r:id="rId21"/>
    <p:sldId id="485" r:id="rId22"/>
    <p:sldId id="484" r:id="rId23"/>
    <p:sldId id="389" r:id="rId24"/>
    <p:sldId id="482" r:id="rId25"/>
    <p:sldId id="486" r:id="rId26"/>
    <p:sldId id="390" r:id="rId27"/>
    <p:sldId id="391" r:id="rId28"/>
    <p:sldId id="392" r:id="rId29"/>
    <p:sldId id="490" r:id="rId30"/>
    <p:sldId id="487" r:id="rId31"/>
    <p:sldId id="489" r:id="rId32"/>
    <p:sldId id="432" r:id="rId33"/>
    <p:sldId id="433" r:id="rId34"/>
    <p:sldId id="434" r:id="rId35"/>
    <p:sldId id="435" r:id="rId36"/>
    <p:sldId id="436" r:id="rId37"/>
    <p:sldId id="437" r:id="rId38"/>
    <p:sldId id="491" r:id="rId39"/>
    <p:sldId id="492" r:id="rId40"/>
    <p:sldId id="440" r:id="rId41"/>
    <p:sldId id="445" r:id="rId42"/>
    <p:sldId id="446" r:id="rId43"/>
    <p:sldId id="494" r:id="rId44"/>
    <p:sldId id="493" r:id="rId45"/>
    <p:sldId id="456" r:id="rId46"/>
    <p:sldId id="428" r:id="rId47"/>
    <p:sldId id="457" r:id="rId48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4C34FE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91" autoAdjust="0"/>
    <p:restoredTop sz="95730" autoAdjust="0"/>
  </p:normalViewPr>
  <p:slideViewPr>
    <p:cSldViewPr>
      <p:cViewPr varScale="1">
        <p:scale>
          <a:sx n="131" d="100"/>
          <a:sy n="131" d="100"/>
        </p:scale>
        <p:origin x="12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49C316D0-D424-4B0A-B20E-F950EE319619}" type="datetimeFigureOut">
              <a:rPr lang="zh-CN" altLang="en-US"/>
              <a:pPr>
                <a:defRPr/>
              </a:pPr>
              <a:t>2020/4/22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C83253-1E71-45D9-87B9-9C0719B864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971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085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5BF65A-0119-4C8E-8827-5624383FA92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434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C3064D-E4B7-425C-A8B4-AFEC4FAA594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965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5F0B77-E313-4965-9830-EFB746E75EA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233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08E3EA-D1E6-430F-B89D-089B63E95C20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34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972AAB5-9E43-4DFB-B10A-8129C04EA86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094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D5310A-F969-4BBD-90BB-5684AA66E0FD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918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997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54D8A3-1A7D-4E53-83AC-91A0C944403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72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F7B7A2-1084-43EF-9212-FA67AE14620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945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BE1C6A-5EE8-499E-9DBF-2045A8010489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424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07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914E4D-68EF-462C-B4EB-3F8E1650AA38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597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875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099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59400"/>
            <a:ext cx="91440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6" name="Picture 3" descr="2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华文细黑" panose="02010600040101010101" pitchFamily="2" charset="-122"/>
              </a:endParaRPr>
            </a:p>
          </p:txBody>
        </p:sp>
        <p:pic>
          <p:nvPicPr>
            <p:cNvPr id="8" name="Picture 5" descr="投影2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6"/>
              <a:ext cx="5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55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1907704" y="1916832"/>
            <a:ext cx="5399087" cy="10795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2056" name="Rectangle 31"/>
          <p:cNvSpPr>
            <a:spLocks noGrp="1" noChangeArrowheads="1"/>
          </p:cNvSpPr>
          <p:nvPr>
            <p:ph type="subTitle" idx="1"/>
          </p:nvPr>
        </p:nvSpPr>
        <p:spPr>
          <a:xfrm>
            <a:off x="1907704" y="3428380"/>
            <a:ext cx="5400675" cy="6000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zh-CN" altLang="en-US" dirty="0"/>
              <a:t>单击此处编辑母版副标题样式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63209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 userDrawn="1"/>
        </p:nvSpPr>
        <p:spPr bwMode="auto">
          <a:xfrm>
            <a:off x="3132138" y="6381750"/>
            <a:ext cx="3168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>
                <a:solidFill>
                  <a:schemeClr val="accent1"/>
                </a:solidFill>
                <a:ea typeface="华文细黑" panose="02010600040101010101" pitchFamily="2" charset="-122"/>
              </a:rPr>
              <a:t>信息技术学院 于文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F9895-6977-4412-8807-5F763DF1F9A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62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 userDrawn="1"/>
        </p:nvSpPr>
        <p:spPr bwMode="auto">
          <a:xfrm>
            <a:off x="3132138" y="6381750"/>
            <a:ext cx="3168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>
                <a:solidFill>
                  <a:schemeClr val="accent1"/>
                </a:solidFill>
                <a:ea typeface="华文细黑" panose="02010600040101010101" pitchFamily="2" charset="-122"/>
              </a:rPr>
              <a:t>信息技术学院 于文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3568" y="2276872"/>
            <a:ext cx="7772400" cy="2466503"/>
          </a:xfrm>
        </p:spPr>
        <p:txBody>
          <a:bodyPr anchor="ctr"/>
          <a:lstStyle>
            <a:lvl1pPr marL="0" indent="0" algn="ctr">
              <a:buNone/>
              <a:defRPr sz="4000">
                <a:latin typeface="+mj-ea"/>
                <a:ea typeface="+mj-ea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3CF21-70D5-4BF0-8442-B3ACE9ADC1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056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25538"/>
            <a:ext cx="4027487" cy="5162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27488" cy="5162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87C4D-6102-43BA-9BB2-39BBC05905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1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FC0FA-EA18-4486-84A9-D4F5249F62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104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19FBC-01C9-447E-9262-396ED197A7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88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8235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B0996-BB78-4EBC-87DC-1236632316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36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315913"/>
            <a:ext cx="6121350" cy="5921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68313" y="1125538"/>
            <a:ext cx="8207375" cy="5162550"/>
          </a:xfrm>
        </p:spPr>
        <p:txBody>
          <a:bodyPr/>
          <a:lstStyle/>
          <a:p>
            <a:pPr lvl="0"/>
            <a:r>
              <a:rPr lang="zh-CN" altLang="en-US" noProof="0"/>
              <a:t>单击图标添加图表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48C06-F752-4BF6-85ED-B088CADA23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98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课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315913"/>
            <a:ext cx="6121350" cy="5921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125538"/>
            <a:ext cx="8207375" cy="51625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64566-59B6-4213-B852-08F9D5954D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26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59400"/>
            <a:ext cx="91440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6" name="Picture 3" descr="2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ea typeface="华文细黑" panose="02010600040101010101" pitchFamily="2" charset="-122"/>
              </a:endParaRPr>
            </a:p>
          </p:txBody>
        </p:sp>
        <p:pic>
          <p:nvPicPr>
            <p:cNvPr id="8" name="Picture 5" descr="投影2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6"/>
              <a:ext cx="5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55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1872456" y="2615406"/>
            <a:ext cx="5399087" cy="10795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noProof="1"/>
          </a:p>
        </p:txBody>
      </p:sp>
    </p:spTree>
    <p:extLst>
      <p:ext uri="{BB962C8B-B14F-4D97-AF65-F5344CB8AC3E}">
        <p14:creationId xmlns:p14="http://schemas.microsoft.com/office/powerpoint/2010/main" val="334402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1031" name="Picture 3" descr="2"/>
            <p:cNvPicPr>
              <a:picLocks noChangeAspect="1" noChangeArrowheads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华文细黑" panose="02010600040101010101" pitchFamily="2" charset="-122"/>
              </a:endParaRPr>
            </a:p>
          </p:txBody>
        </p:sp>
        <p:pic>
          <p:nvPicPr>
            <p:cNvPr id="1033" name="Picture 5" descr="投影2"/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6"/>
              <a:ext cx="5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25538"/>
            <a:ext cx="820737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453188"/>
            <a:ext cx="1439863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b="1">
                <a:ea typeface="华文细黑" panose="02010600040101010101" pitchFamily="2" charset="-122"/>
              </a:defRPr>
            </a:lvl1pPr>
          </a:lstStyle>
          <a:p>
            <a:pPr>
              <a:defRPr/>
            </a:pPr>
            <a:fld id="{C1E2E4B9-65B6-481E-A7C2-AF69F7A9E51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9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315913"/>
            <a:ext cx="7704138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pic>
        <p:nvPicPr>
          <p:cNvPr id="1030" name="Picture 10" descr="北京师范大学珠海分校标志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15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41" r:id="rId4"/>
    <p:sldLayoutId id="2147484442" r:id="rId5"/>
    <p:sldLayoutId id="2147484443" r:id="rId6"/>
    <p:sldLayoutId id="2147484444" r:id="rId7"/>
    <p:sldLayoutId id="2147484445" r:id="rId8"/>
    <p:sldLayoutId id="2147484446" r:id="rId9"/>
    <p:sldLayoutId id="214748445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itchFamily="34" charset="0"/>
          <a:ea typeface="华文细黑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itchFamily="34" charset="0"/>
          <a:ea typeface="华文细黑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itchFamily="34" charset="0"/>
          <a:ea typeface="华文细黑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itchFamily="34" charset="0"/>
          <a:ea typeface="华文细黑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1200"/>
        </a:spcBef>
        <a:spcAft>
          <a:spcPts val="1200"/>
        </a:spcAft>
        <a:buClr>
          <a:schemeClr val="accent1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ts val="1200"/>
        </a:spcBef>
        <a:spcAft>
          <a:spcPts val="1200"/>
        </a:spcAft>
        <a:buClr>
          <a:schemeClr val="hlink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8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8.tmp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../media/image8.tmp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image" Target="../media/image8.tmp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image" Target="../media/image8.tmp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Ch4 </a:t>
            </a:r>
            <a:r>
              <a:rPr lang="zh-CN" altLang="en-US" dirty="0"/>
              <a:t>串、数组和广义表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09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本章内容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串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定义及基本运算、存储、模式匹配算法</a:t>
            </a:r>
            <a:endParaRPr lang="en-US" altLang="zh-CN" dirty="0"/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数组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定义、存储、矩阵的压缩存储</a:t>
            </a:r>
            <a:endParaRPr lang="en-US" altLang="zh-CN" dirty="0"/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广义表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定义、操作</a:t>
            </a:r>
            <a:endParaRPr lang="en-US" altLang="zh-CN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BCCD39-F05E-4209-8266-61F45F817F0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zh-CN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串的定义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dirty="0">
                <a:latin typeface="+mn-ea"/>
              </a:rPr>
              <a:t>(String)</a:t>
            </a:r>
            <a:r>
              <a:rPr lang="zh-CN" altLang="en-US" dirty="0">
                <a:latin typeface="+mn-ea"/>
              </a:rPr>
              <a:t>是零个或多个字符组成的有限序列，一般记作：</a:t>
            </a:r>
            <a:endParaRPr lang="en-US" altLang="zh-CN" dirty="0">
              <a:latin typeface="+mn-ea"/>
            </a:endParaRP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66"/>
                </a:solidFill>
                <a:latin typeface="+mn-ea"/>
              </a:rPr>
              <a:t>	</a:t>
            </a:r>
            <a:r>
              <a:rPr lang="en-US" altLang="zh-CN" dirty="0">
                <a:solidFill>
                  <a:srgbClr val="008000"/>
                </a:solidFill>
                <a:latin typeface="+mn-ea"/>
              </a:rPr>
              <a:t>s=“a</a:t>
            </a:r>
            <a:r>
              <a:rPr lang="en-US" altLang="zh-CN" baseline="-20000" dirty="0">
                <a:solidFill>
                  <a:srgbClr val="008000"/>
                </a:solidFill>
                <a:latin typeface="+mn-ea"/>
              </a:rPr>
              <a:t>1</a:t>
            </a:r>
            <a:r>
              <a:rPr lang="en-US" altLang="zh-CN" dirty="0">
                <a:solidFill>
                  <a:srgbClr val="008000"/>
                </a:solidFill>
                <a:latin typeface="+mn-ea"/>
              </a:rPr>
              <a:t>a</a:t>
            </a:r>
            <a:r>
              <a:rPr lang="en-US" altLang="zh-CN" baseline="-20000" dirty="0">
                <a:solidFill>
                  <a:srgbClr val="008000"/>
                </a:solidFill>
                <a:latin typeface="+mn-ea"/>
              </a:rPr>
              <a:t>2</a:t>
            </a:r>
            <a:r>
              <a:rPr lang="en-US" altLang="zh-CN" dirty="0">
                <a:solidFill>
                  <a:srgbClr val="008000"/>
                </a:solidFill>
                <a:latin typeface="+mn-ea"/>
              </a:rPr>
              <a:t>a</a:t>
            </a:r>
            <a:r>
              <a:rPr lang="en-US" altLang="zh-CN" baseline="-20000" dirty="0">
                <a:solidFill>
                  <a:srgbClr val="008000"/>
                </a:solidFill>
                <a:latin typeface="+mn-ea"/>
              </a:rPr>
              <a:t>3</a:t>
            </a:r>
            <a:r>
              <a:rPr lang="en-US" altLang="zh-CN" dirty="0">
                <a:solidFill>
                  <a:srgbClr val="008000"/>
                </a:solidFill>
                <a:latin typeface="+mn-ea"/>
              </a:rPr>
              <a:t>…a</a:t>
            </a:r>
            <a:r>
              <a:rPr lang="en-US" altLang="zh-CN" baseline="-20000" dirty="0">
                <a:solidFill>
                  <a:srgbClr val="008000"/>
                </a:solidFill>
                <a:latin typeface="+mn-ea"/>
              </a:rPr>
              <a:t>n</a:t>
            </a:r>
            <a:r>
              <a:rPr lang="en-US" altLang="zh-CN" dirty="0">
                <a:solidFill>
                  <a:srgbClr val="008000"/>
                </a:solidFill>
                <a:latin typeface="+mn-ea"/>
              </a:rPr>
              <a:t>”</a:t>
            </a:r>
          </a:p>
          <a:p>
            <a:pPr lvl="1">
              <a:defRPr/>
            </a:pPr>
            <a:r>
              <a:rPr lang="zh-CN" altLang="en-US" dirty="0">
                <a:latin typeface="+mn-ea"/>
              </a:rPr>
              <a:t>其中</a:t>
            </a:r>
            <a:r>
              <a:rPr lang="en-US" altLang="zh-CN" dirty="0">
                <a:latin typeface="+mn-ea"/>
              </a:rPr>
              <a:t>s </a:t>
            </a:r>
            <a:r>
              <a:rPr lang="zh-CN" altLang="en-US" dirty="0">
                <a:latin typeface="+mn-ea"/>
              </a:rPr>
              <a:t>是串名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</a:rPr>
              <a:t>双引号括起来的字符序列是串值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引号本身不属于串的内容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dirty="0" err="1">
                <a:latin typeface="+mn-ea"/>
              </a:rPr>
              <a:t>a</a:t>
            </a:r>
            <a:r>
              <a:rPr lang="en-US" altLang="zh-CN" baseline="-20000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(1≦i≦n)</a:t>
            </a:r>
            <a:r>
              <a:rPr lang="zh-CN" altLang="en-US" dirty="0">
                <a:latin typeface="+mn-ea"/>
              </a:rPr>
              <a:t>可以是字母、数字或其它字符</a:t>
            </a:r>
            <a:endParaRPr lang="en-US" altLang="zh-CN" dirty="0">
              <a:latin typeface="+mn-ea"/>
            </a:endParaRPr>
          </a:p>
          <a:p>
            <a:pPr>
              <a:defRPr/>
            </a:pPr>
            <a:endParaRPr lang="en-US" b="1" dirty="0">
              <a:ea typeface="楷体_GB2312" pitchFamily="49" charset="-122"/>
            </a:endParaRPr>
          </a:p>
          <a:p>
            <a:pPr>
              <a:defRPr/>
            </a:pPr>
            <a:endParaRPr lang="en-US" b="1" dirty="0">
              <a:ea typeface="楷体_GB2312" pitchFamily="49" charset="-122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54C43F-6657-4D2E-9C93-D4B6A687A1A5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串的术语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串中所包含的字符个数称为该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串的长度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</a:rPr>
              <a:t>长度为零的串称为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空串</a:t>
            </a:r>
            <a:r>
              <a:rPr lang="zh-CN" altLang="en-US" dirty="0">
                <a:latin typeface="+mn-ea"/>
              </a:rPr>
              <a:t>（</a:t>
            </a:r>
            <a:r>
              <a:rPr lang="az-Cyrl-AZ" altLang="zh-CN" dirty="0">
                <a:latin typeface="Calibri"/>
              </a:rPr>
              <a:t>ф</a:t>
            </a:r>
            <a:r>
              <a:rPr lang="zh-CN" altLang="en-US" dirty="0">
                <a:latin typeface="Calibri"/>
              </a:rPr>
              <a:t>）</a:t>
            </a:r>
            <a:endParaRPr lang="en-US" altLang="zh-CN" dirty="0">
              <a:latin typeface="Calibri"/>
            </a:endParaRPr>
          </a:p>
          <a:p>
            <a:pPr>
              <a:defRPr/>
            </a:pPr>
            <a:r>
              <a:rPr lang="zh-CN" altLang="en-US" dirty="0">
                <a:latin typeface="Calibri"/>
              </a:rPr>
              <a:t>由一个或多个空格组成的串称为</a:t>
            </a:r>
            <a:r>
              <a:rPr lang="zh-CN" altLang="en-US" dirty="0">
                <a:solidFill>
                  <a:srgbClr val="FF0000"/>
                </a:solidFill>
                <a:latin typeface="Calibri"/>
              </a:rPr>
              <a:t>空格串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r>
              <a:rPr lang="zh-CN" altLang="en-US" dirty="0"/>
              <a:t>串中任意个</a:t>
            </a:r>
            <a:r>
              <a:rPr lang="zh-CN" altLang="en-US" dirty="0">
                <a:solidFill>
                  <a:srgbClr val="00B050"/>
                </a:solidFill>
              </a:rPr>
              <a:t>连续字符</a:t>
            </a:r>
            <a:r>
              <a:rPr lang="zh-CN" altLang="en-US" dirty="0"/>
              <a:t>组成的子序列称为该串的</a:t>
            </a:r>
            <a:r>
              <a:rPr lang="zh-CN" altLang="en-US" dirty="0">
                <a:solidFill>
                  <a:srgbClr val="FF0000"/>
                </a:solidFill>
              </a:rPr>
              <a:t>子串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zh-CN" altLang="en-US" dirty="0"/>
              <a:t>包含子串的串相应地称为</a:t>
            </a:r>
            <a:r>
              <a:rPr lang="zh-CN" altLang="en-US" dirty="0">
                <a:solidFill>
                  <a:srgbClr val="FF0000"/>
                </a:solidFill>
              </a:rPr>
              <a:t>主串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endParaRPr lang="en-US" b="1" dirty="0">
              <a:ea typeface="楷体_GB2312" pitchFamily="49" charset="-122"/>
            </a:endParaRPr>
          </a:p>
          <a:p>
            <a:pPr>
              <a:defRPr/>
            </a:pPr>
            <a:endParaRPr lang="en-US" b="1" dirty="0">
              <a:ea typeface="楷体_GB2312" pitchFamily="49" charset="-122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3DC340-6155-49BC-B90B-0D4A807C0065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串的术语</a:t>
            </a:r>
            <a:endParaRPr lang="en-US" altLang="zh-CN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通常称字符在序列中的序号（从</a:t>
            </a:r>
            <a:r>
              <a:rPr lang="en-US" altLang="zh-CN" dirty="0"/>
              <a:t>1</a:t>
            </a:r>
            <a:r>
              <a:rPr lang="zh-CN" altLang="en-US" dirty="0"/>
              <a:t>开始）为该</a:t>
            </a:r>
            <a:r>
              <a:rPr lang="zh-CN" altLang="en-US" dirty="0">
                <a:solidFill>
                  <a:srgbClr val="008000"/>
                </a:solidFill>
              </a:rPr>
              <a:t>字符</a:t>
            </a:r>
            <a:r>
              <a:rPr lang="zh-CN" altLang="en-US" dirty="0"/>
              <a:t>在串中的（第一个）</a:t>
            </a:r>
            <a:r>
              <a:rPr lang="zh-CN" altLang="en-US" dirty="0">
                <a:solidFill>
                  <a:srgbClr val="FF0000"/>
                </a:solidFill>
              </a:rPr>
              <a:t>位置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A=</a:t>
            </a:r>
            <a:r>
              <a:rPr lang="en-US" altLang="zh-CN" b="1" dirty="0">
                <a:solidFill>
                  <a:srgbClr val="6600CC"/>
                </a:solidFill>
                <a:ea typeface="楷体_GB2312" pitchFamily="49" charset="-122"/>
              </a:rPr>
              <a:t>“</a:t>
            </a:r>
            <a:r>
              <a:rPr lang="en-US" altLang="zh-CN" b="1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This is a string</a:t>
            </a:r>
            <a:r>
              <a:rPr lang="en-US" altLang="zh-CN" b="1" dirty="0">
                <a:solidFill>
                  <a:srgbClr val="6600CC"/>
                </a:solidFill>
                <a:ea typeface="楷体_GB2312" pitchFamily="49" charset="-122"/>
              </a:rPr>
              <a:t>”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字符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h</a:t>
            </a:r>
            <a:r>
              <a:rPr lang="zh-CN" altLang="en-US" dirty="0"/>
              <a:t>在字符串</a:t>
            </a:r>
            <a:r>
              <a:rPr lang="en-US" altLang="zh-CN" dirty="0"/>
              <a:t>A</a:t>
            </a:r>
            <a:r>
              <a:rPr lang="zh-CN" altLang="en-US" dirty="0"/>
              <a:t>中的位置</a:t>
            </a:r>
            <a:r>
              <a:rPr lang="en-US" altLang="zh-CN" dirty="0"/>
              <a:t>?</a:t>
            </a:r>
            <a:endParaRPr lang="en-US" altLang="zh-CN" dirty="0">
              <a:solidFill>
                <a:srgbClr val="4C34FE"/>
              </a:solidFill>
            </a:endParaRPr>
          </a:p>
          <a:p>
            <a:r>
              <a:rPr lang="zh-CN" altLang="en-US" dirty="0"/>
              <a:t>两个串</a:t>
            </a:r>
            <a:r>
              <a:rPr lang="zh-CN" altLang="en-US" dirty="0">
                <a:solidFill>
                  <a:srgbClr val="FF0000"/>
                </a:solidFill>
              </a:rPr>
              <a:t>相等</a:t>
            </a:r>
            <a:r>
              <a:rPr lang="zh-CN" altLang="en-US" dirty="0"/>
              <a:t>当且仅当这两个串的值相等</a:t>
            </a:r>
            <a:endParaRPr lang="en-US" altLang="zh-CN" dirty="0"/>
          </a:p>
          <a:p>
            <a:pPr lvl="1"/>
            <a:r>
              <a:rPr lang="zh-CN" altLang="en-US" dirty="0"/>
              <a:t>长度相等且对应位置的字符都相等</a:t>
            </a:r>
            <a:endParaRPr lang="en-US" altLang="zh-CN" dirty="0"/>
          </a:p>
          <a:p>
            <a:r>
              <a:rPr lang="zh-CN" altLang="en-US" dirty="0">
                <a:solidFill>
                  <a:srgbClr val="008000"/>
                </a:solidFill>
              </a:rPr>
              <a:t>子串</a:t>
            </a:r>
            <a:r>
              <a:rPr lang="zh-CN" altLang="en-US" dirty="0"/>
              <a:t>在主串中的</a:t>
            </a:r>
            <a:r>
              <a:rPr lang="zh-CN" altLang="en-US" dirty="0">
                <a:solidFill>
                  <a:srgbClr val="FF0000"/>
                </a:solidFill>
              </a:rPr>
              <a:t>位置</a:t>
            </a:r>
            <a:r>
              <a:rPr lang="zh-CN" altLang="en-US" dirty="0"/>
              <a:t>则以子串的第一个字符在主串中的位置来表示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A=</a:t>
            </a:r>
            <a:r>
              <a:rPr lang="en-US" altLang="zh-CN" b="1" dirty="0">
                <a:solidFill>
                  <a:srgbClr val="6600CC"/>
                </a:solidFill>
                <a:ea typeface="楷体_GB2312" pitchFamily="49" charset="-122"/>
              </a:rPr>
              <a:t>“</a:t>
            </a:r>
            <a:r>
              <a:rPr lang="en-US" altLang="zh-CN" b="1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This is a string</a:t>
            </a:r>
            <a:r>
              <a:rPr lang="en-US" altLang="zh-CN" b="1" dirty="0">
                <a:solidFill>
                  <a:srgbClr val="6600CC"/>
                </a:solidFill>
                <a:ea typeface="楷体_GB2312" pitchFamily="49" charset="-122"/>
              </a:rPr>
              <a:t>”</a:t>
            </a:r>
            <a:r>
              <a:rPr lang="en-US" altLang="zh-CN" b="1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   B=</a:t>
            </a:r>
            <a:r>
              <a:rPr lang="en-US" altLang="zh-CN" b="1" dirty="0">
                <a:solidFill>
                  <a:srgbClr val="6600CC"/>
                </a:solidFill>
                <a:ea typeface="楷体_GB2312" pitchFamily="49" charset="-122"/>
              </a:rPr>
              <a:t>“</a:t>
            </a:r>
            <a:r>
              <a:rPr lang="en-US" altLang="zh-CN" b="1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is</a:t>
            </a:r>
            <a:r>
              <a:rPr lang="en-US" altLang="zh-CN" b="1" dirty="0">
                <a:solidFill>
                  <a:srgbClr val="6600CC"/>
                </a:solidFill>
                <a:ea typeface="楷体_GB2312" pitchFamily="49" charset="-122"/>
              </a:rPr>
              <a:t>”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845F87-FCE4-4E42-A263-6AB788288D4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</a:t>
            </a:r>
            <a:r>
              <a:rPr lang="en-US" altLang="zh-CN"/>
              <a:t> vs. </a:t>
            </a:r>
            <a:r>
              <a:rPr lang="zh-CN" altLang="en-US"/>
              <a:t>线性表</a:t>
            </a:r>
            <a:endParaRPr lang="en-US" altLang="zh-CN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串的</a:t>
            </a:r>
            <a:r>
              <a:rPr lang="zh-CN" altLang="en-US">
                <a:solidFill>
                  <a:srgbClr val="008000"/>
                </a:solidFill>
              </a:rPr>
              <a:t>逻辑结构</a:t>
            </a:r>
            <a:r>
              <a:rPr lang="zh-CN" altLang="en-US"/>
              <a:t>和线性表极为相似</a:t>
            </a:r>
            <a:endParaRPr lang="en-US" altLang="zh-CN"/>
          </a:p>
          <a:p>
            <a:pPr lvl="1"/>
            <a:r>
              <a:rPr lang="zh-CN" altLang="en-US"/>
              <a:t>区别仅在于串的数据对象约束为字符集</a:t>
            </a:r>
            <a:endParaRPr lang="en-US" altLang="zh-CN"/>
          </a:p>
          <a:p>
            <a:pPr lvl="1"/>
            <a:r>
              <a:rPr lang="zh-CN" altLang="en-US"/>
              <a:t>内容受限的线性表</a:t>
            </a:r>
            <a:endParaRPr lang="en-US" altLang="zh-CN"/>
          </a:p>
          <a:p>
            <a:r>
              <a:rPr lang="zh-CN" altLang="en-US"/>
              <a:t>串的</a:t>
            </a:r>
            <a:r>
              <a:rPr lang="zh-CN" altLang="en-US">
                <a:solidFill>
                  <a:srgbClr val="008000"/>
                </a:solidFill>
              </a:rPr>
              <a:t>基本操作</a:t>
            </a:r>
            <a:r>
              <a:rPr lang="zh-CN" altLang="en-US"/>
              <a:t>和线性表有很大的不同</a:t>
            </a:r>
            <a:endParaRPr lang="en-US" altLang="zh-CN"/>
          </a:p>
          <a:p>
            <a:pPr lvl="1"/>
            <a:r>
              <a:rPr lang="zh-CN" altLang="en-US"/>
              <a:t>线性表的基本操作大多以</a:t>
            </a:r>
            <a:r>
              <a:rPr lang="zh-CN" altLang="en-US">
                <a:solidFill>
                  <a:srgbClr val="FF0000"/>
                </a:solidFill>
              </a:rPr>
              <a:t>单个元素</a:t>
            </a:r>
            <a:r>
              <a:rPr lang="zh-CN" altLang="en-US"/>
              <a:t>作为操作对象</a:t>
            </a:r>
            <a:endParaRPr lang="en-US" altLang="zh-CN"/>
          </a:p>
          <a:p>
            <a:pPr lvl="1"/>
            <a:r>
              <a:rPr lang="zh-CN" altLang="en-US"/>
              <a:t>串的基本操作通常以</a:t>
            </a:r>
            <a:r>
              <a:rPr lang="zh-CN" altLang="en-US">
                <a:solidFill>
                  <a:srgbClr val="FF0000"/>
                </a:solidFill>
              </a:rPr>
              <a:t>串的整体</a:t>
            </a:r>
            <a:r>
              <a:rPr lang="zh-CN" altLang="en-US"/>
              <a:t>作为操作对象</a:t>
            </a:r>
            <a:endParaRPr lang="en-US" altLang="zh-CN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93D0BF-5388-41C9-9310-BB9F409558A7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串的抽象数据类型</a:t>
            </a:r>
          </a:p>
        </p:txBody>
      </p:sp>
      <p:sp>
        <p:nvSpPr>
          <p:cNvPr id="122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17EED40-E914-4F74-A42D-679E9242A74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zh-CN" altLang="en-US" sz="1000"/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50206"/>
              </p:ext>
            </p:extLst>
          </p:nvPr>
        </p:nvGraphicFramePr>
        <p:xfrm>
          <a:off x="1763688" y="2445519"/>
          <a:ext cx="5943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3" name="公式" r:id="rId3" imgW="2844800" imgH="228600" progId="">
                  <p:embed/>
                </p:oleObj>
              </mc:Choice>
              <mc:Fallback>
                <p:oleObj name="公式" r:id="rId3" imgW="2844800" imgH="2286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445519"/>
                        <a:ext cx="5943600" cy="479425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115616" y="1706563"/>
            <a:ext cx="1503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数据对象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1115616" y="3287762"/>
            <a:ext cx="1503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数据关系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113318"/>
              </p:ext>
            </p:extLst>
          </p:nvPr>
        </p:nvGraphicFramePr>
        <p:xfrm>
          <a:off x="1763688" y="3975720"/>
          <a:ext cx="594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公式" r:id="rId5" imgW="2489200" imgH="228600" progId="">
                  <p:embed/>
                </p:oleObj>
              </mc:Choice>
              <mc:Fallback>
                <p:oleObj name="公式" r:id="rId5" imgW="2489200" imgH="2286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975720"/>
                        <a:ext cx="5943600" cy="533400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187624" y="4909666"/>
            <a:ext cx="1503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基本操作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12298" name="Text Box 19"/>
          <p:cNvSpPr txBox="1">
            <a:spLocks noChangeArrowheads="1"/>
          </p:cNvSpPr>
          <p:nvPr/>
        </p:nvSpPr>
        <p:spPr bwMode="auto">
          <a:xfrm>
            <a:off x="555044" y="1125538"/>
            <a:ext cx="23478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ADT String {</a:t>
            </a: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585658" y="5805264"/>
            <a:ext cx="2258119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}ADT String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700485" y="5413722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9" grpId="0" autoUpdateAnimBg="0"/>
      <p:bldP spid="1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串的抽象数据类型 </a:t>
            </a:r>
            <a:r>
              <a:rPr lang="en-US" altLang="zh-CN" dirty="0"/>
              <a:t>– </a:t>
            </a:r>
            <a:r>
              <a:rPr lang="zh-CN" altLang="en-US" dirty="0"/>
              <a:t>基本操作</a:t>
            </a:r>
          </a:p>
        </p:txBody>
      </p:sp>
      <p:sp>
        <p:nvSpPr>
          <p:cNvPr id="122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17EED40-E914-4F74-A42D-679E9242A74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zh-CN" altLang="en-US" sz="1000"/>
          </a:p>
        </p:txBody>
      </p: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914400" y="1052736"/>
            <a:ext cx="7620000" cy="529375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 </a:t>
            </a:r>
            <a:r>
              <a:rPr kumimoji="1" lang="en-US" altLang="zh-CN" sz="2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StrAssign</a:t>
            </a: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(&amp;</a:t>
            </a:r>
            <a:r>
              <a:rPr kumimoji="1" lang="en-US" altLang="zh-CN" sz="2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T,chars</a:t>
            </a: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           //</a:t>
            </a:r>
            <a:r>
              <a:rPr kumimoji="1" lang="zh-CN" altLang="en-US" sz="20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串赋值（创建）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StrCopy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(&amp;T,S)                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串拷贝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(3) 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StrEmpty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(S)                   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串判空</a:t>
            </a:r>
            <a:endParaRPr kumimoji="1" lang="en-US" altLang="zh-CN" sz="20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 </a:t>
            </a:r>
            <a:r>
              <a:rPr kumimoji="1" lang="en-US" altLang="zh-CN" sz="2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StrCompare</a:t>
            </a: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(S,T)                  //</a:t>
            </a:r>
            <a:r>
              <a:rPr kumimoji="1" lang="zh-CN" altLang="en-US" sz="20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串比较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(5) </a:t>
            </a:r>
            <a:r>
              <a:rPr kumimoji="1" lang="en-US" altLang="zh-CN" sz="2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StrLength</a:t>
            </a: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(S)                           //</a:t>
            </a:r>
            <a:r>
              <a:rPr kumimoji="1" lang="zh-CN" altLang="en-US" sz="20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求串长</a:t>
            </a:r>
            <a:endParaRPr kumimoji="1" lang="en-US" altLang="zh-CN" sz="20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(6) 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ClearString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 (&amp;S)            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清空串</a:t>
            </a:r>
            <a:endParaRPr kumimoji="1" lang="en-US" altLang="zh-CN" sz="2000" dirty="0">
              <a:latin typeface="Cambria Math" panose="02040503050406030204" pitchFamily="18" charset="0"/>
              <a:ea typeface="Cambria Math" panose="02040503050406030204" pitchFamily="18" charset="0"/>
              <a:cs typeface="仿宋_GB231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(7) </a:t>
            </a:r>
            <a:r>
              <a:rPr kumimoji="1" lang="en-US" altLang="zh-CN" sz="2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Concat</a:t>
            </a:r>
            <a:r>
              <a:rPr kumimoji="1" lang="en-US" altLang="zh-CN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(&amp;T,S1,S2)                   //</a:t>
            </a:r>
            <a:r>
              <a:rPr kumimoji="1" lang="zh-CN" altLang="en-US" sz="20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串联接 </a:t>
            </a:r>
            <a:endParaRPr kumimoji="1" lang="en-US" altLang="zh-CN" sz="20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(8) 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SubString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(&amp;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Sub,S,pos,len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)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求子串</a:t>
            </a:r>
            <a:endParaRPr kumimoji="1" lang="en-US" altLang="zh-CN" sz="2000" dirty="0">
              <a:latin typeface="Cambria Math" panose="02040503050406030204" pitchFamily="18" charset="0"/>
              <a:ea typeface="Cambria Math" panose="02040503050406030204" pitchFamily="18" charset="0"/>
              <a:cs typeface="仿宋_GB231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(9)  </a:t>
            </a:r>
            <a:r>
              <a:rPr kumimoji="1" lang="en-US" altLang="zh-CN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Index(</a:t>
            </a:r>
            <a:r>
              <a:rPr kumimoji="1" lang="en-US" altLang="zh-CN" sz="2000" dirty="0" err="1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S,T,pos</a:t>
            </a:r>
            <a:r>
              <a:rPr kumimoji="1" lang="en-US" altLang="zh-CN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) 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              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子串的位置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(10) Replace(&amp;S,T,V)          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串替换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(11) 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StrInsert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(&amp;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S,pos,T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)    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子串插入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(12) 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StrDelete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(&amp;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S,pos,len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)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子串删除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(13) </a:t>
            </a:r>
            <a:r>
              <a:rPr kumimoji="1"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DestroyString</a:t>
            </a:r>
            <a:r>
              <a:rPr kumimoji="1"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仿宋_GB2312"/>
              </a:rPr>
              <a:t>(&amp;S)               //</a:t>
            </a:r>
            <a:r>
              <a:rPr kumimoji="1" lang="zh-CN" altLang="en-US" sz="2000" dirty="0">
                <a:latin typeface="Cambria Math" panose="02040503050406030204" pitchFamily="18" charset="0"/>
                <a:ea typeface="仿宋_GB2312"/>
                <a:cs typeface="仿宋_GB2312"/>
              </a:rPr>
              <a:t>串销毁</a:t>
            </a:r>
          </a:p>
        </p:txBody>
      </p:sp>
    </p:spTree>
    <p:extLst>
      <p:ext uri="{BB962C8B-B14F-4D97-AF65-F5344CB8AC3E}">
        <p14:creationId xmlns:p14="http://schemas.microsoft.com/office/powerpoint/2010/main" val="327921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串的顺序存储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2015430"/>
          </a:xfrm>
        </p:spPr>
        <p:txBody>
          <a:bodyPr/>
          <a:lstStyle/>
          <a:p>
            <a:r>
              <a:rPr lang="zh-CN" altLang="en-US" dirty="0"/>
              <a:t>顺序存储：用大小连续的存储单元依次存储串值中的字符序列</a:t>
            </a:r>
            <a:endParaRPr lang="en-US" altLang="zh-CN" dirty="0"/>
          </a:p>
          <a:p>
            <a:pPr lvl="1"/>
            <a:r>
              <a:rPr lang="zh-CN" altLang="en-US" dirty="0"/>
              <a:t>下标从</a:t>
            </a:r>
            <a:r>
              <a:rPr lang="en-US" altLang="zh-CN" dirty="0"/>
              <a:t>1</a:t>
            </a:r>
            <a:r>
              <a:rPr lang="zh-CN" altLang="en-US" dirty="0"/>
              <a:t>开始</a:t>
            </a:r>
          </a:p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9B7481-4BEA-48FA-9577-D041885EE4FF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zh-CN" altLang="en-US" sz="100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3491880" y="2348880"/>
            <a:ext cx="4392984" cy="18722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typedef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	char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ch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[MAXLEN+1];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length;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}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SString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; //</a:t>
            </a:r>
            <a:r>
              <a:rPr lang="zh-CN" altLang="en-US" sz="2800" dirty="0">
                <a:latin typeface="Cambria Math" panose="02040503050406030204" pitchFamily="18" charset="0"/>
                <a:ea typeface="宋体" panose="02010600030101010101" pitchFamily="2" charset="-122"/>
              </a:rPr>
              <a:t>定长顺序存储</a:t>
            </a:r>
            <a:endParaRPr lang="en-US" altLang="zh-CN" sz="2800" dirty="0">
              <a:latin typeface="Cambria Math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491880" y="4364310"/>
            <a:ext cx="4392984" cy="18722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typedef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	char *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ch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length;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}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Hstring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// </a:t>
            </a:r>
            <a:r>
              <a:rPr lang="zh-CN" altLang="en-US" sz="2800" dirty="0">
                <a:latin typeface="Cambria Math" panose="02040503050406030204" pitchFamily="18" charset="0"/>
                <a:ea typeface="宋体" panose="02010600030101010101" pitchFamily="2" charset="-122"/>
              </a:rPr>
              <a:t>堆式顺序存储</a:t>
            </a:r>
            <a:endParaRPr lang="en-US" altLang="zh-CN" sz="2800" dirty="0">
              <a:latin typeface="Cambria Math" panose="020405030504060302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串的链式存储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类似于其他线性表，串也可以用链式方式实现其存储</a:t>
            </a:r>
            <a:endParaRPr lang="en-US" altLang="zh-CN" dirty="0">
              <a:latin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</a:rPr>
              <a:t>在串的链式存储下，链串的每一个结点可以包含单个字符</a:t>
            </a:r>
            <a:endParaRPr lang="en-US" altLang="zh-CN" dirty="0">
              <a:latin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</a:rPr>
              <a:t>这种存储方式的</a:t>
            </a:r>
            <a:r>
              <a:rPr lang="zh-CN" altLang="en-US" dirty="0">
                <a:solidFill>
                  <a:srgbClr val="4C34FE"/>
                </a:solidFill>
                <a:latin typeface="+mn-ea"/>
              </a:rPr>
              <a:t>存储密度</a:t>
            </a:r>
            <a:r>
              <a:rPr lang="zh-CN" altLang="en-US" dirty="0">
                <a:latin typeface="+mn-ea"/>
              </a:rPr>
              <a:t>是多少？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       </a:t>
            </a:r>
            <a:r>
              <a:rPr lang="zh-CN" altLang="en-US" sz="2400" dirty="0">
                <a:latin typeface="+mn-ea"/>
              </a:rPr>
              <a:t>存储密度 </a:t>
            </a:r>
            <a:r>
              <a:rPr lang="en-US" altLang="zh-CN" sz="2400" dirty="0">
                <a:latin typeface="+mn-ea"/>
              </a:rPr>
              <a:t>= </a:t>
            </a:r>
            <a:r>
              <a:rPr lang="zh-CN" altLang="en-US" sz="2400" dirty="0">
                <a:latin typeface="+mn-ea"/>
              </a:rPr>
              <a:t>串值所占的存储位</a:t>
            </a:r>
            <a:r>
              <a:rPr lang="en-US" altLang="zh-CN" sz="2400" dirty="0">
                <a:latin typeface="+mn-ea"/>
              </a:rPr>
              <a:t>/</a:t>
            </a:r>
            <a:r>
              <a:rPr lang="zh-CN" altLang="en-US" sz="2400" dirty="0">
                <a:latin typeface="+mn-ea"/>
              </a:rPr>
              <a:t>实际分配的存储为</a:t>
            </a:r>
            <a:endParaRPr lang="en-US" sz="2400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1F94AD-3A97-4E17-8757-0C5B399DCA7D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串的链式存储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3887787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为了提高存储密度，可使每个结点（块）存放多个字符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</a:rPr>
              <a:t>块链结构</a:t>
            </a:r>
            <a:endParaRPr lang="en-US" altLang="zh-CN" dirty="0">
              <a:latin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</a:rPr>
              <a:t>通常将结点数据域存放的字符个数定义为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结点的大小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</a:rPr>
              <a:t>当串的长度不是结点的整数倍，要用特殊字符来填充最后一个结点，表示串的终结</a:t>
            </a:r>
            <a:endParaRPr lang="en-US" dirty="0">
              <a:latin typeface="+mn-ea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FC82B5-A6DA-4643-A0AD-A25DF9FE868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zh-CN" altLang="en-US" sz="1000"/>
          </a:p>
        </p:txBody>
      </p:sp>
      <p:grpSp>
        <p:nvGrpSpPr>
          <p:cNvPr id="17413" name="Group 79"/>
          <p:cNvGrpSpPr>
            <a:grpSpLocks/>
          </p:cNvGrpSpPr>
          <p:nvPr/>
        </p:nvGrpSpPr>
        <p:grpSpPr bwMode="auto">
          <a:xfrm>
            <a:off x="1116013" y="4941888"/>
            <a:ext cx="6946900" cy="1143000"/>
            <a:chOff x="1056" y="1872"/>
            <a:chExt cx="4376" cy="720"/>
          </a:xfrm>
        </p:grpSpPr>
        <p:grpSp>
          <p:nvGrpSpPr>
            <p:cNvPr id="17414" name="Group 52"/>
            <p:cNvGrpSpPr>
              <a:grpSpLocks/>
            </p:cNvGrpSpPr>
            <p:nvPr/>
          </p:nvGrpSpPr>
          <p:grpSpPr bwMode="auto">
            <a:xfrm>
              <a:off x="1056" y="1872"/>
              <a:ext cx="4224" cy="720"/>
              <a:chOff x="345" y="8877"/>
              <a:chExt cx="8880" cy="1143"/>
            </a:xfrm>
          </p:grpSpPr>
          <p:grpSp>
            <p:nvGrpSpPr>
              <p:cNvPr id="17418" name="Group 53"/>
              <p:cNvGrpSpPr>
                <a:grpSpLocks/>
              </p:cNvGrpSpPr>
              <p:nvPr/>
            </p:nvGrpSpPr>
            <p:grpSpPr bwMode="auto">
              <a:xfrm>
                <a:off x="4035" y="9552"/>
                <a:ext cx="2340" cy="468"/>
                <a:chOff x="1440" y="9396"/>
                <a:chExt cx="2340" cy="468"/>
              </a:xfrm>
            </p:grpSpPr>
            <p:sp>
              <p:nvSpPr>
                <p:cNvPr id="17436" name="Rectangle 54"/>
                <p:cNvSpPr>
                  <a:spLocks noChangeArrowheads="1"/>
                </p:cNvSpPr>
                <p:nvPr/>
              </p:nvSpPr>
              <p:spPr bwMode="auto">
                <a:xfrm>
                  <a:off x="1440" y="9396"/>
                  <a:ext cx="2340" cy="46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37" name="Line 55"/>
                <p:cNvSpPr>
                  <a:spLocks noChangeShapeType="1"/>
                </p:cNvSpPr>
                <p:nvPr/>
              </p:nvSpPr>
              <p:spPr bwMode="auto">
                <a:xfrm>
                  <a:off x="1905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38" name="Line 56"/>
                <p:cNvSpPr>
                  <a:spLocks noChangeShapeType="1"/>
                </p:cNvSpPr>
                <p:nvPr/>
              </p:nvSpPr>
              <p:spPr bwMode="auto">
                <a:xfrm>
                  <a:off x="2850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39" name="Line 57"/>
                <p:cNvSpPr>
                  <a:spLocks noChangeShapeType="1"/>
                </p:cNvSpPr>
                <p:nvPr/>
              </p:nvSpPr>
              <p:spPr bwMode="auto">
                <a:xfrm>
                  <a:off x="2370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40" name="Line 58"/>
                <p:cNvSpPr>
                  <a:spLocks noChangeShapeType="1"/>
                </p:cNvSpPr>
                <p:nvPr/>
              </p:nvSpPr>
              <p:spPr bwMode="auto">
                <a:xfrm>
                  <a:off x="3315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19" name="Group 59"/>
              <p:cNvGrpSpPr>
                <a:grpSpLocks/>
              </p:cNvGrpSpPr>
              <p:nvPr/>
            </p:nvGrpSpPr>
            <p:grpSpPr bwMode="auto">
              <a:xfrm>
                <a:off x="1230" y="9552"/>
                <a:ext cx="2340" cy="468"/>
                <a:chOff x="1440" y="9396"/>
                <a:chExt cx="2340" cy="468"/>
              </a:xfrm>
            </p:grpSpPr>
            <p:sp>
              <p:nvSpPr>
                <p:cNvPr id="17431" name="Rectangle 60"/>
                <p:cNvSpPr>
                  <a:spLocks noChangeArrowheads="1"/>
                </p:cNvSpPr>
                <p:nvPr/>
              </p:nvSpPr>
              <p:spPr bwMode="auto">
                <a:xfrm>
                  <a:off x="1440" y="9396"/>
                  <a:ext cx="2340" cy="46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32" name="Line 61"/>
                <p:cNvSpPr>
                  <a:spLocks noChangeShapeType="1"/>
                </p:cNvSpPr>
                <p:nvPr/>
              </p:nvSpPr>
              <p:spPr bwMode="auto">
                <a:xfrm>
                  <a:off x="1905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33" name="Line 62"/>
                <p:cNvSpPr>
                  <a:spLocks noChangeShapeType="1"/>
                </p:cNvSpPr>
                <p:nvPr/>
              </p:nvSpPr>
              <p:spPr bwMode="auto">
                <a:xfrm>
                  <a:off x="2850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34" name="Line 63"/>
                <p:cNvSpPr>
                  <a:spLocks noChangeShapeType="1"/>
                </p:cNvSpPr>
                <p:nvPr/>
              </p:nvSpPr>
              <p:spPr bwMode="auto">
                <a:xfrm>
                  <a:off x="2370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35" name="Line 64"/>
                <p:cNvSpPr>
                  <a:spLocks noChangeShapeType="1"/>
                </p:cNvSpPr>
                <p:nvPr/>
              </p:nvSpPr>
              <p:spPr bwMode="auto">
                <a:xfrm>
                  <a:off x="3315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0" name="Group 65"/>
              <p:cNvGrpSpPr>
                <a:grpSpLocks/>
              </p:cNvGrpSpPr>
              <p:nvPr/>
            </p:nvGrpSpPr>
            <p:grpSpPr bwMode="auto">
              <a:xfrm>
                <a:off x="6885" y="9552"/>
                <a:ext cx="2340" cy="468"/>
                <a:chOff x="1440" y="9396"/>
                <a:chExt cx="2340" cy="468"/>
              </a:xfrm>
            </p:grpSpPr>
            <p:sp>
              <p:nvSpPr>
                <p:cNvPr id="17426" name="Rectangle 66"/>
                <p:cNvSpPr>
                  <a:spLocks noChangeArrowheads="1"/>
                </p:cNvSpPr>
                <p:nvPr/>
              </p:nvSpPr>
              <p:spPr bwMode="auto">
                <a:xfrm>
                  <a:off x="1440" y="9396"/>
                  <a:ext cx="2340" cy="46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27" name="Line 67"/>
                <p:cNvSpPr>
                  <a:spLocks noChangeShapeType="1"/>
                </p:cNvSpPr>
                <p:nvPr/>
              </p:nvSpPr>
              <p:spPr bwMode="auto">
                <a:xfrm>
                  <a:off x="1905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28" name="Line 68"/>
                <p:cNvSpPr>
                  <a:spLocks noChangeShapeType="1"/>
                </p:cNvSpPr>
                <p:nvPr/>
              </p:nvSpPr>
              <p:spPr bwMode="auto">
                <a:xfrm>
                  <a:off x="2850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29" name="Line 69"/>
                <p:cNvSpPr>
                  <a:spLocks noChangeShapeType="1"/>
                </p:cNvSpPr>
                <p:nvPr/>
              </p:nvSpPr>
              <p:spPr bwMode="auto">
                <a:xfrm>
                  <a:off x="2370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30" name="Line 70"/>
                <p:cNvSpPr>
                  <a:spLocks noChangeShapeType="1"/>
                </p:cNvSpPr>
                <p:nvPr/>
              </p:nvSpPr>
              <p:spPr bwMode="auto">
                <a:xfrm>
                  <a:off x="3315" y="939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421" name="Line 71"/>
              <p:cNvSpPr>
                <a:spLocks noChangeShapeType="1"/>
              </p:cNvSpPr>
              <p:nvPr/>
            </p:nvSpPr>
            <p:spPr bwMode="auto">
              <a:xfrm>
                <a:off x="3270" y="976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2" name="Line 72"/>
              <p:cNvSpPr>
                <a:spLocks noChangeShapeType="1"/>
              </p:cNvSpPr>
              <p:nvPr/>
            </p:nvSpPr>
            <p:spPr bwMode="auto">
              <a:xfrm>
                <a:off x="6135" y="9774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3" name="Line 73"/>
              <p:cNvSpPr>
                <a:spLocks noChangeShapeType="1"/>
              </p:cNvSpPr>
              <p:nvPr/>
            </p:nvSpPr>
            <p:spPr bwMode="auto">
              <a:xfrm>
                <a:off x="660" y="9768"/>
                <a:ext cx="5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4" name="Line 74"/>
              <p:cNvSpPr>
                <a:spLocks noChangeShapeType="1"/>
              </p:cNvSpPr>
              <p:nvPr/>
            </p:nvSpPr>
            <p:spPr bwMode="auto">
              <a:xfrm>
                <a:off x="660" y="930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5" name="Text Box 75"/>
              <p:cNvSpPr txBox="1">
                <a:spLocks noChangeArrowheads="1"/>
              </p:cNvSpPr>
              <p:nvPr/>
            </p:nvSpPr>
            <p:spPr bwMode="auto">
              <a:xfrm>
                <a:off x="345" y="8877"/>
                <a:ext cx="143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ea typeface="宋体" panose="02010600030101010101" pitchFamily="2" charset="-122"/>
                  </a:rPr>
                  <a:t>head</a:t>
                </a:r>
              </a:p>
            </p:txBody>
          </p:sp>
        </p:grpSp>
        <p:sp>
          <p:nvSpPr>
            <p:cNvPr id="17415" name="Text Box 76"/>
            <p:cNvSpPr txBox="1">
              <a:spLocks noChangeArrowheads="1"/>
            </p:cNvSpPr>
            <p:nvPr/>
          </p:nvSpPr>
          <p:spPr bwMode="auto">
            <a:xfrm>
              <a:off x="1448" y="2320"/>
              <a:ext cx="1008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>
                  <a:ea typeface="宋体" panose="02010600030101010101" pitchFamily="2" charset="-122"/>
                </a:rPr>
                <a:t>A   B   C   D </a:t>
              </a:r>
            </a:p>
          </p:txBody>
        </p:sp>
        <p:sp>
          <p:nvSpPr>
            <p:cNvPr id="17416" name="Text Box 77"/>
            <p:cNvSpPr txBox="1">
              <a:spLocks noChangeArrowheads="1"/>
            </p:cNvSpPr>
            <p:nvPr/>
          </p:nvSpPr>
          <p:spPr bwMode="auto">
            <a:xfrm>
              <a:off x="2784" y="2325"/>
              <a:ext cx="1008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>
                  <a:ea typeface="宋体" panose="02010600030101010101" pitchFamily="2" charset="-122"/>
                </a:rPr>
                <a:t>E   F   G   H </a:t>
              </a:r>
            </a:p>
          </p:txBody>
        </p:sp>
        <p:sp>
          <p:nvSpPr>
            <p:cNvPr id="17417" name="Text Box 78"/>
            <p:cNvSpPr txBox="1">
              <a:spLocks noChangeArrowheads="1"/>
            </p:cNvSpPr>
            <p:nvPr/>
          </p:nvSpPr>
          <p:spPr bwMode="auto">
            <a:xfrm>
              <a:off x="4184" y="2325"/>
              <a:ext cx="12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>
                  <a:ea typeface="宋体" panose="02010600030101010101" pitchFamily="2" charset="-122"/>
                </a:rPr>
                <a:t>I   #    #    #  ^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串的模式匹配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串的模式匹配广泛地应用在搜索引擎、拼写检查、语言翻译、数据压缩等应用中</a:t>
            </a:r>
            <a:endParaRPr lang="en-US" altLang="zh-CN" dirty="0"/>
          </a:p>
          <a:p>
            <a:r>
              <a:rPr lang="zh-CN" altLang="en-US" dirty="0"/>
              <a:t>串的模式匹配是在主串</a:t>
            </a:r>
            <a:r>
              <a:rPr lang="en-US" altLang="zh-CN" dirty="0"/>
              <a:t>S</a:t>
            </a:r>
            <a:r>
              <a:rPr lang="zh-CN" altLang="en-US" dirty="0"/>
              <a:t>中，从第</a:t>
            </a:r>
            <a:r>
              <a:rPr lang="en-US" altLang="zh-CN" dirty="0" err="1"/>
              <a:t>pos</a:t>
            </a:r>
            <a:r>
              <a:rPr lang="zh-CN" altLang="en-US" dirty="0"/>
              <a:t>个字符起，依次取长度和模式串</a:t>
            </a:r>
            <a:r>
              <a:rPr lang="en-US" altLang="zh-CN" dirty="0"/>
              <a:t>T</a:t>
            </a:r>
            <a:r>
              <a:rPr lang="zh-CN" altLang="en-US" dirty="0"/>
              <a:t>相等的子串</a:t>
            </a:r>
            <a:r>
              <a:rPr lang="en-US" altLang="zh-CN" dirty="0"/>
              <a:t>S’</a:t>
            </a:r>
            <a:r>
              <a:rPr lang="zh-CN" altLang="en-US" dirty="0"/>
              <a:t>，和</a:t>
            </a:r>
            <a:r>
              <a:rPr lang="en-US" altLang="zh-CN" dirty="0"/>
              <a:t>T</a:t>
            </a:r>
            <a:r>
              <a:rPr lang="zh-CN" altLang="en-US" dirty="0"/>
              <a:t>比较</a:t>
            </a:r>
            <a:endParaRPr lang="en-US" altLang="zh-CN" dirty="0"/>
          </a:p>
          <a:p>
            <a:pPr lvl="1"/>
            <a:r>
              <a:rPr lang="zh-CN" altLang="en-US" dirty="0"/>
              <a:t>若相等，则返回子串的第一个匹配位置</a:t>
            </a:r>
            <a:endParaRPr lang="en-US" altLang="zh-CN" dirty="0"/>
          </a:p>
          <a:p>
            <a:r>
              <a:rPr lang="zh-CN" altLang="en-US" dirty="0"/>
              <a:t>否则返回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A8C093-C730-4FED-8AC3-24A7478EF96A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Brute-Force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 eaLnBrk="1" hangingPunct="1">
              <a:spcBef>
                <a:spcPct val="0"/>
              </a:spcBef>
              <a:defRPr/>
            </a:pPr>
            <a:r>
              <a:rPr lang="en-US" altLang="zh-CN" dirty="0">
                <a:latin typeface="楷体_GB2312" pitchFamily="49" charset="-122"/>
              </a:rPr>
              <a:t>BF</a:t>
            </a:r>
            <a:r>
              <a:rPr lang="zh-CN" altLang="en-US" dirty="0">
                <a:latin typeface="楷体_GB2312" pitchFamily="49" charset="-122"/>
              </a:rPr>
              <a:t>算法利用计数指针</a:t>
            </a: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</a:rPr>
              <a:t>和</a:t>
            </a:r>
            <a:r>
              <a:rPr lang="en-US" altLang="zh-CN" dirty="0">
                <a:latin typeface="楷体_GB2312" pitchFamily="49" charset="-122"/>
              </a:rPr>
              <a:t>j</a:t>
            </a:r>
            <a:r>
              <a:rPr lang="zh-CN" altLang="en-US" dirty="0">
                <a:latin typeface="楷体_GB2312" pitchFamily="49" charset="-122"/>
              </a:rPr>
              <a:t>指示主串</a:t>
            </a:r>
            <a:r>
              <a:rPr lang="en-US" altLang="zh-CN" dirty="0">
                <a:latin typeface="楷体_GB2312" pitchFamily="49" charset="-122"/>
              </a:rPr>
              <a:t>S</a:t>
            </a:r>
            <a:r>
              <a:rPr lang="zh-CN" altLang="en-US" dirty="0">
                <a:latin typeface="楷体_GB2312" pitchFamily="49" charset="-122"/>
              </a:rPr>
              <a:t>和模式串</a:t>
            </a:r>
            <a:r>
              <a:rPr lang="en-US" altLang="zh-CN" dirty="0">
                <a:latin typeface="楷体_GB2312" pitchFamily="49" charset="-122"/>
              </a:rPr>
              <a:t>T</a:t>
            </a:r>
            <a:r>
              <a:rPr lang="zh-CN" altLang="en-US" dirty="0">
                <a:latin typeface="楷体_GB2312" pitchFamily="49" charset="-122"/>
              </a:rPr>
              <a:t>中当前正在比较的字符位置</a:t>
            </a:r>
            <a:endParaRPr lang="en-US" altLang="zh-CN" dirty="0">
              <a:latin typeface="楷体_GB2312" pitchFamily="49" charset="-122"/>
            </a:endParaRPr>
          </a:p>
          <a:p>
            <a:pPr marL="781050" lvl="1" indent="-381000" eaLnBrk="1" hangingPunct="1">
              <a:spcBef>
                <a:spcPct val="0"/>
              </a:spcBef>
              <a:defRPr/>
            </a:pP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</a:rPr>
              <a:t>初始值为</a:t>
            </a:r>
            <a:r>
              <a:rPr lang="en-US" altLang="zh-CN" dirty="0" err="1">
                <a:latin typeface="楷体_GB2312" pitchFamily="49" charset="-122"/>
              </a:rPr>
              <a:t>pos</a:t>
            </a:r>
            <a:r>
              <a:rPr lang="zh-CN" altLang="en-US" dirty="0">
                <a:latin typeface="楷体_GB2312" pitchFamily="49" charset="-122"/>
              </a:rPr>
              <a:t>（变量</a:t>
            </a:r>
            <a:r>
              <a:rPr lang="en-US" altLang="zh-CN" dirty="0">
                <a:latin typeface="楷体_GB2312" pitchFamily="49" charset="-122"/>
              </a:rPr>
              <a:t>k=</a:t>
            </a: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</a:rPr>
              <a:t>），</a:t>
            </a:r>
            <a:r>
              <a:rPr lang="en-US" altLang="zh-CN" dirty="0">
                <a:latin typeface="楷体_GB2312" pitchFamily="49" charset="-122"/>
              </a:rPr>
              <a:t>j</a:t>
            </a:r>
            <a:r>
              <a:rPr lang="zh-CN" altLang="en-US" dirty="0">
                <a:latin typeface="楷体_GB2312" pitchFamily="49" charset="-122"/>
              </a:rPr>
              <a:t>初始值为</a:t>
            </a:r>
            <a:r>
              <a:rPr lang="en-US" altLang="zh-CN" dirty="0">
                <a:latin typeface="楷体_GB2312" pitchFamily="49" charset="-122"/>
              </a:rPr>
              <a:t>1</a:t>
            </a:r>
          </a:p>
          <a:p>
            <a:pPr marL="381000" indent="-381000" eaLnBrk="1" hangingPunct="1">
              <a:spcBef>
                <a:spcPct val="0"/>
              </a:spcBef>
              <a:defRPr/>
            </a:pPr>
            <a:r>
              <a:rPr lang="zh-CN" altLang="en-US" dirty="0">
                <a:latin typeface="楷体_GB2312" pitchFamily="49" charset="-122"/>
              </a:rPr>
              <a:t>如果两个串均未比较到串尾，即</a:t>
            </a: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</a:rPr>
              <a:t>和</a:t>
            </a:r>
            <a:r>
              <a:rPr lang="en-US" altLang="zh-CN" dirty="0">
                <a:latin typeface="楷体_GB2312" pitchFamily="49" charset="-122"/>
              </a:rPr>
              <a:t>j</a:t>
            </a:r>
            <a:r>
              <a:rPr lang="zh-CN" altLang="en-US" dirty="0">
                <a:latin typeface="楷体_GB2312" pitchFamily="49" charset="-122"/>
              </a:rPr>
              <a:t>均不大于</a:t>
            </a:r>
            <a:r>
              <a:rPr lang="en-US" altLang="zh-CN" dirty="0">
                <a:latin typeface="楷体_GB2312" pitchFamily="49" charset="-122"/>
              </a:rPr>
              <a:t>S</a:t>
            </a:r>
            <a:r>
              <a:rPr lang="zh-CN" altLang="en-US" dirty="0">
                <a:latin typeface="楷体_GB2312" pitchFamily="49" charset="-122"/>
              </a:rPr>
              <a:t>和</a:t>
            </a:r>
            <a:r>
              <a:rPr lang="en-US" altLang="zh-CN" dirty="0">
                <a:latin typeface="楷体_GB2312" pitchFamily="49" charset="-122"/>
              </a:rPr>
              <a:t>T</a:t>
            </a:r>
            <a:r>
              <a:rPr lang="zh-CN" altLang="en-US" dirty="0">
                <a:latin typeface="楷体_GB2312" pitchFamily="49" charset="-122"/>
              </a:rPr>
              <a:t>的长度时，则循环执行以下操作：</a:t>
            </a:r>
            <a:endParaRPr lang="en-US" altLang="zh-CN" dirty="0">
              <a:latin typeface="楷体_GB2312" pitchFamily="49" charset="-122"/>
            </a:endParaRPr>
          </a:p>
          <a:p>
            <a:pPr marL="781050" lvl="1" indent="-381000" eaLnBrk="1" hangingPunct="1">
              <a:spcBef>
                <a:spcPct val="0"/>
              </a:spcBef>
              <a:defRPr/>
            </a:pPr>
            <a:r>
              <a:rPr lang="en-US" altLang="zh-CN" dirty="0">
                <a:latin typeface="楷体_GB2312" pitchFamily="49" charset="-122"/>
              </a:rPr>
              <a:t>S.ch[</a:t>
            </a: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en-US" altLang="zh-CN" dirty="0">
                <a:latin typeface="楷体_GB2312" pitchFamily="49" charset="-122"/>
              </a:rPr>
              <a:t>]</a:t>
            </a:r>
            <a:r>
              <a:rPr lang="zh-CN" altLang="en-US" dirty="0">
                <a:latin typeface="楷体_GB2312" pitchFamily="49" charset="-122"/>
              </a:rPr>
              <a:t>和</a:t>
            </a:r>
            <a:r>
              <a:rPr lang="en-US" altLang="zh-CN" dirty="0">
                <a:latin typeface="楷体_GB2312" pitchFamily="49" charset="-122"/>
              </a:rPr>
              <a:t>T.ch[j]</a:t>
            </a:r>
            <a:r>
              <a:rPr lang="zh-CN" altLang="en-US" dirty="0">
                <a:latin typeface="楷体_GB2312" pitchFamily="49" charset="-122"/>
              </a:rPr>
              <a:t>比较，若相等，则</a:t>
            </a: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</a:rPr>
              <a:t>和</a:t>
            </a:r>
            <a:r>
              <a:rPr lang="en-US" altLang="zh-CN" dirty="0">
                <a:latin typeface="楷体_GB2312" pitchFamily="49" charset="-122"/>
              </a:rPr>
              <a:t>j</a:t>
            </a:r>
            <a:r>
              <a:rPr lang="zh-CN" altLang="en-US" dirty="0">
                <a:latin typeface="楷体_GB2312" pitchFamily="49" charset="-122"/>
              </a:rPr>
              <a:t>分别指示串中下一个位置，继续比较后续字符</a:t>
            </a:r>
            <a:endParaRPr lang="en-US" altLang="zh-CN" dirty="0">
              <a:latin typeface="楷体_GB2312" pitchFamily="49" charset="-122"/>
            </a:endParaRPr>
          </a:p>
          <a:p>
            <a:pPr marL="781050" lvl="1" indent="-381000" eaLnBrk="1" hangingPunct="1">
              <a:spcBef>
                <a:spcPct val="0"/>
              </a:spcBef>
              <a:defRPr/>
            </a:pPr>
            <a:r>
              <a:rPr lang="zh-CN" altLang="en-US" dirty="0">
                <a:latin typeface="楷体_GB2312" pitchFamily="49" charset="-122"/>
              </a:rPr>
              <a:t>若不等，指针后退重新开始匹配</a:t>
            </a:r>
            <a:endParaRPr lang="en-US" altLang="zh-CN" dirty="0">
              <a:latin typeface="楷体_GB2312" pitchFamily="49" charset="-122"/>
            </a:endParaRPr>
          </a:p>
          <a:p>
            <a:pPr marL="1181100" lvl="2" indent="-381000" eaLnBrk="1" hangingPunct="1">
              <a:spcBef>
                <a:spcPct val="0"/>
              </a:spcBef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楷体_GB2312" pitchFamily="49" charset="-12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</a:rPr>
              <a:t>=++k; j=1;</a:t>
            </a:r>
          </a:p>
          <a:p>
            <a:pPr marL="381000" indent="-381000" eaLnBrk="1" hangingPunct="1">
              <a:spcBef>
                <a:spcPct val="0"/>
              </a:spcBef>
              <a:defRPr/>
            </a:pPr>
            <a:r>
              <a:rPr lang="zh-CN" altLang="en-US" dirty="0">
                <a:latin typeface="楷体_GB2312" pitchFamily="49" charset="-122"/>
              </a:rPr>
              <a:t>如果</a:t>
            </a:r>
            <a:r>
              <a:rPr lang="en-US" altLang="zh-CN" dirty="0">
                <a:latin typeface="楷体_GB2312" pitchFamily="49" charset="-122"/>
              </a:rPr>
              <a:t>j&gt;</a:t>
            </a:r>
            <a:r>
              <a:rPr lang="en-US" altLang="zh-CN" dirty="0" err="1">
                <a:latin typeface="楷体_GB2312" pitchFamily="49" charset="-122"/>
              </a:rPr>
              <a:t>T.length</a:t>
            </a:r>
            <a:r>
              <a:rPr lang="zh-CN" altLang="en-US" dirty="0">
                <a:latin typeface="楷体_GB2312" pitchFamily="49" charset="-122"/>
              </a:rPr>
              <a:t>，则匹配成功；否则失败</a:t>
            </a:r>
            <a:endParaRPr lang="en-US" altLang="zh-CN" dirty="0">
              <a:latin typeface="楷体_GB2312" pitchFamily="49" charset="-122"/>
            </a:endParaRPr>
          </a:p>
          <a:p>
            <a:pPr marL="1181100" lvl="2" indent="-381000" eaLnBrk="1" hangingPunct="1">
              <a:spcBef>
                <a:spcPct val="0"/>
              </a:spcBef>
              <a:defRPr/>
            </a:pPr>
            <a:endParaRPr lang="en-US" altLang="zh-CN" dirty="0">
              <a:latin typeface="楷体_GB2312" pitchFamily="49" charset="-122"/>
            </a:endParaRPr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53EEC7-2767-41F4-B3A6-9B876B326AE7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</a:t>
            </a:r>
            <a:r>
              <a:rPr lang="zh-CN" altLang="en-US"/>
              <a:t>算法举例</a:t>
            </a:r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02EFF1-A6AA-4FD3-B68A-28CA4015E5E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09560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1837"/>
              </p:ext>
            </p:extLst>
          </p:nvPr>
        </p:nvGraphicFramePr>
        <p:xfrm>
          <a:off x="755650" y="2974975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1578" name="直接箭头连接符 11"/>
          <p:cNvCxnSpPr>
            <a:cxnSpLocks noChangeShapeType="1"/>
          </p:cNvCxnSpPr>
          <p:nvPr/>
        </p:nvCxnSpPr>
        <p:spPr bwMode="auto">
          <a:xfrm>
            <a:off x="2124075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79" name="直接箭头连接符 12"/>
          <p:cNvCxnSpPr>
            <a:cxnSpLocks noChangeShapeType="1"/>
          </p:cNvCxnSpPr>
          <p:nvPr/>
        </p:nvCxnSpPr>
        <p:spPr bwMode="auto">
          <a:xfrm>
            <a:off x="262731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80" name="直接箭头连接符 13"/>
          <p:cNvCxnSpPr>
            <a:cxnSpLocks noChangeShapeType="1"/>
          </p:cNvCxnSpPr>
          <p:nvPr/>
        </p:nvCxnSpPr>
        <p:spPr bwMode="auto">
          <a:xfrm>
            <a:off x="313213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81" name="TextBox 16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第一趟匹配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763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</a:t>
            </a:r>
            <a:r>
              <a:rPr lang="zh-CN" altLang="en-US"/>
              <a:t>算法举例</a:t>
            </a:r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9076C2-92A6-4310-B808-5F105ED5A0D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331747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471104"/>
              </p:ext>
            </p:extLst>
          </p:nvPr>
        </p:nvGraphicFramePr>
        <p:xfrm>
          <a:off x="1282700" y="2974975"/>
          <a:ext cx="3649662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626" name="直接箭头连接符 11"/>
          <p:cNvCxnSpPr>
            <a:cxnSpLocks noChangeShapeType="1"/>
          </p:cNvCxnSpPr>
          <p:nvPr/>
        </p:nvCxnSpPr>
        <p:spPr bwMode="auto">
          <a:xfrm>
            <a:off x="2651125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27" name="TextBox 9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第二趟匹配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646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</a:t>
            </a:r>
            <a:r>
              <a:rPr lang="zh-CN" altLang="en-US"/>
              <a:t>算法举例</a:t>
            </a: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55439A-4834-465B-AD2E-39CA936DF80E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719445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282011"/>
              </p:ext>
            </p:extLst>
          </p:nvPr>
        </p:nvGraphicFramePr>
        <p:xfrm>
          <a:off x="1763713" y="2974975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674" name="直接箭头连接符 11"/>
          <p:cNvCxnSpPr>
            <a:cxnSpLocks noChangeShapeType="1"/>
          </p:cNvCxnSpPr>
          <p:nvPr/>
        </p:nvCxnSpPr>
        <p:spPr bwMode="auto">
          <a:xfrm>
            <a:off x="3203575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5" name="直接箭头连接符 12"/>
          <p:cNvCxnSpPr>
            <a:cxnSpLocks noChangeShapeType="1"/>
          </p:cNvCxnSpPr>
          <p:nvPr/>
        </p:nvCxnSpPr>
        <p:spPr bwMode="auto">
          <a:xfrm>
            <a:off x="3708400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6" name="直接箭头连接符 13"/>
          <p:cNvCxnSpPr>
            <a:cxnSpLocks noChangeShapeType="1"/>
          </p:cNvCxnSpPr>
          <p:nvPr/>
        </p:nvCxnSpPr>
        <p:spPr bwMode="auto">
          <a:xfrm>
            <a:off x="421163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7" name="直接箭头连接符 9"/>
          <p:cNvCxnSpPr>
            <a:cxnSpLocks noChangeShapeType="1"/>
          </p:cNvCxnSpPr>
          <p:nvPr/>
        </p:nvCxnSpPr>
        <p:spPr bwMode="auto">
          <a:xfrm>
            <a:off x="464343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8" name="直接箭头连接符 10"/>
          <p:cNvCxnSpPr>
            <a:cxnSpLocks noChangeShapeType="1"/>
          </p:cNvCxnSpPr>
          <p:nvPr/>
        </p:nvCxnSpPr>
        <p:spPr bwMode="auto">
          <a:xfrm>
            <a:off x="514826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79" name="TextBox 15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第三趟匹配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23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7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</a:t>
            </a:r>
            <a:r>
              <a:rPr lang="zh-CN" altLang="en-US"/>
              <a:t>算法举例</a:t>
            </a:r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C15A96-E271-4548-8A51-3EA7DB56AED6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188430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908468"/>
              </p:ext>
            </p:extLst>
          </p:nvPr>
        </p:nvGraphicFramePr>
        <p:xfrm>
          <a:off x="2290763" y="2974975"/>
          <a:ext cx="3649662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64" marR="9146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722" name="直接箭头连接符 11"/>
          <p:cNvCxnSpPr>
            <a:cxnSpLocks noChangeShapeType="1"/>
          </p:cNvCxnSpPr>
          <p:nvPr/>
        </p:nvCxnSpPr>
        <p:spPr bwMode="auto">
          <a:xfrm>
            <a:off x="365918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23" name="TextBox 9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第四趟匹配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872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</a:t>
            </a:r>
            <a:r>
              <a:rPr lang="zh-CN" altLang="en-US"/>
              <a:t>算法举例</a:t>
            </a: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63100A-E61E-47A7-8FCE-F85DE937BDC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428755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558757"/>
              </p:ext>
            </p:extLst>
          </p:nvPr>
        </p:nvGraphicFramePr>
        <p:xfrm>
          <a:off x="2771775" y="2974975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770" name="直接箭头连接符 11"/>
          <p:cNvCxnSpPr>
            <a:cxnSpLocks noChangeShapeType="1"/>
          </p:cNvCxnSpPr>
          <p:nvPr/>
        </p:nvCxnSpPr>
        <p:spPr bwMode="auto">
          <a:xfrm>
            <a:off x="4140200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71" name="TextBox 9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第五趟匹配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5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</a:t>
            </a:r>
            <a:r>
              <a:rPr lang="zh-CN" altLang="en-US"/>
              <a:t>算法举例</a:t>
            </a:r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578FCB-B82F-4967-91B1-58DE890F413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59425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00422"/>
              </p:ext>
            </p:extLst>
          </p:nvPr>
        </p:nvGraphicFramePr>
        <p:xfrm>
          <a:off x="3276600" y="2974975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818" name="直接箭头连接符 11"/>
          <p:cNvCxnSpPr>
            <a:cxnSpLocks noChangeShapeType="1"/>
          </p:cNvCxnSpPr>
          <p:nvPr/>
        </p:nvCxnSpPr>
        <p:spPr bwMode="auto">
          <a:xfrm>
            <a:off x="464343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9" name="直接箭头连接符 12"/>
          <p:cNvCxnSpPr>
            <a:cxnSpLocks noChangeShapeType="1"/>
          </p:cNvCxnSpPr>
          <p:nvPr/>
        </p:nvCxnSpPr>
        <p:spPr bwMode="auto">
          <a:xfrm>
            <a:off x="514826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0" name="直接箭头连接符 13"/>
          <p:cNvCxnSpPr>
            <a:cxnSpLocks noChangeShapeType="1"/>
          </p:cNvCxnSpPr>
          <p:nvPr/>
        </p:nvCxnSpPr>
        <p:spPr bwMode="auto">
          <a:xfrm>
            <a:off x="5651500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1" name="直接箭头连接符 14"/>
          <p:cNvCxnSpPr>
            <a:cxnSpLocks noChangeShapeType="1"/>
          </p:cNvCxnSpPr>
          <p:nvPr/>
        </p:nvCxnSpPr>
        <p:spPr bwMode="auto">
          <a:xfrm>
            <a:off x="6156325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2" name="直接箭头连接符 9"/>
          <p:cNvCxnSpPr>
            <a:cxnSpLocks noChangeShapeType="1"/>
          </p:cNvCxnSpPr>
          <p:nvPr/>
        </p:nvCxnSpPr>
        <p:spPr bwMode="auto">
          <a:xfrm>
            <a:off x="665956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3" name="TextBox 10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第六趟匹配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1550" y="5516563"/>
            <a:ext cx="74168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例子中使用的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BF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算法，共有多少次字符比较？</a:t>
            </a:r>
          </a:p>
        </p:txBody>
      </p:sp>
    </p:spTree>
    <p:extLst>
      <p:ext uri="{BB962C8B-B14F-4D97-AF65-F5344CB8AC3E}">
        <p14:creationId xmlns:p14="http://schemas.microsoft.com/office/powerpoint/2010/main" val="80230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23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</a:t>
            </a:r>
            <a:r>
              <a:rPr lang="zh-CN" altLang="en-US"/>
              <a:t>算法描述</a:t>
            </a:r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28DB4E2-C540-4B0D-B742-B514D6796EB0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zh-CN" altLang="en-US" sz="100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827088" y="1341438"/>
            <a:ext cx="7621587" cy="48238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Index_BF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SString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S,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SString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T,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pos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){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=k=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pos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;   j=1;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 while (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&lt;=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S.length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&amp;&amp; j &lt;=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T.length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){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     if ( S.ch[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]==T.ch[ j ]) {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         ++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;  ++j;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     else{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=++k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;    j=1;  }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 }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	if ( j&gt;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T.length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)   return   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800" dirty="0">
                <a:latin typeface="Cambria Math" panose="020405030504060302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800" dirty="0" err="1">
                <a:latin typeface="Cambria Math" panose="02040503050406030204" pitchFamily="18" charset="0"/>
                <a:ea typeface="宋体" panose="02010600030101010101" pitchFamily="2" charset="-122"/>
              </a:rPr>
              <a:t>T.length</a:t>
            </a: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   	else return 0;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468729" y="3218953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时间复杂度：</a:t>
            </a:r>
            <a:r>
              <a:rPr lang="en-US" altLang="zh-CN" sz="2400" b="1" dirty="0"/>
              <a:t>O(n*m)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4-1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951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F9895-6977-4412-8807-5F763DF1F9A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1601480"/>
            <a:ext cx="6969968" cy="312366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主串</a:t>
            </a:r>
            <a:r>
              <a:rPr lang="en-US" altLang="zh-CN" sz="2800" dirty="0"/>
              <a:t>S=</a:t>
            </a:r>
            <a:r>
              <a:rPr lang="en-US" altLang="zh-CN" sz="2800" dirty="0" err="1"/>
              <a:t>aabbabaabaaaa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模式串</a:t>
            </a:r>
            <a:r>
              <a:rPr lang="en-US" altLang="zh-CN" sz="2800" dirty="0"/>
              <a:t>T=</a:t>
            </a:r>
            <a:r>
              <a:rPr lang="en-US" altLang="zh-CN" sz="2800" dirty="0" err="1"/>
              <a:t>aabaaa</a:t>
            </a:r>
            <a:r>
              <a:rPr lang="zh-CN" altLang="en-US" sz="2800" dirty="0"/>
              <a:t>，使用</a:t>
            </a:r>
            <a:r>
              <a:rPr lang="en-US" altLang="zh-CN" sz="2800" dirty="0"/>
              <a:t>BF</a:t>
            </a:r>
            <a:r>
              <a:rPr lang="zh-CN" altLang="en-US" sz="2800" dirty="0"/>
              <a:t>算法进行模式匹配时，一共进行了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/>
              <a:t>趟比较，共进行了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/>
              <a:t>次字符比较。</a:t>
            </a:r>
            <a:endParaRPr lang="en-US" altLang="zh-CN" sz="2800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2956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KMP</a:t>
            </a:r>
            <a:r>
              <a:rPr lang="zh-CN" altLang="en-US"/>
              <a:t>算法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由</a:t>
            </a:r>
            <a:r>
              <a:rPr lang="en-US" altLang="zh-CN" dirty="0"/>
              <a:t>Knuth</a:t>
            </a:r>
            <a:r>
              <a:rPr lang="zh-CN" altLang="en-US" dirty="0"/>
              <a:t>、</a:t>
            </a:r>
            <a:r>
              <a:rPr lang="en-US" altLang="zh-CN" dirty="0"/>
              <a:t>Morris</a:t>
            </a:r>
            <a:r>
              <a:rPr lang="zh-CN" altLang="en-US" dirty="0"/>
              <a:t>和</a:t>
            </a:r>
            <a:r>
              <a:rPr lang="en-US" altLang="zh-CN" dirty="0"/>
              <a:t>Pratt</a:t>
            </a:r>
            <a:r>
              <a:rPr lang="zh-CN" altLang="en-US" dirty="0"/>
              <a:t>同时设计实现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BF</a:t>
            </a:r>
            <a:r>
              <a:rPr lang="zh-CN" altLang="en-US" dirty="0">
                <a:solidFill>
                  <a:schemeClr val="accent2"/>
                </a:solidFill>
              </a:rPr>
              <a:t>：</a:t>
            </a:r>
            <a:r>
              <a:rPr lang="zh-CN" altLang="en-US" sz="2800" dirty="0"/>
              <a:t>每趟匹配过程中出现字符比较不等时</a:t>
            </a:r>
            <a:endParaRPr lang="en-US" altLang="zh-CN" sz="28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模式</a:t>
            </a:r>
            <a:r>
              <a:rPr lang="en-US" altLang="zh-CN" dirty="0"/>
              <a:t>T</a:t>
            </a:r>
            <a:r>
              <a:rPr lang="zh-CN" altLang="en-US" dirty="0"/>
              <a:t>从第一个字符开始匹配（</a:t>
            </a:r>
            <a:r>
              <a:rPr lang="en-US" altLang="zh-CN" dirty="0"/>
              <a:t>j=1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主串</a:t>
            </a:r>
            <a:r>
              <a:rPr lang="en-US" altLang="zh-CN" dirty="0"/>
              <a:t>S</a:t>
            </a:r>
            <a:r>
              <a:rPr lang="zh-CN" altLang="en-US" dirty="0"/>
              <a:t>从上次开始位置的下一个位置开始匹配</a:t>
            </a:r>
            <a:endParaRPr lang="en-US" altLang="zh-CN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模式向右移动一个位置（</a:t>
            </a:r>
            <a:r>
              <a:rPr lang="en-US" altLang="zh-CN" dirty="0" err="1"/>
              <a:t>i</a:t>
            </a:r>
            <a:r>
              <a:rPr lang="en-US" altLang="zh-CN" dirty="0"/>
              <a:t>=++k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accent2"/>
                </a:solidFill>
              </a:rPr>
              <a:t>改进：</a:t>
            </a:r>
            <a:r>
              <a:rPr lang="zh-CN" altLang="en-US" sz="2800" dirty="0"/>
              <a:t>每趟匹配过程中出现字符比较不等时</a:t>
            </a:r>
            <a:endParaRPr lang="en-US" altLang="zh-CN" sz="28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不回溯主指针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zh-CN" altLang="en-US" dirty="0"/>
              <a:t>，利用已得到的“部分匹配”结果</a:t>
            </a:r>
            <a:r>
              <a:rPr lang="zh-CN" altLang="en-US" dirty="0">
                <a:solidFill>
                  <a:srgbClr val="4C34FE"/>
                </a:solidFill>
              </a:rPr>
              <a:t>将模式向右滑动尽可能远的一段距离</a:t>
            </a:r>
            <a:r>
              <a:rPr lang="zh-CN" altLang="en-US" dirty="0"/>
              <a:t>，继续进行比较</a:t>
            </a:r>
            <a:endParaRPr lang="en-US" altLang="zh-CN" dirty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87160B-9493-4B34-8713-B81074CB055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右移的距离在</a:t>
            </a:r>
            <a:r>
              <a:rPr lang="en-US" altLang="zh-CN" dirty="0"/>
              <a:t>KMP</a:t>
            </a:r>
            <a:r>
              <a:rPr lang="zh-CN" altLang="en-US" dirty="0"/>
              <a:t>算法中的计算方法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在</a:t>
            </a:r>
            <a:r>
              <a:rPr lang="zh-CN" altLang="en-US" b="1" dirty="0"/>
              <a:t>已经匹配的模式串子串</a:t>
            </a:r>
            <a:r>
              <a:rPr lang="zh-CN" altLang="en-US" dirty="0"/>
              <a:t>中，找出最长的相同的</a:t>
            </a:r>
            <a:r>
              <a:rPr lang="zh-CN" altLang="en-US" dirty="0">
                <a:solidFill>
                  <a:srgbClr val="008000"/>
                </a:solidFill>
              </a:rPr>
              <a:t>前缀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8000"/>
                </a:solidFill>
              </a:rPr>
              <a:t>后缀</a:t>
            </a:r>
            <a:r>
              <a:rPr lang="zh-CN" altLang="en-US" dirty="0"/>
              <a:t>，然后移动使它们重叠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例：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S.ch=</a:t>
            </a:r>
            <a:r>
              <a:rPr lang="en-US" altLang="zh-CN" dirty="0" err="1"/>
              <a:t>abababc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T.ch=</a:t>
            </a:r>
            <a:r>
              <a:rPr lang="en-US" altLang="zh-CN" dirty="0" err="1"/>
              <a:t>ababc</a:t>
            </a:r>
            <a:endParaRPr lang="en-US" altLang="zh-CN" dirty="0"/>
          </a:p>
          <a:p>
            <a:pPr lvl="1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87160B-9493-4B34-8713-B81074CB055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58850"/>
              </p:ext>
            </p:extLst>
          </p:nvPr>
        </p:nvGraphicFramePr>
        <p:xfrm>
          <a:off x="3779912" y="3088493"/>
          <a:ext cx="4644643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51560"/>
              </p:ext>
            </p:extLst>
          </p:nvPr>
        </p:nvGraphicFramePr>
        <p:xfrm>
          <a:off x="3779912" y="4317608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41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S.ch[</a:t>
            </a:r>
            <a:r>
              <a:rPr lang="en-US" altLang="zh-CN" dirty="0" err="1"/>
              <a:t>i</a:t>
            </a:r>
            <a:r>
              <a:rPr lang="en-US" altLang="zh-CN" dirty="0"/>
              <a:t>]≠T.ch[j]</a:t>
            </a:r>
            <a:r>
              <a:rPr lang="zh-CN" altLang="en-US" dirty="0"/>
              <a:t>时</a:t>
            </a:r>
            <a:endParaRPr lang="en-US" altLang="zh-CN" dirty="0"/>
          </a:p>
          <a:p>
            <a:pPr lvl="1"/>
            <a:r>
              <a:rPr lang="en-US" altLang="zh-CN" dirty="0"/>
              <a:t>if(j≠1) { </a:t>
            </a:r>
            <a:r>
              <a:rPr lang="en-US" altLang="zh-CN" dirty="0" err="1"/>
              <a:t>i</a:t>
            </a:r>
            <a:r>
              <a:rPr lang="en-US" altLang="zh-CN" dirty="0"/>
              <a:t>++; </a:t>
            </a:r>
            <a:r>
              <a:rPr lang="en-US" altLang="zh-CN" dirty="0" err="1"/>
              <a:t>j++</a:t>
            </a:r>
            <a:r>
              <a:rPr lang="en-US" altLang="zh-CN" dirty="0"/>
              <a:t>; }</a:t>
            </a:r>
          </a:p>
          <a:p>
            <a:pPr lvl="1"/>
            <a:r>
              <a:rPr lang="en-US" altLang="zh-CN" dirty="0"/>
              <a:t>else { </a:t>
            </a:r>
            <a:r>
              <a:rPr lang="en-US" altLang="zh-CN" dirty="0" err="1"/>
              <a:t>i</a:t>
            </a:r>
            <a:r>
              <a:rPr lang="zh-CN" altLang="en-US" dirty="0"/>
              <a:t>不变</a:t>
            </a:r>
            <a:r>
              <a:rPr lang="en-US" altLang="zh-CN" dirty="0"/>
              <a:t>; j=k; </a:t>
            </a:r>
            <a:r>
              <a:rPr lang="zh-CN" altLang="en-US" dirty="0"/>
              <a:t>开始下一趟比较 </a:t>
            </a:r>
            <a:r>
              <a:rPr lang="en-US" altLang="zh-CN" dirty="0"/>
              <a:t>}</a:t>
            </a:r>
          </a:p>
          <a:p>
            <a:r>
              <a:rPr lang="zh-CN" altLang="en-US" dirty="0"/>
              <a:t>用数组</a:t>
            </a:r>
            <a:r>
              <a:rPr lang="en-US" altLang="zh-CN" dirty="0"/>
              <a:t>next</a:t>
            </a:r>
            <a:r>
              <a:rPr lang="zh-CN" altLang="en-US" dirty="0"/>
              <a:t>记录</a:t>
            </a:r>
            <a:r>
              <a:rPr lang="en-US" altLang="zh-CN" dirty="0"/>
              <a:t>k</a:t>
            </a:r>
            <a:r>
              <a:rPr lang="zh-CN" altLang="en-US" dirty="0"/>
              <a:t>的值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next</a:t>
            </a:r>
            <a:r>
              <a:rPr lang="zh-CN" altLang="en-US" dirty="0">
                <a:solidFill>
                  <a:srgbClr val="FF0000"/>
                </a:solidFill>
              </a:rPr>
              <a:t>的值只和模式串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zh-CN" altLang="en-US" dirty="0">
                <a:solidFill>
                  <a:srgbClr val="FF0000"/>
                </a:solidFill>
              </a:rPr>
              <a:t>有关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F9895-6977-4412-8807-5F763DF1F9A9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70517"/>
              </p:ext>
            </p:extLst>
          </p:nvPr>
        </p:nvGraphicFramePr>
        <p:xfrm>
          <a:off x="2339752" y="4581128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next[j]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24" marR="91424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501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KMP</a:t>
            </a:r>
            <a:r>
              <a:rPr lang="zh-CN" altLang="en-US"/>
              <a:t>算法举例</a:t>
            </a: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EF403B-0E70-455A-A912-EF6C70693B0D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978674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438184"/>
              </p:ext>
            </p:extLst>
          </p:nvPr>
        </p:nvGraphicFramePr>
        <p:xfrm>
          <a:off x="755650" y="2974975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5914" name="直接箭头连接符 11"/>
          <p:cNvCxnSpPr>
            <a:cxnSpLocks noChangeShapeType="1"/>
          </p:cNvCxnSpPr>
          <p:nvPr/>
        </p:nvCxnSpPr>
        <p:spPr bwMode="auto">
          <a:xfrm>
            <a:off x="2124075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915" name="直接箭头连接符 12"/>
          <p:cNvCxnSpPr>
            <a:cxnSpLocks noChangeShapeType="1"/>
          </p:cNvCxnSpPr>
          <p:nvPr/>
        </p:nvCxnSpPr>
        <p:spPr bwMode="auto">
          <a:xfrm>
            <a:off x="262731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916" name="直接箭头连接符 13"/>
          <p:cNvCxnSpPr>
            <a:cxnSpLocks noChangeShapeType="1"/>
          </p:cNvCxnSpPr>
          <p:nvPr/>
        </p:nvCxnSpPr>
        <p:spPr bwMode="auto">
          <a:xfrm>
            <a:off x="313213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917" name="TextBox 16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第一趟匹配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KMP</a:t>
            </a:r>
            <a:r>
              <a:rPr lang="zh-CN" altLang="en-US"/>
              <a:t>算法举例</a:t>
            </a: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ABC181-3976-497E-9027-E9DF1AAF1ACC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85256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450435"/>
              </p:ext>
            </p:extLst>
          </p:nvPr>
        </p:nvGraphicFramePr>
        <p:xfrm>
          <a:off x="1763713" y="2974975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7962" name="直接箭头连接符 11"/>
          <p:cNvCxnSpPr>
            <a:cxnSpLocks noChangeShapeType="1"/>
          </p:cNvCxnSpPr>
          <p:nvPr/>
        </p:nvCxnSpPr>
        <p:spPr bwMode="auto">
          <a:xfrm>
            <a:off x="3203575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3" name="直接箭头连接符 12"/>
          <p:cNvCxnSpPr>
            <a:cxnSpLocks noChangeShapeType="1"/>
          </p:cNvCxnSpPr>
          <p:nvPr/>
        </p:nvCxnSpPr>
        <p:spPr bwMode="auto">
          <a:xfrm>
            <a:off x="3708400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4" name="直接箭头连接符 13"/>
          <p:cNvCxnSpPr>
            <a:cxnSpLocks noChangeShapeType="1"/>
          </p:cNvCxnSpPr>
          <p:nvPr/>
        </p:nvCxnSpPr>
        <p:spPr bwMode="auto">
          <a:xfrm>
            <a:off x="421163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5" name="直接箭头连接符 9"/>
          <p:cNvCxnSpPr>
            <a:cxnSpLocks noChangeShapeType="1"/>
          </p:cNvCxnSpPr>
          <p:nvPr/>
        </p:nvCxnSpPr>
        <p:spPr bwMode="auto">
          <a:xfrm>
            <a:off x="4643438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6" name="直接箭头连接符 10"/>
          <p:cNvCxnSpPr>
            <a:cxnSpLocks noChangeShapeType="1"/>
          </p:cNvCxnSpPr>
          <p:nvPr/>
        </p:nvCxnSpPr>
        <p:spPr bwMode="auto">
          <a:xfrm>
            <a:off x="514826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67" name="TextBox 15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第二趟匹配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KMP</a:t>
            </a:r>
            <a:r>
              <a:rPr lang="zh-CN" altLang="en-US"/>
              <a:t>算法举例</a:t>
            </a:r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0A84340-6B7E-4EB5-9DCA-AA2BB232BDA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249214"/>
              </p:ext>
            </p:extLst>
          </p:nvPr>
        </p:nvGraphicFramePr>
        <p:xfrm>
          <a:off x="755650" y="1628775"/>
          <a:ext cx="7632697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0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S.ch[</a:t>
                      </a:r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23570"/>
              </p:ext>
            </p:extLst>
          </p:nvPr>
        </p:nvGraphicFramePr>
        <p:xfrm>
          <a:off x="3276600" y="2974975"/>
          <a:ext cx="3648074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4" marR="91424" marT="45700" marB="457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4" marR="9142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0010" name="直接箭头连接符 11"/>
          <p:cNvCxnSpPr>
            <a:cxnSpLocks noChangeShapeType="1"/>
          </p:cNvCxnSpPr>
          <p:nvPr/>
        </p:nvCxnSpPr>
        <p:spPr bwMode="auto">
          <a:xfrm>
            <a:off x="514826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11" name="TextBox 9"/>
          <p:cNvSpPr txBox="1">
            <a:spLocks noChangeArrowheads="1"/>
          </p:cNvSpPr>
          <p:nvPr/>
        </p:nvSpPr>
        <p:spPr bwMode="auto">
          <a:xfrm>
            <a:off x="2843213" y="436562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871B09"/>
                </a:solidFill>
                <a:ea typeface="隶书" panose="02010509060101010101" pitchFamily="49" charset="-122"/>
              </a:rPr>
              <a:t>第三趟匹配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cxnSp>
        <p:nvCxnSpPr>
          <p:cNvPr id="40012" name="直接箭头连接符 7"/>
          <p:cNvCxnSpPr>
            <a:cxnSpLocks noChangeShapeType="1"/>
          </p:cNvCxnSpPr>
          <p:nvPr/>
        </p:nvCxnSpPr>
        <p:spPr bwMode="auto">
          <a:xfrm>
            <a:off x="5651500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13" name="直接箭头连接符 8"/>
          <p:cNvCxnSpPr>
            <a:cxnSpLocks noChangeShapeType="1"/>
          </p:cNvCxnSpPr>
          <p:nvPr/>
        </p:nvCxnSpPr>
        <p:spPr bwMode="auto">
          <a:xfrm>
            <a:off x="6156325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14" name="直接箭头连接符 10"/>
          <p:cNvCxnSpPr>
            <a:cxnSpLocks noChangeShapeType="1"/>
          </p:cNvCxnSpPr>
          <p:nvPr/>
        </p:nvCxnSpPr>
        <p:spPr bwMode="auto">
          <a:xfrm>
            <a:off x="6659563" y="2420938"/>
            <a:ext cx="0" cy="503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文本框 11"/>
          <p:cNvSpPr txBox="1"/>
          <p:nvPr/>
        </p:nvSpPr>
        <p:spPr>
          <a:xfrm>
            <a:off x="971550" y="5449888"/>
            <a:ext cx="64801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使用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KMP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算法字符比较次数？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4-2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013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F9895-6977-4412-8807-5F763DF1F9A9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34420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计算模式串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aabaaa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next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数组的值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827670"/>
              </p:ext>
            </p:extLst>
          </p:nvPr>
        </p:nvGraphicFramePr>
        <p:xfrm>
          <a:off x="2047777" y="2964215"/>
          <a:ext cx="3648623" cy="1112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1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1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8" marR="91438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T.ch[j]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next[j]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8" marR="91438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8" marR="91438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6088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F9895-6977-4412-8807-5F763DF1F9A9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1601480"/>
            <a:ext cx="6969968" cy="312366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主串</a:t>
            </a:r>
            <a:r>
              <a:rPr lang="en-US" altLang="zh-CN" sz="2800" dirty="0"/>
              <a:t>S=</a:t>
            </a:r>
            <a:r>
              <a:rPr lang="en-US" altLang="zh-CN" sz="2800" dirty="0" err="1"/>
              <a:t>aabbabaabaaaa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模式串</a:t>
            </a:r>
            <a:r>
              <a:rPr lang="en-US" altLang="zh-CN" sz="2800" dirty="0"/>
              <a:t>T=</a:t>
            </a:r>
            <a:r>
              <a:rPr lang="en-US" altLang="zh-CN" sz="2800" dirty="0" err="1"/>
              <a:t>aabaaa</a:t>
            </a:r>
            <a:r>
              <a:rPr lang="zh-CN" altLang="en-US" sz="2800" dirty="0"/>
              <a:t>，使用</a:t>
            </a:r>
            <a:r>
              <a:rPr lang="en-US" altLang="zh-CN" sz="2800" dirty="0"/>
              <a:t>KMP</a:t>
            </a:r>
            <a:r>
              <a:rPr lang="zh-CN" altLang="en-US" sz="2800" dirty="0"/>
              <a:t>算法进行模式匹配时，一共进行了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/>
              <a:t>趟比较，共进行了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/>
              <a:t>次字符比较。</a:t>
            </a:r>
            <a:endParaRPr lang="en-US" altLang="zh-CN" sz="2800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35529AD-19C4-AB41-B386-41DA3C582F5A}"/>
              </a:ext>
            </a:extLst>
          </p:cNvPr>
          <p:cNvSpPr txBox="1"/>
          <p:nvPr/>
        </p:nvSpPr>
        <p:spPr>
          <a:xfrm>
            <a:off x="2169268" y="49805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5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FDD46B-CF16-9E48-937B-47A971448326}"/>
              </a:ext>
            </a:extLst>
          </p:cNvPr>
          <p:cNvSpPr txBox="1"/>
          <p:nvPr/>
        </p:nvSpPr>
        <p:spPr>
          <a:xfrm>
            <a:off x="2448332" y="5002698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14</a:t>
            </a:r>
          </a:p>
          <a:p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5344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数组的定义</a:t>
            </a: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54919E-F9F1-4C94-8D43-2D1527E93220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zh-CN" altLang="en-US" sz="100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17613" y="3563938"/>
            <a:ext cx="7129462" cy="296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b="1">
                <a:ea typeface="宋体" panose="02010600030101010101" pitchFamily="2" charset="-122"/>
              </a:rPr>
              <a:t>数组特点</a:t>
            </a:r>
          </a:p>
          <a:p>
            <a:pPr lvl="2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数组结构固定</a:t>
            </a:r>
          </a:p>
          <a:p>
            <a:pPr lvl="2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数据元素同构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b="1">
                <a:ea typeface="宋体" panose="02010600030101010101" pitchFamily="2" charset="-122"/>
              </a:rPr>
              <a:t>数组运算</a:t>
            </a:r>
          </a:p>
          <a:p>
            <a:pPr lvl="2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给定一组下标，存取相应的数据元素</a:t>
            </a:r>
          </a:p>
          <a:p>
            <a:pPr lvl="2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给定一组下标，修改数据元素的值</a:t>
            </a:r>
          </a:p>
        </p:txBody>
      </p:sp>
      <p:grpSp>
        <p:nvGrpSpPr>
          <p:cNvPr id="6" name="Group 149"/>
          <p:cNvGrpSpPr>
            <a:grpSpLocks/>
          </p:cNvGrpSpPr>
          <p:nvPr/>
        </p:nvGrpSpPr>
        <p:grpSpPr bwMode="auto">
          <a:xfrm>
            <a:off x="1598613" y="1263650"/>
            <a:ext cx="2697162" cy="2149475"/>
            <a:chOff x="1248" y="855"/>
            <a:chExt cx="1699" cy="1354"/>
          </a:xfrm>
        </p:grpSpPr>
        <p:sp>
          <p:nvSpPr>
            <p:cNvPr id="48182" name="Text Box 13"/>
            <p:cNvSpPr txBox="1">
              <a:spLocks noChangeArrowheads="1"/>
            </p:cNvSpPr>
            <p:nvPr/>
          </p:nvSpPr>
          <p:spPr bwMode="auto">
            <a:xfrm rot="-5400000">
              <a:off x="702" y="1412"/>
              <a:ext cx="1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D2044E"/>
                  </a:solidFill>
                  <a:ea typeface="宋体" panose="02010600030101010101" pitchFamily="2" charset="-122"/>
                </a:rPr>
                <a:t>(                            )</a:t>
              </a:r>
            </a:p>
          </p:txBody>
        </p:sp>
        <p:sp>
          <p:nvSpPr>
            <p:cNvPr id="48183" name="Text Box 14"/>
            <p:cNvSpPr txBox="1">
              <a:spLocks noChangeArrowheads="1"/>
            </p:cNvSpPr>
            <p:nvPr/>
          </p:nvSpPr>
          <p:spPr bwMode="auto">
            <a:xfrm rot="-5400000">
              <a:off x="1125" y="1410"/>
              <a:ext cx="1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D2044E"/>
                  </a:solidFill>
                  <a:ea typeface="宋体" panose="02010600030101010101" pitchFamily="2" charset="-122"/>
                </a:rPr>
                <a:t>(                            )</a:t>
              </a:r>
            </a:p>
          </p:txBody>
        </p:sp>
        <p:sp>
          <p:nvSpPr>
            <p:cNvPr id="48184" name="Text Box 15"/>
            <p:cNvSpPr txBox="1">
              <a:spLocks noChangeArrowheads="1"/>
            </p:cNvSpPr>
            <p:nvPr/>
          </p:nvSpPr>
          <p:spPr bwMode="auto">
            <a:xfrm rot="-5400000">
              <a:off x="1518" y="1413"/>
              <a:ext cx="1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D2044E"/>
                  </a:solidFill>
                  <a:ea typeface="宋体" panose="02010600030101010101" pitchFamily="2" charset="-122"/>
                </a:rPr>
                <a:t>(                            )</a:t>
              </a:r>
            </a:p>
          </p:txBody>
        </p:sp>
        <p:sp>
          <p:nvSpPr>
            <p:cNvPr id="48185" name="Text Box 16"/>
            <p:cNvSpPr txBox="1">
              <a:spLocks noChangeArrowheads="1"/>
            </p:cNvSpPr>
            <p:nvPr/>
          </p:nvSpPr>
          <p:spPr bwMode="auto">
            <a:xfrm rot="-5400000">
              <a:off x="1818" y="1404"/>
              <a:ext cx="1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D2044E"/>
                  </a:solidFill>
                  <a:ea typeface="宋体" panose="02010600030101010101" pitchFamily="2" charset="-122"/>
                </a:rPr>
                <a:t>(                            )</a:t>
              </a:r>
            </a:p>
          </p:txBody>
        </p:sp>
        <p:sp>
          <p:nvSpPr>
            <p:cNvPr id="48186" name="Text Box 17"/>
            <p:cNvSpPr txBox="1">
              <a:spLocks noChangeArrowheads="1"/>
            </p:cNvSpPr>
            <p:nvPr/>
          </p:nvSpPr>
          <p:spPr bwMode="auto">
            <a:xfrm rot="-5400000">
              <a:off x="2151" y="1401"/>
              <a:ext cx="1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D2044E"/>
                  </a:solidFill>
                  <a:ea typeface="宋体" panose="02010600030101010101" pitchFamily="2" charset="-122"/>
                </a:rPr>
                <a:t>(                            )</a:t>
              </a:r>
            </a:p>
          </p:txBody>
        </p:sp>
      </p:grp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5103813" y="1354138"/>
            <a:ext cx="3429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D2044E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>
                <a:solidFill>
                  <a:srgbClr val="D2044E"/>
                </a:solidFill>
                <a:ea typeface="楷体_GB2312" pitchFamily="49" charset="-122"/>
              </a:rPr>
              <a:t>j</a:t>
            </a:r>
            <a:r>
              <a:rPr lang="en-US" altLang="zh-CN" sz="2800" b="1">
                <a:solidFill>
                  <a:srgbClr val="D2044E"/>
                </a:solidFill>
                <a:ea typeface="楷体_GB2312" pitchFamily="49" charset="-122"/>
              </a:rPr>
              <a:t> = (a</a:t>
            </a:r>
            <a:r>
              <a:rPr lang="en-US" altLang="zh-CN" sz="2800" b="1" baseline="-25000">
                <a:solidFill>
                  <a:srgbClr val="D2044E"/>
                </a:solidFill>
                <a:ea typeface="楷体_GB2312" pitchFamily="49" charset="-122"/>
              </a:rPr>
              <a:t>0j</a:t>
            </a:r>
            <a:r>
              <a:rPr lang="en-US" altLang="zh-CN" sz="2800" b="1">
                <a:solidFill>
                  <a:srgbClr val="D2044E"/>
                </a:solidFill>
                <a:ea typeface="楷体_GB2312" pitchFamily="49" charset="-122"/>
              </a:rPr>
              <a:t>,a</a:t>
            </a:r>
            <a:r>
              <a:rPr lang="en-US" altLang="zh-CN" sz="2800" b="1" baseline="-25000">
                <a:solidFill>
                  <a:srgbClr val="D2044E"/>
                </a:solidFill>
                <a:ea typeface="楷体_GB2312" pitchFamily="49" charset="-122"/>
              </a:rPr>
              <a:t>1j</a:t>
            </a:r>
            <a:r>
              <a:rPr lang="en-US" altLang="zh-CN" sz="2800" b="1">
                <a:solidFill>
                  <a:srgbClr val="D2044E"/>
                </a:solidFill>
                <a:ea typeface="楷体_GB2312" pitchFamily="49" charset="-122"/>
              </a:rPr>
              <a:t>, …, a</a:t>
            </a:r>
            <a:r>
              <a:rPr lang="en-US" altLang="zh-CN" sz="2800" b="1" baseline="-25000">
                <a:solidFill>
                  <a:srgbClr val="D2044E"/>
                </a:solidFill>
                <a:ea typeface="楷体_GB2312" pitchFamily="49" charset="-122"/>
              </a:rPr>
              <a:t>m-1j</a:t>
            </a:r>
            <a:r>
              <a:rPr lang="en-US" altLang="zh-CN" sz="2800" b="1">
                <a:solidFill>
                  <a:srgbClr val="D2044E"/>
                </a:solidFill>
                <a:ea typeface="楷体_GB2312" pitchFamily="49" charset="-122"/>
              </a:rPr>
              <a:t>)</a:t>
            </a:r>
          </a:p>
        </p:txBody>
      </p:sp>
      <p:grpSp>
        <p:nvGrpSpPr>
          <p:cNvPr id="13" name="Group 142"/>
          <p:cNvGrpSpPr>
            <a:grpSpLocks/>
          </p:cNvGrpSpPr>
          <p:nvPr/>
        </p:nvGrpSpPr>
        <p:grpSpPr bwMode="auto">
          <a:xfrm>
            <a:off x="1474788" y="1416050"/>
            <a:ext cx="3082925" cy="1692275"/>
            <a:chOff x="3634" y="48"/>
            <a:chExt cx="1942" cy="1066"/>
          </a:xfrm>
        </p:grpSpPr>
        <p:sp>
          <p:nvSpPr>
            <p:cNvPr id="48178" name="Text Box 8"/>
            <p:cNvSpPr txBox="1">
              <a:spLocks noChangeArrowheads="1"/>
            </p:cNvSpPr>
            <p:nvPr/>
          </p:nvSpPr>
          <p:spPr bwMode="auto">
            <a:xfrm>
              <a:off x="3634" y="48"/>
              <a:ext cx="19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(                                           )</a:t>
              </a:r>
            </a:p>
          </p:txBody>
        </p:sp>
        <p:sp>
          <p:nvSpPr>
            <p:cNvPr id="48179" name="Text Box 9"/>
            <p:cNvSpPr txBox="1">
              <a:spLocks noChangeArrowheads="1"/>
            </p:cNvSpPr>
            <p:nvPr/>
          </p:nvSpPr>
          <p:spPr bwMode="auto">
            <a:xfrm>
              <a:off x="3634" y="336"/>
              <a:ext cx="19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(                                           )</a:t>
              </a:r>
            </a:p>
          </p:txBody>
        </p:sp>
        <p:sp>
          <p:nvSpPr>
            <p:cNvPr id="48180" name="Text Box 10"/>
            <p:cNvSpPr txBox="1">
              <a:spLocks noChangeArrowheads="1"/>
            </p:cNvSpPr>
            <p:nvPr/>
          </p:nvSpPr>
          <p:spPr bwMode="auto">
            <a:xfrm>
              <a:off x="3634" y="624"/>
              <a:ext cx="19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(                                           )</a:t>
              </a:r>
            </a:p>
          </p:txBody>
        </p:sp>
        <p:sp>
          <p:nvSpPr>
            <p:cNvPr id="48181" name="Text Box 11"/>
            <p:cNvSpPr txBox="1">
              <a:spLocks noChangeArrowheads="1"/>
            </p:cNvSpPr>
            <p:nvPr/>
          </p:nvSpPr>
          <p:spPr bwMode="auto">
            <a:xfrm>
              <a:off x="3634" y="864"/>
              <a:ext cx="19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(                                           )</a:t>
              </a:r>
            </a:p>
          </p:txBody>
        </p:sp>
      </p:grpSp>
      <p:grpSp>
        <p:nvGrpSpPr>
          <p:cNvPr id="18" name="Group 148"/>
          <p:cNvGrpSpPr>
            <a:grpSpLocks/>
          </p:cNvGrpSpPr>
          <p:nvPr/>
        </p:nvGrpSpPr>
        <p:grpSpPr bwMode="auto">
          <a:xfrm>
            <a:off x="598488" y="1277938"/>
            <a:ext cx="4124325" cy="2057400"/>
            <a:chOff x="618" y="864"/>
            <a:chExt cx="2598" cy="1296"/>
          </a:xfrm>
        </p:grpSpPr>
        <p:sp>
          <p:nvSpPr>
            <p:cNvPr id="48138" name="Text Box 137"/>
            <p:cNvSpPr txBox="1">
              <a:spLocks noChangeArrowheads="1"/>
            </p:cNvSpPr>
            <p:nvPr/>
          </p:nvSpPr>
          <p:spPr bwMode="auto">
            <a:xfrm>
              <a:off x="960" y="144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=</a:t>
              </a:r>
            </a:p>
          </p:txBody>
        </p:sp>
        <p:grpSp>
          <p:nvGrpSpPr>
            <p:cNvPr id="48139" name="Group 147"/>
            <p:cNvGrpSpPr>
              <a:grpSpLocks/>
            </p:cNvGrpSpPr>
            <p:nvPr/>
          </p:nvGrpSpPr>
          <p:grpSpPr bwMode="auto">
            <a:xfrm>
              <a:off x="618" y="864"/>
              <a:ext cx="2598" cy="1296"/>
              <a:chOff x="618" y="864"/>
              <a:chExt cx="2598" cy="1296"/>
            </a:xfrm>
          </p:grpSpPr>
          <p:sp>
            <p:nvSpPr>
              <p:cNvPr id="48140" name="Rectangle 101"/>
              <p:cNvSpPr>
                <a:spLocks noChangeArrowheads="1"/>
              </p:cNvSpPr>
              <p:nvPr/>
            </p:nvSpPr>
            <p:spPr bwMode="auto">
              <a:xfrm>
                <a:off x="773" y="1604"/>
                <a:ext cx="12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m</a:t>
                </a:r>
                <a:r>
                  <a:rPr lang="en-US" altLang="zh-CN" sz="1300" i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*</a:t>
                </a:r>
                <a:endParaRPr lang="en-US" altLang="zh-CN" sz="1800">
                  <a:ea typeface="宋体" panose="02010600030101010101" pitchFamily="2" charset="-122"/>
                </a:endParaRPr>
              </a:p>
            </p:txBody>
          </p:sp>
          <p:grpSp>
            <p:nvGrpSpPr>
              <p:cNvPr id="48141" name="Group 146"/>
              <p:cNvGrpSpPr>
                <a:grpSpLocks/>
              </p:cNvGrpSpPr>
              <p:nvPr/>
            </p:nvGrpSpPr>
            <p:grpSpPr bwMode="auto">
              <a:xfrm>
                <a:off x="618" y="864"/>
                <a:ext cx="2598" cy="1296"/>
                <a:chOff x="666" y="864"/>
                <a:chExt cx="2598" cy="1296"/>
              </a:xfrm>
            </p:grpSpPr>
            <p:sp>
              <p:nvSpPr>
                <p:cNvPr id="48142" name="Rectangle 100"/>
                <p:cNvSpPr>
                  <a:spLocks noChangeArrowheads="1"/>
                </p:cNvSpPr>
                <p:nvPr/>
              </p:nvSpPr>
              <p:spPr bwMode="auto">
                <a:xfrm>
                  <a:off x="912" y="1604"/>
                  <a:ext cx="52" cy="1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300" i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n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43" name="Rectangle 111"/>
                <p:cNvSpPr>
                  <a:spLocks noChangeArrowheads="1"/>
                </p:cNvSpPr>
                <p:nvPr/>
              </p:nvSpPr>
              <p:spPr bwMode="auto">
                <a:xfrm>
                  <a:off x="666" y="1492"/>
                  <a:ext cx="112" cy="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300" i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8144" name="Group 140"/>
                <p:cNvGrpSpPr>
                  <a:grpSpLocks/>
                </p:cNvGrpSpPr>
                <p:nvPr/>
              </p:nvGrpSpPr>
              <p:grpSpPr bwMode="auto">
                <a:xfrm>
                  <a:off x="1342" y="939"/>
                  <a:ext cx="1826" cy="1125"/>
                  <a:chOff x="1342" y="939"/>
                  <a:chExt cx="1826" cy="1125"/>
                </a:xfrm>
              </p:grpSpPr>
              <p:sp>
                <p:nvSpPr>
                  <p:cNvPr id="48147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2867" y="1939"/>
                    <a:ext cx="301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m-1n-1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48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1846" y="1939"/>
                    <a:ext cx="162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m-1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49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2936" y="1411"/>
                    <a:ext cx="139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n-2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0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2926" y="1075"/>
                    <a:ext cx="139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n-1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1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2767" y="1827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2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1745" y="1827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3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2775" y="1299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4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1762" y="1299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5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2785" y="962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6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1768" y="962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7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2465" y="1827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8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2174" y="1827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59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2826" y="1547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0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2465" y="1547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1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2174" y="1547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2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1808" y="1547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3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2465" y="1299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4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2174" y="1299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5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2465" y="962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6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2174" y="962"/>
                    <a:ext cx="138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...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7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1971" y="1938"/>
                    <a:ext cx="52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8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2875" y="1410"/>
                    <a:ext cx="52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69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1862" y="1410"/>
                    <a:ext cx="104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11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0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2873" y="1074"/>
                    <a:ext cx="65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0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1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1856" y="1074"/>
                    <a:ext cx="104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01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2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1342" y="939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3" name="Rectangle 132"/>
                  <p:cNvSpPr>
                    <a:spLocks noChangeArrowheads="1"/>
                  </p:cNvSpPr>
                  <p:nvPr/>
                </p:nvSpPr>
                <p:spPr bwMode="auto">
                  <a:xfrm>
                    <a:off x="1442" y="1050"/>
                    <a:ext cx="104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00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4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1345" y="1268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5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1445" y="1379"/>
                    <a:ext cx="104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10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6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1360" y="1809"/>
                    <a:ext cx="92" cy="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300" i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8177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1460" y="1920"/>
                    <a:ext cx="220" cy="1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1pPr>
                    <a:lvl2pPr marL="742950" indent="-28575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3pPr>
                    <a:lvl4pPr marL="1600200" indent="-228600">
                      <a:spcBef>
                        <a:spcPts val="1200"/>
                      </a:spcBef>
                      <a:spcAft>
                        <a:spcPts val="120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细黑" panose="0201060004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3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m-10</a:t>
                    </a:r>
                    <a:endParaRPr lang="en-US" altLang="zh-CN" sz="1800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48145" name="AutoShape 144"/>
                <p:cNvSpPr>
                  <a:spLocks/>
                </p:cNvSpPr>
                <p:nvPr/>
              </p:nvSpPr>
              <p:spPr bwMode="auto">
                <a:xfrm flipH="1">
                  <a:off x="1200" y="912"/>
                  <a:ext cx="96" cy="1248"/>
                </a:xfrm>
                <a:prstGeom prst="rightBracket">
                  <a:avLst>
                    <a:gd name="adj" fmla="val 108333"/>
                  </a:avLst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46" name="AutoShape 145"/>
                <p:cNvSpPr>
                  <a:spLocks/>
                </p:cNvSpPr>
                <p:nvPr/>
              </p:nvSpPr>
              <p:spPr bwMode="auto">
                <a:xfrm>
                  <a:off x="3120" y="864"/>
                  <a:ext cx="144" cy="1248"/>
                </a:xfrm>
                <a:prstGeom prst="rightBracket">
                  <a:avLst>
                    <a:gd name="adj" fmla="val 72222"/>
                  </a:avLst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59" name="Text Box 19"/>
          <p:cNvSpPr txBox="1">
            <a:spLocks noChangeArrowheads="1"/>
          </p:cNvSpPr>
          <p:nvPr/>
        </p:nvSpPr>
        <p:spPr bwMode="auto">
          <a:xfrm>
            <a:off x="5103813" y="2498725"/>
            <a:ext cx="37179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6600CC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>
                <a:solidFill>
                  <a:srgbClr val="6600CC"/>
                </a:solidFill>
                <a:ea typeface="楷体_GB2312" pitchFamily="49" charset="-122"/>
              </a:rPr>
              <a:t>i</a:t>
            </a:r>
            <a:r>
              <a:rPr lang="en-US" altLang="zh-CN" sz="2800" b="1">
                <a:solidFill>
                  <a:srgbClr val="6600CC"/>
                </a:solidFill>
                <a:ea typeface="楷体_GB2312" pitchFamily="49" charset="-122"/>
              </a:rPr>
              <a:t> = (a</a:t>
            </a:r>
            <a:r>
              <a:rPr lang="en-US" altLang="zh-CN" sz="2800" b="1" baseline="-25000">
                <a:solidFill>
                  <a:srgbClr val="6600CC"/>
                </a:solidFill>
                <a:ea typeface="楷体_GB2312" pitchFamily="49" charset="-122"/>
              </a:rPr>
              <a:t>i0</a:t>
            </a:r>
            <a:r>
              <a:rPr lang="en-US" altLang="zh-CN" sz="2800" b="1">
                <a:solidFill>
                  <a:srgbClr val="6600CC"/>
                </a:solidFill>
                <a:ea typeface="楷体_GB2312" pitchFamily="49" charset="-122"/>
              </a:rPr>
              <a:t>,a</a:t>
            </a:r>
            <a:r>
              <a:rPr lang="en-US" altLang="zh-CN" sz="2800" b="1" baseline="-25000">
                <a:solidFill>
                  <a:srgbClr val="6600CC"/>
                </a:solidFill>
                <a:ea typeface="楷体_GB2312" pitchFamily="49" charset="-122"/>
              </a:rPr>
              <a:t>i1</a:t>
            </a:r>
            <a:r>
              <a:rPr lang="en-US" altLang="zh-CN" sz="2800" b="1">
                <a:solidFill>
                  <a:srgbClr val="6600CC"/>
                </a:solidFill>
                <a:ea typeface="楷体_GB2312" pitchFamily="49" charset="-122"/>
              </a:rPr>
              <a:t>, …, a</a:t>
            </a:r>
            <a:r>
              <a:rPr lang="en-US" altLang="zh-CN" sz="2800" b="1" baseline="-25000">
                <a:solidFill>
                  <a:srgbClr val="6600CC"/>
                </a:solidFill>
                <a:ea typeface="楷体_GB2312" pitchFamily="49" charset="-122"/>
              </a:rPr>
              <a:t>in-1</a:t>
            </a:r>
            <a:r>
              <a:rPr lang="en-US" altLang="zh-CN" sz="2800" b="1">
                <a:solidFill>
                  <a:srgbClr val="6600CC"/>
                </a:solidFill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  <p:bldP spid="12" grpId="0" autoUpdateAnimBg="0"/>
      <p:bldP spid="5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二维数组的定义</a:t>
            </a:r>
          </a:p>
        </p:txBody>
      </p:sp>
      <p:sp>
        <p:nvSpPr>
          <p:cNvPr id="4915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BE4A68-A60D-4D4E-AD64-4DFD6C455BBE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zh-CN" altLang="en-US" sz="10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38200" y="1371600"/>
            <a:ext cx="7848600" cy="386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数据对象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>
                <a:ea typeface="楷体_GB2312" pitchFamily="49" charset="-122"/>
              </a:rPr>
              <a:t>D = {a</a:t>
            </a:r>
            <a:r>
              <a:rPr lang="en-US" altLang="zh-CN" sz="2800" baseline="-25000">
                <a:ea typeface="楷体_GB2312" pitchFamily="49" charset="-122"/>
              </a:rPr>
              <a:t>ij</a:t>
            </a:r>
            <a:r>
              <a:rPr lang="en-US" altLang="zh-CN" sz="2800">
                <a:ea typeface="楷体_GB2312" pitchFamily="49" charset="-122"/>
              </a:rPr>
              <a:t> | 0</a:t>
            </a:r>
            <a:r>
              <a:rPr lang="en-US" altLang="zh-CN" sz="2800">
                <a:ea typeface="宋体" panose="02010600030101010101" pitchFamily="2" charset="-122"/>
              </a:rPr>
              <a:t>≤i≤b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-1, 0 ≤j≤b</a:t>
            </a:r>
            <a:r>
              <a:rPr lang="en-US" altLang="zh-CN" sz="2800" baseline="-25000"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-1}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数据关系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>
                <a:ea typeface="楷体_GB2312" pitchFamily="49" charset="-122"/>
              </a:rPr>
              <a:t>R = { ROW, COL }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楷体_GB2312" pitchFamily="49" charset="-122"/>
              </a:rPr>
              <a:t>        ROW = {&lt;a</a:t>
            </a:r>
            <a:r>
              <a:rPr lang="en-US" altLang="zh-CN" sz="2800" baseline="-25000">
                <a:ea typeface="楷体_GB2312" pitchFamily="49" charset="-122"/>
              </a:rPr>
              <a:t>i,j</a:t>
            </a:r>
            <a:r>
              <a:rPr lang="en-US" altLang="zh-CN" sz="2800">
                <a:ea typeface="楷体_GB2312" pitchFamily="49" charset="-122"/>
              </a:rPr>
              <a:t>,a</a:t>
            </a:r>
            <a:r>
              <a:rPr lang="en-US" altLang="zh-CN" sz="2800" baseline="-25000">
                <a:ea typeface="楷体_GB2312" pitchFamily="49" charset="-122"/>
              </a:rPr>
              <a:t>i+1,j</a:t>
            </a:r>
            <a:r>
              <a:rPr lang="en-US" altLang="zh-CN" sz="2800">
                <a:ea typeface="楷体_GB2312" pitchFamily="49" charset="-122"/>
              </a:rPr>
              <a:t>&gt;| 0</a:t>
            </a:r>
            <a:r>
              <a:rPr lang="en-US" altLang="zh-CN" sz="2800">
                <a:ea typeface="宋体" panose="02010600030101010101" pitchFamily="2" charset="-122"/>
              </a:rPr>
              <a:t>≤i≤b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-2, 0≤j≤b</a:t>
            </a:r>
            <a:r>
              <a:rPr lang="en-US" altLang="zh-CN" sz="2800" baseline="-25000"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-1}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        COL = {&lt;a</a:t>
            </a:r>
            <a:r>
              <a:rPr lang="en-US" altLang="zh-CN" sz="2800" baseline="-25000">
                <a:ea typeface="宋体" panose="02010600030101010101" pitchFamily="2" charset="-122"/>
              </a:rPr>
              <a:t>i,j</a:t>
            </a:r>
            <a:r>
              <a:rPr lang="en-US" altLang="zh-CN" sz="2800">
                <a:ea typeface="宋体" panose="02010600030101010101" pitchFamily="2" charset="-122"/>
              </a:rPr>
              <a:t>,a</a:t>
            </a:r>
            <a:r>
              <a:rPr lang="en-US" altLang="zh-CN" sz="2800" baseline="-25000">
                <a:ea typeface="宋体" panose="02010600030101010101" pitchFamily="2" charset="-122"/>
              </a:rPr>
              <a:t>i,j+1</a:t>
            </a:r>
            <a:r>
              <a:rPr lang="en-US" altLang="zh-CN" sz="2800">
                <a:ea typeface="宋体" panose="02010600030101010101" pitchFamily="2" charset="-122"/>
              </a:rPr>
              <a:t>&gt;| 0≤i≤b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-1, 0≤ j≤b</a:t>
            </a:r>
            <a:r>
              <a:rPr lang="en-US" altLang="zh-CN" sz="2800" baseline="-25000"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-2}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二维数组的基本操作</a:t>
            </a: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4DFFBE-C250-4928-BA8C-64B2F2925E8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zh-CN" altLang="en-US" sz="1000"/>
          </a:p>
        </p:txBody>
      </p:sp>
      <p:sp>
        <p:nvSpPr>
          <p:cNvPr id="5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66800" y="2112963"/>
            <a:ext cx="5441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楷体_GB2312" pitchFamily="49" charset="-122"/>
              </a:rPr>
              <a:t>InitArray(&amp;A, n, bound1, bound2)</a:t>
            </a:r>
          </a:p>
        </p:txBody>
      </p:sp>
      <p:sp>
        <p:nvSpPr>
          <p:cNvPr id="6" name="Text Box 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085850" y="2695575"/>
            <a:ext cx="30019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楷体_GB2312" pitchFamily="49" charset="-122"/>
              </a:rPr>
              <a:t>DestroyArray(&amp;A)</a:t>
            </a:r>
          </a:p>
        </p:txBody>
      </p:sp>
      <p:sp>
        <p:nvSpPr>
          <p:cNvPr id="7" name="Text Box 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123950" y="3357563"/>
            <a:ext cx="47148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楷体_GB2312" pitchFamily="49" charset="-122"/>
              </a:rPr>
              <a:t>Value(A, &amp;e, index1, index2)</a:t>
            </a:r>
          </a:p>
        </p:txBody>
      </p:sp>
      <p:sp>
        <p:nvSpPr>
          <p:cNvPr id="8" name="Text Box 5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143000" y="4057650"/>
            <a:ext cx="4900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楷体_GB2312" pitchFamily="49" charset="-122"/>
              </a:rPr>
              <a:t>Assign(&amp;A, e, index1, index2)</a:t>
            </a:r>
          </a:p>
        </p:txBody>
      </p:sp>
      <p:sp>
        <p:nvSpPr>
          <p:cNvPr id="50184" name="矩形 2"/>
          <p:cNvSpPr>
            <a:spLocks noChangeArrowheads="1"/>
          </p:cNvSpPr>
          <p:nvPr/>
        </p:nvSpPr>
        <p:spPr bwMode="auto">
          <a:xfrm>
            <a:off x="793750" y="1303338"/>
            <a:ext cx="1808163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2A94FE"/>
                </a:solidFill>
                <a:latin typeface="楷体_GB2312" pitchFamily="49" charset="-122"/>
                <a:ea typeface="楷体_GB2312" pitchFamily="49" charset="-122"/>
              </a:rPr>
              <a:t>基本操作</a:t>
            </a:r>
            <a:r>
              <a:rPr lang="en-US" altLang="zh-CN" sz="2800" b="1">
                <a:solidFill>
                  <a:srgbClr val="2A94FE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数组的顺序存储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>
                <a:ea typeface="楷体_GB2312" pitchFamily="49" charset="-122"/>
              </a:rPr>
              <a:t>用一维内存来表示多维数组</a:t>
            </a:r>
            <a:endParaRPr lang="en-US" altLang="zh-CN" b="1">
              <a:ea typeface="楷体_GB2312" pitchFamily="49" charset="-122"/>
            </a:endParaRPr>
          </a:p>
          <a:p>
            <a:pPr lvl="1"/>
            <a:r>
              <a:rPr lang="zh-CN" altLang="en-US" b="1">
                <a:ea typeface="楷体_GB2312" pitchFamily="49" charset="-122"/>
              </a:rPr>
              <a:t>按某种次序将数组元素排成一列序列，然后将这个线性序列存放在存储器中</a:t>
            </a:r>
            <a:endParaRPr lang="en-US" altLang="zh-CN" b="1">
              <a:ea typeface="楷体_GB2312" pitchFamily="49" charset="-122"/>
            </a:endParaRPr>
          </a:p>
          <a:p>
            <a:r>
              <a:rPr lang="zh-CN" altLang="en-US" b="1">
                <a:solidFill>
                  <a:schemeClr val="folHlink"/>
                </a:solidFill>
                <a:ea typeface="楷体_GB2312" pitchFamily="49" charset="-122"/>
              </a:rPr>
              <a:t>有两种顺序映象的方式</a:t>
            </a:r>
            <a:r>
              <a:rPr lang="en-US" altLang="zh-CN" b="1">
                <a:solidFill>
                  <a:schemeClr val="folHlink"/>
                </a:solidFill>
                <a:ea typeface="楷体_GB2312" pitchFamily="49" charset="-122"/>
              </a:rPr>
              <a:t>:</a:t>
            </a:r>
            <a:endParaRPr lang="en-US" altLang="zh-CN">
              <a:solidFill>
                <a:schemeClr val="folHlink"/>
              </a:solidFill>
            </a:endParaRPr>
          </a:p>
          <a:p>
            <a:pPr lvl="1"/>
            <a:r>
              <a:rPr lang="zh-CN" altLang="en-US" b="1"/>
              <a:t>以行序为主序</a:t>
            </a:r>
            <a:endParaRPr lang="en-US" altLang="zh-CN" b="1"/>
          </a:p>
          <a:p>
            <a:pPr lvl="1"/>
            <a:r>
              <a:rPr lang="zh-CN" altLang="en-US" b="1"/>
              <a:t>以列序为主序</a:t>
            </a:r>
            <a:endParaRPr lang="en-US" altLang="zh-CN" b="1"/>
          </a:p>
          <a:p>
            <a:endParaRPr lang="zh-CN" altLang="en-US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379A00F-8836-45B4-AEB3-09D9B0E645BF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6913563" y="6548438"/>
            <a:ext cx="1439862" cy="196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8C5779-39CD-41D3-890D-3286D299ECC3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zh-CN" altLang="en-US" sz="1000"/>
          </a:p>
        </p:txBody>
      </p:sp>
      <p:sp>
        <p:nvSpPr>
          <p:cNvPr id="52227" name="Rectangle 5"/>
          <p:cNvSpPr>
            <a:spLocks noChangeArrowheads="1"/>
          </p:cNvSpPr>
          <p:nvPr/>
        </p:nvSpPr>
        <p:spPr bwMode="auto">
          <a:xfrm>
            <a:off x="1277938" y="476250"/>
            <a:ext cx="7162800" cy="6172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1620838" y="554355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800" b="1">
                <a:solidFill>
                  <a:srgbClr val="FF3300"/>
                </a:solidFill>
                <a:ea typeface="宋体" panose="02010600030101010101" pitchFamily="2" charset="-122"/>
              </a:rPr>
              <a:t>Loc( </a:t>
            </a:r>
            <a:r>
              <a:rPr lang="en-US" altLang="zh-CN" sz="2800" b="1">
                <a:solidFill>
                  <a:srgbClr val="FF33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baseline="-25000">
                <a:solidFill>
                  <a:srgbClr val="FF3300"/>
                </a:solidFill>
                <a:ea typeface="宋体" panose="02010600030101010101" pitchFamily="2" charset="-122"/>
              </a:rPr>
              <a:t>ij</a:t>
            </a:r>
            <a:r>
              <a:rPr lang="en-US" altLang="zh-CN" sz="1800" b="1">
                <a:solidFill>
                  <a:srgbClr val="FF3300"/>
                </a:solidFill>
                <a:ea typeface="宋体" panose="02010600030101010101" pitchFamily="2" charset="-122"/>
              </a:rPr>
              <a:t>)=Loc(</a:t>
            </a:r>
            <a:r>
              <a:rPr lang="en-US" altLang="zh-CN" sz="2800" b="1">
                <a:solidFill>
                  <a:srgbClr val="FF33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baseline="-25000">
                <a:solidFill>
                  <a:srgbClr val="FF3300"/>
                </a:solidFill>
                <a:ea typeface="宋体" panose="02010600030101010101" pitchFamily="2" charset="-122"/>
              </a:rPr>
              <a:t>00</a:t>
            </a:r>
            <a:r>
              <a:rPr lang="en-US" altLang="zh-CN" sz="1800" b="1">
                <a:solidFill>
                  <a:srgbClr val="FF3300"/>
                </a:solidFill>
                <a:ea typeface="宋体" panose="02010600030101010101" pitchFamily="2" charset="-122"/>
              </a:rPr>
              <a:t>)+</a:t>
            </a:r>
            <a:r>
              <a:rPr lang="en-US" altLang="zh-CN" sz="2800" b="1">
                <a:solidFill>
                  <a:srgbClr val="FF3300"/>
                </a:solidFill>
                <a:ea typeface="宋体" panose="02010600030101010101" pitchFamily="2" charset="-122"/>
              </a:rPr>
              <a:t>[</a:t>
            </a:r>
            <a:r>
              <a:rPr lang="en-US" altLang="zh-CN" sz="1800" b="1">
                <a:solidFill>
                  <a:srgbClr val="FF3300"/>
                </a:solidFill>
                <a:ea typeface="宋体" panose="02010600030101010101" pitchFamily="2" charset="-122"/>
              </a:rPr>
              <a:t>i*n+j</a:t>
            </a:r>
            <a:r>
              <a:rPr lang="en-US" altLang="zh-CN" sz="2800" b="1">
                <a:solidFill>
                  <a:srgbClr val="FF3300"/>
                </a:solidFill>
                <a:ea typeface="宋体" panose="02010600030101010101" pitchFamily="2" charset="-122"/>
              </a:rPr>
              <a:t>]*L</a:t>
            </a:r>
            <a:r>
              <a:rPr lang="en-US" altLang="zh-CN" sz="2800" b="1" baseline="-250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2229" name="Text Box 15"/>
          <p:cNvSpPr txBox="1">
            <a:spLocks noChangeArrowheads="1"/>
          </p:cNvSpPr>
          <p:nvPr/>
        </p:nvSpPr>
        <p:spPr bwMode="auto">
          <a:xfrm>
            <a:off x="1944688" y="11049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  </a:t>
            </a:r>
            <a:r>
              <a:rPr lang="zh-CN" altLang="en-US" sz="1800" b="1">
                <a:solidFill>
                  <a:srgbClr val="0000FF"/>
                </a:solidFill>
                <a:ea typeface="宋体" panose="02010600030101010101" pitchFamily="2" charset="-122"/>
              </a:rPr>
              <a:t>按行序为主序存放</a:t>
            </a:r>
          </a:p>
        </p:txBody>
      </p:sp>
      <p:grpSp>
        <p:nvGrpSpPr>
          <p:cNvPr id="6" name="Group 110"/>
          <p:cNvGrpSpPr>
            <a:grpSpLocks/>
          </p:cNvGrpSpPr>
          <p:nvPr/>
        </p:nvGrpSpPr>
        <p:grpSpPr bwMode="auto">
          <a:xfrm>
            <a:off x="899592" y="2852936"/>
            <a:ext cx="5505450" cy="2438400"/>
            <a:chOff x="996" y="1776"/>
            <a:chExt cx="3468" cy="1536"/>
          </a:xfrm>
        </p:grpSpPr>
        <p:sp>
          <p:nvSpPr>
            <p:cNvPr id="52269" name="Text Box 9"/>
            <p:cNvSpPr txBox="1">
              <a:spLocks noChangeArrowheads="1"/>
            </p:cNvSpPr>
            <p:nvPr/>
          </p:nvSpPr>
          <p:spPr bwMode="auto">
            <a:xfrm>
              <a:off x="996" y="2928"/>
              <a:ext cx="34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b="1" baseline="-25000">
                  <a:ea typeface="宋体" panose="02010600030101010101" pitchFamily="2" charset="-122"/>
                </a:rPr>
                <a:t>     </a:t>
              </a:r>
              <a:r>
                <a:rPr lang="en-US" altLang="zh-CN" sz="2800" b="1">
                  <a:ea typeface="宋体" panose="02010600030101010101" pitchFamily="2" charset="-122"/>
                </a:rPr>
                <a:t>    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     </a:t>
              </a:r>
              <a:r>
                <a:rPr lang="en-US" altLang="zh-CN" sz="28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m-10</a:t>
              </a:r>
              <a:r>
                <a:rPr lang="en-US" altLang="zh-CN" sz="28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m-11   </a:t>
              </a:r>
              <a:r>
                <a:rPr lang="en-US" altLang="zh-CN" sz="2800" b="1">
                  <a:solidFill>
                    <a:schemeClr val="accent2"/>
                  </a:solidFill>
                  <a:ea typeface="宋体" panose="02010600030101010101" pitchFamily="2" charset="-122"/>
                </a:rPr>
                <a:t>…….. a</a:t>
              </a:r>
              <a:r>
                <a:rPr lang="en-US" altLang="zh-CN" sz="28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m-1n-1</a:t>
              </a:r>
              <a:r>
                <a:rPr lang="en-US" altLang="zh-CN" sz="2000" b="1" baseline="-25000">
                  <a:ea typeface="宋体" panose="02010600030101010101" pitchFamily="2" charset="-122"/>
                </a:rPr>
                <a:t> </a:t>
              </a:r>
            </a:p>
          </p:txBody>
        </p:sp>
        <p:grpSp>
          <p:nvGrpSpPr>
            <p:cNvPr id="52270" name="Group 109"/>
            <p:cNvGrpSpPr>
              <a:grpSpLocks/>
            </p:cNvGrpSpPr>
            <p:nvPr/>
          </p:nvGrpSpPr>
          <p:grpSpPr bwMode="auto">
            <a:xfrm>
              <a:off x="996" y="1776"/>
              <a:ext cx="3130" cy="1536"/>
              <a:chOff x="996" y="1776"/>
              <a:chExt cx="3130" cy="1536"/>
            </a:xfrm>
          </p:grpSpPr>
          <p:sp>
            <p:nvSpPr>
              <p:cNvPr id="52271" name="Text Box 7"/>
              <p:cNvSpPr txBox="1">
                <a:spLocks noChangeArrowheads="1"/>
              </p:cNvSpPr>
              <p:nvPr/>
            </p:nvSpPr>
            <p:spPr bwMode="auto">
              <a:xfrm>
                <a:off x="996" y="1776"/>
                <a:ext cx="30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b="1">
                    <a:ea typeface="宋体" panose="02010600030101010101" pitchFamily="2" charset="-122"/>
                  </a:rPr>
                  <a:t>       </a:t>
                </a:r>
                <a:r>
                  <a:rPr lang="en-US" altLang="zh-CN" sz="2800" b="1" baseline="-25000">
                    <a:ea typeface="宋体" panose="02010600030101010101" pitchFamily="2" charset="-122"/>
                  </a:rPr>
                  <a:t>      </a:t>
                </a:r>
                <a:r>
                  <a:rPr lang="en-US" altLang="zh-CN" sz="2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2800" b="1" baseline="-25000">
                    <a:solidFill>
                      <a:srgbClr val="FF0000"/>
                    </a:solidFill>
                    <a:ea typeface="宋体" panose="02010600030101010101" pitchFamily="2" charset="-122"/>
                  </a:rPr>
                  <a:t>00     </a:t>
                </a:r>
                <a:r>
                  <a:rPr lang="en-US" altLang="zh-CN" sz="2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2800" b="1" baseline="-25000">
                    <a:solidFill>
                      <a:srgbClr val="FF0000"/>
                    </a:solidFill>
                    <a:ea typeface="宋体" panose="02010600030101010101" pitchFamily="2" charset="-122"/>
                  </a:rPr>
                  <a:t>01   </a:t>
                </a:r>
                <a:r>
                  <a:rPr lang="en-US" altLang="zh-CN" sz="2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……..    a</a:t>
                </a:r>
                <a:r>
                  <a:rPr lang="en-US" altLang="zh-CN" sz="2800" b="1" baseline="-25000">
                    <a:solidFill>
                      <a:srgbClr val="FF0000"/>
                    </a:solidFill>
                    <a:ea typeface="宋体" panose="02010600030101010101" pitchFamily="2" charset="-122"/>
                  </a:rPr>
                  <a:t>0n-1</a:t>
                </a:r>
                <a:r>
                  <a:rPr lang="en-US" altLang="zh-CN" sz="2000" b="1" baseline="-25000"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52272" name="Text Box 8"/>
              <p:cNvSpPr txBox="1">
                <a:spLocks noChangeArrowheads="1"/>
              </p:cNvSpPr>
              <p:nvPr/>
            </p:nvSpPr>
            <p:spPr bwMode="auto">
              <a:xfrm>
                <a:off x="996" y="2112"/>
                <a:ext cx="30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b="1" dirty="0">
                    <a:ea typeface="宋体" panose="02010600030101010101" pitchFamily="2" charset="-122"/>
                  </a:rPr>
                  <a:t>      </a:t>
                </a:r>
                <a:r>
                  <a:rPr lang="en-US" altLang="zh-CN" sz="2800" b="1" baseline="-25000" dirty="0">
                    <a:ea typeface="宋体" panose="02010600030101010101" pitchFamily="2" charset="-122"/>
                  </a:rPr>
                  <a:t>       </a:t>
                </a:r>
                <a:r>
                  <a:rPr lang="en-US" altLang="zh-CN" sz="2800" b="1" dirty="0">
                    <a:solidFill>
                      <a:srgbClr val="008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2800" b="1" baseline="-25000" dirty="0">
                    <a:solidFill>
                      <a:srgbClr val="008000"/>
                    </a:solidFill>
                    <a:ea typeface="宋体" panose="02010600030101010101" pitchFamily="2" charset="-122"/>
                  </a:rPr>
                  <a:t>10     </a:t>
                </a:r>
                <a:r>
                  <a:rPr lang="en-US" altLang="zh-CN" sz="2800" b="1" dirty="0">
                    <a:solidFill>
                      <a:srgbClr val="008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2800" b="1" baseline="-25000" dirty="0">
                    <a:solidFill>
                      <a:srgbClr val="008000"/>
                    </a:solidFill>
                    <a:ea typeface="宋体" panose="02010600030101010101" pitchFamily="2" charset="-122"/>
                  </a:rPr>
                  <a:t>11   </a:t>
                </a:r>
                <a:r>
                  <a:rPr lang="en-US" altLang="zh-CN" sz="2800" b="1" dirty="0">
                    <a:solidFill>
                      <a:srgbClr val="008000"/>
                    </a:solidFill>
                    <a:ea typeface="宋体" panose="02010600030101010101" pitchFamily="2" charset="-122"/>
                  </a:rPr>
                  <a:t>……..    a</a:t>
                </a:r>
                <a:r>
                  <a:rPr lang="en-US" altLang="zh-CN" sz="2800" b="1" baseline="-25000" dirty="0">
                    <a:solidFill>
                      <a:srgbClr val="008000"/>
                    </a:solidFill>
                    <a:ea typeface="宋体" panose="02010600030101010101" pitchFamily="2" charset="-122"/>
                  </a:rPr>
                  <a:t>0n-1</a:t>
                </a:r>
                <a:r>
                  <a:rPr lang="en-US" altLang="zh-CN" sz="2000" b="1" baseline="-25000" dirty="0">
                    <a:solidFill>
                      <a:srgbClr val="008000"/>
                    </a:solidFill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52273" name="Text Box 10"/>
              <p:cNvSpPr txBox="1">
                <a:spLocks noChangeArrowheads="1"/>
              </p:cNvSpPr>
              <p:nvPr/>
            </p:nvSpPr>
            <p:spPr bwMode="auto">
              <a:xfrm>
                <a:off x="996" y="2592"/>
                <a:ext cx="26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b="1" dirty="0">
                    <a:ea typeface="宋体" panose="02010600030101010101" pitchFamily="2" charset="-122"/>
                  </a:rPr>
                  <a:t>             ………………….</a:t>
                </a:r>
              </a:p>
            </p:txBody>
          </p:sp>
          <p:sp>
            <p:nvSpPr>
              <p:cNvPr id="52274" name="Line 11"/>
              <p:cNvSpPr>
                <a:spLocks noChangeShapeType="1"/>
              </p:cNvSpPr>
              <p:nvPr/>
            </p:nvSpPr>
            <p:spPr bwMode="auto">
              <a:xfrm>
                <a:off x="1524" y="1776"/>
                <a:ext cx="0" cy="153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5" name="Line 12"/>
              <p:cNvSpPr>
                <a:spLocks noChangeShapeType="1"/>
              </p:cNvSpPr>
              <p:nvPr/>
            </p:nvSpPr>
            <p:spPr bwMode="auto">
              <a:xfrm>
                <a:off x="1524" y="1776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6" name="Line 13"/>
              <p:cNvSpPr>
                <a:spLocks noChangeShapeType="1"/>
              </p:cNvSpPr>
              <p:nvPr/>
            </p:nvSpPr>
            <p:spPr bwMode="auto">
              <a:xfrm>
                <a:off x="1524" y="3312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7" name="Line 47"/>
              <p:cNvSpPr>
                <a:spLocks noChangeShapeType="1"/>
              </p:cNvSpPr>
              <p:nvPr/>
            </p:nvSpPr>
            <p:spPr bwMode="auto">
              <a:xfrm>
                <a:off x="4126" y="1776"/>
                <a:ext cx="0" cy="153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8" name="Line 48"/>
              <p:cNvSpPr>
                <a:spLocks noChangeShapeType="1"/>
              </p:cNvSpPr>
              <p:nvPr/>
            </p:nvSpPr>
            <p:spPr bwMode="auto">
              <a:xfrm>
                <a:off x="3982" y="1776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9" name="Line 49"/>
              <p:cNvSpPr>
                <a:spLocks noChangeShapeType="1"/>
              </p:cNvSpPr>
              <p:nvPr/>
            </p:nvSpPr>
            <p:spPr bwMode="auto">
              <a:xfrm>
                <a:off x="3982" y="3312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8" name="Group 111"/>
          <p:cNvGrpSpPr>
            <a:grpSpLocks/>
          </p:cNvGrpSpPr>
          <p:nvPr/>
        </p:nvGrpSpPr>
        <p:grpSpPr bwMode="auto">
          <a:xfrm>
            <a:off x="5762625" y="628650"/>
            <a:ext cx="2373313" cy="5922963"/>
            <a:chOff x="3833" y="336"/>
            <a:chExt cx="1495" cy="3731"/>
          </a:xfrm>
        </p:grpSpPr>
        <p:sp>
          <p:nvSpPr>
            <p:cNvPr id="52232" name="Text Box 53"/>
            <p:cNvSpPr txBox="1">
              <a:spLocks noChangeArrowheads="1"/>
            </p:cNvSpPr>
            <p:nvPr/>
          </p:nvSpPr>
          <p:spPr bwMode="auto">
            <a:xfrm>
              <a:off x="4036" y="1260"/>
              <a:ext cx="3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n-1</a:t>
              </a:r>
            </a:p>
          </p:txBody>
        </p:sp>
        <p:grpSp>
          <p:nvGrpSpPr>
            <p:cNvPr id="52233" name="Group 108"/>
            <p:cNvGrpSpPr>
              <a:grpSpLocks/>
            </p:cNvGrpSpPr>
            <p:nvPr/>
          </p:nvGrpSpPr>
          <p:grpSpPr bwMode="auto">
            <a:xfrm>
              <a:off x="3833" y="336"/>
              <a:ext cx="1495" cy="3731"/>
              <a:chOff x="3833" y="336"/>
              <a:chExt cx="1495" cy="3731"/>
            </a:xfrm>
          </p:grpSpPr>
          <p:grpSp>
            <p:nvGrpSpPr>
              <p:cNvPr id="52234" name="Group 17"/>
              <p:cNvGrpSpPr>
                <a:grpSpLocks/>
              </p:cNvGrpSpPr>
              <p:nvPr/>
            </p:nvGrpSpPr>
            <p:grpSpPr bwMode="auto">
              <a:xfrm>
                <a:off x="4368" y="336"/>
                <a:ext cx="960" cy="3731"/>
                <a:chOff x="4176" y="96"/>
                <a:chExt cx="960" cy="3731"/>
              </a:xfrm>
            </p:grpSpPr>
            <p:sp>
              <p:nvSpPr>
                <p:cNvPr id="52240" name="Rectangle 18"/>
                <p:cNvSpPr>
                  <a:spLocks noChangeArrowheads="1"/>
                </p:cNvSpPr>
                <p:nvPr/>
              </p:nvSpPr>
              <p:spPr bwMode="auto">
                <a:xfrm>
                  <a:off x="4176" y="3540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      a</a:t>
                  </a:r>
                  <a:r>
                    <a:rPr lang="en-US" altLang="zh-CN" sz="1800" b="1" baseline="-250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m-1n-1</a:t>
                  </a:r>
                </a:p>
              </p:txBody>
            </p:sp>
            <p:sp>
              <p:nvSpPr>
                <p:cNvPr id="52241" name="Rectangle 19"/>
                <p:cNvSpPr>
                  <a:spLocks noChangeArrowheads="1"/>
                </p:cNvSpPr>
                <p:nvPr/>
              </p:nvSpPr>
              <p:spPr bwMode="auto">
                <a:xfrm>
                  <a:off x="4176" y="3253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    …….. </a:t>
                  </a:r>
                </a:p>
              </p:txBody>
            </p:sp>
            <p:sp>
              <p:nvSpPr>
                <p:cNvPr id="52242" name="Rectangle 20"/>
                <p:cNvSpPr>
                  <a:spLocks noChangeArrowheads="1"/>
                </p:cNvSpPr>
                <p:nvPr/>
              </p:nvSpPr>
              <p:spPr bwMode="auto">
                <a:xfrm>
                  <a:off x="4176" y="2966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 baseline="-250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         </a:t>
                  </a:r>
                  <a:r>
                    <a:rPr lang="en-US" altLang="zh-CN" sz="18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1800" b="1" baseline="-250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m-10</a:t>
                  </a:r>
                </a:p>
              </p:txBody>
            </p:sp>
            <p:sp>
              <p:nvSpPr>
                <p:cNvPr id="52243" name="Rectangle 21"/>
                <p:cNvSpPr>
                  <a:spLocks noChangeArrowheads="1"/>
                </p:cNvSpPr>
                <p:nvPr/>
              </p:nvSpPr>
              <p:spPr bwMode="auto">
                <a:xfrm>
                  <a:off x="4176" y="2679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      a</a:t>
                  </a:r>
                  <a:r>
                    <a:rPr lang="en-US" altLang="zh-CN" sz="1800" b="1" baseline="-250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m-10 </a:t>
                  </a:r>
                </a:p>
              </p:txBody>
            </p:sp>
            <p:sp>
              <p:nvSpPr>
                <p:cNvPr id="52244" name="Rectangle 22"/>
                <p:cNvSpPr>
                  <a:spLocks noChangeArrowheads="1"/>
                </p:cNvSpPr>
                <p:nvPr/>
              </p:nvSpPr>
              <p:spPr bwMode="auto">
                <a:xfrm>
                  <a:off x="4176" y="2392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ea typeface="宋体" panose="02010600030101010101" pitchFamily="2" charset="-122"/>
                    </a:rPr>
                    <a:t> ……….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45" name="Rectangle 23"/>
                <p:cNvSpPr>
                  <a:spLocks noChangeArrowheads="1"/>
                </p:cNvSpPr>
                <p:nvPr/>
              </p:nvSpPr>
              <p:spPr bwMode="auto">
                <a:xfrm>
                  <a:off x="4176" y="2105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      a</a:t>
                  </a:r>
                  <a:r>
                    <a:rPr lang="en-US" altLang="zh-CN" sz="1800" b="1" baseline="-25000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1n-1 </a:t>
                  </a:r>
                </a:p>
              </p:txBody>
            </p:sp>
            <p:sp>
              <p:nvSpPr>
                <p:cNvPr id="52246" name="Rectangle 24"/>
                <p:cNvSpPr>
                  <a:spLocks noChangeArrowheads="1"/>
                </p:cNvSpPr>
                <p:nvPr/>
              </p:nvSpPr>
              <p:spPr bwMode="auto">
                <a:xfrm>
                  <a:off x="4176" y="1818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     …….. </a:t>
                  </a:r>
                </a:p>
              </p:txBody>
            </p:sp>
            <p:sp>
              <p:nvSpPr>
                <p:cNvPr id="52247" name="Rectangle 25"/>
                <p:cNvSpPr>
                  <a:spLocks noChangeArrowheads="1"/>
                </p:cNvSpPr>
                <p:nvPr/>
              </p:nvSpPr>
              <p:spPr bwMode="auto">
                <a:xfrm>
                  <a:off x="4176" y="1531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 baseline="-25000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         </a:t>
                  </a:r>
                  <a:r>
                    <a:rPr lang="en-US" altLang="zh-CN" sz="1800" b="1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1800" b="1" baseline="-25000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11</a:t>
                  </a:r>
                </a:p>
              </p:txBody>
            </p:sp>
            <p:sp>
              <p:nvSpPr>
                <p:cNvPr id="52248" name="Rectangle 26"/>
                <p:cNvSpPr>
                  <a:spLocks noChangeArrowheads="1"/>
                </p:cNvSpPr>
                <p:nvPr/>
              </p:nvSpPr>
              <p:spPr bwMode="auto">
                <a:xfrm>
                  <a:off x="4176" y="1244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      a</a:t>
                  </a:r>
                  <a:r>
                    <a:rPr lang="en-US" altLang="zh-CN" sz="1800" b="1" baseline="-25000">
                      <a:solidFill>
                        <a:srgbClr val="008000"/>
                      </a:solidFill>
                      <a:ea typeface="宋体" panose="02010600030101010101" pitchFamily="2" charset="-122"/>
                    </a:rPr>
                    <a:t>10 </a:t>
                  </a:r>
                </a:p>
              </p:txBody>
            </p:sp>
            <p:sp>
              <p:nvSpPr>
                <p:cNvPr id="52249" name="Rectangle 27"/>
                <p:cNvSpPr>
                  <a:spLocks noChangeArrowheads="1"/>
                </p:cNvSpPr>
                <p:nvPr/>
              </p:nvSpPr>
              <p:spPr bwMode="auto">
                <a:xfrm>
                  <a:off x="4176" y="957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      a</a:t>
                  </a:r>
                  <a:r>
                    <a:rPr lang="en-US" altLang="zh-CN" sz="1800" b="1" baseline="-2500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0n-1</a:t>
                  </a:r>
                  <a:r>
                    <a:rPr lang="en-US" altLang="zh-CN" sz="1800" b="1" baseline="-25000">
                      <a:ea typeface="宋体" panose="02010600030101010101" pitchFamily="2" charset="-122"/>
                    </a:rPr>
                    <a:t> 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50" name="Rectangle 28"/>
                <p:cNvSpPr>
                  <a:spLocks noChangeArrowheads="1"/>
                </p:cNvSpPr>
                <p:nvPr/>
              </p:nvSpPr>
              <p:spPr bwMode="auto">
                <a:xfrm>
                  <a:off x="4176" y="670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    …….</a:t>
                  </a:r>
                </a:p>
              </p:txBody>
            </p:sp>
            <p:sp>
              <p:nvSpPr>
                <p:cNvPr id="52251" name="Rectangle 29"/>
                <p:cNvSpPr>
                  <a:spLocks noChangeArrowheads="1"/>
                </p:cNvSpPr>
                <p:nvPr/>
              </p:nvSpPr>
              <p:spPr bwMode="auto">
                <a:xfrm>
                  <a:off x="4176" y="383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      a</a:t>
                  </a:r>
                  <a:r>
                    <a:rPr lang="en-US" altLang="zh-CN" sz="1800" b="1" baseline="-2500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01</a:t>
                  </a:r>
                </a:p>
              </p:txBody>
            </p:sp>
            <p:sp>
              <p:nvSpPr>
                <p:cNvPr id="52252" name="Rectangle 30"/>
                <p:cNvSpPr>
                  <a:spLocks noChangeArrowheads="1"/>
                </p:cNvSpPr>
                <p:nvPr/>
              </p:nvSpPr>
              <p:spPr bwMode="auto">
                <a:xfrm>
                  <a:off x="4176" y="96"/>
                  <a:ext cx="960" cy="287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ts val="1200"/>
                    </a:spcBef>
                    <a:spcAft>
                      <a:spcPts val="120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1" baseline="-25000">
                      <a:ea typeface="宋体" panose="02010600030101010101" pitchFamily="2" charset="-122"/>
                    </a:rPr>
                    <a:t>         </a:t>
                  </a:r>
                  <a:r>
                    <a:rPr lang="en-US" altLang="zh-CN" sz="1800" b="1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1800" b="1" baseline="-2500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00</a:t>
                  </a:r>
                </a:p>
              </p:txBody>
            </p:sp>
            <p:sp>
              <p:nvSpPr>
                <p:cNvPr id="52253" name="Line 31"/>
                <p:cNvSpPr>
                  <a:spLocks noChangeShapeType="1"/>
                </p:cNvSpPr>
                <p:nvPr/>
              </p:nvSpPr>
              <p:spPr bwMode="auto">
                <a:xfrm>
                  <a:off x="4176" y="96"/>
                  <a:ext cx="96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54" name="Line 32"/>
                <p:cNvSpPr>
                  <a:spLocks noChangeShapeType="1"/>
                </p:cNvSpPr>
                <p:nvPr/>
              </p:nvSpPr>
              <p:spPr bwMode="auto">
                <a:xfrm>
                  <a:off x="4176" y="383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55" name="Line 33"/>
                <p:cNvSpPr>
                  <a:spLocks noChangeShapeType="1"/>
                </p:cNvSpPr>
                <p:nvPr/>
              </p:nvSpPr>
              <p:spPr bwMode="auto">
                <a:xfrm>
                  <a:off x="4176" y="670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56" name="Line 34"/>
                <p:cNvSpPr>
                  <a:spLocks noChangeShapeType="1"/>
                </p:cNvSpPr>
                <p:nvPr/>
              </p:nvSpPr>
              <p:spPr bwMode="auto">
                <a:xfrm>
                  <a:off x="4176" y="957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57" name="Line 35"/>
                <p:cNvSpPr>
                  <a:spLocks noChangeShapeType="1"/>
                </p:cNvSpPr>
                <p:nvPr/>
              </p:nvSpPr>
              <p:spPr bwMode="auto">
                <a:xfrm>
                  <a:off x="4176" y="1244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58" name="Line 36"/>
                <p:cNvSpPr>
                  <a:spLocks noChangeShapeType="1"/>
                </p:cNvSpPr>
                <p:nvPr/>
              </p:nvSpPr>
              <p:spPr bwMode="auto">
                <a:xfrm>
                  <a:off x="4176" y="1531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59" name="Line 37"/>
                <p:cNvSpPr>
                  <a:spLocks noChangeShapeType="1"/>
                </p:cNvSpPr>
                <p:nvPr/>
              </p:nvSpPr>
              <p:spPr bwMode="auto">
                <a:xfrm>
                  <a:off x="4176" y="1818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0" name="Line 38"/>
                <p:cNvSpPr>
                  <a:spLocks noChangeShapeType="1"/>
                </p:cNvSpPr>
                <p:nvPr/>
              </p:nvSpPr>
              <p:spPr bwMode="auto">
                <a:xfrm>
                  <a:off x="4176" y="2105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1" name="Line 39"/>
                <p:cNvSpPr>
                  <a:spLocks noChangeShapeType="1"/>
                </p:cNvSpPr>
                <p:nvPr/>
              </p:nvSpPr>
              <p:spPr bwMode="auto">
                <a:xfrm>
                  <a:off x="4176" y="2392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2" name="Line 40"/>
                <p:cNvSpPr>
                  <a:spLocks noChangeShapeType="1"/>
                </p:cNvSpPr>
                <p:nvPr/>
              </p:nvSpPr>
              <p:spPr bwMode="auto">
                <a:xfrm>
                  <a:off x="4176" y="2679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3" name="Line 41"/>
                <p:cNvSpPr>
                  <a:spLocks noChangeShapeType="1"/>
                </p:cNvSpPr>
                <p:nvPr/>
              </p:nvSpPr>
              <p:spPr bwMode="auto">
                <a:xfrm>
                  <a:off x="4176" y="2966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4" name="Line 42"/>
                <p:cNvSpPr>
                  <a:spLocks noChangeShapeType="1"/>
                </p:cNvSpPr>
                <p:nvPr/>
              </p:nvSpPr>
              <p:spPr bwMode="auto">
                <a:xfrm>
                  <a:off x="4176" y="3253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5" name="Line 43"/>
                <p:cNvSpPr>
                  <a:spLocks noChangeShapeType="1"/>
                </p:cNvSpPr>
                <p:nvPr/>
              </p:nvSpPr>
              <p:spPr bwMode="auto">
                <a:xfrm>
                  <a:off x="4176" y="3540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6" name="Line 44"/>
                <p:cNvSpPr>
                  <a:spLocks noChangeShapeType="1"/>
                </p:cNvSpPr>
                <p:nvPr/>
              </p:nvSpPr>
              <p:spPr bwMode="auto">
                <a:xfrm>
                  <a:off x="4176" y="3827"/>
                  <a:ext cx="96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7" name="Line 45"/>
                <p:cNvSpPr>
                  <a:spLocks noChangeShapeType="1"/>
                </p:cNvSpPr>
                <p:nvPr/>
              </p:nvSpPr>
              <p:spPr bwMode="auto">
                <a:xfrm>
                  <a:off x="4176" y="96"/>
                  <a:ext cx="0" cy="3731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68" name="Line 46"/>
                <p:cNvSpPr>
                  <a:spLocks noChangeShapeType="1"/>
                </p:cNvSpPr>
                <p:nvPr/>
              </p:nvSpPr>
              <p:spPr bwMode="auto">
                <a:xfrm>
                  <a:off x="5136" y="96"/>
                  <a:ext cx="0" cy="3731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2235" name="Text Box 50"/>
              <p:cNvSpPr txBox="1">
                <a:spLocks noChangeArrowheads="1"/>
              </p:cNvSpPr>
              <p:nvPr/>
            </p:nvSpPr>
            <p:spPr bwMode="auto">
              <a:xfrm>
                <a:off x="4108" y="39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2236" name="Text Box 51"/>
              <p:cNvSpPr txBox="1">
                <a:spLocks noChangeArrowheads="1"/>
              </p:cNvSpPr>
              <p:nvPr/>
            </p:nvSpPr>
            <p:spPr bwMode="auto">
              <a:xfrm>
                <a:off x="4104" y="61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52237" name="Line 52"/>
              <p:cNvSpPr>
                <a:spLocks noChangeShapeType="1"/>
              </p:cNvSpPr>
              <p:nvPr/>
            </p:nvSpPr>
            <p:spPr bwMode="auto">
              <a:xfrm>
                <a:off x="4178" y="858"/>
                <a:ext cx="0" cy="467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38" name="Text Box 54"/>
              <p:cNvSpPr txBox="1">
                <a:spLocks noChangeArrowheads="1"/>
              </p:cNvSpPr>
              <p:nvPr/>
            </p:nvSpPr>
            <p:spPr bwMode="auto">
              <a:xfrm>
                <a:off x="3833" y="3767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ea typeface="宋体" panose="02010600030101010101" pitchFamily="2" charset="-122"/>
                  </a:rPr>
                  <a:t>m*n-1</a:t>
                </a:r>
              </a:p>
            </p:txBody>
          </p:sp>
          <p:sp>
            <p:nvSpPr>
              <p:cNvPr id="52239" name="Text Box 55"/>
              <p:cNvSpPr txBox="1">
                <a:spLocks noChangeArrowheads="1"/>
              </p:cNvSpPr>
              <p:nvPr/>
            </p:nvSpPr>
            <p:spPr bwMode="auto">
              <a:xfrm>
                <a:off x="4076" y="153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ea typeface="宋体" panose="02010600030101010101" pitchFamily="2" charset="-122"/>
                  </a:rPr>
                  <a:t>n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308850" y="6453188"/>
            <a:ext cx="1439863" cy="196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654F3E-F76F-4BD7-B987-DA1076AF498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zh-CN" altLang="en-US" sz="1000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1331913" y="568325"/>
            <a:ext cx="7273925" cy="6173788"/>
          </a:xfrm>
          <a:prstGeom prst="rect">
            <a:avLst/>
          </a:prstGeom>
          <a:solidFill>
            <a:srgbClr val="FFFFFF"/>
          </a:solidFill>
          <a:ln w="38100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2124075" y="1192213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  </a:t>
            </a:r>
            <a:r>
              <a:rPr lang="zh-CN" altLang="en-US" sz="1800" b="1">
                <a:solidFill>
                  <a:srgbClr val="0000FF"/>
                </a:solidFill>
                <a:ea typeface="宋体" panose="02010600030101010101" pitchFamily="2" charset="-122"/>
              </a:rPr>
              <a:t>按列序为主序存放</a:t>
            </a:r>
          </a:p>
        </p:txBody>
      </p: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5795963" y="688975"/>
            <a:ext cx="2495550" cy="5922963"/>
            <a:chOff x="3420" y="348"/>
            <a:chExt cx="1572" cy="3731"/>
          </a:xfrm>
        </p:grpSpPr>
        <p:sp>
          <p:nvSpPr>
            <p:cNvPr id="53266" name="Text Box 5"/>
            <p:cNvSpPr txBox="1">
              <a:spLocks noChangeArrowheads="1"/>
            </p:cNvSpPr>
            <p:nvPr/>
          </p:nvSpPr>
          <p:spPr bwMode="auto">
            <a:xfrm>
              <a:off x="3700" y="37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3267" name="Text Box 6"/>
            <p:cNvSpPr txBox="1">
              <a:spLocks noChangeArrowheads="1"/>
            </p:cNvSpPr>
            <p:nvPr/>
          </p:nvSpPr>
          <p:spPr bwMode="auto">
            <a:xfrm>
              <a:off x="3696" y="66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3268" name="Line 7"/>
            <p:cNvSpPr>
              <a:spLocks noChangeShapeType="1"/>
            </p:cNvSpPr>
            <p:nvPr/>
          </p:nvSpPr>
          <p:spPr bwMode="auto">
            <a:xfrm>
              <a:off x="3770" y="834"/>
              <a:ext cx="0" cy="46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9" name="Text Box 8"/>
            <p:cNvSpPr txBox="1">
              <a:spLocks noChangeArrowheads="1"/>
            </p:cNvSpPr>
            <p:nvPr/>
          </p:nvSpPr>
          <p:spPr bwMode="auto">
            <a:xfrm>
              <a:off x="3556" y="1284"/>
              <a:ext cx="3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m-1</a:t>
              </a:r>
            </a:p>
          </p:txBody>
        </p:sp>
        <p:sp>
          <p:nvSpPr>
            <p:cNvPr id="53270" name="Text Box 9"/>
            <p:cNvSpPr txBox="1">
              <a:spLocks noChangeArrowheads="1"/>
            </p:cNvSpPr>
            <p:nvPr/>
          </p:nvSpPr>
          <p:spPr bwMode="auto">
            <a:xfrm>
              <a:off x="3420" y="3779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m*n-1</a:t>
              </a:r>
            </a:p>
          </p:txBody>
        </p:sp>
        <p:sp>
          <p:nvSpPr>
            <p:cNvPr id="53271" name="Text Box 10"/>
            <p:cNvSpPr txBox="1">
              <a:spLocks noChangeArrowheads="1"/>
            </p:cNvSpPr>
            <p:nvPr/>
          </p:nvSpPr>
          <p:spPr bwMode="auto">
            <a:xfrm>
              <a:off x="3668" y="151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m</a:t>
              </a:r>
            </a:p>
          </p:txBody>
        </p:sp>
        <p:grpSp>
          <p:nvGrpSpPr>
            <p:cNvPr id="53272" name="Group 11"/>
            <p:cNvGrpSpPr>
              <a:grpSpLocks/>
            </p:cNvGrpSpPr>
            <p:nvPr/>
          </p:nvGrpSpPr>
          <p:grpSpPr bwMode="auto">
            <a:xfrm>
              <a:off x="3936" y="348"/>
              <a:ext cx="1056" cy="3731"/>
              <a:chOff x="432" y="576"/>
              <a:chExt cx="1056" cy="3731"/>
            </a:xfrm>
          </p:grpSpPr>
          <p:sp>
            <p:nvSpPr>
              <p:cNvPr id="53273" name="Rectangle 12"/>
              <p:cNvSpPr>
                <a:spLocks noChangeArrowheads="1"/>
              </p:cNvSpPr>
              <p:nvPr/>
            </p:nvSpPr>
            <p:spPr bwMode="auto">
              <a:xfrm>
                <a:off x="432" y="4020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      a</a:t>
                </a:r>
                <a:r>
                  <a:rPr lang="en-US" altLang="zh-CN" sz="1800" b="1" baseline="-250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m-1n-1</a:t>
                </a:r>
              </a:p>
            </p:txBody>
          </p:sp>
          <p:sp>
            <p:nvSpPr>
              <p:cNvPr id="53274" name="Rectangle 13"/>
              <p:cNvSpPr>
                <a:spLocks noChangeArrowheads="1"/>
              </p:cNvSpPr>
              <p:nvPr/>
            </p:nvSpPr>
            <p:spPr bwMode="auto">
              <a:xfrm>
                <a:off x="432" y="3733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    …….. </a:t>
                </a:r>
              </a:p>
            </p:txBody>
          </p:sp>
          <p:sp>
            <p:nvSpPr>
              <p:cNvPr id="53275" name="Rectangle 14"/>
              <p:cNvSpPr>
                <a:spLocks noChangeArrowheads="1"/>
              </p:cNvSpPr>
              <p:nvPr/>
            </p:nvSpPr>
            <p:spPr bwMode="auto">
              <a:xfrm>
                <a:off x="432" y="3446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 baseline="-250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         </a:t>
                </a:r>
                <a:r>
                  <a:rPr lang="en-US" altLang="zh-CN" sz="18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1800" b="1" baseline="-250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1n-1</a:t>
                </a:r>
              </a:p>
            </p:txBody>
          </p:sp>
          <p:sp>
            <p:nvSpPr>
              <p:cNvPr id="53276" name="Rectangle 15"/>
              <p:cNvSpPr>
                <a:spLocks noChangeArrowheads="1"/>
              </p:cNvSpPr>
              <p:nvPr/>
            </p:nvSpPr>
            <p:spPr bwMode="auto">
              <a:xfrm>
                <a:off x="432" y="3159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      a</a:t>
                </a:r>
                <a:r>
                  <a:rPr lang="en-US" altLang="zh-CN" sz="1800" b="1" baseline="-250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0n-1 </a:t>
                </a:r>
              </a:p>
            </p:txBody>
          </p:sp>
          <p:sp>
            <p:nvSpPr>
              <p:cNvPr id="53277" name="Rectangle 16"/>
              <p:cNvSpPr>
                <a:spLocks noChangeArrowheads="1"/>
              </p:cNvSpPr>
              <p:nvPr/>
            </p:nvSpPr>
            <p:spPr bwMode="auto">
              <a:xfrm>
                <a:off x="432" y="2872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ea typeface="宋体" panose="02010600030101010101" pitchFamily="2" charset="-122"/>
                  </a:rPr>
                  <a:t> ……….</a:t>
                </a:r>
                <a:endParaRPr lang="en-US" altLang="zh-CN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53278" name="Rectangle 17"/>
              <p:cNvSpPr>
                <a:spLocks noChangeArrowheads="1"/>
              </p:cNvSpPr>
              <p:nvPr/>
            </p:nvSpPr>
            <p:spPr bwMode="auto">
              <a:xfrm>
                <a:off x="432" y="2585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rgbClr val="008000"/>
                    </a:solidFill>
                    <a:ea typeface="宋体" panose="02010600030101010101" pitchFamily="2" charset="-122"/>
                  </a:rPr>
                  <a:t>      a</a:t>
                </a:r>
                <a:r>
                  <a:rPr lang="en-US" altLang="zh-CN" sz="1800" b="1" baseline="-25000">
                    <a:solidFill>
                      <a:srgbClr val="008000"/>
                    </a:solidFill>
                    <a:ea typeface="宋体" panose="02010600030101010101" pitchFamily="2" charset="-122"/>
                  </a:rPr>
                  <a:t>m-11 </a:t>
                </a:r>
              </a:p>
            </p:txBody>
          </p:sp>
          <p:sp>
            <p:nvSpPr>
              <p:cNvPr id="53279" name="Rectangle 18"/>
              <p:cNvSpPr>
                <a:spLocks noChangeArrowheads="1"/>
              </p:cNvSpPr>
              <p:nvPr/>
            </p:nvSpPr>
            <p:spPr bwMode="auto">
              <a:xfrm>
                <a:off x="432" y="2298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rgbClr val="008000"/>
                    </a:solidFill>
                    <a:ea typeface="宋体" panose="02010600030101010101" pitchFamily="2" charset="-122"/>
                  </a:rPr>
                  <a:t>     …….. </a:t>
                </a:r>
              </a:p>
            </p:txBody>
          </p:sp>
          <p:sp>
            <p:nvSpPr>
              <p:cNvPr id="53280" name="Rectangle 19"/>
              <p:cNvSpPr>
                <a:spLocks noChangeArrowheads="1"/>
              </p:cNvSpPr>
              <p:nvPr/>
            </p:nvSpPr>
            <p:spPr bwMode="auto">
              <a:xfrm>
                <a:off x="432" y="2011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 baseline="-25000">
                    <a:solidFill>
                      <a:srgbClr val="008000"/>
                    </a:solidFill>
                    <a:ea typeface="宋体" panose="02010600030101010101" pitchFamily="2" charset="-122"/>
                  </a:rPr>
                  <a:t>         </a:t>
                </a:r>
                <a:r>
                  <a:rPr lang="en-US" altLang="zh-CN" sz="1800" b="1">
                    <a:solidFill>
                      <a:srgbClr val="008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1800" b="1" baseline="-25000">
                    <a:solidFill>
                      <a:srgbClr val="008000"/>
                    </a:solidFill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53281" name="Rectangle 20"/>
              <p:cNvSpPr>
                <a:spLocks noChangeArrowheads="1"/>
              </p:cNvSpPr>
              <p:nvPr/>
            </p:nvSpPr>
            <p:spPr bwMode="auto">
              <a:xfrm>
                <a:off x="432" y="1724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rgbClr val="008000"/>
                    </a:solidFill>
                    <a:ea typeface="宋体" panose="02010600030101010101" pitchFamily="2" charset="-122"/>
                  </a:rPr>
                  <a:t>      a</a:t>
                </a:r>
                <a:r>
                  <a:rPr lang="en-US" altLang="zh-CN" sz="1800" b="1" baseline="-25000">
                    <a:solidFill>
                      <a:srgbClr val="008000"/>
                    </a:solidFill>
                    <a:ea typeface="宋体" panose="02010600030101010101" pitchFamily="2" charset="-122"/>
                  </a:rPr>
                  <a:t>01 </a:t>
                </a:r>
              </a:p>
            </p:txBody>
          </p:sp>
          <p:sp>
            <p:nvSpPr>
              <p:cNvPr id="53282" name="Rectangle 21"/>
              <p:cNvSpPr>
                <a:spLocks noChangeArrowheads="1"/>
              </p:cNvSpPr>
              <p:nvPr/>
            </p:nvSpPr>
            <p:spPr bwMode="auto">
              <a:xfrm>
                <a:off x="432" y="1437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      a</a:t>
                </a:r>
                <a:r>
                  <a:rPr lang="en-US" altLang="zh-CN" sz="1800" b="1" baseline="-25000">
                    <a:solidFill>
                      <a:srgbClr val="FF0000"/>
                    </a:solidFill>
                    <a:ea typeface="宋体" panose="02010600030101010101" pitchFamily="2" charset="-122"/>
                  </a:rPr>
                  <a:t>m-10</a:t>
                </a:r>
                <a:r>
                  <a:rPr lang="en-US" altLang="zh-CN" sz="1800" b="1" baseline="-25000">
                    <a:ea typeface="宋体" panose="02010600030101010101" pitchFamily="2" charset="-122"/>
                  </a:rPr>
                  <a:t> </a:t>
                </a:r>
                <a:endParaRPr lang="en-US" altLang="zh-CN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53283" name="Rectangle 22"/>
              <p:cNvSpPr>
                <a:spLocks noChangeArrowheads="1"/>
              </p:cNvSpPr>
              <p:nvPr/>
            </p:nvSpPr>
            <p:spPr bwMode="auto">
              <a:xfrm>
                <a:off x="432" y="1150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    …….</a:t>
                </a:r>
              </a:p>
            </p:txBody>
          </p:sp>
          <p:sp>
            <p:nvSpPr>
              <p:cNvPr id="53284" name="Rectangle 23"/>
              <p:cNvSpPr>
                <a:spLocks noChangeArrowheads="1"/>
              </p:cNvSpPr>
              <p:nvPr/>
            </p:nvSpPr>
            <p:spPr bwMode="auto">
              <a:xfrm>
                <a:off x="432" y="863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      a</a:t>
                </a:r>
                <a:r>
                  <a:rPr lang="en-US" altLang="zh-CN" sz="1800" b="1" baseline="-25000">
                    <a:solidFill>
                      <a:srgbClr val="FF0000"/>
                    </a:solidFill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53285" name="Rectangle 24"/>
              <p:cNvSpPr>
                <a:spLocks noChangeArrowheads="1"/>
              </p:cNvSpPr>
              <p:nvPr/>
            </p:nvSpPr>
            <p:spPr bwMode="auto">
              <a:xfrm>
                <a:off x="432" y="576"/>
                <a:ext cx="1056" cy="287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ts val="1200"/>
                  </a:spcBef>
                  <a:spcAft>
                    <a:spcPts val="120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 baseline="-25000">
                    <a:ea typeface="宋体" panose="02010600030101010101" pitchFamily="2" charset="-122"/>
                  </a:rPr>
                  <a:t>         </a:t>
                </a:r>
                <a:r>
                  <a:rPr lang="en-US" altLang="zh-CN" sz="1800" b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1800" b="1" baseline="-25000">
                    <a:solidFill>
                      <a:srgbClr val="FF0000"/>
                    </a:solidFill>
                    <a:ea typeface="宋体" panose="02010600030101010101" pitchFamily="2" charset="-122"/>
                  </a:rPr>
                  <a:t>00</a:t>
                </a:r>
              </a:p>
            </p:txBody>
          </p:sp>
          <p:sp>
            <p:nvSpPr>
              <p:cNvPr id="53286" name="Line 25"/>
              <p:cNvSpPr>
                <a:spLocks noChangeShapeType="1"/>
              </p:cNvSpPr>
              <p:nvPr/>
            </p:nvSpPr>
            <p:spPr bwMode="auto">
              <a:xfrm>
                <a:off x="432" y="576"/>
                <a:ext cx="10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87" name="Line 26"/>
              <p:cNvSpPr>
                <a:spLocks noChangeShapeType="1"/>
              </p:cNvSpPr>
              <p:nvPr/>
            </p:nvSpPr>
            <p:spPr bwMode="auto">
              <a:xfrm>
                <a:off x="432" y="863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88" name="Line 27"/>
              <p:cNvSpPr>
                <a:spLocks noChangeShapeType="1"/>
              </p:cNvSpPr>
              <p:nvPr/>
            </p:nvSpPr>
            <p:spPr bwMode="auto">
              <a:xfrm>
                <a:off x="432" y="1150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89" name="Line 28"/>
              <p:cNvSpPr>
                <a:spLocks noChangeShapeType="1"/>
              </p:cNvSpPr>
              <p:nvPr/>
            </p:nvSpPr>
            <p:spPr bwMode="auto">
              <a:xfrm>
                <a:off x="432" y="1437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0" name="Line 29"/>
              <p:cNvSpPr>
                <a:spLocks noChangeShapeType="1"/>
              </p:cNvSpPr>
              <p:nvPr/>
            </p:nvSpPr>
            <p:spPr bwMode="auto">
              <a:xfrm>
                <a:off x="432" y="1724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1" name="Line 30"/>
              <p:cNvSpPr>
                <a:spLocks noChangeShapeType="1"/>
              </p:cNvSpPr>
              <p:nvPr/>
            </p:nvSpPr>
            <p:spPr bwMode="auto">
              <a:xfrm>
                <a:off x="432" y="2011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2" name="Line 31"/>
              <p:cNvSpPr>
                <a:spLocks noChangeShapeType="1"/>
              </p:cNvSpPr>
              <p:nvPr/>
            </p:nvSpPr>
            <p:spPr bwMode="auto">
              <a:xfrm>
                <a:off x="432" y="2298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3" name="Line 32"/>
              <p:cNvSpPr>
                <a:spLocks noChangeShapeType="1"/>
              </p:cNvSpPr>
              <p:nvPr/>
            </p:nvSpPr>
            <p:spPr bwMode="auto">
              <a:xfrm>
                <a:off x="432" y="2585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4" name="Line 33"/>
              <p:cNvSpPr>
                <a:spLocks noChangeShapeType="1"/>
              </p:cNvSpPr>
              <p:nvPr/>
            </p:nvSpPr>
            <p:spPr bwMode="auto">
              <a:xfrm>
                <a:off x="432" y="2872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5" name="Line 34"/>
              <p:cNvSpPr>
                <a:spLocks noChangeShapeType="1"/>
              </p:cNvSpPr>
              <p:nvPr/>
            </p:nvSpPr>
            <p:spPr bwMode="auto">
              <a:xfrm>
                <a:off x="432" y="3159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6" name="Line 35"/>
              <p:cNvSpPr>
                <a:spLocks noChangeShapeType="1"/>
              </p:cNvSpPr>
              <p:nvPr/>
            </p:nvSpPr>
            <p:spPr bwMode="auto">
              <a:xfrm>
                <a:off x="432" y="3446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7" name="Line 36"/>
              <p:cNvSpPr>
                <a:spLocks noChangeShapeType="1"/>
              </p:cNvSpPr>
              <p:nvPr/>
            </p:nvSpPr>
            <p:spPr bwMode="auto">
              <a:xfrm>
                <a:off x="432" y="3733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8" name="Line 37"/>
              <p:cNvSpPr>
                <a:spLocks noChangeShapeType="1"/>
              </p:cNvSpPr>
              <p:nvPr/>
            </p:nvSpPr>
            <p:spPr bwMode="auto">
              <a:xfrm>
                <a:off x="432" y="4020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9" name="Line 38"/>
              <p:cNvSpPr>
                <a:spLocks noChangeShapeType="1"/>
              </p:cNvSpPr>
              <p:nvPr/>
            </p:nvSpPr>
            <p:spPr bwMode="auto">
              <a:xfrm>
                <a:off x="432" y="4307"/>
                <a:ext cx="10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00" name="Line 39"/>
              <p:cNvSpPr>
                <a:spLocks noChangeShapeType="1"/>
              </p:cNvSpPr>
              <p:nvPr/>
            </p:nvSpPr>
            <p:spPr bwMode="auto">
              <a:xfrm>
                <a:off x="432" y="576"/>
                <a:ext cx="0" cy="373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01" name="Line 40"/>
              <p:cNvSpPr>
                <a:spLocks noChangeShapeType="1"/>
              </p:cNvSpPr>
              <p:nvPr/>
            </p:nvSpPr>
            <p:spPr bwMode="auto">
              <a:xfrm>
                <a:off x="1488" y="576"/>
                <a:ext cx="0" cy="373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2" name="Group 54"/>
          <p:cNvGrpSpPr>
            <a:grpSpLocks/>
          </p:cNvGrpSpPr>
          <p:nvPr/>
        </p:nvGrpSpPr>
        <p:grpSpPr bwMode="auto">
          <a:xfrm>
            <a:off x="1187624" y="2741613"/>
            <a:ext cx="5181600" cy="2481262"/>
            <a:chOff x="720" y="1641"/>
            <a:chExt cx="3264" cy="1563"/>
          </a:xfrm>
        </p:grpSpPr>
        <p:sp>
          <p:nvSpPr>
            <p:cNvPr id="53256" name="Text Box 42"/>
            <p:cNvSpPr txBox="1">
              <a:spLocks noChangeArrowheads="1"/>
            </p:cNvSpPr>
            <p:nvPr/>
          </p:nvSpPr>
          <p:spPr bwMode="auto">
            <a:xfrm>
              <a:off x="720" y="1668"/>
              <a:ext cx="31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b="1">
                  <a:ea typeface="宋体" panose="02010600030101010101" pitchFamily="2" charset="-122"/>
                </a:rPr>
                <a:t>       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      </a:t>
              </a:r>
              <a:r>
                <a:rPr lang="en-US" altLang="zh-CN" sz="2800" b="1">
                  <a:solidFill>
                    <a:srgbClr val="FF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rgbClr val="FF0000"/>
                  </a:solidFill>
                  <a:ea typeface="宋体" panose="02010600030101010101" pitchFamily="2" charset="-122"/>
                </a:rPr>
                <a:t>00    </a:t>
              </a:r>
              <a:r>
                <a:rPr lang="en-US" altLang="zh-CN" sz="2800" b="1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01</a:t>
              </a:r>
              <a:r>
                <a:rPr lang="en-US" altLang="zh-CN" sz="2800" b="1" baseline="-25000">
                  <a:solidFill>
                    <a:srgbClr val="FF0000"/>
                  </a:solidFill>
                  <a:ea typeface="宋体" panose="02010600030101010101" pitchFamily="2" charset="-122"/>
                </a:rPr>
                <a:t>   </a:t>
              </a:r>
              <a:r>
                <a:rPr lang="en-US" altLang="zh-CN" sz="2800" b="1">
                  <a:ea typeface="宋体" panose="02010600030101010101" pitchFamily="2" charset="-122"/>
                </a:rPr>
                <a:t>……..</a:t>
              </a:r>
              <a:r>
                <a:rPr lang="en-US" altLang="zh-CN" sz="2800" b="1">
                  <a:solidFill>
                    <a:srgbClr val="FF0000"/>
                  </a:solidFill>
                  <a:ea typeface="宋体" panose="02010600030101010101" pitchFamily="2" charset="-122"/>
                </a:rPr>
                <a:t>    </a:t>
              </a:r>
              <a:r>
                <a:rPr lang="en-US" altLang="zh-CN" sz="28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0n-1</a:t>
              </a:r>
            </a:p>
          </p:txBody>
        </p:sp>
        <p:sp>
          <p:nvSpPr>
            <p:cNvPr id="53257" name="Text Box 43"/>
            <p:cNvSpPr txBox="1">
              <a:spLocks noChangeArrowheads="1"/>
            </p:cNvSpPr>
            <p:nvPr/>
          </p:nvSpPr>
          <p:spPr bwMode="auto">
            <a:xfrm>
              <a:off x="720" y="2004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b="1">
                  <a:ea typeface="宋体" panose="02010600030101010101" pitchFamily="2" charset="-122"/>
                </a:rPr>
                <a:t>      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       </a:t>
              </a:r>
              <a:r>
                <a:rPr lang="en-US" altLang="zh-CN" sz="2800" b="1">
                  <a:solidFill>
                    <a:srgbClr val="FF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rgbClr val="FF0000"/>
                  </a:solidFill>
                  <a:ea typeface="宋体" panose="02010600030101010101" pitchFamily="2" charset="-122"/>
                </a:rPr>
                <a:t>10 </a:t>
              </a:r>
              <a:r>
                <a:rPr lang="en-US" altLang="zh-CN" sz="2800" b="1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    </a:t>
              </a: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11   </a:t>
              </a:r>
              <a:r>
                <a:rPr lang="en-US" altLang="zh-CN" sz="2800" b="1">
                  <a:ea typeface="宋体" panose="02010600030101010101" pitchFamily="2" charset="-122"/>
                </a:rPr>
                <a:t>……..</a:t>
              </a: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    </a:t>
              </a:r>
              <a:r>
                <a:rPr lang="en-US" altLang="zh-CN" sz="28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1n-1</a:t>
              </a:r>
              <a:r>
                <a:rPr lang="en-US" altLang="zh-CN" sz="20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53258" name="Text Box 44"/>
            <p:cNvSpPr txBox="1">
              <a:spLocks noChangeArrowheads="1"/>
            </p:cNvSpPr>
            <p:nvPr/>
          </p:nvSpPr>
          <p:spPr bwMode="auto">
            <a:xfrm>
              <a:off x="720" y="2820"/>
              <a:ext cx="32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b="1" baseline="-25000">
                  <a:ea typeface="宋体" panose="02010600030101010101" pitchFamily="2" charset="-122"/>
                </a:rPr>
                <a:t>     </a:t>
              </a:r>
              <a:r>
                <a:rPr lang="en-US" altLang="zh-CN" sz="2800" b="1">
                  <a:ea typeface="宋体" panose="02010600030101010101" pitchFamily="2" charset="-122"/>
                </a:rPr>
                <a:t>    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     </a:t>
              </a:r>
              <a:r>
                <a:rPr lang="en-US" altLang="zh-CN" sz="2800" b="1">
                  <a:solidFill>
                    <a:srgbClr val="FF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rgbClr val="FF0000"/>
                  </a:solidFill>
                  <a:ea typeface="宋体" panose="02010600030101010101" pitchFamily="2" charset="-122"/>
                </a:rPr>
                <a:t>m-10</a:t>
              </a: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m-11</a:t>
              </a:r>
              <a:r>
                <a:rPr lang="en-US" altLang="zh-CN" sz="28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   </a:t>
              </a:r>
              <a:r>
                <a:rPr lang="en-US" altLang="zh-CN" sz="2800" b="1">
                  <a:ea typeface="宋体" panose="02010600030101010101" pitchFamily="2" charset="-122"/>
                </a:rPr>
                <a:t>…    </a:t>
              </a:r>
              <a:r>
                <a:rPr lang="en-US" altLang="zh-CN" sz="2800" b="1">
                  <a:solidFill>
                    <a:schemeClr val="accent2"/>
                  </a:solidFill>
                  <a:ea typeface="宋体" panose="02010600030101010101" pitchFamily="2" charset="-122"/>
                </a:rPr>
                <a:t>   a</a:t>
              </a:r>
              <a:r>
                <a:rPr lang="en-US" altLang="zh-CN" sz="2800" b="1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m-1n-1</a:t>
              </a:r>
              <a:r>
                <a:rPr lang="en-US" altLang="zh-CN" sz="2000" b="1" baseline="-25000"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53259" name="Text Box 45"/>
            <p:cNvSpPr txBox="1">
              <a:spLocks noChangeArrowheads="1"/>
            </p:cNvSpPr>
            <p:nvPr/>
          </p:nvSpPr>
          <p:spPr bwMode="auto">
            <a:xfrm>
              <a:off x="720" y="2484"/>
              <a:ext cx="2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ts val="1200"/>
                </a:spcBef>
                <a:spcAft>
                  <a:spcPts val="1200"/>
                </a:spcAft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ts val="1200"/>
                </a:spcBef>
                <a:spcAft>
                  <a:spcPts val="1200"/>
                </a:spcAft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b="1">
                  <a:ea typeface="宋体" panose="02010600030101010101" pitchFamily="2" charset="-122"/>
                </a:rPr>
                <a:t>             ………………….</a:t>
              </a:r>
            </a:p>
          </p:txBody>
        </p:sp>
        <p:sp>
          <p:nvSpPr>
            <p:cNvPr id="53260" name="Line 46"/>
            <p:cNvSpPr>
              <a:spLocks noChangeShapeType="1"/>
            </p:cNvSpPr>
            <p:nvPr/>
          </p:nvSpPr>
          <p:spPr bwMode="auto">
            <a:xfrm>
              <a:off x="1248" y="1668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1" name="Line 47"/>
            <p:cNvSpPr>
              <a:spLocks noChangeShapeType="1"/>
            </p:cNvSpPr>
            <p:nvPr/>
          </p:nvSpPr>
          <p:spPr bwMode="auto">
            <a:xfrm>
              <a:off x="1248" y="166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2" name="Line 48"/>
            <p:cNvSpPr>
              <a:spLocks noChangeShapeType="1"/>
            </p:cNvSpPr>
            <p:nvPr/>
          </p:nvSpPr>
          <p:spPr bwMode="auto">
            <a:xfrm>
              <a:off x="1248" y="320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3" name="Line 49"/>
            <p:cNvSpPr>
              <a:spLocks noChangeShapeType="1"/>
            </p:cNvSpPr>
            <p:nvPr/>
          </p:nvSpPr>
          <p:spPr bwMode="auto">
            <a:xfrm>
              <a:off x="3828" y="1641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4" name="Line 50"/>
            <p:cNvSpPr>
              <a:spLocks noChangeShapeType="1"/>
            </p:cNvSpPr>
            <p:nvPr/>
          </p:nvSpPr>
          <p:spPr bwMode="auto">
            <a:xfrm>
              <a:off x="3684" y="1641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5" name="Line 51"/>
            <p:cNvSpPr>
              <a:spLocks noChangeShapeType="1"/>
            </p:cNvSpPr>
            <p:nvPr/>
          </p:nvSpPr>
          <p:spPr bwMode="auto">
            <a:xfrm>
              <a:off x="3684" y="317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Text Box 52"/>
          <p:cNvSpPr txBox="1">
            <a:spLocks noChangeArrowheads="1"/>
          </p:cNvSpPr>
          <p:nvPr/>
        </p:nvSpPr>
        <p:spPr bwMode="auto">
          <a:xfrm>
            <a:off x="1757363" y="5489575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800" b="1">
                <a:solidFill>
                  <a:srgbClr val="FF3300"/>
                </a:solidFill>
                <a:ea typeface="宋体" panose="02010600030101010101" pitchFamily="2" charset="-122"/>
              </a:rPr>
              <a:t>Loc(a</a:t>
            </a:r>
            <a:r>
              <a:rPr lang="en-US" altLang="zh-CN" sz="1800" b="1" baseline="-25000">
                <a:solidFill>
                  <a:srgbClr val="FF3300"/>
                </a:solidFill>
                <a:ea typeface="宋体" panose="02010600030101010101" pitchFamily="2" charset="-122"/>
              </a:rPr>
              <a:t>ij</a:t>
            </a:r>
            <a:r>
              <a:rPr lang="en-US" altLang="zh-CN" sz="1800" b="1">
                <a:solidFill>
                  <a:srgbClr val="FF3300"/>
                </a:solidFill>
                <a:ea typeface="宋体" panose="02010600030101010101" pitchFamily="2" charset="-122"/>
              </a:rPr>
              <a:t>)=Loc(</a:t>
            </a:r>
            <a:r>
              <a:rPr lang="en-US" altLang="zh-CN" sz="2800" b="1">
                <a:solidFill>
                  <a:srgbClr val="FF33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baseline="-25000">
                <a:solidFill>
                  <a:srgbClr val="FF3300"/>
                </a:solidFill>
                <a:ea typeface="宋体" panose="02010600030101010101" pitchFamily="2" charset="-122"/>
              </a:rPr>
              <a:t>00</a:t>
            </a:r>
            <a:r>
              <a:rPr lang="en-US" altLang="zh-CN" sz="1800" b="1">
                <a:solidFill>
                  <a:srgbClr val="FF3300"/>
                </a:solidFill>
                <a:ea typeface="宋体" panose="02010600030101010101" pitchFamily="2" charset="-122"/>
              </a:rPr>
              <a:t>)+[j*m+i]*L</a:t>
            </a:r>
            <a:r>
              <a:rPr lang="en-US" altLang="zh-CN" sz="2800" b="1" baseline="-250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4-3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4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F9895-6977-4412-8807-5F763DF1F9A9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1601480"/>
            <a:ext cx="6969968" cy="312366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hangingPunct="1"/>
            <a:r>
              <a:rPr lang="zh-CN" altLang="en-US" sz="2800" dirty="0"/>
              <a:t>二维数组</a:t>
            </a:r>
            <a:r>
              <a:rPr kumimoji="1" lang="en-US" altLang="zh-CN" sz="2800" b="1" dirty="0">
                <a:latin typeface="Arial Unicode MS" panose="020B0604020202020204" pitchFamily="34" charset="-122"/>
                <a:ea typeface="楷体_GB2312" pitchFamily="49" charset="-122"/>
              </a:rPr>
              <a:t>A(8☓10)</a:t>
            </a: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dirty="0"/>
              <a:t>其每个元素占</a:t>
            </a:r>
            <a:r>
              <a:rPr lang="en-US" altLang="zh-CN" sz="2800" dirty="0"/>
              <a:t>4</a:t>
            </a:r>
            <a:r>
              <a:rPr lang="zh-CN" altLang="en-US" sz="2800" dirty="0"/>
              <a:t>个字节， 首元素的存储地址为</a:t>
            </a:r>
            <a:r>
              <a:rPr lang="en-US" altLang="zh-CN" sz="2800" dirty="0"/>
              <a:t>10</a:t>
            </a:r>
            <a:r>
              <a:rPr lang="zh-CN" altLang="en-US" sz="2800" dirty="0"/>
              <a:t>。假设数组下标均从</a:t>
            </a:r>
            <a:r>
              <a:rPr lang="en-US" altLang="zh-CN" sz="2800" dirty="0"/>
              <a:t>0</a:t>
            </a:r>
            <a:r>
              <a:rPr lang="zh-CN" altLang="en-US" sz="2800" dirty="0"/>
              <a:t>开始。</a:t>
            </a:r>
            <a:endParaRPr lang="en-US" altLang="zh-CN" sz="2800" dirty="0"/>
          </a:p>
          <a:p>
            <a:pPr hangingPunct="1"/>
            <a:r>
              <a:rPr lang="zh-CN" altLang="en-US" sz="2800" dirty="0"/>
              <a:t>若按行优先顺序存储，则元素</a:t>
            </a:r>
            <a:r>
              <a:rPr lang="en-US" altLang="zh-CN" sz="2800" dirty="0"/>
              <a:t>A[3][5]</a:t>
            </a:r>
            <a:r>
              <a:rPr lang="zh-CN" altLang="en-US" sz="2800" dirty="0"/>
              <a:t>的存储地址是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endParaRPr lang="zh-CN" altLang="en-US" sz="2800" dirty="0"/>
          </a:p>
          <a:p>
            <a:pPr hangingPunct="1"/>
            <a:r>
              <a:rPr lang="zh-CN" altLang="en-US" sz="2800" dirty="0"/>
              <a:t>若按列优先顺序存储，元素</a:t>
            </a:r>
            <a:r>
              <a:rPr lang="en-US" altLang="zh-CN" sz="2800" dirty="0"/>
              <a:t>A[3][5]</a:t>
            </a:r>
            <a:r>
              <a:rPr lang="zh-CN" altLang="en-US" sz="2800" dirty="0"/>
              <a:t>的存储地址是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endParaRPr lang="en-US" altLang="zh-CN" sz="2800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E81D7E2-DC73-8948-BBDC-AD693539E4CB}"/>
              </a:ext>
            </a:extLst>
          </p:cNvPr>
          <p:cNvSpPr txBox="1"/>
          <p:nvPr/>
        </p:nvSpPr>
        <p:spPr>
          <a:xfrm>
            <a:off x="1799617" y="522375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150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159EA3-B2B4-4E47-A575-28FC0301B779}"/>
              </a:ext>
            </a:extLst>
          </p:cNvPr>
          <p:cNvSpPr txBox="1"/>
          <p:nvPr/>
        </p:nvSpPr>
        <p:spPr>
          <a:xfrm>
            <a:off x="3891064" y="534048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182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6722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矩阵的压缩存储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矩阵是很多科学计算与工程问题中研究的数据对象</a:t>
            </a:r>
            <a:endParaRPr lang="en-US" altLang="zh-CN" dirty="0"/>
          </a:p>
          <a:p>
            <a:pPr lvl="1"/>
            <a:r>
              <a:rPr lang="en-US" altLang="zh-CN" dirty="0"/>
              <a:t>PageRank</a:t>
            </a:r>
            <a:r>
              <a:rPr lang="zh-CN" altLang="en-US" dirty="0"/>
              <a:t>算法、协同过滤推荐算法</a:t>
            </a:r>
            <a:endParaRPr lang="en-US" altLang="zh-CN" dirty="0"/>
          </a:p>
          <a:p>
            <a:r>
              <a:rPr lang="zh-CN" altLang="en-US" dirty="0"/>
              <a:t>所谓特殊矩阵是指非零元素或零元素的分布有一定规律的矩阵</a:t>
            </a:r>
            <a:endParaRPr lang="en-US" altLang="zh-CN" dirty="0"/>
          </a:p>
          <a:p>
            <a:pPr lvl="1"/>
            <a:r>
              <a:rPr lang="zh-CN" altLang="en-US" dirty="0"/>
              <a:t>对称矩阵 </a:t>
            </a:r>
            <a:r>
              <a:rPr lang="en-US" altLang="zh-CN" dirty="0"/>
              <a:t>(</a:t>
            </a:r>
            <a:r>
              <a:rPr lang="en-US" altLang="zh-CN" dirty="0" err="1"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dirty="0" err="1"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ym typeface="Symbol" panose="05050102010706020507" pitchFamily="18" charset="2"/>
              </a:rPr>
              <a:t>ji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/>
          </a:p>
          <a:p>
            <a:pPr lvl="1"/>
            <a:r>
              <a:rPr lang="zh-CN" altLang="en-US" dirty="0"/>
              <a:t>三角矩阵</a:t>
            </a:r>
            <a:endParaRPr lang="en-US" altLang="zh-CN" dirty="0"/>
          </a:p>
          <a:p>
            <a:pPr lvl="1"/>
            <a:r>
              <a:rPr lang="zh-CN" altLang="en-US" dirty="0"/>
              <a:t>对角矩阵</a:t>
            </a:r>
            <a:endParaRPr lang="en-US" altLang="zh-CN" dirty="0"/>
          </a:p>
          <a:p>
            <a:pPr lvl="1"/>
            <a:r>
              <a:rPr lang="zh-CN" altLang="en-US" dirty="0"/>
              <a:t>稀疏矩阵</a:t>
            </a:r>
            <a:endParaRPr lang="en-US" altLang="zh-CN" dirty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06D151-B58A-4212-B407-2C292ADC5C87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zh-CN" altLang="en-US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稀疏矩阵</a:t>
            </a:r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085D21-4AE5-40D6-ABF3-AC849095D03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zh-CN" altLang="en-US" sz="1000"/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835025" y="1265238"/>
            <a:ext cx="7840663" cy="2247900"/>
            <a:chOff x="1344" y="912"/>
            <a:chExt cx="4032" cy="1621"/>
          </a:xfrm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1344" y="912"/>
              <a:ext cx="4032" cy="1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假设 </a:t>
              </a:r>
              <a:r>
                <a:rPr kumimoji="1" lang="en-US" altLang="zh-CN" sz="2800" kern="0" dirty="0">
                  <a:solidFill>
                    <a:srgbClr val="66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 </a:t>
              </a:r>
              <a:r>
                <a:rPr kumimoji="1" lang="zh-CN" altLang="en-US" sz="2800" kern="0" dirty="0">
                  <a:solidFill>
                    <a:srgbClr val="66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行 </a:t>
              </a:r>
              <a:r>
                <a:rPr kumimoji="1" lang="en-US" altLang="zh-CN" sz="2800" kern="0" dirty="0">
                  <a:solidFill>
                    <a:srgbClr val="66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 </a:t>
              </a:r>
              <a:r>
                <a:rPr kumimoji="1" lang="zh-CN" altLang="en-US" sz="2800" kern="0" dirty="0">
                  <a:solidFill>
                    <a:srgbClr val="66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列</a:t>
              </a:r>
              <a:r>
                <a:rPr kumimoji="1" lang="zh-CN" altLang="en-US" sz="2800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的矩阵含 </a:t>
              </a:r>
              <a:r>
                <a:rPr kumimoji="1" lang="en-US" altLang="zh-CN" sz="2800" kern="0" dirty="0">
                  <a:solidFill>
                    <a:srgbClr val="66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 </a:t>
              </a:r>
              <a:r>
                <a:rPr kumimoji="1" lang="zh-CN" altLang="en-US" sz="2800" kern="0" dirty="0">
                  <a:solidFill>
                    <a:srgbClr val="66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个非零元素</a:t>
              </a:r>
              <a:r>
                <a:rPr kumimoji="1" lang="zh-CN" altLang="en-US" sz="2800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，则称</a:t>
              </a:r>
            </a:p>
            <a:p>
              <a:pPr eaLnBrk="1" fontAlgn="auto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eaLnBrk="1" fontAlgn="auto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eaLnBrk="1" fontAlgn="auto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为</a:t>
              </a:r>
              <a:r>
                <a:rPr kumimoji="1" lang="zh-CN" altLang="en-US" sz="2800" b="1" kern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稀疏因子</a:t>
              </a:r>
              <a:r>
                <a:rPr kumimoji="1" lang="zh-CN" altLang="en-US" sz="28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endParaRPr kumimoji="1" lang="zh-CN" altLang="en-US" sz="2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63497" name="Object 3"/>
            <p:cNvGraphicFramePr>
              <a:graphicFrameLocks noChangeAspect="1"/>
            </p:cNvGraphicFramePr>
            <p:nvPr/>
          </p:nvGraphicFramePr>
          <p:xfrm>
            <a:off x="2599" y="1427"/>
            <a:ext cx="1200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36" name="公式" r:id="rId4" imgW="1041400" imgH="457200" progId="">
                    <p:embed/>
                  </p:oleObj>
                </mc:Choice>
                <mc:Fallback>
                  <p:oleObj name="公式" r:id="rId4" imgW="1041400" imgH="457200" progId="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9" y="1427"/>
                          <a:ext cx="1200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4067175" y="3408363"/>
          <a:ext cx="4167188" cy="256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7" name="Microsoft 公式 3.0" r:id="rId6" imgW="2451100" imgH="1511300" progId="">
                  <p:embed/>
                </p:oleObj>
              </mc:Choice>
              <mc:Fallback>
                <p:oleObj name="Microsoft 公式 3.0" r:id="rId6" imgW="2451100" imgH="15113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408363"/>
                        <a:ext cx="4167188" cy="2568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60425" y="3644900"/>
            <a:ext cx="2657475" cy="10334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通常认为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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0.05 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的矩阵为稀疏矩阵</a:t>
            </a:r>
          </a:p>
        </p:txBody>
      </p:sp>
      <p:sp>
        <p:nvSpPr>
          <p:cNvPr id="63495" name="文本框 1"/>
          <p:cNvSpPr txBox="1">
            <a:spLocks noChangeArrowheads="1"/>
          </p:cNvSpPr>
          <p:nvPr/>
        </p:nvSpPr>
        <p:spPr bwMode="auto">
          <a:xfrm>
            <a:off x="650875" y="5154613"/>
            <a:ext cx="41036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常用的压缩存储方法：</a:t>
            </a:r>
            <a:endParaRPr lang="en-US" altLang="zh-CN" sz="2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三元组顺序表</a:t>
            </a:r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349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三元组顺序表</a:t>
            </a:r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768573-E6AB-47E4-85E6-2FB5C518828B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zh-CN" altLang="en-US" sz="1000"/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4233863" y="5305425"/>
            <a:ext cx="4167187" cy="711200"/>
          </a:xfrm>
          <a:prstGeom prst="wedgeRectCallout">
            <a:avLst>
              <a:gd name="adj1" fmla="val -69185"/>
              <a:gd name="adj2" fmla="val -49556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三元组表所需存储单元个数为</a:t>
            </a:r>
            <a:r>
              <a:rPr kumimoji="1"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3(t+1)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其中</a:t>
            </a:r>
            <a:r>
              <a:rPr kumimoji="1"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为非零元个数</a:t>
            </a:r>
            <a:endParaRPr kumimoji="1" lang="zh-CN" altLang="en-US" sz="20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1901825" y="2265363"/>
            <a:ext cx="151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en-US" altLang="zh-CN" sz="2000" b="1">
                <a:solidFill>
                  <a:srgbClr val="6666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kumimoji="1"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1901825" y="2682875"/>
            <a:ext cx="158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1       2     12  </a:t>
            </a:r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1901825" y="3106738"/>
            <a:ext cx="151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1       3      9  </a:t>
            </a: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1901825" y="3494088"/>
            <a:ext cx="1538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    1      -3  </a:t>
            </a:r>
          </a:p>
        </p:txBody>
      </p:sp>
      <p:sp>
        <p:nvSpPr>
          <p:cNvPr id="41" name="Text Box 8"/>
          <p:cNvSpPr txBox="1">
            <a:spLocks noChangeArrowheads="1"/>
          </p:cNvSpPr>
          <p:nvPr/>
        </p:nvSpPr>
        <p:spPr bwMode="auto">
          <a:xfrm>
            <a:off x="1901825" y="3898900"/>
            <a:ext cx="158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3      6      14  </a:t>
            </a:r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1901825" y="4233863"/>
            <a:ext cx="158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4       3     24  </a:t>
            </a:r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1901825" y="4676775"/>
            <a:ext cx="158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5       2     18  </a:t>
            </a: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1901825" y="5064125"/>
            <a:ext cx="158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6      1      15  </a:t>
            </a:r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1901825" y="5468938"/>
            <a:ext cx="1601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      4      -7  </a:t>
            </a:r>
          </a:p>
        </p:txBody>
      </p:sp>
      <p:grpSp>
        <p:nvGrpSpPr>
          <p:cNvPr id="46" name="Group 13"/>
          <p:cNvGrpSpPr>
            <a:grpSpLocks/>
          </p:cNvGrpSpPr>
          <p:nvPr/>
        </p:nvGrpSpPr>
        <p:grpSpPr bwMode="auto">
          <a:xfrm>
            <a:off x="1370013" y="1876425"/>
            <a:ext cx="2009776" cy="4541838"/>
            <a:chOff x="845" y="1419"/>
            <a:chExt cx="1266" cy="2861"/>
          </a:xfrm>
        </p:grpSpPr>
        <p:grpSp>
          <p:nvGrpSpPr>
            <p:cNvPr id="64532" name="Group 14"/>
            <p:cNvGrpSpPr>
              <a:grpSpLocks/>
            </p:cNvGrpSpPr>
            <p:nvPr/>
          </p:nvGrpSpPr>
          <p:grpSpPr bwMode="auto">
            <a:xfrm>
              <a:off x="1074" y="1633"/>
              <a:ext cx="1037" cy="2311"/>
              <a:chOff x="1074" y="1633"/>
              <a:chExt cx="1037" cy="2311"/>
            </a:xfrm>
          </p:grpSpPr>
          <p:sp>
            <p:nvSpPr>
              <p:cNvPr id="51" name="Rectangle 15"/>
              <p:cNvSpPr>
                <a:spLocks noChangeArrowheads="1"/>
              </p:cNvSpPr>
              <p:nvPr/>
            </p:nvSpPr>
            <p:spPr bwMode="auto">
              <a:xfrm>
                <a:off x="1089" y="1633"/>
                <a:ext cx="1022" cy="2311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Line 16"/>
              <p:cNvSpPr>
                <a:spLocks noChangeShapeType="1"/>
              </p:cNvSpPr>
              <p:nvPr/>
            </p:nvSpPr>
            <p:spPr bwMode="auto">
              <a:xfrm>
                <a:off x="1422" y="1633"/>
                <a:ext cx="0" cy="23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Line 17"/>
              <p:cNvSpPr>
                <a:spLocks noChangeShapeType="1"/>
              </p:cNvSpPr>
              <p:nvPr/>
            </p:nvSpPr>
            <p:spPr bwMode="auto">
              <a:xfrm>
                <a:off x="1767" y="1644"/>
                <a:ext cx="0" cy="22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Line 18"/>
              <p:cNvSpPr>
                <a:spLocks noChangeShapeType="1"/>
              </p:cNvSpPr>
              <p:nvPr/>
            </p:nvSpPr>
            <p:spPr bwMode="auto">
              <a:xfrm>
                <a:off x="1074" y="1900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19"/>
              <p:cNvSpPr>
                <a:spLocks noChangeShapeType="1"/>
              </p:cNvSpPr>
              <p:nvPr/>
            </p:nvSpPr>
            <p:spPr bwMode="auto">
              <a:xfrm>
                <a:off x="1074" y="2155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Line 20"/>
              <p:cNvSpPr>
                <a:spLocks noChangeShapeType="1"/>
              </p:cNvSpPr>
              <p:nvPr/>
            </p:nvSpPr>
            <p:spPr bwMode="auto">
              <a:xfrm>
                <a:off x="1074" y="2411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" name="Line 21"/>
              <p:cNvSpPr>
                <a:spLocks noChangeShapeType="1"/>
              </p:cNvSpPr>
              <p:nvPr/>
            </p:nvSpPr>
            <p:spPr bwMode="auto">
              <a:xfrm>
                <a:off x="1074" y="2667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Line 22"/>
              <p:cNvSpPr>
                <a:spLocks noChangeShapeType="1"/>
              </p:cNvSpPr>
              <p:nvPr/>
            </p:nvSpPr>
            <p:spPr bwMode="auto">
              <a:xfrm>
                <a:off x="1074" y="2923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" name="Line 23"/>
              <p:cNvSpPr>
                <a:spLocks noChangeShapeType="1"/>
              </p:cNvSpPr>
              <p:nvPr/>
            </p:nvSpPr>
            <p:spPr bwMode="auto">
              <a:xfrm>
                <a:off x="1074" y="3179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Line 24"/>
              <p:cNvSpPr>
                <a:spLocks noChangeShapeType="1"/>
              </p:cNvSpPr>
              <p:nvPr/>
            </p:nvSpPr>
            <p:spPr bwMode="auto">
              <a:xfrm>
                <a:off x="1074" y="3435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" name="Line 25"/>
              <p:cNvSpPr>
                <a:spLocks noChangeShapeType="1"/>
              </p:cNvSpPr>
              <p:nvPr/>
            </p:nvSpPr>
            <p:spPr bwMode="auto">
              <a:xfrm>
                <a:off x="1074" y="3691"/>
                <a:ext cx="10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8" name="Text Box 26"/>
            <p:cNvSpPr txBox="1">
              <a:spLocks noChangeArrowheads="1"/>
            </p:cNvSpPr>
            <p:nvPr/>
          </p:nvSpPr>
          <p:spPr bwMode="auto">
            <a:xfrm>
              <a:off x="1369" y="4030"/>
              <a:ext cx="3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CFDC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</a:t>
              </a:r>
            </a:p>
          </p:txBody>
        </p:sp>
        <p:sp>
          <p:nvSpPr>
            <p:cNvPr id="49" name="Text Box 27"/>
            <p:cNvSpPr txBox="1">
              <a:spLocks noChangeArrowheads="1"/>
            </p:cNvSpPr>
            <p:nvPr/>
          </p:nvSpPr>
          <p:spPr bwMode="auto">
            <a:xfrm>
              <a:off x="1175" y="1419"/>
              <a:ext cx="8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CFDC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00"/>
                  </a:solidFill>
                  <a:latin typeface="Times New Roman" panose="02020603050405020304" pitchFamily="18" charset="0"/>
                </a:rPr>
                <a:t>i       j        v</a:t>
              </a:r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845" y="1655"/>
              <a:ext cx="310" cy="2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CFDC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eaVert" wrap="none" anchor="ctr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0  1  2   3   4  5  6  7  8</a:t>
              </a:r>
            </a:p>
          </p:txBody>
        </p:sp>
      </p:grpSp>
      <p:sp>
        <p:nvSpPr>
          <p:cNvPr id="62" name="AutoShape 29"/>
          <p:cNvSpPr>
            <a:spLocks noChangeArrowheads="1"/>
          </p:cNvSpPr>
          <p:nvPr/>
        </p:nvSpPr>
        <p:spPr bwMode="auto">
          <a:xfrm>
            <a:off x="4460875" y="3919538"/>
            <a:ext cx="3714750" cy="711200"/>
          </a:xfrm>
          <a:prstGeom prst="wedgeRectCallout">
            <a:avLst>
              <a:gd name="adj1" fmla="val -78550"/>
              <a:gd name="adj2" fmla="val -252455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CFDC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ma[0].</a:t>
            </a:r>
            <a:r>
              <a:rPr kumimoji="1" lang="en-US" altLang="zh-CN" sz="2000" kern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i,ma</a:t>
            </a:r>
            <a:r>
              <a:rPr kumimoji="1"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[0].</a:t>
            </a:r>
            <a:r>
              <a:rPr kumimoji="1" lang="en-US" altLang="zh-CN" sz="2000" kern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j,ma</a:t>
            </a:r>
            <a:r>
              <a:rPr kumimoji="1"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[0].v</a:t>
            </a:r>
            <a:r>
              <a:rPr kumimoji="1" lang="zh-CN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分别存放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矩阵</a:t>
            </a:r>
            <a:r>
              <a:rPr kumimoji="1" lang="zh-CN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行列维数和非零元个数</a:t>
            </a:r>
            <a:endParaRPr kumimoji="1" lang="zh-CN" altLang="en-US" sz="2000" b="1" kern="0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3" name="Group 30"/>
          <p:cNvGrpSpPr>
            <a:grpSpLocks/>
          </p:cNvGrpSpPr>
          <p:nvPr/>
        </p:nvGrpSpPr>
        <p:grpSpPr bwMode="auto">
          <a:xfrm>
            <a:off x="1319213" y="1254125"/>
            <a:ext cx="3405187" cy="560388"/>
            <a:chOff x="813" y="1200"/>
            <a:chExt cx="2145" cy="353"/>
          </a:xfrm>
        </p:grpSpPr>
        <p:sp>
          <p:nvSpPr>
            <p:cNvPr id="64" name="AutoShape 31"/>
            <p:cNvSpPr>
              <a:spLocks noChangeArrowheads="1"/>
            </p:cNvSpPr>
            <p:nvPr/>
          </p:nvSpPr>
          <p:spPr bwMode="auto">
            <a:xfrm>
              <a:off x="813" y="1217"/>
              <a:ext cx="1034" cy="336"/>
            </a:xfrm>
            <a:prstGeom prst="wedgeEllipseCallout">
              <a:avLst>
                <a:gd name="adj1" fmla="val 10116"/>
                <a:gd name="adj2" fmla="val 107736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CFDC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00"/>
                  </a:solidFill>
                  <a:latin typeface="Times New Roman" panose="02020603050405020304" pitchFamily="18" charset="0"/>
                </a:rPr>
                <a:t>行列下标</a:t>
              </a:r>
            </a:p>
          </p:txBody>
        </p:sp>
        <p:sp>
          <p:nvSpPr>
            <p:cNvPr id="65" name="AutoShape 32"/>
            <p:cNvSpPr>
              <a:spLocks noChangeArrowheads="1"/>
            </p:cNvSpPr>
            <p:nvPr/>
          </p:nvSpPr>
          <p:spPr bwMode="auto">
            <a:xfrm>
              <a:off x="1924" y="1200"/>
              <a:ext cx="1034" cy="336"/>
            </a:xfrm>
            <a:prstGeom prst="wedgeEllipseCallout">
              <a:avLst>
                <a:gd name="adj1" fmla="val -32394"/>
                <a:gd name="adj2" fmla="val 126259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CFDC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00"/>
                  </a:solidFill>
                  <a:latin typeface="Times New Roman" panose="02020603050405020304" pitchFamily="18" charset="0"/>
                </a:rPr>
                <a:t>非零元值</a:t>
              </a:r>
            </a:p>
          </p:txBody>
        </p:sp>
      </p:grpSp>
      <p:graphicFrame>
        <p:nvGraphicFramePr>
          <p:cNvPr id="66" name="Object 33"/>
          <p:cNvGraphicFramePr>
            <a:graphicFrameLocks noChangeAspect="1"/>
          </p:cNvGraphicFramePr>
          <p:nvPr/>
        </p:nvGraphicFramePr>
        <p:xfrm>
          <a:off x="4849813" y="1284288"/>
          <a:ext cx="3521075" cy="217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8" name="Microsoft 公式 3.0" r:id="rId5" imgW="2451100" imgH="1511300" progId="">
                  <p:embed/>
                </p:oleObj>
              </mc:Choice>
              <mc:Fallback>
                <p:oleObj name="Microsoft 公式 3.0" r:id="rId5" imgW="2451100" imgH="1511300" progId="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813" y="1284288"/>
                        <a:ext cx="3521075" cy="217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 autoUpdateAnimBg="0"/>
      <p:bldP spid="37" grpId="0" build="p" autoUpdateAnimBg="0"/>
      <p:bldP spid="38" grpId="0" build="p" autoUpdateAnimBg="0"/>
      <p:bldP spid="39" grpId="0" build="p" autoUpdateAnimBg="0"/>
      <p:bldP spid="40" grpId="0" build="p" autoUpdateAnimBg="0"/>
      <p:bldP spid="41" grpId="0" build="p" autoUpdateAnimBg="0"/>
      <p:bldP spid="42" grpId="0" build="p" autoUpdateAnimBg="0"/>
      <p:bldP spid="43" grpId="0" build="p" autoUpdateAnimBg="0"/>
      <p:bldP spid="44" grpId="0" build="p" autoUpdateAnimBg="0"/>
      <p:bldP spid="45" grpId="0" build="p" autoUpdateAnimBg="0"/>
      <p:bldP spid="62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4-4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050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F9895-6977-4412-8807-5F763DF1F9A9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99592" y="1340768"/>
            <a:ext cx="7315200" cy="156986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给出下列用三元组表示矩阵的示意图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注意：数组第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行存储数组的行数、列数和非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元素的个数。</a:t>
            </a: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270756"/>
              </p:ext>
            </p:extLst>
          </p:nvPr>
        </p:nvGraphicFramePr>
        <p:xfrm>
          <a:off x="2668905" y="2997997"/>
          <a:ext cx="2687640" cy="22240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r"/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-2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29" marR="91429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46684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广义表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仿宋_GB2312"/>
                <a:cs typeface="仿宋_GB2312"/>
              </a:rPr>
              <a:t>广义表（列表）：  </a:t>
            </a:r>
            <a:r>
              <a:rPr kumimoji="1" lang="en-US" altLang="zh-CN" b="1" i="1" kern="1200" dirty="0">
                <a:solidFill>
                  <a:srgbClr val="FF3300"/>
                </a:solidFill>
                <a:latin typeface="Times New Roman" panose="02020603050405020304" pitchFamily="18" charset="0"/>
                <a:ea typeface="仿宋_GB2312"/>
                <a:cs typeface="仿宋_GB2312"/>
              </a:rPr>
              <a:t>n</a:t>
            </a:r>
            <a:r>
              <a:rPr kumimoji="1" lang="en-US" altLang="zh-CN" b="1" kern="1200" dirty="0">
                <a:solidFill>
                  <a:srgbClr val="FF3300"/>
                </a:solidFill>
                <a:latin typeface="Times New Roman" panose="02020603050405020304" pitchFamily="18" charset="0"/>
                <a:ea typeface="仿宋_GB2312"/>
                <a:cs typeface="仿宋_GB2312"/>
              </a:rPr>
              <a:t> ( </a:t>
            </a:r>
            <a:r>
              <a:rPr kumimoji="1" lang="en-US" altLang="zh-CN" b="1" kern="1200" dirty="0">
                <a:solidFill>
                  <a:srgbClr val="FF3300"/>
                </a:solidFill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 0 </a:t>
            </a:r>
            <a:r>
              <a:rPr kumimoji="1" lang="en-US" altLang="zh-CN" b="1" kern="1200" dirty="0">
                <a:solidFill>
                  <a:srgbClr val="FF3300"/>
                </a:solidFill>
                <a:latin typeface="Times New Roman" panose="02020603050405020304" pitchFamily="18" charset="0"/>
                <a:ea typeface="仿宋_GB2312"/>
                <a:cs typeface="仿宋_GB2312"/>
              </a:rPr>
              <a:t>)</a:t>
            </a:r>
            <a:r>
              <a:rPr kumimoji="1" lang="zh-CN" altLang="en-US" b="1" kern="1200" dirty="0">
                <a:solidFill>
                  <a:srgbClr val="FF3300"/>
                </a:solidFill>
                <a:latin typeface="Times New Roman" panose="02020603050405020304" pitchFamily="18" charset="0"/>
                <a:ea typeface="仿宋_GB2312"/>
                <a:cs typeface="仿宋_GB2312"/>
              </a:rPr>
              <a:t>个表元素组成的有限序列</a:t>
            </a:r>
            <a:r>
              <a:rPr kumimoji="1" lang="zh-CN" altLang="en-US" kern="1200" dirty="0">
                <a:latin typeface="Times New Roman" panose="02020603050405020304" pitchFamily="18" charset="0"/>
                <a:ea typeface="仿宋_GB2312"/>
                <a:cs typeface="仿宋_GB2312"/>
              </a:rPr>
              <a:t>，</a:t>
            </a:r>
            <a:r>
              <a:rPr lang="zh-CN" altLang="en-US" dirty="0">
                <a:ea typeface="仿宋_GB2312"/>
                <a:cs typeface="仿宋_GB2312"/>
              </a:rPr>
              <a:t>记作</a:t>
            </a:r>
            <a:r>
              <a:rPr lang="en-US" altLang="zh-CN" i="1" dirty="0">
                <a:solidFill>
                  <a:srgbClr val="FF3300"/>
                </a:solidFill>
                <a:ea typeface="仿宋_GB2312"/>
                <a:cs typeface="仿宋_GB2312"/>
              </a:rPr>
              <a:t>LS</a:t>
            </a:r>
            <a:r>
              <a:rPr lang="en-US" altLang="zh-CN" dirty="0">
                <a:solidFill>
                  <a:srgbClr val="FF3300"/>
                </a:solidFill>
                <a:ea typeface="仿宋_GB2312"/>
                <a:cs typeface="仿宋_GB2312"/>
              </a:rPr>
              <a:t> = (</a:t>
            </a:r>
            <a:r>
              <a:rPr lang="en-US" altLang="zh-CN" i="1" dirty="0">
                <a:solidFill>
                  <a:srgbClr val="FF3300"/>
                </a:solidFill>
                <a:ea typeface="仿宋_GB2312"/>
                <a:cs typeface="仿宋_GB2312"/>
              </a:rPr>
              <a:t>a</a:t>
            </a:r>
            <a:r>
              <a:rPr lang="en-US" altLang="zh-CN" baseline="-25000" dirty="0">
                <a:solidFill>
                  <a:srgbClr val="FF3300"/>
                </a:solidFill>
                <a:ea typeface="仿宋_GB2312"/>
                <a:cs typeface="仿宋_GB2312"/>
              </a:rPr>
              <a:t>0</a:t>
            </a:r>
            <a:r>
              <a:rPr lang="en-US" altLang="zh-CN" dirty="0">
                <a:solidFill>
                  <a:srgbClr val="FF3300"/>
                </a:solidFill>
                <a:ea typeface="仿宋_GB2312"/>
                <a:cs typeface="仿宋_GB2312"/>
              </a:rPr>
              <a:t>, </a:t>
            </a:r>
            <a:r>
              <a:rPr lang="en-US" altLang="zh-CN" i="1" dirty="0">
                <a:solidFill>
                  <a:srgbClr val="FF3300"/>
                </a:solidFill>
                <a:ea typeface="仿宋_GB2312"/>
                <a:cs typeface="仿宋_GB2312"/>
              </a:rPr>
              <a:t>a</a:t>
            </a:r>
            <a:r>
              <a:rPr lang="en-US" altLang="zh-CN" baseline="-25000" dirty="0">
                <a:solidFill>
                  <a:srgbClr val="FF3300"/>
                </a:solidFill>
                <a:ea typeface="仿宋_GB2312"/>
                <a:cs typeface="仿宋_GB2312"/>
              </a:rPr>
              <a:t>1</a:t>
            </a:r>
            <a:r>
              <a:rPr lang="en-US" altLang="zh-CN" dirty="0">
                <a:solidFill>
                  <a:srgbClr val="FF3300"/>
                </a:solidFill>
                <a:ea typeface="仿宋_GB2312"/>
                <a:cs typeface="仿宋_GB2312"/>
              </a:rPr>
              <a:t>, </a:t>
            </a:r>
            <a:r>
              <a:rPr lang="en-US" altLang="zh-CN" i="1" dirty="0">
                <a:solidFill>
                  <a:srgbClr val="FF3300"/>
                </a:solidFill>
                <a:ea typeface="仿宋_GB2312"/>
                <a:cs typeface="仿宋_GB2312"/>
              </a:rPr>
              <a:t>a</a:t>
            </a:r>
            <a:r>
              <a:rPr lang="en-US" altLang="zh-CN" baseline="-25000" dirty="0">
                <a:solidFill>
                  <a:srgbClr val="FF3300"/>
                </a:solidFill>
                <a:ea typeface="仿宋_GB2312"/>
                <a:cs typeface="仿宋_GB2312"/>
              </a:rPr>
              <a:t>2</a:t>
            </a:r>
            <a:r>
              <a:rPr lang="en-US" altLang="zh-CN" dirty="0">
                <a:solidFill>
                  <a:srgbClr val="FF3300"/>
                </a:solidFill>
                <a:ea typeface="仿宋_GB2312"/>
                <a:cs typeface="仿宋_GB2312"/>
              </a:rPr>
              <a:t>, …, </a:t>
            </a:r>
            <a:r>
              <a:rPr lang="en-US" altLang="zh-CN" i="1" dirty="0">
                <a:solidFill>
                  <a:srgbClr val="FF3300"/>
                </a:solidFill>
                <a:ea typeface="仿宋_GB2312"/>
                <a:cs typeface="仿宋_GB2312"/>
              </a:rPr>
              <a:t>a</a:t>
            </a:r>
            <a:r>
              <a:rPr lang="en-US" altLang="zh-CN" i="1" baseline="-25000" dirty="0">
                <a:solidFill>
                  <a:srgbClr val="FF3300"/>
                </a:solidFill>
                <a:ea typeface="仿宋_GB2312"/>
                <a:cs typeface="仿宋_GB2312"/>
              </a:rPr>
              <a:t>n</a:t>
            </a:r>
            <a:r>
              <a:rPr lang="en-US" altLang="zh-CN" baseline="-25000" dirty="0">
                <a:solidFill>
                  <a:srgbClr val="FF3300"/>
                </a:solidFill>
                <a:ea typeface="仿宋_GB2312"/>
                <a:cs typeface="仿宋_GB2312"/>
              </a:rPr>
              <a:t>-1</a:t>
            </a:r>
            <a:r>
              <a:rPr lang="en-US" altLang="zh-CN" dirty="0">
                <a:solidFill>
                  <a:srgbClr val="FF3300"/>
                </a:solidFill>
                <a:ea typeface="仿宋_GB2312"/>
                <a:cs typeface="仿宋_GB2312"/>
              </a:rPr>
              <a:t>)</a:t>
            </a:r>
          </a:p>
          <a:p>
            <a:pPr lvl="1">
              <a:defRPr/>
            </a:pPr>
            <a:r>
              <a:rPr lang="en-US" altLang="zh-CN" i="1" dirty="0">
                <a:solidFill>
                  <a:srgbClr val="FF3300"/>
                </a:solidFill>
                <a:ea typeface="仿宋_GB2312"/>
                <a:cs typeface="仿宋_GB2312"/>
              </a:rPr>
              <a:t>LS</a:t>
            </a:r>
            <a:r>
              <a:rPr lang="zh-CN" altLang="zh-CN" dirty="0">
                <a:ea typeface="仿宋_GB2312"/>
                <a:cs typeface="仿宋_GB2312"/>
              </a:rPr>
              <a:t>是表名</a:t>
            </a:r>
            <a:r>
              <a:rPr lang="en-US" altLang="zh-CN" dirty="0">
                <a:ea typeface="仿宋_GB2312"/>
                <a:cs typeface="仿宋_GB2312"/>
              </a:rPr>
              <a:t>(</a:t>
            </a:r>
            <a:r>
              <a:rPr lang="zh-CN" altLang="en-US" dirty="0">
                <a:ea typeface="仿宋_GB2312"/>
                <a:cs typeface="仿宋_GB2312"/>
              </a:rPr>
              <a:t>一般用大写字母表示表名</a:t>
            </a:r>
            <a:r>
              <a:rPr lang="en-US" altLang="zh-CN" dirty="0">
                <a:ea typeface="仿宋_GB2312"/>
                <a:cs typeface="仿宋_GB2312"/>
              </a:rPr>
              <a:t>)</a:t>
            </a:r>
          </a:p>
          <a:p>
            <a:pPr lvl="1">
              <a:defRPr/>
            </a:pPr>
            <a:r>
              <a:rPr lang="en-US" altLang="zh-CN" i="1" dirty="0" err="1">
                <a:solidFill>
                  <a:srgbClr val="FF3300"/>
                </a:solidFill>
                <a:ea typeface="仿宋_GB2312"/>
                <a:cs typeface="仿宋_GB2312"/>
              </a:rPr>
              <a:t>a</a:t>
            </a:r>
            <a:r>
              <a:rPr lang="en-US" altLang="zh-CN" i="1" baseline="-25000" dirty="0" err="1">
                <a:solidFill>
                  <a:srgbClr val="FF3300"/>
                </a:solidFill>
                <a:ea typeface="仿宋_GB2312"/>
                <a:cs typeface="仿宋_GB2312"/>
              </a:rPr>
              <a:t>i</a:t>
            </a:r>
            <a:r>
              <a:rPr lang="zh-CN" altLang="zh-CN" dirty="0">
                <a:ea typeface="仿宋_GB2312"/>
                <a:cs typeface="仿宋_GB2312"/>
              </a:rPr>
              <a:t>是表元素</a:t>
            </a:r>
            <a:r>
              <a:rPr lang="zh-CN" altLang="en-US" dirty="0">
                <a:ea typeface="仿宋_GB2312"/>
                <a:cs typeface="仿宋_GB2312"/>
              </a:rPr>
              <a:t>，</a:t>
            </a:r>
            <a:r>
              <a:rPr lang="zh-CN" altLang="zh-CN" dirty="0">
                <a:ea typeface="仿宋_GB2312"/>
                <a:cs typeface="仿宋_GB2312"/>
              </a:rPr>
              <a:t>它可以是表 </a:t>
            </a:r>
            <a:r>
              <a:rPr lang="en-US" altLang="zh-CN" dirty="0">
                <a:ea typeface="仿宋_GB2312"/>
                <a:cs typeface="仿宋_GB2312"/>
              </a:rPr>
              <a:t>(</a:t>
            </a:r>
            <a:r>
              <a:rPr lang="zh-CN" altLang="en-US" dirty="0">
                <a:ea typeface="仿宋_GB2312"/>
                <a:cs typeface="仿宋_GB2312"/>
              </a:rPr>
              <a:t>称为</a:t>
            </a:r>
            <a:r>
              <a:rPr lang="zh-CN" altLang="en-US" dirty="0">
                <a:solidFill>
                  <a:srgbClr val="009900"/>
                </a:solidFill>
                <a:ea typeface="仿宋_GB2312"/>
                <a:cs typeface="仿宋_GB2312"/>
              </a:rPr>
              <a:t>子表</a:t>
            </a:r>
            <a:r>
              <a:rPr lang="en-US" altLang="zh-CN" dirty="0">
                <a:ea typeface="仿宋_GB2312"/>
                <a:cs typeface="仿宋_GB2312"/>
              </a:rPr>
              <a:t>)</a:t>
            </a:r>
            <a:r>
              <a:rPr lang="zh-CN" altLang="en-US" dirty="0">
                <a:ea typeface="仿宋_GB2312"/>
                <a:cs typeface="仿宋_GB2312"/>
              </a:rPr>
              <a:t>，可以是数据元素</a:t>
            </a:r>
            <a:r>
              <a:rPr lang="en-US" altLang="zh-CN" dirty="0">
                <a:ea typeface="仿宋_GB2312"/>
                <a:cs typeface="仿宋_GB2312"/>
              </a:rPr>
              <a:t>(</a:t>
            </a:r>
            <a:r>
              <a:rPr lang="zh-CN" altLang="en-US" dirty="0">
                <a:ea typeface="仿宋_GB2312"/>
                <a:cs typeface="仿宋_GB2312"/>
              </a:rPr>
              <a:t>称为</a:t>
            </a:r>
            <a:r>
              <a:rPr lang="zh-CN" altLang="en-US" dirty="0">
                <a:solidFill>
                  <a:srgbClr val="009900"/>
                </a:solidFill>
                <a:ea typeface="仿宋_GB2312"/>
                <a:cs typeface="仿宋_GB2312"/>
              </a:rPr>
              <a:t>原子</a:t>
            </a:r>
            <a:r>
              <a:rPr lang="en-US" altLang="zh-CN" dirty="0">
                <a:ea typeface="仿宋_GB2312"/>
                <a:cs typeface="仿宋_GB2312"/>
              </a:rPr>
              <a:t>)</a:t>
            </a:r>
          </a:p>
          <a:p>
            <a:pPr lvl="2">
              <a:defRPr/>
            </a:pPr>
            <a:r>
              <a:rPr lang="zh-CN" altLang="en-US" dirty="0"/>
              <a:t>线性表的成分都是结构上不可分的单元素</a:t>
            </a:r>
            <a:endParaRPr lang="en-US" altLang="zh-CN" dirty="0">
              <a:ea typeface="仿宋_GB2312"/>
              <a:cs typeface="仿宋_GB2312"/>
            </a:endParaRPr>
          </a:p>
          <a:p>
            <a:pPr lvl="1">
              <a:defRPr/>
            </a:pPr>
            <a:r>
              <a:rPr lang="zh-CN" altLang="en-US" dirty="0">
                <a:ea typeface="仿宋_GB2312"/>
                <a:cs typeface="仿宋_GB2312"/>
              </a:rPr>
              <a:t> </a:t>
            </a:r>
            <a:r>
              <a:rPr lang="en-US" altLang="zh-CN" i="1" dirty="0">
                <a:solidFill>
                  <a:srgbClr val="FF3300"/>
                </a:solidFill>
                <a:ea typeface="仿宋_GB2312"/>
                <a:cs typeface="仿宋_GB2312"/>
              </a:rPr>
              <a:t>n</a:t>
            </a:r>
            <a:r>
              <a:rPr lang="zh-CN" altLang="zh-CN" dirty="0">
                <a:ea typeface="仿宋_GB2312"/>
                <a:cs typeface="仿宋_GB2312"/>
              </a:rPr>
              <a:t>为表的长度</a:t>
            </a:r>
            <a:r>
              <a:rPr lang="zh-CN" altLang="en-US" dirty="0">
                <a:ea typeface="仿宋_GB2312"/>
                <a:cs typeface="仿宋_GB2312"/>
              </a:rPr>
              <a:t>；</a:t>
            </a:r>
            <a:r>
              <a:rPr lang="en-US" altLang="zh-CN" i="1" dirty="0">
                <a:ea typeface="仿宋_GB2312"/>
                <a:cs typeface="仿宋_GB2312"/>
              </a:rPr>
              <a:t>n</a:t>
            </a:r>
            <a:r>
              <a:rPr lang="en-US" altLang="zh-CN" dirty="0">
                <a:ea typeface="仿宋_GB2312"/>
                <a:cs typeface="仿宋_GB2312"/>
              </a:rPr>
              <a:t> = 0 </a:t>
            </a:r>
            <a:r>
              <a:rPr lang="zh-CN" altLang="zh-CN" dirty="0">
                <a:ea typeface="仿宋_GB2312"/>
                <a:cs typeface="仿宋_GB2312"/>
              </a:rPr>
              <a:t>的广义表为空表</a:t>
            </a:r>
            <a:endParaRPr lang="en-US" altLang="zh-CN" dirty="0">
              <a:ea typeface="仿宋_GB2312"/>
              <a:cs typeface="仿宋_GB2312"/>
            </a:endParaRPr>
          </a:p>
          <a:p>
            <a:pPr>
              <a:defRPr/>
            </a:pPr>
            <a:r>
              <a:rPr lang="zh-CN" altLang="en-US" dirty="0"/>
              <a:t>广义表不一定是线性结构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线性表是一种特殊的广义表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lvl="1">
              <a:defRPr/>
            </a:pPr>
            <a:endParaRPr lang="zh-CN" altLang="en-US" dirty="0"/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D13672-ED4E-4B7F-949A-B8F6866A2A8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广义表举例</a:t>
            </a:r>
          </a:p>
        </p:txBody>
      </p:sp>
      <p:sp>
        <p:nvSpPr>
          <p:cNvPr id="6861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1A2622-1BD2-4A21-8AAA-4826D9331AF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zh-CN" altLang="en-US" sz="1000"/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1025525" y="1144588"/>
            <a:ext cx="6769100" cy="223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990033"/>
                </a:solidFill>
                <a:ea typeface="楷体_GB2312" pitchFamily="49" charset="-122"/>
              </a:rPr>
              <a:t>例如</a:t>
            </a:r>
            <a:r>
              <a:rPr lang="en-US" altLang="zh-CN" sz="2400">
                <a:solidFill>
                  <a:srgbClr val="990033"/>
                </a:solidFill>
                <a:ea typeface="楷体_GB2312" pitchFamily="49" charset="-122"/>
              </a:rPr>
              <a:t>:</a:t>
            </a:r>
            <a:r>
              <a:rPr lang="en-US" altLang="zh-CN" sz="2400">
                <a:ea typeface="楷体_GB2312" pitchFamily="49" charset="-122"/>
              </a:rPr>
              <a:t>   A = (  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楷体_GB2312" pitchFamily="49" charset="-122"/>
              </a:rPr>
              <a:t>           B = (b, c)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楷体_GB2312" pitchFamily="49" charset="-122"/>
              </a:rPr>
              <a:t>           C = (a, (d, e, f))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楷体_GB2312" pitchFamily="49" charset="-122"/>
              </a:rPr>
              <a:t>           D = (A, B, C)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楷体_GB2312" pitchFamily="49" charset="-122"/>
              </a:rPr>
              <a:t>           E = (a, E)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87725"/>
            <a:ext cx="7740650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广义表的基本运算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求表头</a:t>
            </a:r>
            <a:r>
              <a:rPr lang="en-US" altLang="zh-CN"/>
              <a:t>GetHead(L)</a:t>
            </a:r>
            <a:r>
              <a:rPr lang="zh-CN" altLang="en-US"/>
              <a:t>：非空广义表的第一个元素</a:t>
            </a:r>
            <a:endParaRPr lang="en-US" altLang="zh-CN"/>
          </a:p>
          <a:p>
            <a:pPr lvl="1"/>
            <a:r>
              <a:rPr lang="zh-CN" altLang="en-US"/>
              <a:t>可以是一个单元素，也可以是一个子表</a:t>
            </a:r>
          </a:p>
          <a:p>
            <a:r>
              <a:rPr lang="zh-CN" altLang="en-US"/>
              <a:t>求表尾</a:t>
            </a:r>
            <a:r>
              <a:rPr lang="en-US" altLang="zh-CN"/>
              <a:t>GetTail(L)</a:t>
            </a:r>
            <a:r>
              <a:rPr lang="zh-CN" altLang="en-US"/>
              <a:t>：非空广义表除去表头元素以外其它元素所构成的表</a:t>
            </a:r>
            <a:endParaRPr lang="en-US" altLang="zh-CN"/>
          </a:p>
          <a:p>
            <a:pPr lvl="1"/>
            <a:r>
              <a:rPr lang="zh-CN" altLang="en-US"/>
              <a:t>表尾一定是一个表</a:t>
            </a:r>
          </a:p>
          <a:p>
            <a:endParaRPr lang="zh-CN" altLang="en-US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7E7917-DF8F-4914-9300-B2553E895D40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&quot;],&quot;CaseSensitive&quot;:false,&quot;FuzzyMatch&quot;:false},{&quot;Num&quot;:2,&quot;Score&quot;:1.0,&quot;Answers&quot;:[&quot;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&quot;],&quot;CaseSensitive&quot;:false,&quot;FuzzyMatch&quot;:false},{&quot;Num&quot;:2,&quot;Score&quot;:1.0,&quot;Answers&quot;:[&quot;&quot;],&quot;CaseSensitive&quot;:false,&quot;FuzzyMatch&quot;:false}]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&quot;],&quot;CaseSensitive&quot;:false,&quot;FuzzyMatch&quot;:false},{&quot;Num&quot;:2,&quot;Score&quot;:1.0,&quot;Answers&quot;:[&quot;&quot;],&quot;CaseSensitive&quot;:false,&quot;FuzzyMatch&quot;:false}]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演示设计">
  <a:themeElements>
    <a:clrScheme name="演示设计 3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5B8CC1"/>
      </a:accent1>
      <a:accent2>
        <a:srgbClr val="2A5682"/>
      </a:accent2>
      <a:accent3>
        <a:srgbClr val="FFFFFF"/>
      </a:accent3>
      <a:accent4>
        <a:srgbClr val="000000"/>
      </a:accent4>
      <a:accent5>
        <a:srgbClr val="B5C5DD"/>
      </a:accent5>
      <a:accent6>
        <a:srgbClr val="254D75"/>
      </a:accent6>
      <a:hlink>
        <a:srgbClr val="002850"/>
      </a:hlink>
      <a:folHlink>
        <a:srgbClr val="2A94FE"/>
      </a:folHlink>
    </a:clrScheme>
    <a:fontScheme name="演示设计">
      <a:majorFont>
        <a:latin typeface="Arial"/>
        <a:ea typeface="华文细黑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演示设计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463900"/>
        </a:hlink>
        <a:folHlink>
          <a:srgbClr val="FFE6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AD5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2A94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5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C468B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6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3B3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DDDF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7BD52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ppt模板IT</Template>
  <TotalTime>26102</TotalTime>
  <Words>3170</Words>
  <Application>Microsoft Macintosh PowerPoint</Application>
  <PresentationFormat>全屏显示(4:3)</PresentationFormat>
  <Paragraphs>864</Paragraphs>
  <Slides>47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华文细黑</vt:lpstr>
      <vt:lpstr>楷体_GB2312</vt:lpstr>
      <vt:lpstr>Microsoft Yahei</vt:lpstr>
      <vt:lpstr>Arial Unicode MS</vt:lpstr>
      <vt:lpstr>Arial</vt:lpstr>
      <vt:lpstr>Calibri</vt:lpstr>
      <vt:lpstr>Cambria Math</vt:lpstr>
      <vt:lpstr>Times New Roman</vt:lpstr>
      <vt:lpstr>Wingdings</vt:lpstr>
      <vt:lpstr>演示设计</vt:lpstr>
      <vt:lpstr>公式</vt:lpstr>
      <vt:lpstr>Microsoft 公式 3.0</vt:lpstr>
      <vt:lpstr>Ch4 串、数组和广义表</vt:lpstr>
      <vt:lpstr>本章内容</vt:lpstr>
      <vt:lpstr>串的定义</vt:lpstr>
      <vt:lpstr>串的术语</vt:lpstr>
      <vt:lpstr>串的术语</vt:lpstr>
      <vt:lpstr>串 vs. 线性表</vt:lpstr>
      <vt:lpstr>串的抽象数据类型</vt:lpstr>
      <vt:lpstr>串的抽象数据类型 – 基本操作</vt:lpstr>
      <vt:lpstr>串的顺序存储</vt:lpstr>
      <vt:lpstr>串的链式存储</vt:lpstr>
      <vt:lpstr>串的链式存储</vt:lpstr>
      <vt:lpstr>串的模式匹配</vt:lpstr>
      <vt:lpstr>Brute-Force算法</vt:lpstr>
      <vt:lpstr>BF算法举例</vt:lpstr>
      <vt:lpstr>BF算法举例</vt:lpstr>
      <vt:lpstr>BF算法举例</vt:lpstr>
      <vt:lpstr>BF算法举例</vt:lpstr>
      <vt:lpstr>BF算法举例</vt:lpstr>
      <vt:lpstr>BF算法举例</vt:lpstr>
      <vt:lpstr>BF算法描述</vt:lpstr>
      <vt:lpstr>练习 4-1</vt:lpstr>
      <vt:lpstr>PowerPoint 演示文稿</vt:lpstr>
      <vt:lpstr>KMP算法</vt:lpstr>
      <vt:lpstr>KMP算法</vt:lpstr>
      <vt:lpstr>KMP算法</vt:lpstr>
      <vt:lpstr>KMP算法举例</vt:lpstr>
      <vt:lpstr>KMP算法举例</vt:lpstr>
      <vt:lpstr>KMP算法举例</vt:lpstr>
      <vt:lpstr>练习 4-2</vt:lpstr>
      <vt:lpstr>PowerPoint 演示文稿</vt:lpstr>
      <vt:lpstr>PowerPoint 演示文稿</vt:lpstr>
      <vt:lpstr>数组的定义</vt:lpstr>
      <vt:lpstr>二维数组的定义</vt:lpstr>
      <vt:lpstr>二维数组的基本操作</vt:lpstr>
      <vt:lpstr>数组的顺序存储</vt:lpstr>
      <vt:lpstr>PowerPoint 演示文稿</vt:lpstr>
      <vt:lpstr>PowerPoint 演示文稿</vt:lpstr>
      <vt:lpstr>练习 4-3</vt:lpstr>
      <vt:lpstr>PowerPoint 演示文稿</vt:lpstr>
      <vt:lpstr>矩阵的压缩存储</vt:lpstr>
      <vt:lpstr>稀疏矩阵</vt:lpstr>
      <vt:lpstr>三元组顺序表</vt:lpstr>
      <vt:lpstr>练习 4-4</vt:lpstr>
      <vt:lpstr>PowerPoint 演示文稿</vt:lpstr>
      <vt:lpstr>广义表</vt:lpstr>
      <vt:lpstr>广义表举例</vt:lpstr>
      <vt:lpstr>广义表的基本运算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软件测试自动化</dc:title>
  <dc:creator>acer</dc:creator>
  <cp:lastModifiedBy>Liu Xinyi</cp:lastModifiedBy>
  <cp:revision>1125</cp:revision>
  <dcterms:created xsi:type="dcterms:W3CDTF">2012-09-10T06:31:36Z</dcterms:created>
  <dcterms:modified xsi:type="dcterms:W3CDTF">2020-04-22T09:17:13Z</dcterms:modified>
</cp:coreProperties>
</file>