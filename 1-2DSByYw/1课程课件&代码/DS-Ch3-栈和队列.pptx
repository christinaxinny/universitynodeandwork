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6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7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8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9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0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537" r:id="rId2"/>
    <p:sldId id="311" r:id="rId3"/>
    <p:sldId id="313" r:id="rId4"/>
    <p:sldId id="312" r:id="rId5"/>
    <p:sldId id="407" r:id="rId6"/>
    <p:sldId id="388" r:id="rId7"/>
    <p:sldId id="409" r:id="rId8"/>
    <p:sldId id="573" r:id="rId9"/>
    <p:sldId id="574" r:id="rId10"/>
    <p:sldId id="575" r:id="rId11"/>
    <p:sldId id="576" r:id="rId12"/>
    <p:sldId id="577" r:id="rId13"/>
    <p:sldId id="578" r:id="rId14"/>
    <p:sldId id="579" r:id="rId15"/>
    <p:sldId id="580" r:id="rId16"/>
    <p:sldId id="581" r:id="rId17"/>
    <p:sldId id="588" r:id="rId18"/>
    <p:sldId id="582" r:id="rId19"/>
    <p:sldId id="583" r:id="rId20"/>
    <p:sldId id="584" r:id="rId21"/>
    <p:sldId id="585" r:id="rId22"/>
    <p:sldId id="586" r:id="rId23"/>
    <p:sldId id="601" r:id="rId24"/>
    <p:sldId id="527" r:id="rId25"/>
    <p:sldId id="511" r:id="rId26"/>
    <p:sldId id="512" r:id="rId27"/>
    <p:sldId id="567" r:id="rId28"/>
    <p:sldId id="568" r:id="rId29"/>
    <p:sldId id="591" r:id="rId30"/>
    <p:sldId id="592" r:id="rId31"/>
    <p:sldId id="593" r:id="rId32"/>
    <p:sldId id="590" r:id="rId33"/>
    <p:sldId id="529" r:id="rId34"/>
    <p:sldId id="595" r:id="rId35"/>
    <p:sldId id="594" r:id="rId36"/>
    <p:sldId id="596" r:id="rId37"/>
    <p:sldId id="597" r:id="rId38"/>
    <p:sldId id="598" r:id="rId39"/>
    <p:sldId id="600" r:id="rId40"/>
    <p:sldId id="618" r:id="rId41"/>
    <p:sldId id="602" r:id="rId42"/>
    <p:sldId id="604" r:id="rId43"/>
    <p:sldId id="605" r:id="rId44"/>
    <p:sldId id="606" r:id="rId45"/>
    <p:sldId id="607" r:id="rId46"/>
    <p:sldId id="622" r:id="rId47"/>
    <p:sldId id="623" r:id="rId48"/>
    <p:sldId id="543" r:id="rId49"/>
    <p:sldId id="544" r:id="rId50"/>
    <p:sldId id="545" r:id="rId51"/>
    <p:sldId id="546" r:id="rId52"/>
    <p:sldId id="547" r:id="rId53"/>
    <p:sldId id="548" r:id="rId54"/>
    <p:sldId id="608" r:id="rId55"/>
    <p:sldId id="624" r:id="rId56"/>
    <p:sldId id="625" r:id="rId57"/>
    <p:sldId id="620" r:id="rId58"/>
    <p:sldId id="621" r:id="rId59"/>
    <p:sldId id="626" r:id="rId60"/>
    <p:sldId id="627" r:id="rId61"/>
    <p:sldId id="628" r:id="rId62"/>
    <p:sldId id="629" r:id="rId63"/>
    <p:sldId id="619" r:id="rId64"/>
    <p:sldId id="616" r:id="rId65"/>
    <p:sldId id="570" r:id="rId66"/>
    <p:sldId id="569" r:id="rId67"/>
    <p:sldId id="356" r:id="rId68"/>
    <p:sldId id="564" r:id="rId6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8000"/>
    <a:srgbClr val="4C3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8"/>
    <p:restoredTop sz="94712"/>
  </p:normalViewPr>
  <p:slideViewPr>
    <p:cSldViewPr showGuides="1">
      <p:cViewPr varScale="1">
        <p:scale>
          <a:sx n="120" d="100"/>
          <a:sy n="120" d="100"/>
        </p:scale>
        <p:origin x="1256" y="176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pPr lvl="0" algn="r" eaLnBrk="1" hangingPunct="1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186598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60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4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C69E77-57E1-4EFB-BDB0-2B30D741E90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94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65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34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406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8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738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207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21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359400"/>
            <a:ext cx="9144000" cy="1498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Group 2"/>
          <p:cNvGrpSpPr/>
          <p:nvPr/>
        </p:nvGrpSpPr>
        <p:grpSpPr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3078" name="Picture 3" descr="2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760" cy="5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  <p:pic>
          <p:nvPicPr>
            <p:cNvPr id="3080" name="Picture 5" descr="投影2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0" y="456"/>
              <a:ext cx="5340" cy="25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907704" y="1916832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2056" name="Rectangle 31"/>
          <p:cNvSpPr>
            <a:spLocks noGrp="1" noChangeArrowheads="1"/>
          </p:cNvSpPr>
          <p:nvPr>
            <p:ph type="subTitle" idx="1"/>
          </p:nvPr>
        </p:nvSpPr>
        <p:spPr>
          <a:xfrm>
            <a:off x="1907704" y="3428380"/>
            <a:ext cx="5400675" cy="60007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r>
              <a:rPr lang="zh-CN" altLang="en-US" dirty="0"/>
              <a:t>单击此处编辑母版副标题样式</a:t>
            </a:r>
            <a:endParaRPr 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信息技术学院 于文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zh-CN" altLang="en-US" dirty="0">
                <a:ea typeface="华文细黑" panose="02010600040101010101" pitchFamily="2" charset="-122"/>
              </a:rPr>
              <a:pPr algn="r"/>
              <a:t>‹#›</a:t>
            </a:fld>
            <a:endParaRPr lang="zh-CN" altLang="en-US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rPr>
              <a:t>信息技术学院 于文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3568" y="2276872"/>
            <a:ext cx="7772400" cy="2466503"/>
          </a:xfrm>
        </p:spPr>
        <p:txBody>
          <a:bodyPr anchor="ctr"/>
          <a:lstStyle>
            <a:lvl1pPr marL="0" indent="0" algn="ctr">
              <a:buNone/>
              <a:defRPr sz="4000">
                <a:latin typeface="+mj-ea"/>
                <a:ea typeface="+mj-ea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zh-CN" altLang="en-US" dirty="0">
                <a:ea typeface="华文细黑" panose="02010600040101010101" pitchFamily="2" charset="-122"/>
              </a:rPr>
              <a:pPr algn="r"/>
              <a:t>‹#›</a:t>
            </a:fld>
            <a:endParaRPr lang="zh-CN" altLang="en-US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25538"/>
            <a:ext cx="4027487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27488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82352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468313" y="1125538"/>
            <a:ext cx="8207375" cy="5162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课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68313" y="1125538"/>
            <a:ext cx="8207375" cy="5162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单击图标添加表格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9400"/>
            <a:ext cx="91440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6" name="Picture 3" descr="2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华文细黑" panose="02010600040101010101" pitchFamily="2" charset="-122"/>
              </a:endParaRPr>
            </a:p>
          </p:txBody>
        </p:sp>
        <p:pic>
          <p:nvPicPr>
            <p:cNvPr id="8" name="Picture 5" descr="投影2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872456" y="2615406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noProof="1"/>
          </a:p>
        </p:txBody>
      </p:sp>
    </p:spTree>
    <p:extLst>
      <p:ext uri="{BB962C8B-B14F-4D97-AF65-F5344CB8AC3E}">
        <p14:creationId xmlns:p14="http://schemas.microsoft.com/office/powerpoint/2010/main" val="241763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2055" name="Picture 3" descr="2"/>
            <p:cNvPicPr>
              <a:picLocks noChangeAspect="1"/>
            </p:cNvPicPr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0" y="0"/>
              <a:ext cx="5760" cy="5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细黑" panose="02010600040101010101" pitchFamily="2" charset="-122"/>
                <a:cs typeface="+mn-cs"/>
              </a:endParaRPr>
            </a:p>
          </p:txBody>
        </p:sp>
        <p:pic>
          <p:nvPicPr>
            <p:cNvPr id="2057" name="Picture 5" descr="投影2"/>
            <p:cNvPicPr>
              <a:picLocks noChangeAspect="1"/>
            </p:cNvPicPr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0" y="456"/>
              <a:ext cx="5340" cy="25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051" name="Rectangle 31"/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07375" cy="5162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1">
                <a:ea typeface="华文细黑" panose="0201060004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pPr lvl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3" name="Rectangle 27"/>
          <p:cNvSpPr>
            <a:spLocks noGrp="1"/>
          </p:cNvSpPr>
          <p:nvPr>
            <p:ph type="title"/>
          </p:nvPr>
        </p:nvSpPr>
        <p:spPr>
          <a:xfrm>
            <a:off x="971550" y="315913"/>
            <a:ext cx="7704138" cy="5921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pic>
        <p:nvPicPr>
          <p:cNvPr id="2054" name="Picture 10" descr="北京师范大学珠海分校标志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971550" cy="9080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anose="020B0604020202020204" pitchFamily="34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anose="020B0604020202020204" pitchFamily="34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anose="020B0604020202020204" pitchFamily="34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00"/>
          </a:solidFill>
          <a:latin typeface="Arial" panose="020B0604020202020204" pitchFamily="34" charset="0"/>
          <a:ea typeface="华文细黑" panose="0201060004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anose="020B0604020202020204" pitchFamily="34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1200"/>
        </a:spcBef>
        <a:spcAft>
          <a:spcPts val="1200"/>
        </a:spcAft>
        <a:buClr>
          <a:schemeClr val="accent1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ts val="1200"/>
        </a:spcBef>
        <a:spcAft>
          <a:spcPts val="1200"/>
        </a:spcAft>
        <a:buClr>
          <a:schemeClr val="hlink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7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7.tmp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7.tmp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image" Target="../media/image7.tmp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image" Target="../media/image7.tmp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7.tmp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image" Target="../media/image7.tmp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0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image" Target="../media/image7.tmp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image" Target="../media/image7.tmp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2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Ch3 </a:t>
            </a:r>
            <a:r>
              <a:rPr lang="zh-CN" altLang="en-US" dirty="0"/>
              <a:t>栈和队列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53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>
                <a:latin typeface="+mj-lt"/>
                <a:ea typeface="+mj-ea"/>
                <a:cs typeface="+mj-cs"/>
              </a:rPr>
              <a:t>本章内容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+mn-lt"/>
                <a:ea typeface="+mn-ea"/>
                <a:cs typeface="+mn-cs"/>
              </a:rPr>
              <a:t>栈的定义和特点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+mn-lt"/>
                <a:ea typeface="+mn-ea"/>
                <a:cs typeface="+mn-cs"/>
              </a:rPr>
              <a:t>栈的表示和操作的实现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+mn-lt"/>
                <a:ea typeface="+mn-ea"/>
                <a:cs typeface="+mn-cs"/>
              </a:rPr>
              <a:t>栈与递归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队列的定义和特点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+mn-lt"/>
                <a:ea typeface="+mn-ea"/>
                <a:cs typeface="+mn-cs"/>
              </a:rPr>
              <a:t>队列的表示和操作的实现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>
                <a:latin typeface="+mn-lt"/>
                <a:ea typeface="+mn-ea"/>
                <a:cs typeface="+mn-cs"/>
              </a:rPr>
              <a:t>栈和队列的应用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2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栈和队列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从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数据结构</a:t>
            </a:r>
            <a:r>
              <a:rPr lang="zh-CN" altLang="en-US" dirty="0">
                <a:latin typeface="+mn-lt"/>
                <a:ea typeface="+mn-ea"/>
                <a:cs typeface="+mn-cs"/>
              </a:rPr>
              <a:t>角度看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栈和队列也是线性表，是操作受限的线性表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从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数据类型</a:t>
            </a:r>
            <a:r>
              <a:rPr lang="zh-CN" altLang="en-US" dirty="0">
                <a:latin typeface="+mn-lt"/>
                <a:ea typeface="+mn-ea"/>
                <a:cs typeface="+mn-cs"/>
              </a:rPr>
              <a:t>角度看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栈和队列是和线性表不同的两类重要的数据结构，应用广泛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8196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3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5039766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栈</a:t>
            </a:r>
            <a:r>
              <a:rPr lang="zh-CN" altLang="en-US" dirty="0">
                <a:latin typeface="+mn-lt"/>
                <a:ea typeface="+mn-ea"/>
                <a:cs typeface="+mn-cs"/>
              </a:rPr>
              <a:t>（</a:t>
            </a:r>
            <a:r>
              <a:rPr lang="en-US" altLang="zh-CN" dirty="0">
                <a:latin typeface="+mn-lt"/>
                <a:ea typeface="+mn-ea"/>
                <a:cs typeface="+mn-cs"/>
              </a:rPr>
              <a:t>stack</a:t>
            </a:r>
            <a:r>
              <a:rPr lang="zh-CN" altLang="en-US" dirty="0">
                <a:latin typeface="+mn-lt"/>
                <a:ea typeface="+mn-ea"/>
                <a:cs typeface="+mn-cs"/>
              </a:rPr>
              <a:t>）是限定在表的一端（通常是表尾）进行插入或删除操作的线性表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不允许插入、删除的另一端称为</a:t>
            </a:r>
            <a:r>
              <a:rPr lang="zh-CN" altLang="en-US" dirty="0">
                <a:solidFill>
                  <a:srgbClr val="FF0000"/>
                </a:solidFill>
              </a:rPr>
              <a:t>栈底</a:t>
            </a:r>
            <a:r>
              <a:rPr lang="en-US" altLang="zh-CN" dirty="0"/>
              <a:t>(bottom)</a:t>
            </a:r>
          </a:p>
          <a:p>
            <a:pPr lvl="1"/>
            <a:r>
              <a:rPr lang="zh-CN" altLang="en-US" dirty="0"/>
              <a:t>栈底是固定不变的</a:t>
            </a:r>
            <a:endParaRPr lang="en-US" altLang="zh-CN" dirty="0"/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允许插入、删除的这一端称为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栈顶</a:t>
            </a:r>
            <a:r>
              <a:rPr lang="en-US" altLang="zh-CN" dirty="0">
                <a:latin typeface="+mn-lt"/>
                <a:ea typeface="+mn-ea"/>
                <a:cs typeface="+mn-cs"/>
              </a:rPr>
              <a:t>(top)</a:t>
            </a:r>
          </a:p>
          <a:p>
            <a:pPr lvl="1"/>
            <a:r>
              <a:rPr lang="zh-CN" altLang="en-US" dirty="0">
                <a:latin typeface="+mn-lt"/>
                <a:ea typeface="+mn-ea"/>
              </a:rPr>
              <a:t>栈顶的当前位置是动态变化的</a:t>
            </a:r>
            <a:endParaRPr lang="en-US" altLang="zh-CN" dirty="0">
              <a:latin typeface="+mn-lt"/>
              <a:ea typeface="+mn-ea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当表中没有元素时称为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空栈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9220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4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grpSp>
        <p:nvGrpSpPr>
          <p:cNvPr id="9221" name="Group 4"/>
          <p:cNvGrpSpPr/>
          <p:nvPr/>
        </p:nvGrpSpPr>
        <p:grpSpPr>
          <a:xfrm>
            <a:off x="1116014" y="2349500"/>
            <a:ext cx="7026275" cy="457200"/>
            <a:chOff x="-336" y="-2252"/>
            <a:chExt cx="4426" cy="288"/>
          </a:xfrm>
        </p:grpSpPr>
        <p:sp>
          <p:nvSpPr>
            <p:cNvPr id="9222" name="Text Box 5"/>
            <p:cNvSpPr txBox="1"/>
            <p:nvPr/>
          </p:nvSpPr>
          <p:spPr>
            <a:xfrm>
              <a:off x="-336" y="-2252"/>
              <a:ext cx="44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zh-CN" b="1" dirty="0">
                  <a:latin typeface="Times New Roman" panose="02020603050405020304" pitchFamily="18" charset="0"/>
                </a:rPr>
                <a:t>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3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...,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n                                   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插入和删除端</a:t>
              </a: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223" name="Line 6"/>
            <p:cNvSpPr/>
            <p:nvPr/>
          </p:nvSpPr>
          <p:spPr>
            <a:xfrm flipH="1">
              <a:off x="1115" y="-211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栈的特点</a:t>
            </a: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后进先出（</a:t>
            </a:r>
            <a:r>
              <a:rPr lang="en-US" altLang="zh-CN" dirty="0">
                <a:latin typeface="+mn-lt"/>
                <a:ea typeface="+mn-ea"/>
                <a:cs typeface="+mn-cs"/>
              </a:rPr>
              <a:t>Last In First Out</a:t>
            </a:r>
            <a:r>
              <a:rPr lang="zh-CN" altLang="en-US" dirty="0">
                <a:latin typeface="+mn-lt"/>
                <a:ea typeface="+mn-ea"/>
                <a:cs typeface="+mn-cs"/>
              </a:rPr>
              <a:t>），简称为</a:t>
            </a:r>
            <a:r>
              <a:rPr lang="en-US" altLang="zh-CN" dirty="0">
                <a:latin typeface="+mn-lt"/>
                <a:ea typeface="+mn-ea"/>
                <a:cs typeface="+mn-cs"/>
              </a:rPr>
              <a:t>LIFO</a:t>
            </a:r>
            <a:r>
              <a:rPr lang="zh-CN" altLang="en-US" dirty="0">
                <a:latin typeface="+mn-lt"/>
                <a:ea typeface="+mn-ea"/>
                <a:cs typeface="+mn-cs"/>
              </a:rPr>
              <a:t>线性表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5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827584" y="2420888"/>
            <a:ext cx="3048000" cy="3760787"/>
            <a:chOff x="1104" y="1536"/>
            <a:chExt cx="1198" cy="2369"/>
          </a:xfrm>
        </p:grpSpPr>
        <p:grpSp>
          <p:nvGrpSpPr>
            <p:cNvPr id="6" name="Group 12"/>
            <p:cNvGrpSpPr>
              <a:grpSpLocks/>
            </p:cNvGrpSpPr>
            <p:nvPr/>
          </p:nvGrpSpPr>
          <p:grpSpPr bwMode="auto">
            <a:xfrm>
              <a:off x="1152" y="2304"/>
              <a:ext cx="1150" cy="1601"/>
              <a:chOff x="1200" y="1440"/>
              <a:chExt cx="1150" cy="1601"/>
            </a:xfrm>
          </p:grpSpPr>
          <p:pic>
            <p:nvPicPr>
              <p:cNvPr id="11" name="Picture 4" descr="HH01526_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0" y="2160"/>
                <a:ext cx="1150" cy="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5" descr="HH01526_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0" y="1920"/>
                <a:ext cx="1150" cy="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6" descr="HH01526_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0" y="1680"/>
                <a:ext cx="1150" cy="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7" descr="HH01526_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0" y="1440"/>
                <a:ext cx="1150" cy="8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7" name="Picture 13" descr="HH01526_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112"/>
              <a:ext cx="1150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4" descr="HH01526_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920"/>
              <a:ext cx="1150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5" descr="HH01526_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728"/>
              <a:ext cx="1150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16" descr="HH01526_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1536"/>
              <a:ext cx="1150" cy="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8"/>
          <p:cNvGrpSpPr>
            <a:grpSpLocks/>
          </p:cNvGrpSpPr>
          <p:nvPr/>
        </p:nvGrpSpPr>
        <p:grpSpPr bwMode="auto">
          <a:xfrm>
            <a:off x="4566366" y="2773135"/>
            <a:ext cx="3873500" cy="2508250"/>
            <a:chOff x="712" y="2607"/>
            <a:chExt cx="2440" cy="1580"/>
          </a:xfrm>
        </p:grpSpPr>
        <p:grpSp>
          <p:nvGrpSpPr>
            <p:cNvPr id="16" name="Group 9"/>
            <p:cNvGrpSpPr>
              <a:grpSpLocks/>
            </p:cNvGrpSpPr>
            <p:nvPr/>
          </p:nvGrpSpPr>
          <p:grpSpPr bwMode="auto">
            <a:xfrm>
              <a:off x="1568" y="2833"/>
              <a:ext cx="1133" cy="1354"/>
              <a:chOff x="3701" y="2966"/>
              <a:chExt cx="1133" cy="1354"/>
            </a:xfrm>
          </p:grpSpPr>
          <p:sp>
            <p:nvSpPr>
              <p:cNvPr id="34" name="Rectangle 10"/>
              <p:cNvSpPr>
                <a:spLocks noChangeArrowheads="1"/>
              </p:cNvSpPr>
              <p:nvPr/>
            </p:nvSpPr>
            <p:spPr bwMode="auto">
              <a:xfrm>
                <a:off x="3712" y="3088"/>
                <a:ext cx="1122" cy="12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" name="Line 11"/>
              <p:cNvSpPr>
                <a:spLocks noChangeShapeType="1"/>
              </p:cNvSpPr>
              <p:nvPr/>
            </p:nvSpPr>
            <p:spPr bwMode="auto">
              <a:xfrm>
                <a:off x="3701" y="3321"/>
                <a:ext cx="11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" name="Line 12"/>
              <p:cNvSpPr>
                <a:spLocks noChangeShapeType="1"/>
              </p:cNvSpPr>
              <p:nvPr/>
            </p:nvSpPr>
            <p:spPr bwMode="auto">
              <a:xfrm>
                <a:off x="3712" y="4054"/>
                <a:ext cx="111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7" name="Line 13"/>
              <p:cNvSpPr>
                <a:spLocks noChangeShapeType="1"/>
              </p:cNvSpPr>
              <p:nvPr/>
            </p:nvSpPr>
            <p:spPr bwMode="auto">
              <a:xfrm>
                <a:off x="3712" y="3798"/>
                <a:ext cx="11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" name="Line 14"/>
              <p:cNvSpPr>
                <a:spLocks noChangeShapeType="1"/>
              </p:cNvSpPr>
              <p:nvPr/>
            </p:nvSpPr>
            <p:spPr bwMode="auto">
              <a:xfrm flipH="1">
                <a:off x="3712" y="2966"/>
                <a:ext cx="0" cy="1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Line 15"/>
              <p:cNvSpPr>
                <a:spLocks noChangeShapeType="1"/>
              </p:cNvSpPr>
              <p:nvPr/>
            </p:nvSpPr>
            <p:spPr bwMode="auto">
              <a:xfrm flipV="1">
                <a:off x="4834" y="2967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023" y="2920"/>
              <a:ext cx="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n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997" y="3927"/>
              <a:ext cx="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1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997" y="3660"/>
              <a:ext cx="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1400">
                  <a:latin typeface="Times New Roman" panose="02020603050405020304" pitchFamily="18" charset="0"/>
                </a:rPr>
                <a:t>2</a:t>
              </a:r>
              <a:endParaRPr kumimoji="1"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002" y="3139"/>
              <a:ext cx="308" cy="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dirty="0">
                  <a:latin typeface="Times New Roman" panose="02020603050405020304" pitchFamily="18" charset="0"/>
                </a:rPr>
                <a:t>……...</a:t>
              </a: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289" y="4055"/>
              <a:ext cx="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285" y="3051"/>
              <a:ext cx="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712" y="3878"/>
              <a:ext cx="57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bottom</a:t>
              </a:r>
              <a:endParaRPr kumimoji="1"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893" y="290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top</a:t>
              </a:r>
              <a:endParaRPr kumimoji="1" lang="zh-CN" altLang="en-US" sz="2000">
                <a:latin typeface="Times New Roman" panose="02020603050405020304" pitchFamily="18" charset="0"/>
              </a:endParaRPr>
            </a:p>
          </p:txBody>
        </p:sp>
        <p:grpSp>
          <p:nvGrpSpPr>
            <p:cNvPr id="25" name="Group 24"/>
            <p:cNvGrpSpPr>
              <a:grpSpLocks/>
            </p:cNvGrpSpPr>
            <p:nvPr/>
          </p:nvGrpSpPr>
          <p:grpSpPr bwMode="auto">
            <a:xfrm>
              <a:off x="1578" y="2655"/>
              <a:ext cx="356" cy="234"/>
              <a:chOff x="1578" y="2655"/>
              <a:chExt cx="356" cy="234"/>
            </a:xfrm>
          </p:grpSpPr>
          <p:sp>
            <p:nvSpPr>
              <p:cNvPr id="32" name="Freeform 25"/>
              <p:cNvSpPr>
                <a:spLocks/>
              </p:cNvSpPr>
              <p:nvPr/>
            </p:nvSpPr>
            <p:spPr bwMode="auto">
              <a:xfrm>
                <a:off x="1578" y="2655"/>
                <a:ext cx="356" cy="234"/>
              </a:xfrm>
              <a:custGeom>
                <a:avLst/>
                <a:gdLst>
                  <a:gd name="T0" fmla="*/ 0 w 356"/>
                  <a:gd name="T1" fmla="*/ 0 h 234"/>
                  <a:gd name="T2" fmla="*/ 267 w 356"/>
                  <a:gd name="T3" fmla="*/ 45 h 234"/>
                  <a:gd name="T4" fmla="*/ 356 w 356"/>
                  <a:gd name="T5" fmla="*/ 234 h 234"/>
                  <a:gd name="T6" fmla="*/ 0 60000 65536"/>
                  <a:gd name="T7" fmla="*/ 0 60000 65536"/>
                  <a:gd name="T8" fmla="*/ 0 60000 65536"/>
                  <a:gd name="T9" fmla="*/ 0 w 356"/>
                  <a:gd name="T10" fmla="*/ 0 h 234"/>
                  <a:gd name="T11" fmla="*/ 356 w 356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6" h="234">
                    <a:moveTo>
                      <a:pt x="0" y="0"/>
                    </a:moveTo>
                    <a:cubicBezTo>
                      <a:pt x="104" y="3"/>
                      <a:pt x="208" y="6"/>
                      <a:pt x="267" y="45"/>
                    </a:cubicBezTo>
                    <a:cubicBezTo>
                      <a:pt x="326" y="84"/>
                      <a:pt x="341" y="159"/>
                      <a:pt x="356" y="234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3" name="Line 26"/>
              <p:cNvSpPr>
                <a:spLocks noChangeShapeType="1"/>
              </p:cNvSpPr>
              <p:nvPr/>
            </p:nvSpPr>
            <p:spPr bwMode="auto">
              <a:xfrm>
                <a:off x="1911" y="2811"/>
                <a:ext cx="23" cy="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27"/>
            <p:cNvGrpSpPr>
              <a:grpSpLocks/>
            </p:cNvGrpSpPr>
            <p:nvPr/>
          </p:nvGrpSpPr>
          <p:grpSpPr bwMode="auto">
            <a:xfrm>
              <a:off x="2378" y="2689"/>
              <a:ext cx="456" cy="211"/>
              <a:chOff x="2378" y="2689"/>
              <a:chExt cx="456" cy="211"/>
            </a:xfrm>
          </p:grpSpPr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2378" y="2689"/>
                <a:ext cx="433" cy="211"/>
              </a:xfrm>
              <a:custGeom>
                <a:avLst/>
                <a:gdLst>
                  <a:gd name="T0" fmla="*/ 0 w 433"/>
                  <a:gd name="T1" fmla="*/ 211 h 211"/>
                  <a:gd name="T2" fmla="*/ 78 w 433"/>
                  <a:gd name="T3" fmla="*/ 33 h 211"/>
                  <a:gd name="T4" fmla="*/ 433 w 433"/>
                  <a:gd name="T5" fmla="*/ 11 h 211"/>
                  <a:gd name="T6" fmla="*/ 0 60000 65536"/>
                  <a:gd name="T7" fmla="*/ 0 60000 65536"/>
                  <a:gd name="T8" fmla="*/ 0 60000 65536"/>
                  <a:gd name="T9" fmla="*/ 0 w 433"/>
                  <a:gd name="T10" fmla="*/ 0 h 211"/>
                  <a:gd name="T11" fmla="*/ 433 w 433"/>
                  <a:gd name="T12" fmla="*/ 211 h 2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3" h="211">
                    <a:moveTo>
                      <a:pt x="0" y="211"/>
                    </a:moveTo>
                    <a:cubicBezTo>
                      <a:pt x="3" y="138"/>
                      <a:pt x="6" y="66"/>
                      <a:pt x="78" y="33"/>
                    </a:cubicBezTo>
                    <a:cubicBezTo>
                      <a:pt x="150" y="0"/>
                      <a:pt x="378" y="15"/>
                      <a:pt x="433" y="1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" name="Line 29"/>
              <p:cNvSpPr>
                <a:spLocks noChangeShapeType="1"/>
              </p:cNvSpPr>
              <p:nvPr/>
            </p:nvSpPr>
            <p:spPr bwMode="auto">
              <a:xfrm>
                <a:off x="2711" y="2700"/>
                <a:ext cx="1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2013" y="2744"/>
              <a:ext cx="308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2784" y="2663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Pop</a:t>
              </a:r>
              <a:endParaRPr kumimoji="1"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1141" y="2607"/>
              <a:ext cx="4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Push</a:t>
              </a:r>
              <a:endParaRPr kumimoji="1"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栈的抽象数据类型</a:t>
            </a: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6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468313" y="1052513"/>
            <a:ext cx="2557462" cy="5262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ADT Stack {</a:t>
            </a: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 ADT Stack</a:t>
            </a:r>
          </a:p>
        </p:txBody>
      </p:sp>
      <p:sp>
        <p:nvSpPr>
          <p:cNvPr id="7" name="Text Box 4"/>
          <p:cNvSpPr txBox="1"/>
          <p:nvPr/>
        </p:nvSpPr>
        <p:spPr>
          <a:xfrm>
            <a:off x="1044575" y="1700213"/>
            <a:ext cx="2105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数据对象：</a:t>
            </a:r>
          </a:p>
        </p:txBody>
      </p:sp>
      <p:sp>
        <p:nvSpPr>
          <p:cNvPr id="8" name="Text Box 5"/>
          <p:cNvSpPr txBox="1"/>
          <p:nvPr/>
        </p:nvSpPr>
        <p:spPr>
          <a:xfrm>
            <a:off x="1620838" y="2347913"/>
            <a:ext cx="5268912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 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| 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∈ElemSet, i=1,2,...,n,  n≥0 }</a:t>
            </a:r>
          </a:p>
        </p:txBody>
      </p:sp>
      <p:sp>
        <p:nvSpPr>
          <p:cNvPr id="9" name="Text Box 6"/>
          <p:cNvSpPr txBox="1"/>
          <p:nvPr/>
        </p:nvSpPr>
        <p:spPr>
          <a:xfrm>
            <a:off x="1260475" y="2995613"/>
            <a:ext cx="198913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数据关系：</a:t>
            </a:r>
          </a:p>
        </p:txBody>
      </p:sp>
      <p:sp>
        <p:nvSpPr>
          <p:cNvPr id="10" name="Text Box 7"/>
          <p:cNvSpPr txBox="1"/>
          <p:nvPr/>
        </p:nvSpPr>
        <p:spPr>
          <a:xfrm>
            <a:off x="1693863" y="3716338"/>
            <a:ext cx="64579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 &lt;a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,a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&gt;|a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,a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∈D,  i=2,...,n }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836738" y="4219575"/>
            <a:ext cx="5157787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一般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端为栈顶，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端为栈底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}</a:t>
            </a:r>
          </a:p>
        </p:txBody>
      </p:sp>
      <p:sp>
        <p:nvSpPr>
          <p:cNvPr id="12" name="Text Box 6"/>
          <p:cNvSpPr txBox="1"/>
          <p:nvPr/>
        </p:nvSpPr>
        <p:spPr>
          <a:xfrm>
            <a:off x="1258888" y="4921250"/>
            <a:ext cx="27098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基本操作：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……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栈的基本操作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573123"/>
              </p:ext>
            </p:extLst>
          </p:nvPr>
        </p:nvGraphicFramePr>
        <p:xfrm>
          <a:off x="468312" y="1700808"/>
          <a:ext cx="8207376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init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(&amp;S)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初始化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destroy(&amp;S)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销毁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isEmpty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判空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isFull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判满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Top(S, &amp;e)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获取栈顶元素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Push(&amp;S,</a:t>
                      </a:r>
                      <a:r>
                        <a:rPr lang="en-US" altLang="zh-CN" sz="2800" baseline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 e)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进栈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Pop(&amp;S)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出栈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43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7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6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0EB04-C2D1-4AE3-BC36-41550A5C0402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楷体_GB2312"/>
                <a:sym typeface="+mn-ea"/>
              </a:rPr>
              <a:t>将序列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sym typeface="+mn-ea"/>
              </a:rPr>
              <a:t>1 2 3 4 5 6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sym typeface="+mn-ea"/>
              </a:rPr>
              <a:t>做入栈和出栈操作，入栈和出栈操作可以穿插进行，则下面哪组序列是合法的出栈顺序？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4 3 5 6 1 2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1 3 5 4 2 6</a:t>
            </a:r>
            <a:endParaRPr lang="en-US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1 2 3 4 5 6</a:t>
            </a:r>
            <a:endParaRPr lang="en-US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6 5 3 4 1 2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kumimoji="0" 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872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若已知一个栈的入栈序列是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…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，其输出序列为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…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n-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n-i+1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不确定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849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顺序栈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943422"/>
          </a:xfrm>
        </p:spPr>
        <p:txBody>
          <a:bodyPr/>
          <a:lstStyle/>
          <a:p>
            <a:r>
              <a:rPr lang="zh-CN" altLang="en-US" dirty="0"/>
              <a:t>栈的顺序存储结构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顺序栈</a:t>
            </a:r>
            <a:r>
              <a:rPr lang="en-US" altLang="zh-CN" dirty="0"/>
              <a:t>)</a:t>
            </a:r>
            <a:r>
              <a:rPr lang="zh-CN" altLang="en-US" dirty="0"/>
              <a:t>是用一组</a:t>
            </a:r>
            <a:r>
              <a:rPr lang="zh-CN" altLang="en-US" dirty="0">
                <a:solidFill>
                  <a:srgbClr val="4C34FE"/>
                </a:solidFill>
              </a:rPr>
              <a:t>连续</a:t>
            </a:r>
            <a:r>
              <a:rPr lang="zh-CN" altLang="en-US" dirty="0"/>
              <a:t>的存储单元</a:t>
            </a:r>
            <a:r>
              <a:rPr lang="zh-CN" altLang="en-US" dirty="0">
                <a:solidFill>
                  <a:srgbClr val="4C34FE"/>
                </a:solidFill>
              </a:rPr>
              <a:t>依次</a:t>
            </a:r>
            <a:r>
              <a:rPr lang="zh-CN" altLang="en-US" dirty="0"/>
              <a:t>存放栈中的每个数据元素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48537" y="3487648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#define MAXSIZE 10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top; // 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栈顶元素下标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92441"/>
              </p:ext>
            </p:extLst>
          </p:nvPr>
        </p:nvGraphicFramePr>
        <p:xfrm>
          <a:off x="1094347" y="2497783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top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bottom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41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, </a:t>
            </a: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10088"/>
            <a:ext cx="6697663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[MAXSIZE];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 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==NULL) exit(OVERFLOW);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-1;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4244895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==-1;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55237" y="5541039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isFull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==MAXSIZE-1;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92080" y="3740853"/>
            <a:ext cx="36004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top;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49711" y="1175152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bottom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00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top, push, pop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1859340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top(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e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]; 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3515524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push(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isFull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[++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] = e; 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55237" y="5171708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pop(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--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S.top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435625" y="4300354"/>
            <a:ext cx="36004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top;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49711" y="1052736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bottom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21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双栈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871662"/>
          </a:xfrm>
        </p:spPr>
        <p:txBody>
          <a:bodyPr/>
          <a:lstStyle/>
          <a:p>
            <a:r>
              <a:rPr lang="zh-CN" altLang="en-US" dirty="0"/>
              <a:t>两个栈共享一段连续的内存空间</a:t>
            </a:r>
          </a:p>
          <a:p>
            <a:r>
              <a:rPr lang="zh-CN" altLang="en-US" dirty="0"/>
              <a:t>互相调剂，灵活性强，减少溢出机会 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989BC5-737B-41C8-93E0-D805464A5D5C}" type="slidenum">
              <a:rPr lang="zh-CN" altLang="en-US">
                <a:ea typeface="华文细黑" panose="02010600040101010101" pitchFamily="2" charset="-122"/>
              </a:rPr>
              <a:pPr/>
              <a:t>14</a:t>
            </a:fld>
            <a:endParaRPr lang="zh-CN" altLang="en-US">
              <a:ea typeface="华文细黑" panose="02010600040101010101" pitchFamily="2" charset="-122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880320" y="2780928"/>
          <a:ext cx="457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n-2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bottom1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873381" y="3645024"/>
          <a:ext cx="457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n-2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bottom2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251520" y="4846661"/>
          <a:ext cx="8691167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n-2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top2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2n-1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bottom1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bottom2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13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74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0EB04-C2D1-4AE3-BC36-41550A5C0402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995040"/>
            <a:ext cx="7315200" cy="23619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在一个具有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个单元的顺序栈中，假设以地址高端（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MAXSIZE-1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）作为栈底，以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作为栈顶元素的下标，则当作进栈处理时，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的变化为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38266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不变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239914"/>
            <a:ext cx="223914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 = 0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097164"/>
            <a:ext cx="223914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top++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954414"/>
            <a:ext cx="223914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top--</a:t>
            </a:r>
            <a:endParaRPr lang="en-US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44695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3042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16145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601870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kumimoji="0" 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719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栈的链式存储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若是栈中元素的数目</a:t>
            </a:r>
            <a:r>
              <a:rPr lang="zh-CN" altLang="en-US" dirty="0">
                <a:solidFill>
                  <a:srgbClr val="4C34FE"/>
                </a:solidFill>
                <a:latin typeface="+mn-lt"/>
                <a:ea typeface="+mn-ea"/>
                <a:cs typeface="+mn-cs"/>
              </a:rPr>
              <a:t>变化范围较大</a:t>
            </a:r>
            <a:r>
              <a:rPr lang="zh-CN" altLang="en-US" dirty="0">
                <a:latin typeface="+mn-lt"/>
                <a:ea typeface="+mn-ea"/>
                <a:cs typeface="+mn-cs"/>
              </a:rPr>
              <a:t>或</a:t>
            </a:r>
            <a:r>
              <a:rPr lang="zh-CN" altLang="en-US" dirty="0">
                <a:solidFill>
                  <a:srgbClr val="4C34FE"/>
                </a:solidFill>
                <a:latin typeface="+mn-lt"/>
                <a:ea typeface="+mn-ea"/>
                <a:cs typeface="+mn-cs"/>
              </a:rPr>
              <a:t>不清楚栈元素的数目</a:t>
            </a:r>
            <a:r>
              <a:rPr lang="zh-CN" altLang="en-US" dirty="0">
                <a:latin typeface="+mn-lt"/>
                <a:ea typeface="+mn-ea"/>
                <a:cs typeface="+mn-cs"/>
              </a:rPr>
              <a:t>，就应该考虑使用链式存储结构 －“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链栈</a:t>
            </a:r>
            <a:r>
              <a:rPr lang="zh-CN" altLang="en-US" dirty="0">
                <a:latin typeface="+mn-lt"/>
                <a:ea typeface="+mn-ea"/>
                <a:cs typeface="+mn-cs"/>
              </a:rPr>
              <a:t>”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zh-CN" dirty="0"/>
              <a:t>对于单链表，在首端插入删除结点要比尾端相对地容易一些，所以，</a:t>
            </a:r>
            <a:r>
              <a:rPr lang="zh-CN" altLang="zh-CN" dirty="0">
                <a:solidFill>
                  <a:srgbClr val="008000"/>
                </a:solidFill>
              </a:rPr>
              <a:t>将单链表的首端作为栈顶端</a:t>
            </a:r>
            <a:r>
              <a:rPr lang="zh-CN" altLang="zh-CN" dirty="0"/>
              <a:t>，即将头指针作为栈顶指针</a:t>
            </a:r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17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547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10F634-2587-4B8E-B229-864BB22B72A9}" type="slidenum">
              <a:rPr lang="zh-CN" altLang="en-US">
                <a:ea typeface="华文细黑" panose="02010600040101010101" pitchFamily="2" charset="-122"/>
              </a:rPr>
              <a:pPr/>
              <a:t>18</a:t>
            </a:fld>
            <a:endParaRPr lang="zh-CN" altLang="en-US">
              <a:ea typeface="华文细黑" panose="02010600040101010101" pitchFamily="2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50093" y="2780928"/>
            <a:ext cx="6697663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     //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数据域</a:t>
            </a: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  //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指针域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71600" y="1484784"/>
            <a:ext cx="7056784" cy="792163"/>
            <a:chOff x="827584" y="3140893"/>
            <a:chExt cx="7056784" cy="792163"/>
          </a:xfrm>
        </p:grpSpPr>
        <p:sp>
          <p:nvSpPr>
            <p:cNvPr id="8" name="TextBox 91"/>
            <p:cNvSpPr txBox="1">
              <a:spLocks noChangeArrowheads="1"/>
            </p:cNvSpPr>
            <p:nvPr/>
          </p:nvSpPr>
          <p:spPr bwMode="auto">
            <a:xfrm>
              <a:off x="1620093" y="3140893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/>
                <a:t>头结点</a:t>
              </a:r>
            </a:p>
          </p:txBody>
        </p:sp>
        <p:sp>
          <p:nvSpPr>
            <p:cNvPr id="1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21" name="直接箭头连接符 138"/>
            <p:cNvCxnSpPr>
              <a:cxnSpLocks noChangeShapeType="1"/>
              <a:endCxn id="1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140"/>
            <p:cNvCxnSpPr>
              <a:cxnSpLocks noChangeShapeType="1"/>
              <a:endCxn id="1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144"/>
            <p:cNvCxnSpPr>
              <a:cxnSpLocks noChangeShapeType="1"/>
              <a:endCxn id="1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26" name="肘形连接符 25"/>
            <p:cNvCxnSpPr>
              <a:cxnSpLocks noChangeShapeType="1"/>
              <a:endCxn id="1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Box 75"/>
            <p:cNvSpPr txBox="1">
              <a:spLocks noChangeArrowheads="1"/>
            </p:cNvSpPr>
            <p:nvPr/>
          </p:nvSpPr>
          <p:spPr bwMode="auto">
            <a:xfrm>
              <a:off x="912456" y="3270276"/>
              <a:ext cx="647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4C34FE"/>
                  </a:solidFill>
                </a:rPr>
                <a:t>S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33" name="TextBox 91"/>
            <p:cNvSpPr txBox="1">
              <a:spLocks noChangeArrowheads="1"/>
            </p:cNvSpPr>
            <p:nvPr/>
          </p:nvSpPr>
          <p:spPr bwMode="auto">
            <a:xfrm>
              <a:off x="3133031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top</a:t>
              </a:r>
              <a:endParaRPr lang="zh-CN" altLang="en-US" dirty="0"/>
            </a:p>
          </p:txBody>
        </p:sp>
        <p:sp>
          <p:nvSpPr>
            <p:cNvPr id="34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bottom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97233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, </a:t>
            </a: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10088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S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S-&gt;next = NULL;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4005064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S-&gt;next==NULL;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22609" y="5445224"/>
            <a:ext cx="669766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理论上，链栈不会满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363790" y="3436221"/>
            <a:ext cx="36004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971600" y="1196827"/>
            <a:ext cx="7056784" cy="792088"/>
            <a:chOff x="827584" y="3140968"/>
            <a:chExt cx="7056784" cy="792088"/>
          </a:xfrm>
        </p:grpSpPr>
        <p:sp>
          <p:nvSpPr>
            <p:cNvPr id="1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21" name="直接箭头连接符 138"/>
            <p:cNvCxnSpPr>
              <a:cxnSpLocks noChangeShapeType="1"/>
              <a:endCxn id="1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140"/>
            <p:cNvCxnSpPr>
              <a:cxnSpLocks noChangeShapeType="1"/>
              <a:endCxn id="1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144"/>
            <p:cNvCxnSpPr>
              <a:cxnSpLocks noChangeShapeType="1"/>
              <a:endCxn id="1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26" name="肘形连接符 25"/>
            <p:cNvCxnSpPr>
              <a:cxnSpLocks noChangeShapeType="1"/>
              <a:endCxn id="1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Box 75"/>
            <p:cNvSpPr txBox="1">
              <a:spLocks noChangeArrowheads="1"/>
            </p:cNvSpPr>
            <p:nvPr/>
          </p:nvSpPr>
          <p:spPr bwMode="auto">
            <a:xfrm>
              <a:off x="912456" y="3270276"/>
              <a:ext cx="647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4C34FE"/>
                  </a:solidFill>
                </a:rPr>
                <a:t>S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29" name="TextBox 91"/>
            <p:cNvSpPr txBox="1">
              <a:spLocks noChangeArrowheads="1"/>
            </p:cNvSpPr>
            <p:nvPr/>
          </p:nvSpPr>
          <p:spPr bwMode="auto">
            <a:xfrm>
              <a:off x="3133031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top</a:t>
              </a:r>
              <a:endParaRPr lang="zh-CN" altLang="en-US" dirty="0"/>
            </a:p>
          </p:txBody>
        </p:sp>
        <p:sp>
          <p:nvSpPr>
            <p:cNvPr id="3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bottom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7141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top, push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119496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top(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e = S-&gt;next-&gt;data; 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3775680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push(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-&gt;data = 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 = S-&gt;next;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S-&gt;next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1" name="TextBox 4"/>
          <p:cNvSpPr txBox="1">
            <a:spLocks noChangeArrowheads="1"/>
          </p:cNvSpPr>
          <p:nvPr/>
        </p:nvSpPr>
        <p:spPr bwMode="auto">
          <a:xfrm>
            <a:off x="5291484" y="4479236"/>
            <a:ext cx="36004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71550" y="1225602"/>
            <a:ext cx="7056784" cy="662780"/>
            <a:chOff x="827584" y="3270276"/>
            <a:chExt cx="7056784" cy="662780"/>
          </a:xfrm>
        </p:grpSpPr>
        <p:sp>
          <p:nvSpPr>
            <p:cNvPr id="35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1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2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3" name="直接箭头连接符 138"/>
            <p:cNvCxnSpPr>
              <a:cxnSpLocks noChangeShapeType="1"/>
              <a:endCxn id="37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0"/>
            <p:cNvCxnSpPr>
              <a:cxnSpLocks noChangeShapeType="1"/>
              <a:endCxn id="39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直接箭头连接符 144"/>
            <p:cNvCxnSpPr>
              <a:cxnSpLocks noChangeShapeType="1"/>
              <a:endCxn id="41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8" name="肘形连接符 47"/>
            <p:cNvCxnSpPr>
              <a:cxnSpLocks noChangeShapeType="1"/>
              <a:endCxn id="35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TextBox 75"/>
            <p:cNvSpPr txBox="1">
              <a:spLocks noChangeArrowheads="1"/>
            </p:cNvSpPr>
            <p:nvPr/>
          </p:nvSpPr>
          <p:spPr bwMode="auto">
            <a:xfrm>
              <a:off x="912456" y="3270276"/>
              <a:ext cx="647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4C34FE"/>
                  </a:solidFill>
                </a:rPr>
                <a:t>S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35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03633" y="2392454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pop(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&amp;S){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(S))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S-&gt;next;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S-&gt;next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delete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1" name="TextBox 4"/>
          <p:cNvSpPr txBox="1">
            <a:spLocks noChangeArrowheads="1"/>
          </p:cNvSpPr>
          <p:nvPr/>
        </p:nvSpPr>
        <p:spPr bwMode="auto">
          <a:xfrm>
            <a:off x="5075609" y="4285280"/>
            <a:ext cx="360040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LinkStack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71550" y="1096294"/>
            <a:ext cx="7056784" cy="792088"/>
            <a:chOff x="827584" y="3140968"/>
            <a:chExt cx="7056784" cy="792088"/>
          </a:xfrm>
        </p:grpSpPr>
        <p:sp>
          <p:nvSpPr>
            <p:cNvPr id="35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1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2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3" name="直接箭头连接符 138"/>
            <p:cNvCxnSpPr>
              <a:cxnSpLocks noChangeShapeType="1"/>
              <a:endCxn id="37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0"/>
            <p:cNvCxnSpPr>
              <a:cxnSpLocks noChangeShapeType="1"/>
              <a:endCxn id="39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直接箭头连接符 144"/>
            <p:cNvCxnSpPr>
              <a:cxnSpLocks noChangeShapeType="1"/>
              <a:endCxn id="41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8" name="肘形连接符 47"/>
            <p:cNvCxnSpPr>
              <a:cxnSpLocks noChangeShapeType="1"/>
              <a:endCxn id="35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TextBox 75"/>
            <p:cNvSpPr txBox="1">
              <a:spLocks noChangeArrowheads="1"/>
            </p:cNvSpPr>
            <p:nvPr/>
          </p:nvSpPr>
          <p:spPr bwMode="auto">
            <a:xfrm>
              <a:off x="912456" y="3270276"/>
              <a:ext cx="647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4C34FE"/>
                  </a:solidFill>
                </a:rPr>
                <a:t>S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51" name="TextBox 91"/>
            <p:cNvSpPr txBox="1">
              <a:spLocks noChangeArrowheads="1"/>
            </p:cNvSpPr>
            <p:nvPr/>
          </p:nvSpPr>
          <p:spPr bwMode="auto">
            <a:xfrm>
              <a:off x="3133031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top</a:t>
              </a:r>
              <a:endParaRPr lang="zh-CN" altLang="en-US" dirty="0"/>
            </a:p>
          </p:txBody>
        </p:sp>
        <p:sp>
          <p:nvSpPr>
            <p:cNvPr id="52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bottom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6541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6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0EB04-C2D1-4AE3-BC36-41550A5C0402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0600" y="1086264"/>
            <a:ext cx="7315200" cy="75215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下面哪个选项可以完成链栈的出栈操作？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p=S;  S=S-&gt; next; delete p;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8468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p=S-&gt;next;  S-&gt;next=p-&gt;next; delete p;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Both A and B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None of A and B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kumimoji="0" 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971550" y="1844824"/>
            <a:ext cx="7056784" cy="792088"/>
            <a:chOff x="827584" y="3140968"/>
            <a:chExt cx="7056784" cy="792088"/>
          </a:xfrm>
        </p:grpSpPr>
        <p:sp>
          <p:nvSpPr>
            <p:cNvPr id="2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31" name="直接箭头连接符 138"/>
            <p:cNvCxnSpPr>
              <a:cxnSpLocks noChangeShapeType="1"/>
              <a:endCxn id="2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直接箭头连接符 140"/>
            <p:cNvCxnSpPr>
              <a:cxnSpLocks noChangeShapeType="1"/>
              <a:endCxn id="2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箭头连接符 144"/>
            <p:cNvCxnSpPr>
              <a:cxnSpLocks noChangeShapeType="1"/>
              <a:endCxn id="2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36" name="肘形连接符 35"/>
            <p:cNvCxnSpPr>
              <a:cxnSpLocks noChangeShapeType="1"/>
              <a:endCxn id="2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TextBox 75"/>
            <p:cNvSpPr txBox="1">
              <a:spLocks noChangeArrowheads="1"/>
            </p:cNvSpPr>
            <p:nvPr/>
          </p:nvSpPr>
          <p:spPr bwMode="auto">
            <a:xfrm>
              <a:off x="912456" y="3270276"/>
              <a:ext cx="6477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4C34FE"/>
                  </a:solidFill>
                </a:rPr>
                <a:t>S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39" name="TextBox 91"/>
            <p:cNvSpPr txBox="1">
              <a:spLocks noChangeArrowheads="1"/>
            </p:cNvSpPr>
            <p:nvPr/>
          </p:nvSpPr>
          <p:spPr bwMode="auto">
            <a:xfrm>
              <a:off x="3133031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top</a:t>
              </a:r>
              <a:endParaRPr lang="zh-CN" altLang="en-US" dirty="0"/>
            </a:p>
          </p:txBody>
        </p:sp>
        <p:sp>
          <p:nvSpPr>
            <p:cNvPr id="4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bottom</a:t>
              </a:r>
              <a:endParaRPr lang="zh-CN" altLang="en-US" dirty="0"/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5019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栈与递归</a:t>
            </a:r>
            <a:endParaRPr lang="zh-CN" altLang="en-US" dirty="0"/>
          </a:p>
        </p:txBody>
      </p:sp>
      <p:sp>
        <p:nvSpPr>
          <p:cNvPr id="68616" name="Text Box 7"/>
          <p:cNvSpPr txBox="1">
            <a:spLocks noChangeArrowheads="1"/>
          </p:cNvSpPr>
          <p:nvPr/>
        </p:nvSpPr>
        <p:spPr bwMode="auto">
          <a:xfrm>
            <a:off x="395536" y="1340768"/>
            <a:ext cx="3581400" cy="7715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4400" dirty="0">
                <a:latin typeface="楷体_GB2312"/>
              </a:rPr>
              <a:t>后调用先返回</a:t>
            </a:r>
            <a:endParaRPr lang="zh-CN" altLang="en-US" sz="4000" dirty="0">
              <a:latin typeface="楷体_GB2312"/>
            </a:endParaRPr>
          </a:p>
        </p:txBody>
      </p:sp>
      <p:sp>
        <p:nvSpPr>
          <p:cNvPr id="674824" name="Text Box 8"/>
          <p:cNvSpPr txBox="1">
            <a:spLocks noChangeArrowheads="1"/>
          </p:cNvSpPr>
          <p:nvPr/>
        </p:nvSpPr>
        <p:spPr bwMode="auto">
          <a:xfrm>
            <a:off x="1763688" y="3102893"/>
            <a:ext cx="990600" cy="1108075"/>
          </a:xfrm>
          <a:prstGeom prst="rect">
            <a:avLst/>
          </a:prstGeom>
          <a:solidFill>
            <a:srgbClr val="66FF33"/>
          </a:solidFill>
          <a:ln w="9525">
            <a:solidFill>
              <a:srgbClr val="66FF33"/>
            </a:solidFill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6600" dirty="0">
                <a:latin typeface="楷体_GB2312"/>
              </a:rPr>
              <a:t>栈</a:t>
            </a:r>
            <a:endParaRPr lang="zh-CN" altLang="en-US" sz="4000" dirty="0">
              <a:latin typeface="楷体_GB2312"/>
            </a:endParaRPr>
          </a:p>
        </p:txBody>
      </p:sp>
      <p:sp>
        <p:nvSpPr>
          <p:cNvPr id="674825" name="AutoShape 9"/>
          <p:cNvSpPr>
            <a:spLocks noChangeArrowheads="1"/>
          </p:cNvSpPr>
          <p:nvPr/>
        </p:nvSpPr>
        <p:spPr bwMode="auto">
          <a:xfrm>
            <a:off x="1992288" y="2112293"/>
            <a:ext cx="485775" cy="976312"/>
          </a:xfrm>
          <a:prstGeom prst="upArrow">
            <a:avLst>
              <a:gd name="adj1" fmla="val 50000"/>
              <a:gd name="adj2" fmla="val 50245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vert="eaVert"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13777" y="4574697"/>
            <a:ext cx="4248472" cy="1218512"/>
          </a:xfrm>
        </p:spPr>
        <p:txBody>
          <a:bodyPr/>
          <a:lstStyle/>
          <a:p>
            <a:r>
              <a:rPr lang="zh-CN" altLang="en-US" dirty="0">
                <a:latin typeface="楷体_GB2312"/>
                <a:sym typeface="+mn-ea"/>
              </a:rPr>
              <a:t>若一个函数</a:t>
            </a:r>
            <a:r>
              <a:rPr lang="zh-CN" altLang="en-US" dirty="0">
                <a:solidFill>
                  <a:srgbClr val="FF3300"/>
                </a:solidFill>
                <a:latin typeface="楷体_GB2312"/>
                <a:sym typeface="+mn-ea"/>
              </a:rPr>
              <a:t>直接地或间接地调用自己</a:t>
            </a:r>
            <a:r>
              <a:rPr lang="en-US" altLang="zh-CN" dirty="0">
                <a:latin typeface="楷体_GB2312"/>
                <a:sym typeface="+mn-ea"/>
              </a:rPr>
              <a:t>, </a:t>
            </a:r>
            <a:r>
              <a:rPr lang="zh-CN" altLang="en-US" dirty="0">
                <a:latin typeface="楷体_GB2312"/>
                <a:sym typeface="+mn-ea"/>
              </a:rPr>
              <a:t>则称这个函数是递归的</a:t>
            </a:r>
            <a:endParaRPr lang="en-US" altLang="zh-CN" dirty="0"/>
          </a:p>
        </p:txBody>
      </p:sp>
      <p:sp>
        <p:nvSpPr>
          <p:cNvPr id="7" name="文本框 4"/>
          <p:cNvSpPr txBox="1"/>
          <p:nvPr/>
        </p:nvSpPr>
        <p:spPr>
          <a:xfrm>
            <a:off x="4623406" y="1125855"/>
            <a:ext cx="4269073" cy="4708981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mul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x){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	return x*x;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add(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x){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mul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(x)+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mul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(x);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main(){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x = 100;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printf</a:t>
            </a: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("%d", add(x));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}</a:t>
            </a:r>
            <a:endParaRPr lang="en-US" altLang="zh-CN" sz="24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6" grpId="0" animBg="1"/>
      <p:bldP spid="674824" grpId="0" animBg="1"/>
      <p:bldP spid="674825" grpId="0" animBg="1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栈与递归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1125855"/>
            <a:ext cx="8207375" cy="718969"/>
          </a:xfrm>
        </p:spPr>
        <p:txBody>
          <a:bodyPr/>
          <a:lstStyle/>
          <a:p>
            <a:r>
              <a:rPr lang="zh-CN" altLang="en-US" dirty="0"/>
              <a:t>根据下面的定义，</a:t>
            </a:r>
            <a:r>
              <a:rPr lang="en-US" altLang="zh-CN" dirty="0"/>
              <a:t>Fact(4) = ?</a:t>
            </a:r>
          </a:p>
        </p:txBody>
      </p:sp>
      <p:sp>
        <p:nvSpPr>
          <p:cNvPr id="33796" name="文本框 4"/>
          <p:cNvSpPr txBox="1"/>
          <p:nvPr/>
        </p:nvSpPr>
        <p:spPr>
          <a:xfrm>
            <a:off x="971550" y="1873560"/>
            <a:ext cx="7383145" cy="21145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long Fact ( long n ) {</a:t>
            </a:r>
            <a:endParaRPr lang="en-US" altLang="zh-CN" sz="28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   if ( n == 0) return 1;</a:t>
            </a:r>
            <a:endParaRPr lang="en-US" altLang="zh-CN" sz="28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    else return n * Fact (n-1);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}</a:t>
            </a:r>
            <a:endParaRPr lang="en-US" altLang="zh-CN" sz="28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6B0153-EB86-844F-A1F2-DFB78B40DEBC}"/>
              </a:ext>
            </a:extLst>
          </p:cNvPr>
          <p:cNvSpPr txBox="1"/>
          <p:nvPr/>
        </p:nvSpPr>
        <p:spPr>
          <a:xfrm>
            <a:off x="1443210" y="429657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24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求解阶乘 n! 的过程</a:t>
            </a:r>
            <a:endParaRPr lang="zh-CN" altLang="en-US"/>
          </a:p>
        </p:txBody>
      </p:sp>
      <p:sp>
        <p:nvSpPr>
          <p:cNvPr id="73732" name="Rectangle 13"/>
          <p:cNvSpPr>
            <a:spLocks noChangeArrowheads="1"/>
          </p:cNvSpPr>
          <p:nvPr/>
        </p:nvSpPr>
        <p:spPr bwMode="auto">
          <a:xfrm>
            <a:off x="1873250" y="15347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3" name="Rectangle 15"/>
          <p:cNvSpPr>
            <a:spLocks noChangeArrowheads="1"/>
          </p:cNvSpPr>
          <p:nvPr/>
        </p:nvSpPr>
        <p:spPr bwMode="auto">
          <a:xfrm>
            <a:off x="1873250" y="23729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4" name="Line 17"/>
          <p:cNvSpPr>
            <a:spLocks noChangeShapeType="1"/>
          </p:cNvSpPr>
          <p:nvPr/>
        </p:nvSpPr>
        <p:spPr bwMode="auto">
          <a:xfrm flipH="1">
            <a:off x="1568450" y="19919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5" name="Line 18"/>
          <p:cNvSpPr>
            <a:spLocks noChangeShapeType="1"/>
          </p:cNvSpPr>
          <p:nvPr/>
        </p:nvSpPr>
        <p:spPr bwMode="auto">
          <a:xfrm>
            <a:off x="1568450" y="25253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6" name="Line 19"/>
          <p:cNvSpPr>
            <a:spLocks noChangeShapeType="1"/>
          </p:cNvSpPr>
          <p:nvPr/>
        </p:nvSpPr>
        <p:spPr bwMode="auto">
          <a:xfrm flipV="1">
            <a:off x="1568450" y="19919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7" name="Line 20"/>
          <p:cNvSpPr>
            <a:spLocks noChangeShapeType="1"/>
          </p:cNvSpPr>
          <p:nvPr/>
        </p:nvSpPr>
        <p:spPr bwMode="auto">
          <a:xfrm flipH="1">
            <a:off x="7283450" y="25253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8" name="Line 21"/>
          <p:cNvSpPr>
            <a:spLocks noChangeShapeType="1"/>
          </p:cNvSpPr>
          <p:nvPr/>
        </p:nvSpPr>
        <p:spPr bwMode="auto">
          <a:xfrm>
            <a:off x="7283450" y="19919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39" name="Line 22"/>
          <p:cNvSpPr>
            <a:spLocks noChangeShapeType="1"/>
          </p:cNvSpPr>
          <p:nvPr/>
        </p:nvSpPr>
        <p:spPr bwMode="auto">
          <a:xfrm flipV="1">
            <a:off x="7588250" y="19919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0" name="Rectangle 23"/>
          <p:cNvSpPr>
            <a:spLocks noChangeArrowheads="1"/>
          </p:cNvSpPr>
          <p:nvPr/>
        </p:nvSpPr>
        <p:spPr bwMode="auto">
          <a:xfrm>
            <a:off x="1873250" y="32111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1" name="Line 25"/>
          <p:cNvSpPr>
            <a:spLocks noChangeShapeType="1"/>
          </p:cNvSpPr>
          <p:nvPr/>
        </p:nvSpPr>
        <p:spPr bwMode="auto">
          <a:xfrm flipH="1">
            <a:off x="1568450" y="28301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2" name="Line 26"/>
          <p:cNvSpPr>
            <a:spLocks noChangeShapeType="1"/>
          </p:cNvSpPr>
          <p:nvPr/>
        </p:nvSpPr>
        <p:spPr bwMode="auto">
          <a:xfrm>
            <a:off x="1568450" y="33635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3" name="Line 27"/>
          <p:cNvSpPr>
            <a:spLocks noChangeShapeType="1"/>
          </p:cNvSpPr>
          <p:nvPr/>
        </p:nvSpPr>
        <p:spPr bwMode="auto">
          <a:xfrm flipV="1">
            <a:off x="1568450" y="28301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4" name="Line 28"/>
          <p:cNvSpPr>
            <a:spLocks noChangeShapeType="1"/>
          </p:cNvSpPr>
          <p:nvPr/>
        </p:nvSpPr>
        <p:spPr bwMode="auto">
          <a:xfrm flipH="1">
            <a:off x="7283450" y="33635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5" name="Line 29"/>
          <p:cNvSpPr>
            <a:spLocks noChangeShapeType="1"/>
          </p:cNvSpPr>
          <p:nvPr/>
        </p:nvSpPr>
        <p:spPr bwMode="auto">
          <a:xfrm>
            <a:off x="7283450" y="28301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6" name="Line 30"/>
          <p:cNvSpPr>
            <a:spLocks noChangeShapeType="1"/>
          </p:cNvSpPr>
          <p:nvPr/>
        </p:nvSpPr>
        <p:spPr bwMode="auto">
          <a:xfrm flipV="1">
            <a:off x="7588250" y="28301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7" name="Rectangle 31"/>
          <p:cNvSpPr>
            <a:spLocks noChangeArrowheads="1"/>
          </p:cNvSpPr>
          <p:nvPr/>
        </p:nvSpPr>
        <p:spPr bwMode="auto">
          <a:xfrm>
            <a:off x="1873250" y="40493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48" name="Text Box 32"/>
          <p:cNvSpPr txBox="1">
            <a:spLocks noChangeArrowheads="1"/>
          </p:cNvSpPr>
          <p:nvPr/>
        </p:nvSpPr>
        <p:spPr bwMode="auto">
          <a:xfrm>
            <a:off x="1968500" y="3301683"/>
            <a:ext cx="51054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返回 </a:t>
            </a:r>
            <a:r>
              <a:rPr lang="en-US" altLang="zh-CN" sz="2800">
                <a:solidFill>
                  <a:srgbClr val="FF33CC"/>
                </a:solidFill>
                <a:ea typeface="仿宋_GB2312"/>
                <a:cs typeface="仿宋_GB2312"/>
              </a:rPr>
              <a:t>2</a:t>
            </a: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　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参数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2    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计算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2*Fact(1)</a:t>
            </a:r>
          </a:p>
        </p:txBody>
      </p:sp>
      <p:sp>
        <p:nvSpPr>
          <p:cNvPr id="73749" name="Line 33"/>
          <p:cNvSpPr>
            <a:spLocks noChangeShapeType="1"/>
          </p:cNvSpPr>
          <p:nvPr/>
        </p:nvSpPr>
        <p:spPr bwMode="auto">
          <a:xfrm flipH="1">
            <a:off x="1568450" y="36683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0" name="Line 34"/>
          <p:cNvSpPr>
            <a:spLocks noChangeShapeType="1"/>
          </p:cNvSpPr>
          <p:nvPr/>
        </p:nvSpPr>
        <p:spPr bwMode="auto">
          <a:xfrm>
            <a:off x="1568450" y="42017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1" name="Line 35"/>
          <p:cNvSpPr>
            <a:spLocks noChangeShapeType="1"/>
          </p:cNvSpPr>
          <p:nvPr/>
        </p:nvSpPr>
        <p:spPr bwMode="auto">
          <a:xfrm flipV="1">
            <a:off x="1568450" y="36683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2" name="Line 36"/>
          <p:cNvSpPr>
            <a:spLocks noChangeShapeType="1"/>
          </p:cNvSpPr>
          <p:nvPr/>
        </p:nvSpPr>
        <p:spPr bwMode="auto">
          <a:xfrm flipH="1">
            <a:off x="7283450" y="42017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3" name="Line 37"/>
          <p:cNvSpPr>
            <a:spLocks noChangeShapeType="1"/>
          </p:cNvSpPr>
          <p:nvPr/>
        </p:nvSpPr>
        <p:spPr bwMode="auto">
          <a:xfrm>
            <a:off x="7283450" y="36683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4" name="Line 38"/>
          <p:cNvSpPr>
            <a:spLocks noChangeShapeType="1"/>
          </p:cNvSpPr>
          <p:nvPr/>
        </p:nvSpPr>
        <p:spPr bwMode="auto">
          <a:xfrm flipV="1">
            <a:off x="7588250" y="36683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5" name="Rectangle 39"/>
          <p:cNvSpPr>
            <a:spLocks noChangeArrowheads="1"/>
          </p:cNvSpPr>
          <p:nvPr/>
        </p:nvSpPr>
        <p:spPr bwMode="auto">
          <a:xfrm>
            <a:off x="1873250" y="48875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6" name="Text Box 40"/>
          <p:cNvSpPr txBox="1">
            <a:spLocks noChangeArrowheads="1"/>
          </p:cNvSpPr>
          <p:nvPr/>
        </p:nvSpPr>
        <p:spPr bwMode="auto">
          <a:xfrm>
            <a:off x="1958975" y="2415858"/>
            <a:ext cx="51054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返回 </a:t>
            </a:r>
            <a:r>
              <a:rPr lang="en-US" altLang="zh-CN" sz="2800">
                <a:solidFill>
                  <a:srgbClr val="FF33CC"/>
                </a:solidFill>
                <a:ea typeface="仿宋_GB2312"/>
                <a:cs typeface="仿宋_GB2312"/>
              </a:rPr>
              <a:t>1</a:t>
            </a: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　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参数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1    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计算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1*Fact(0)</a:t>
            </a:r>
          </a:p>
        </p:txBody>
      </p:sp>
      <p:sp>
        <p:nvSpPr>
          <p:cNvPr id="73757" name="Line 41"/>
          <p:cNvSpPr>
            <a:spLocks noChangeShapeType="1"/>
          </p:cNvSpPr>
          <p:nvPr/>
        </p:nvSpPr>
        <p:spPr bwMode="auto">
          <a:xfrm flipH="1">
            <a:off x="1568450" y="45065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8" name="Line 42"/>
          <p:cNvSpPr>
            <a:spLocks noChangeShapeType="1"/>
          </p:cNvSpPr>
          <p:nvPr/>
        </p:nvSpPr>
        <p:spPr bwMode="auto">
          <a:xfrm>
            <a:off x="1568450" y="50399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59" name="Line 43"/>
          <p:cNvSpPr>
            <a:spLocks noChangeShapeType="1"/>
          </p:cNvSpPr>
          <p:nvPr/>
        </p:nvSpPr>
        <p:spPr bwMode="auto">
          <a:xfrm flipV="1">
            <a:off x="1568450" y="45065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0" name="Line 44"/>
          <p:cNvSpPr>
            <a:spLocks noChangeShapeType="1"/>
          </p:cNvSpPr>
          <p:nvPr/>
        </p:nvSpPr>
        <p:spPr bwMode="auto">
          <a:xfrm flipH="1">
            <a:off x="7283450" y="50399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1" name="Line 45"/>
          <p:cNvSpPr>
            <a:spLocks noChangeShapeType="1"/>
          </p:cNvSpPr>
          <p:nvPr/>
        </p:nvSpPr>
        <p:spPr bwMode="auto">
          <a:xfrm>
            <a:off x="7283450" y="45065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sm" len="med"/>
            <a:tailEnd type="non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2" name="Line 46"/>
          <p:cNvSpPr>
            <a:spLocks noChangeShapeType="1"/>
          </p:cNvSpPr>
          <p:nvPr/>
        </p:nvSpPr>
        <p:spPr bwMode="auto">
          <a:xfrm flipV="1">
            <a:off x="7588250" y="45065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3" name="Rectangle 47"/>
          <p:cNvSpPr>
            <a:spLocks noChangeArrowheads="1"/>
          </p:cNvSpPr>
          <p:nvPr/>
        </p:nvSpPr>
        <p:spPr bwMode="auto">
          <a:xfrm>
            <a:off x="1873250" y="5725795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4" name="Text Box 48"/>
          <p:cNvSpPr txBox="1">
            <a:spLocks noChangeArrowheads="1"/>
          </p:cNvSpPr>
          <p:nvPr/>
        </p:nvSpPr>
        <p:spPr bwMode="auto">
          <a:xfrm>
            <a:off x="1914525" y="1564958"/>
            <a:ext cx="4846638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返回 </a:t>
            </a:r>
            <a:r>
              <a:rPr lang="en-US" altLang="zh-CN" sz="2800">
                <a:solidFill>
                  <a:srgbClr val="FF33CC"/>
                </a:solidFill>
                <a:ea typeface="仿宋_GB2312"/>
                <a:cs typeface="仿宋_GB2312"/>
              </a:rPr>
              <a:t>1</a:t>
            </a: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　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参数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0    </a:t>
            </a:r>
            <a:r>
              <a:rPr lang="zh-CN" altLang="en-US" sz="2800">
                <a:solidFill>
                  <a:schemeClr val="accent2"/>
                </a:solidFill>
                <a:ea typeface="仿宋_GB2312"/>
                <a:cs typeface="仿宋_GB2312"/>
              </a:rPr>
              <a:t>直接定值 </a:t>
            </a:r>
            <a:r>
              <a:rPr lang="en-US" altLang="zh-CN" sz="2800">
                <a:solidFill>
                  <a:schemeClr val="accent2"/>
                </a:solidFill>
                <a:ea typeface="仿宋_GB2312"/>
                <a:cs typeface="仿宋_GB2312"/>
              </a:rPr>
              <a:t>= 1</a:t>
            </a:r>
          </a:p>
        </p:txBody>
      </p:sp>
      <p:sp>
        <p:nvSpPr>
          <p:cNvPr id="73765" name="Line 49"/>
          <p:cNvSpPr>
            <a:spLocks noChangeShapeType="1"/>
          </p:cNvSpPr>
          <p:nvPr/>
        </p:nvSpPr>
        <p:spPr bwMode="auto">
          <a:xfrm flipH="1">
            <a:off x="1568450" y="53447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6" name="Line 50"/>
          <p:cNvSpPr>
            <a:spLocks noChangeShapeType="1"/>
          </p:cNvSpPr>
          <p:nvPr/>
        </p:nvSpPr>
        <p:spPr bwMode="auto">
          <a:xfrm>
            <a:off x="1568450" y="5878195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med"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sp>
        <p:nvSpPr>
          <p:cNvPr id="73767" name="Line 51"/>
          <p:cNvSpPr>
            <a:spLocks noChangeShapeType="1"/>
          </p:cNvSpPr>
          <p:nvPr/>
        </p:nvSpPr>
        <p:spPr bwMode="auto">
          <a:xfrm flipV="1">
            <a:off x="1568450" y="5344795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endParaRPr lang="zh-CN" altLang="en-US"/>
          </a:p>
        </p:txBody>
      </p:sp>
      <p:grpSp>
        <p:nvGrpSpPr>
          <p:cNvPr id="73768" name="Group 65"/>
          <p:cNvGrpSpPr/>
          <p:nvPr/>
        </p:nvGrpSpPr>
        <p:grpSpPr bwMode="auto">
          <a:xfrm>
            <a:off x="7588250" y="1915795"/>
            <a:ext cx="1158875" cy="3962400"/>
            <a:chOff x="278" y="1152"/>
            <a:chExt cx="730" cy="2496"/>
          </a:xfrm>
        </p:grpSpPr>
        <p:sp>
          <p:nvSpPr>
            <p:cNvPr id="447543" name="Text Box 55"/>
            <p:cNvSpPr txBox="1">
              <a:spLocks noChangeArrowheads="1"/>
            </p:cNvSpPr>
            <p:nvPr/>
          </p:nvSpPr>
          <p:spPr bwMode="auto">
            <a:xfrm>
              <a:off x="614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r>
                <a:rPr lang="zh-CN" altLang="en-US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</a:rPr>
                <a:t>参数传递</a:t>
              </a:r>
              <a:endParaRPr lang="zh-CN" altLang="en-US" b="0"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46" name="Text Box 58"/>
            <p:cNvSpPr txBox="1">
              <a:spLocks noChangeArrowheads="1"/>
            </p:cNvSpPr>
            <p:nvPr/>
          </p:nvSpPr>
          <p:spPr bwMode="auto">
            <a:xfrm>
              <a:off x="278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r>
                <a:rPr lang="zh-CN" altLang="en-US" sz="28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</a:rPr>
                <a:t>递归调用</a:t>
              </a:r>
              <a:endParaRPr lang="zh-CN" altLang="en-US" b="0"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784" name="Line 59"/>
            <p:cNvSpPr>
              <a:spLocks noChangeShapeType="1"/>
            </p:cNvSpPr>
            <p:nvPr/>
          </p:nvSpPr>
          <p:spPr bwMode="auto">
            <a:xfrm>
              <a:off x="612" y="1152"/>
              <a:ext cx="0" cy="249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lg" len="lg"/>
              <a:tailEnd type="none" w="sm" len="lg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3769" name="Group 64"/>
          <p:cNvGrpSpPr/>
          <p:nvPr/>
        </p:nvGrpSpPr>
        <p:grpSpPr bwMode="auto">
          <a:xfrm>
            <a:off x="409575" y="2011045"/>
            <a:ext cx="1158875" cy="3962400"/>
            <a:chOff x="4752" y="1223"/>
            <a:chExt cx="730" cy="2496"/>
          </a:xfrm>
        </p:grpSpPr>
        <p:sp>
          <p:nvSpPr>
            <p:cNvPr id="447544" name="Text Box 56"/>
            <p:cNvSpPr txBox="1">
              <a:spLocks noChangeArrowheads="1"/>
            </p:cNvSpPr>
            <p:nvPr/>
          </p:nvSpPr>
          <p:spPr bwMode="auto">
            <a:xfrm>
              <a:off x="4752" y="1728"/>
              <a:ext cx="346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r>
                <a:rPr lang="zh-CN" altLang="en-US" sz="28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</a:rPr>
                <a:t>结果返回</a:t>
              </a:r>
              <a:endParaRPr lang="zh-CN" altLang="en-US" b="0"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780" name="Line 57"/>
            <p:cNvSpPr>
              <a:spLocks noChangeShapeType="1"/>
            </p:cNvSpPr>
            <p:nvPr/>
          </p:nvSpPr>
          <p:spPr bwMode="auto">
            <a:xfrm>
              <a:off x="5088" y="1223"/>
              <a:ext cx="0" cy="249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tailEnd type="triangle" w="lg" len="lg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7548" name="Text Box 60"/>
            <p:cNvSpPr txBox="1">
              <a:spLocks noChangeArrowheads="1"/>
            </p:cNvSpPr>
            <p:nvPr/>
          </p:nvSpPr>
          <p:spPr bwMode="auto">
            <a:xfrm>
              <a:off x="5088" y="1698"/>
              <a:ext cx="394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defRPr/>
              </a:pPr>
              <a:r>
                <a:rPr lang="zh-CN" altLang="en-US" sz="28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  <a:cs typeface="+mn-cs"/>
                </a:rPr>
                <a:t>回归求值</a:t>
              </a:r>
              <a:endParaRPr lang="zh-CN" altLang="en-US" b="0"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47551" name="Text Box 63"/>
          <p:cNvSpPr txBox="1">
            <a:spLocks noChangeArrowheads="1"/>
          </p:cNvSpPr>
          <p:nvPr/>
        </p:nvSpPr>
        <p:spPr bwMode="auto">
          <a:xfrm>
            <a:off x="2816225" y="5725795"/>
            <a:ext cx="350043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cs typeface="+mn-cs"/>
              </a:rPr>
              <a:t>主程序</a:t>
            </a: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>
                <a:solidFill>
                  <a:schemeClr val="accent2"/>
                </a:solidFill>
                <a:ea typeface="宋体" panose="02010600030101010101" pitchFamily="2" charset="-122"/>
                <a:cs typeface="+mn-cs"/>
              </a:rPr>
              <a:t>main : Fact(4)</a:t>
            </a:r>
          </a:p>
        </p:txBody>
      </p:sp>
      <p:grpSp>
        <p:nvGrpSpPr>
          <p:cNvPr id="73773" name="Group 66"/>
          <p:cNvGrpSpPr/>
          <p:nvPr/>
        </p:nvGrpSpPr>
        <p:grpSpPr bwMode="auto">
          <a:xfrm>
            <a:off x="1958975" y="4887595"/>
            <a:ext cx="5629275" cy="990600"/>
            <a:chOff x="1206" y="2928"/>
            <a:chExt cx="3546" cy="624"/>
          </a:xfrm>
        </p:grpSpPr>
        <p:sp>
          <p:nvSpPr>
            <p:cNvPr id="73775" name="Line 52"/>
            <p:cNvSpPr>
              <a:spLocks noChangeShapeType="1"/>
            </p:cNvSpPr>
            <p:nvPr/>
          </p:nvSpPr>
          <p:spPr bwMode="auto">
            <a:xfrm flipH="1">
              <a:off x="4560" y="3552"/>
              <a:ext cx="19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776" name="Line 53"/>
            <p:cNvSpPr>
              <a:spLocks noChangeShapeType="1"/>
            </p:cNvSpPr>
            <p:nvPr/>
          </p:nvSpPr>
          <p:spPr bwMode="auto">
            <a:xfrm>
              <a:off x="4560" y="3216"/>
              <a:ext cx="19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med"/>
              <a:tailEnd type="none" w="sm" len="med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777" name="Line 54"/>
            <p:cNvSpPr>
              <a:spLocks noChangeShapeType="1"/>
            </p:cNvSpPr>
            <p:nvPr/>
          </p:nvSpPr>
          <p:spPr bwMode="auto">
            <a:xfrm flipV="1">
              <a:off x="4752" y="3216"/>
              <a:ext cx="0" cy="3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778" name="Text Box 16"/>
            <p:cNvSpPr txBox="1">
              <a:spLocks noChangeArrowheads="1"/>
            </p:cNvSpPr>
            <p:nvPr/>
          </p:nvSpPr>
          <p:spPr bwMode="auto">
            <a:xfrm>
              <a:off x="1206" y="2928"/>
              <a:ext cx="321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1pPr>
              <a:lvl2pPr marL="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2pPr>
              <a:lvl3pPr marL="9144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3pPr>
              <a:lvl4pPr marL="1371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4pPr>
              <a:lvl5pPr marL="18288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800">
                  <a:solidFill>
                    <a:srgbClr val="FF33CC"/>
                  </a:solidFill>
                  <a:ea typeface="仿宋_GB2312"/>
                  <a:cs typeface="仿宋_GB2312"/>
                </a:rPr>
                <a:t>返回 </a:t>
              </a:r>
              <a:r>
                <a:rPr lang="en-US" altLang="zh-CN" sz="2800">
                  <a:solidFill>
                    <a:srgbClr val="FF33CC"/>
                  </a:solidFill>
                  <a:ea typeface="仿宋_GB2312"/>
                  <a:cs typeface="仿宋_GB2312"/>
                </a:rPr>
                <a:t>24  </a:t>
              </a:r>
              <a:r>
                <a:rPr lang="zh-CN" altLang="en-US" sz="2800">
                  <a:solidFill>
                    <a:schemeClr val="accent2"/>
                  </a:solidFill>
                  <a:ea typeface="宋体" panose="02010600030101010101" pitchFamily="2" charset="-122"/>
                </a:rPr>
                <a:t>参数 </a:t>
              </a:r>
              <a:r>
                <a:rPr lang="en-US" altLang="zh-CN" sz="2800">
                  <a:solidFill>
                    <a:schemeClr val="accent2"/>
                  </a:solidFill>
                  <a:ea typeface="宋体" panose="02010600030101010101" pitchFamily="2" charset="-122"/>
                </a:rPr>
                <a:t>4    </a:t>
              </a:r>
              <a:r>
                <a:rPr lang="zh-CN" altLang="en-US" sz="2800">
                  <a:solidFill>
                    <a:schemeClr val="accent2"/>
                  </a:solidFill>
                  <a:ea typeface="宋体" panose="02010600030101010101" pitchFamily="2" charset="-122"/>
                </a:rPr>
                <a:t>计算 </a:t>
              </a:r>
              <a:r>
                <a:rPr lang="en-US" altLang="zh-CN" sz="2800">
                  <a:solidFill>
                    <a:schemeClr val="accent2"/>
                  </a:solidFill>
                  <a:ea typeface="宋体" panose="02010600030101010101" pitchFamily="2" charset="-122"/>
                </a:rPr>
                <a:t>4*Fact(3)</a:t>
              </a:r>
            </a:p>
          </p:txBody>
        </p:sp>
      </p:grpSp>
      <p:sp>
        <p:nvSpPr>
          <p:cNvPr id="73774" name="Text Box 24"/>
          <p:cNvSpPr txBox="1">
            <a:spLocks noChangeArrowheads="1"/>
          </p:cNvSpPr>
          <p:nvPr/>
        </p:nvSpPr>
        <p:spPr bwMode="auto">
          <a:xfrm>
            <a:off x="1968500" y="4085908"/>
            <a:ext cx="51054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返回 </a:t>
            </a:r>
            <a:r>
              <a:rPr lang="en-US" altLang="zh-CN" sz="2800">
                <a:solidFill>
                  <a:srgbClr val="FF33CC"/>
                </a:solidFill>
                <a:ea typeface="仿宋_GB2312"/>
                <a:cs typeface="仿宋_GB2312"/>
              </a:rPr>
              <a:t>6</a:t>
            </a:r>
            <a:r>
              <a:rPr lang="zh-CN" altLang="en-US" sz="2800">
                <a:solidFill>
                  <a:srgbClr val="FF33CC"/>
                </a:solidFill>
                <a:ea typeface="仿宋_GB2312"/>
                <a:cs typeface="仿宋_GB2312"/>
              </a:rPr>
              <a:t>　</a:t>
            </a: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</a:rPr>
              <a:t>参数 </a:t>
            </a:r>
            <a:r>
              <a:rPr lang="en-US" altLang="zh-CN" sz="2800">
                <a:solidFill>
                  <a:schemeClr val="accent2"/>
                </a:solidFill>
                <a:ea typeface="宋体" panose="02010600030101010101" pitchFamily="2" charset="-122"/>
              </a:rPr>
              <a:t>3    </a:t>
            </a: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</a:rPr>
              <a:t>计算 </a:t>
            </a:r>
            <a:r>
              <a:rPr lang="en-US" altLang="zh-CN" sz="2800">
                <a:solidFill>
                  <a:schemeClr val="accent2"/>
                </a:solidFill>
                <a:ea typeface="宋体" panose="02010600030101010101" pitchFamily="2" charset="-122"/>
              </a:rPr>
              <a:t>3*Fact(2)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队列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队列</a:t>
            </a:r>
            <a:r>
              <a:rPr lang="en-US" altLang="zh-CN" dirty="0">
                <a:latin typeface="+mn-lt"/>
                <a:ea typeface="+mn-ea"/>
                <a:cs typeface="+mn-cs"/>
              </a:rPr>
              <a:t>(Queue)</a:t>
            </a:r>
            <a:r>
              <a:rPr lang="zh-CN" altLang="en-US" dirty="0">
                <a:latin typeface="+mn-lt"/>
                <a:ea typeface="+mn-ea"/>
                <a:cs typeface="+mn-cs"/>
              </a:rPr>
              <a:t>也是一种操作受限线性表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</a:rPr>
              <a:t>在表的一端插入元素，而在另一端删除元素</a:t>
            </a:r>
            <a:endParaRPr lang="en-US" altLang="zh-CN" dirty="0">
              <a:latin typeface="+mn-lt"/>
              <a:ea typeface="+mn-ea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允许插入的一端叫做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队尾</a:t>
            </a:r>
            <a:r>
              <a:rPr lang="en-US" altLang="zh-CN" dirty="0">
                <a:latin typeface="+mn-lt"/>
                <a:ea typeface="+mn-ea"/>
                <a:cs typeface="+mn-cs"/>
              </a:rPr>
              <a:t>(rear)</a:t>
            </a: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允许删除的一端称为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队头</a:t>
            </a:r>
            <a:r>
              <a:rPr lang="en-US" altLang="zh-CN" dirty="0">
                <a:latin typeface="+mn-lt"/>
                <a:ea typeface="+mn-ea"/>
                <a:cs typeface="+mn-cs"/>
              </a:rPr>
              <a:t>(front)</a:t>
            </a: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不含元素的队列称为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空队列</a:t>
            </a:r>
            <a:endParaRPr lang="en-US" altLang="zh-C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在队尾插入元素称为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入队</a:t>
            </a:r>
            <a:r>
              <a:rPr lang="en-US" altLang="zh-CN" dirty="0">
                <a:latin typeface="+mn-lt"/>
                <a:ea typeface="+mn-ea"/>
                <a:cs typeface="+mn-cs"/>
              </a:rPr>
              <a:t>(enqueue)</a:t>
            </a: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删除队头的元素称为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出队</a:t>
            </a:r>
            <a:r>
              <a:rPr lang="en-US" altLang="zh-CN" dirty="0">
                <a:latin typeface="+mn-lt"/>
                <a:ea typeface="+mn-ea"/>
                <a:cs typeface="+mn-cs"/>
              </a:rPr>
              <a:t>(dequeue)</a:t>
            </a:r>
          </a:p>
          <a:p>
            <a:endParaRPr lang="en-US" altLang="zh-CN" dirty="0">
              <a:latin typeface="+mn-lt"/>
              <a:ea typeface="+mn-ea"/>
              <a:cs typeface="+mn-cs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14340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27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1116014" y="2349500"/>
            <a:ext cx="7026275" cy="369332"/>
            <a:chOff x="1116014" y="2349500"/>
            <a:chExt cx="7026275" cy="369332"/>
          </a:xfrm>
        </p:grpSpPr>
        <p:sp>
          <p:nvSpPr>
            <p:cNvPr id="6" name="Text Box 5"/>
            <p:cNvSpPr txBox="1"/>
            <p:nvPr/>
          </p:nvSpPr>
          <p:spPr>
            <a:xfrm>
              <a:off x="1116014" y="2349500"/>
              <a:ext cx="702627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zh-CN" b="1" dirty="0">
                  <a:latin typeface="Times New Roman" panose="02020603050405020304" pitchFamily="18" charset="0"/>
                </a:rPr>
                <a:t>删除端</a:t>
              </a:r>
              <a:r>
                <a:rPr lang="en-US" altLang="zh-CN" b="1" dirty="0">
                  <a:latin typeface="Times New Roman" panose="02020603050405020304" pitchFamily="18" charset="0"/>
                </a:rPr>
                <a:t>           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3</a:t>
              </a:r>
              <a:r>
                <a:rPr lang="zh-CN" altLang="zh-CN" b="1" dirty="0">
                  <a:latin typeface="Times New Roman" panose="02020603050405020304" pitchFamily="18" charset="0"/>
                </a:rPr>
                <a:t>,  ...,    a</a:t>
              </a:r>
              <a:r>
                <a:rPr lang="zh-CN" altLang="zh-CN" b="1" baseline="-25000" dirty="0">
                  <a:latin typeface="Times New Roman" panose="02020603050405020304" pitchFamily="18" charset="0"/>
                </a:rPr>
                <a:t>n                      </a:t>
              </a:r>
              <a:r>
                <a:rPr lang="zh-CN" altLang="zh-CN" b="1" dirty="0">
                  <a:latin typeface="Times New Roman" panose="02020603050405020304" pitchFamily="18" charset="0"/>
                </a:rPr>
                <a:t>插入端</a:t>
              </a: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7" name="Line 6"/>
            <p:cNvSpPr/>
            <p:nvPr/>
          </p:nvSpPr>
          <p:spPr>
            <a:xfrm flipH="1">
              <a:off x="4860032" y="2564904"/>
              <a:ext cx="504451" cy="4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8" name="Line 6"/>
            <p:cNvSpPr/>
            <p:nvPr/>
          </p:nvSpPr>
          <p:spPr>
            <a:xfrm>
              <a:off x="2123728" y="2564904"/>
              <a:ext cx="50366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队列的特点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44524" y="1099344"/>
            <a:ext cx="8207375" cy="1321544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先进先出（</a:t>
            </a:r>
            <a:r>
              <a:rPr lang="en-US" altLang="zh-CN" dirty="0">
                <a:latin typeface="+mn-lt"/>
                <a:ea typeface="+mn-ea"/>
                <a:cs typeface="+mn-cs"/>
              </a:rPr>
              <a:t>First In First Out</a:t>
            </a:r>
            <a:r>
              <a:rPr lang="zh-CN" altLang="en-US" dirty="0">
                <a:latin typeface="+mn-lt"/>
                <a:ea typeface="+mn-ea"/>
                <a:cs typeface="+mn-cs"/>
              </a:rPr>
              <a:t>），简称为</a:t>
            </a:r>
            <a:r>
              <a:rPr lang="en-US" altLang="zh-CN" dirty="0">
                <a:latin typeface="+mn-lt"/>
                <a:ea typeface="+mn-ea"/>
                <a:cs typeface="+mn-cs"/>
              </a:rPr>
              <a:t>FIFO</a:t>
            </a:r>
            <a:r>
              <a:rPr lang="zh-CN" altLang="en-US" dirty="0">
                <a:latin typeface="+mn-lt"/>
                <a:ea typeface="+mn-ea"/>
                <a:cs typeface="+mn-cs"/>
              </a:rPr>
              <a:t>线性表。            </a:t>
            </a:r>
          </a:p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28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12" y="2564904"/>
            <a:ext cx="6807200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栈的抽象数据类型</a:t>
            </a: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29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468313" y="1052513"/>
            <a:ext cx="2557462" cy="5262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ADT Queue {</a:t>
            </a: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} ADT Queue</a:t>
            </a:r>
          </a:p>
        </p:txBody>
      </p:sp>
      <p:sp>
        <p:nvSpPr>
          <p:cNvPr id="7" name="Text Box 4"/>
          <p:cNvSpPr txBox="1"/>
          <p:nvPr/>
        </p:nvSpPr>
        <p:spPr>
          <a:xfrm>
            <a:off x="1044575" y="1700213"/>
            <a:ext cx="2105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数据对象：</a:t>
            </a:r>
          </a:p>
        </p:txBody>
      </p:sp>
      <p:sp>
        <p:nvSpPr>
          <p:cNvPr id="8" name="Text Box 5"/>
          <p:cNvSpPr txBox="1"/>
          <p:nvPr/>
        </p:nvSpPr>
        <p:spPr>
          <a:xfrm>
            <a:off x="1620838" y="2347913"/>
            <a:ext cx="5268912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 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| 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∈ElemSet, i=1,2,...,n,  n≥0 }</a:t>
            </a:r>
          </a:p>
        </p:txBody>
      </p:sp>
      <p:sp>
        <p:nvSpPr>
          <p:cNvPr id="9" name="Text Box 6"/>
          <p:cNvSpPr txBox="1"/>
          <p:nvPr/>
        </p:nvSpPr>
        <p:spPr>
          <a:xfrm>
            <a:off x="1260475" y="2995613"/>
            <a:ext cx="198913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数据关系：</a:t>
            </a:r>
          </a:p>
        </p:txBody>
      </p:sp>
      <p:sp>
        <p:nvSpPr>
          <p:cNvPr id="10" name="Text Box 7"/>
          <p:cNvSpPr txBox="1"/>
          <p:nvPr/>
        </p:nvSpPr>
        <p:spPr>
          <a:xfrm>
            <a:off x="1693863" y="3716338"/>
            <a:ext cx="64579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R1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 &lt;a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,a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&gt;|a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,a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∈D,  i=2,...,n }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836738" y="4219575"/>
            <a:ext cx="5157787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{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一般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为队头，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为队尾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}</a:t>
            </a:r>
          </a:p>
        </p:txBody>
      </p:sp>
      <p:sp>
        <p:nvSpPr>
          <p:cNvPr id="12" name="Text Box 6"/>
          <p:cNvSpPr txBox="1"/>
          <p:nvPr/>
        </p:nvSpPr>
        <p:spPr>
          <a:xfrm>
            <a:off x="1258888" y="4921250"/>
            <a:ext cx="27098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基本操作：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……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08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栈的基本操作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54026"/>
              </p:ext>
            </p:extLst>
          </p:nvPr>
        </p:nvGraphicFramePr>
        <p:xfrm>
          <a:off x="468312" y="1700808"/>
          <a:ext cx="8207376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init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(&amp;Q)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初始化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destroy(&amp;Q)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销毁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isEmpty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判空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latin typeface="Cambria Math" panose="02040503050406030204" pitchFamily="18" charset="0"/>
                        </a:rPr>
                        <a:t>isFull</a:t>
                      </a:r>
                      <a:r>
                        <a:rPr lang="en-US" altLang="zh-CN" sz="2800" dirty="0">
                          <a:latin typeface="Cambria Math" panose="02040503050406030204" pitchFamily="18" charset="0"/>
                        </a:rPr>
                        <a:t>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判满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Front(Q, &amp;e)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获取队头元素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Enqueue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(&amp;Q,</a:t>
                      </a:r>
                      <a:r>
                        <a:rPr lang="en-US" altLang="zh-CN" sz="2800" baseline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 e)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入队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Dequeue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a:t>(&amp;Q, &amp;e)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出队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43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30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8979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41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5A028D-E3E4-478D-B536-0D7B20851168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77101" y="1194010"/>
            <a:ext cx="7315200" cy="135384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元素入队的顺序为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1 2 3 4 5 6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，入队的过程中允许出队，则出队的顺序是确定的。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2495993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true</a:t>
            </a:r>
            <a:endParaRPr lang="en-US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249076" y="2492896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false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22540" y="5728744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true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249076" y="5738390"/>
            <a:ext cx="180709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false</a:t>
            </a:r>
            <a:endParaRPr lang="en-US" sz="26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56028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534701" y="255718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786854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534701" y="580268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kumimoji="0" lang="en-US" sz="1600" b="0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857200" y="4235400"/>
            <a:ext cx="7315200" cy="135384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元素入栈的顺序为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1 2 3 4 5 6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，入栈的过程中允许出栈，则出栈的顺序是确定的。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654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顺序队列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3959646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顺序存储的队列称为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顺序队列</a:t>
            </a:r>
            <a:r>
              <a:rPr lang="zh-CN" altLang="en-US" dirty="0">
                <a:latin typeface="+mn-lt"/>
                <a:ea typeface="+mn-ea"/>
                <a:cs typeface="+mn-cs"/>
              </a:rPr>
              <a:t>由于队列的队头和队尾都是活动的，因此有队头</a:t>
            </a:r>
            <a:r>
              <a:rPr lang="en-US" altLang="zh-CN" dirty="0">
                <a:latin typeface="+mn-lt"/>
                <a:ea typeface="+mn-ea"/>
                <a:cs typeface="+mn-cs"/>
              </a:rPr>
              <a:t>front</a:t>
            </a:r>
            <a:r>
              <a:rPr lang="zh-CN" altLang="en-US" dirty="0"/>
              <a:t>和</a:t>
            </a:r>
            <a:r>
              <a:rPr lang="zh-CN" altLang="en-US" dirty="0">
                <a:latin typeface="+mn-lt"/>
                <a:ea typeface="+mn-ea"/>
                <a:cs typeface="+mn-cs"/>
              </a:rPr>
              <a:t>队尾</a:t>
            </a:r>
            <a:r>
              <a:rPr lang="en-US" altLang="zh-CN" dirty="0">
                <a:latin typeface="+mn-lt"/>
                <a:ea typeface="+mn-ea"/>
                <a:cs typeface="+mn-cs"/>
              </a:rPr>
              <a:t>rear</a:t>
            </a:r>
            <a:r>
              <a:rPr lang="zh-CN" altLang="en-US" dirty="0">
                <a:latin typeface="+mn-lt"/>
                <a:ea typeface="+mn-ea"/>
                <a:cs typeface="+mn-cs"/>
              </a:rPr>
              <a:t>两个标记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/>
              <a:t>分别表示队头和队尾的下标</a:t>
            </a:r>
            <a:endParaRPr lang="en-US" altLang="zh-CN" dirty="0">
              <a:solidFill>
                <a:srgbClr val="4C34FE"/>
              </a:solidFill>
              <a:latin typeface="+mn-lt"/>
              <a:ea typeface="+mn-ea"/>
            </a:endParaRPr>
          </a:p>
          <a:p>
            <a:r>
              <a:rPr lang="zh-CN" altLang="en-US" dirty="0"/>
              <a:t>下标变化：入队时</a:t>
            </a:r>
            <a:r>
              <a:rPr lang="en-US" altLang="zh-CN" dirty="0"/>
              <a:t>rear++</a:t>
            </a:r>
            <a:r>
              <a:rPr lang="zh-CN" altLang="en-US" dirty="0"/>
              <a:t>，出队时</a:t>
            </a:r>
            <a:r>
              <a:rPr lang="en-US" altLang="zh-CN" dirty="0"/>
              <a:t>front++</a:t>
            </a:r>
          </a:p>
          <a:p>
            <a:r>
              <a:rPr lang="zh-CN" altLang="en-US" dirty="0"/>
              <a:t>时间复杂度均为</a:t>
            </a:r>
            <a:r>
              <a:rPr lang="en-US" altLang="zh-CN" dirty="0"/>
              <a:t>O(1)</a:t>
            </a:r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33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21780"/>
              </p:ext>
            </p:extLst>
          </p:nvPr>
        </p:nvGraphicFramePr>
        <p:xfrm>
          <a:off x="949711" y="4941168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60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假溢出问题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34</a:t>
            </a:fld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16684"/>
              </p:ext>
            </p:extLst>
          </p:nvPr>
        </p:nvGraphicFramePr>
        <p:xfrm>
          <a:off x="1763688" y="1700808"/>
          <a:ext cx="5352258" cy="794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20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43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835696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99792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35896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99992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436096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5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300192" y="1891803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6</a:t>
            </a:r>
          </a:p>
        </p:txBody>
      </p:sp>
      <p:sp>
        <p:nvSpPr>
          <p:cNvPr id="19" name="TextBox 4"/>
          <p:cNvSpPr txBox="1">
            <a:spLocks noChangeArrowheads="1"/>
          </p:cNvSpPr>
          <p:nvPr/>
        </p:nvSpPr>
        <p:spPr bwMode="auto">
          <a:xfrm>
            <a:off x="1090985" y="2671130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=1;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&lt;=6;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++){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=1;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&lt;=3;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++){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dequeuer(Q);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(Q, 7); 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835696" y="189779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7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835696" y="126876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front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352318" y="1287724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rear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499992" y="126876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front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853970" y="1275587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rear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090985" y="5517232"/>
            <a:ext cx="6289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if(++rear==MAXSIZE) rear = 0;</a:t>
            </a:r>
          </a:p>
        </p:txBody>
      </p:sp>
    </p:spTree>
    <p:extLst>
      <p:ext uri="{BB962C8B-B14F-4D97-AF65-F5344CB8AC3E}">
        <p14:creationId xmlns:p14="http://schemas.microsoft.com/office/powerpoint/2010/main" val="401702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2" grpId="0"/>
      <p:bldP spid="13" grpId="0"/>
      <p:bldP spid="14" grpId="0"/>
      <p:bldP spid="15" grpId="0"/>
      <p:bldP spid="20" grpId="0"/>
      <p:bldP spid="22" grpId="0"/>
      <p:bldP spid="22" grpId="1"/>
      <p:bldP spid="23" grpId="0"/>
      <p:bldP spid="23" grpId="1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元素个数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647278"/>
          </a:xfrm>
        </p:spPr>
        <p:txBody>
          <a:bodyPr/>
          <a:lstStyle/>
          <a:p>
            <a:r>
              <a:rPr lang="en-US" altLang="zh-CN" dirty="0"/>
              <a:t>front</a:t>
            </a:r>
            <a:r>
              <a:rPr lang="zh-CN" altLang="en-US" dirty="0"/>
              <a:t>可能大于</a:t>
            </a:r>
            <a:r>
              <a:rPr lang="en-US" altLang="zh-CN" dirty="0"/>
              <a:t>rear</a:t>
            </a:r>
            <a:endParaRPr lang="zh-CN" altLang="en-US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223167" y="3118316"/>
            <a:ext cx="6697663" cy="3046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#define MAXSIZE 10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size;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128076"/>
              </p:ext>
            </p:extLst>
          </p:nvPr>
        </p:nvGraphicFramePr>
        <p:xfrm>
          <a:off x="1068977" y="1987870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Q.elem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180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, </a:t>
            </a: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10088"/>
            <a:ext cx="6697663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[MAXSIZE];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1;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Q.size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4244895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Q.size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==0;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55237" y="5541039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isFull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Q.size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==MAXSIZE;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90446" y="3573016"/>
            <a:ext cx="3600400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size;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94347" y="1196752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Q.elem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73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front, </a:t>
            </a:r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91388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front(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e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]; 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3947572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isFull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if(++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==MAXSIZE)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] = e; 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Q.size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++;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94347" y="1196752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Q.elem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156176" y="2508165"/>
            <a:ext cx="287955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size;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6378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91388"/>
            <a:ext cx="6697663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if(++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==MAXSIZE)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Q.size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--;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94347" y="1196752"/>
          <a:ext cx="7006045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index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front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……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MAXSIZE-1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Q.elem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012160" y="4005064"/>
            <a:ext cx="2879552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size;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82344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3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70080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出队操作时，语句 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if(++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==MAXSIZE)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0; 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也可采用模运算完成，请给出相应代码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/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5448751-4484-764E-B010-9552D77F21F9}"/>
              </a:ext>
            </a:extLst>
          </p:cNvPr>
          <p:cNvSpPr txBox="1"/>
          <p:nvPr/>
        </p:nvSpPr>
        <p:spPr>
          <a:xfrm>
            <a:off x="1619672" y="3865007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dirty="0" err="1">
                <a:solidFill>
                  <a:srgbClr val="FF0000"/>
                </a:solidFill>
              </a:rPr>
              <a:t>Q.front</a:t>
            </a:r>
            <a:r>
              <a:rPr lang="en-HK" altLang="zh-CN" dirty="0">
                <a:solidFill>
                  <a:srgbClr val="FF0000"/>
                </a:solidFill>
              </a:rPr>
              <a:t>=(Q.front+1)%</a:t>
            </a:r>
            <a:r>
              <a:rPr lang="en-HK" altLang="zh-CN" dirty="0" err="1">
                <a:solidFill>
                  <a:srgbClr val="FF0000"/>
                </a:solidFill>
              </a:rPr>
              <a:t>MaxSize</a:t>
            </a:r>
            <a:r>
              <a:rPr lang="en-HK" altLang="zh-CN" dirty="0">
                <a:solidFill>
                  <a:srgbClr val="FF0000"/>
                </a:solidFill>
              </a:rPr>
              <a:t>;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49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链队列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68313" y="1125540"/>
            <a:ext cx="8207375" cy="1439564"/>
          </a:xfrm>
        </p:spPr>
        <p:txBody>
          <a:bodyPr/>
          <a:lstStyle/>
          <a:p>
            <a:r>
              <a:rPr lang="zh-CN" altLang="en-US" dirty="0"/>
              <a:t>用链表表示的队列称为</a:t>
            </a:r>
            <a:r>
              <a:rPr lang="zh-CN" altLang="en-US" dirty="0">
                <a:solidFill>
                  <a:srgbClr val="FF0000"/>
                </a:solidFill>
              </a:rPr>
              <a:t>链队列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队列为空时，</a:t>
            </a:r>
            <a:r>
              <a:rPr lang="en-US" altLang="zh-CN" dirty="0"/>
              <a:t>front</a:t>
            </a:r>
            <a:r>
              <a:rPr lang="zh-CN" altLang="en-US" dirty="0"/>
              <a:t>和</a:t>
            </a:r>
            <a:r>
              <a:rPr lang="en-US" altLang="zh-CN" dirty="0"/>
              <a:t>rear</a:t>
            </a:r>
            <a:r>
              <a:rPr lang="zh-CN" altLang="en-US" dirty="0"/>
              <a:t>同时指向头结点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10F634-2587-4B8E-B229-864BB22B72A9}" type="slidenum">
              <a:rPr lang="zh-CN" altLang="en-US">
                <a:ea typeface="华文细黑" panose="02010600040101010101" pitchFamily="2" charset="-122"/>
              </a:rPr>
              <a:pPr/>
              <a:t>41</a:t>
            </a:fld>
            <a:endParaRPr lang="zh-CN" altLang="en-US">
              <a:ea typeface="华文细黑" panose="0201060004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043608" y="2169022"/>
            <a:ext cx="7056784" cy="792163"/>
            <a:chOff x="827584" y="3140893"/>
            <a:chExt cx="7056784" cy="792163"/>
          </a:xfrm>
        </p:grpSpPr>
        <p:sp>
          <p:nvSpPr>
            <p:cNvPr id="29" name="TextBox 91"/>
            <p:cNvSpPr txBox="1">
              <a:spLocks noChangeArrowheads="1"/>
            </p:cNvSpPr>
            <p:nvPr/>
          </p:nvSpPr>
          <p:spPr bwMode="auto">
            <a:xfrm>
              <a:off x="1620093" y="3140893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front</a:t>
              </a:r>
              <a:endParaRPr lang="zh-CN" altLang="en-US" dirty="0"/>
            </a:p>
          </p:txBody>
        </p:sp>
        <p:sp>
          <p:nvSpPr>
            <p:cNvPr id="30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2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1" name="直接箭头连接符 138"/>
            <p:cNvCxnSpPr>
              <a:cxnSpLocks noChangeShapeType="1"/>
              <a:endCxn id="3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直接箭头连接符 140"/>
            <p:cNvCxnSpPr>
              <a:cxnSpLocks noChangeShapeType="1"/>
              <a:endCxn id="3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4"/>
            <p:cNvCxnSpPr>
              <a:cxnSpLocks noChangeShapeType="1"/>
              <a:endCxn id="3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6" name="肘形连接符 45"/>
            <p:cNvCxnSpPr>
              <a:cxnSpLocks noChangeShapeType="1"/>
              <a:endCxn id="30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文本框 46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48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rear</a:t>
              </a:r>
              <a:endParaRPr lang="zh-CN" altLang="en-US" dirty="0"/>
            </a:p>
          </p:txBody>
        </p:sp>
      </p:grpSp>
      <p:sp>
        <p:nvSpPr>
          <p:cNvPr id="49" name="TextBox 4"/>
          <p:cNvSpPr txBox="1">
            <a:spLocks noChangeArrowheads="1"/>
          </p:cNvSpPr>
          <p:nvPr/>
        </p:nvSpPr>
        <p:spPr bwMode="auto">
          <a:xfrm>
            <a:off x="1150093" y="3181032"/>
            <a:ext cx="6697663" cy="3416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     //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数据域</a:t>
            </a: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  //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指针域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 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83488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init</a:t>
            </a:r>
            <a:r>
              <a:rPr lang="en-US" dirty="0"/>
              <a:t>, </a:t>
            </a: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210088"/>
            <a:ext cx="6697663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init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 = NULL;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4005064"/>
            <a:ext cx="669766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-&gt;next==NULL;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55238" y="5445224"/>
            <a:ext cx="4460034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理论上，链队列不会满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436096" y="2132856"/>
            <a:ext cx="3600400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 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843808" y="1122941"/>
            <a:ext cx="2375246" cy="792163"/>
            <a:chOff x="395784" y="3140893"/>
            <a:chExt cx="2375246" cy="792163"/>
          </a:xfrm>
        </p:grpSpPr>
        <p:sp>
          <p:nvSpPr>
            <p:cNvPr id="28" name="TextBox 91"/>
            <p:cNvSpPr txBox="1">
              <a:spLocks noChangeArrowheads="1"/>
            </p:cNvSpPr>
            <p:nvPr/>
          </p:nvSpPr>
          <p:spPr bwMode="auto">
            <a:xfrm>
              <a:off x="1620093" y="3140893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zh-CN" altLang="en-US" dirty="0"/>
            </a:p>
          </p:txBody>
        </p:sp>
        <p:sp>
          <p:nvSpPr>
            <p:cNvPr id="29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0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9" name="肘形连接符 48"/>
            <p:cNvCxnSpPr>
              <a:cxnSpLocks noChangeShapeType="1"/>
              <a:endCxn id="29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268141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47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1520" y="2354104"/>
            <a:ext cx="6697663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front(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Q,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e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-&gt;next-&gt;data;	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20072" y="3284984"/>
            <a:ext cx="3600400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 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39800" y="1268760"/>
            <a:ext cx="7488584" cy="792163"/>
            <a:chOff x="395784" y="3140893"/>
            <a:chExt cx="7488584" cy="792163"/>
          </a:xfrm>
        </p:grpSpPr>
        <p:sp>
          <p:nvSpPr>
            <p:cNvPr id="32" name="TextBox 91"/>
            <p:cNvSpPr txBox="1">
              <a:spLocks noChangeArrowheads="1"/>
            </p:cNvSpPr>
            <p:nvPr/>
          </p:nvSpPr>
          <p:spPr bwMode="auto">
            <a:xfrm>
              <a:off x="1620093" y="3140893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header</a:t>
              </a:r>
              <a:endParaRPr lang="zh-CN" altLang="en-US" dirty="0"/>
            </a:p>
          </p:txBody>
        </p:sp>
        <p:sp>
          <p:nvSpPr>
            <p:cNvPr id="3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1" name="直接箭头连接符 138"/>
            <p:cNvCxnSpPr>
              <a:cxnSpLocks noChangeShapeType="1"/>
              <a:endCxn id="3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直接箭头连接符 140"/>
            <p:cNvCxnSpPr>
              <a:cxnSpLocks noChangeShapeType="1"/>
              <a:endCxn id="3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4"/>
            <p:cNvCxnSpPr>
              <a:cxnSpLocks noChangeShapeType="1"/>
              <a:endCxn id="3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6" name="肘形连接符 45"/>
            <p:cNvCxnSpPr>
              <a:cxnSpLocks noChangeShapeType="1"/>
              <a:endCxn id="3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5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5930880-C42D-8A43-8D74-5EC9C010731D}"/>
              </a:ext>
            </a:extLst>
          </p:cNvPr>
          <p:cNvSpPr txBox="1"/>
          <p:nvPr/>
        </p:nvSpPr>
        <p:spPr>
          <a:xfrm>
            <a:off x="1091381" y="476864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取头值</a:t>
            </a:r>
          </a:p>
        </p:txBody>
      </p:sp>
    </p:spTree>
    <p:extLst>
      <p:ext uri="{BB962C8B-B14F-4D97-AF65-F5344CB8AC3E}">
        <p14:creationId xmlns:p14="http://schemas.microsoft.com/office/powerpoint/2010/main" val="347831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enqueue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2348880"/>
            <a:ext cx="6697663" cy="3046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&amp;Q,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e){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new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-&gt;data = e;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 = NULL;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Q.rear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20072" y="3284984"/>
            <a:ext cx="3600400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 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39800" y="1268760"/>
            <a:ext cx="7488584" cy="792163"/>
            <a:chOff x="395784" y="3140893"/>
            <a:chExt cx="7488584" cy="792163"/>
          </a:xfrm>
        </p:grpSpPr>
        <p:sp>
          <p:nvSpPr>
            <p:cNvPr id="32" name="TextBox 91"/>
            <p:cNvSpPr txBox="1">
              <a:spLocks noChangeArrowheads="1"/>
            </p:cNvSpPr>
            <p:nvPr/>
          </p:nvSpPr>
          <p:spPr bwMode="auto">
            <a:xfrm>
              <a:off x="1620093" y="3140893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header</a:t>
              </a:r>
              <a:endParaRPr lang="zh-CN" altLang="en-US" dirty="0"/>
            </a:p>
          </p:txBody>
        </p:sp>
        <p:sp>
          <p:nvSpPr>
            <p:cNvPr id="3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1" name="直接箭头连接符 138"/>
            <p:cNvCxnSpPr>
              <a:cxnSpLocks noChangeShapeType="1"/>
              <a:endCxn id="3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直接箭头连接符 140"/>
            <p:cNvCxnSpPr>
              <a:cxnSpLocks noChangeShapeType="1"/>
              <a:endCxn id="3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4"/>
            <p:cNvCxnSpPr>
              <a:cxnSpLocks noChangeShapeType="1"/>
              <a:endCxn id="3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6" name="肘形连接符 45"/>
            <p:cNvCxnSpPr>
              <a:cxnSpLocks noChangeShapeType="1"/>
              <a:endCxn id="3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5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226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dequeue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235825" y="6453188"/>
            <a:ext cx="1439863" cy="196850"/>
          </a:xfrm>
          <a:prstGeom prst="rect">
            <a:avLst/>
          </a:prstGeom>
        </p:spPr>
        <p:txBody>
          <a:bodyPr/>
          <a:lstStyle/>
          <a:p>
            <a:fld id="{B7F0EB04-C2D1-4AE3-BC36-41550A5C0402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55237" y="2348880"/>
            <a:ext cx="6697663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Status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dequeue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&amp;Q){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if(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isEmpty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(Q)) return ERROR;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Q.front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-&gt;next;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delete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tmp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return OK;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92080" y="3284984"/>
            <a:ext cx="3600400" cy="30469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ElemType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data; 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*next; 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  </a:t>
            </a:r>
          </a:p>
          <a:p>
            <a:pPr eaLnBrk="1" hangingPunct="1"/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typedef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*front;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QNode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*rear;</a:t>
            </a:r>
          </a:p>
          <a:p>
            <a:pPr eaLnBrk="1" hangingPunct="1"/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US" altLang="zh-C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LinkQueue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39800" y="1268835"/>
            <a:ext cx="7488584" cy="792088"/>
            <a:chOff x="395784" y="3140968"/>
            <a:chExt cx="7488584" cy="792088"/>
          </a:xfrm>
        </p:grpSpPr>
        <p:sp>
          <p:nvSpPr>
            <p:cNvPr id="33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4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5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6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7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8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9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40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41" name="直接箭头连接符 138"/>
            <p:cNvCxnSpPr>
              <a:cxnSpLocks noChangeShapeType="1"/>
              <a:endCxn id="35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直接箭头连接符 140"/>
            <p:cNvCxnSpPr>
              <a:cxnSpLocks noChangeShapeType="1"/>
              <a:endCxn id="37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箭头连接符 144"/>
            <p:cNvCxnSpPr>
              <a:cxnSpLocks noChangeShapeType="1"/>
              <a:endCxn id="39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46" name="肘形连接符 45"/>
            <p:cNvCxnSpPr>
              <a:cxnSpLocks noChangeShapeType="1"/>
              <a:endCxn id="33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5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100486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2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6374" y="378446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下面链队列的出队操作有什么问题？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p=Q-&gt;next;  Q-&gt;next=p-&gt;next; delete p;</a:t>
            </a:r>
          </a:p>
          <a:p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/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25703" y="2375244"/>
            <a:ext cx="3816573" cy="914194"/>
            <a:chOff x="395784" y="3018862"/>
            <a:chExt cx="3816573" cy="914194"/>
          </a:xfrm>
        </p:grpSpPr>
        <p:sp>
          <p:nvSpPr>
            <p:cNvPr id="14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5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6" name="矩形 123"/>
            <p:cNvSpPr>
              <a:spLocks noChangeArrowheads="1"/>
            </p:cNvSpPr>
            <p:nvPr/>
          </p:nvSpPr>
          <p:spPr bwMode="auto">
            <a:xfrm>
              <a:off x="3059832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17" name="矩形 124"/>
            <p:cNvSpPr>
              <a:spLocks noChangeArrowheads="1"/>
            </p:cNvSpPr>
            <p:nvPr/>
          </p:nvSpPr>
          <p:spPr bwMode="auto">
            <a:xfrm>
              <a:off x="3636094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18" name="直接箭头连接符 138"/>
            <p:cNvCxnSpPr>
              <a:cxnSpLocks noChangeShapeType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肘形连接符 18"/>
            <p:cNvCxnSpPr>
              <a:cxnSpLocks noChangeShapeType="1"/>
              <a:endCxn id="14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08053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22" name="TextBox 91"/>
            <p:cNvSpPr txBox="1">
              <a:spLocks noChangeArrowheads="1"/>
            </p:cNvSpPr>
            <p:nvPr/>
          </p:nvSpPr>
          <p:spPr bwMode="auto">
            <a:xfrm>
              <a:off x="3060625" y="3018862"/>
              <a:ext cx="11509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en-US" altLang="zh-CN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17216" y="1299846"/>
            <a:ext cx="7488584" cy="792088"/>
            <a:chOff x="395784" y="3140968"/>
            <a:chExt cx="7488584" cy="792088"/>
          </a:xfrm>
        </p:grpSpPr>
        <p:sp>
          <p:nvSpPr>
            <p:cNvPr id="24" name="矩形 117"/>
            <p:cNvSpPr>
              <a:spLocks noChangeArrowheads="1"/>
            </p:cNvSpPr>
            <p:nvPr/>
          </p:nvSpPr>
          <p:spPr bwMode="auto">
            <a:xfrm>
              <a:off x="1620093" y="3501256"/>
              <a:ext cx="574675" cy="431800"/>
            </a:xfrm>
            <a:prstGeom prst="rect">
              <a:avLst/>
            </a:prstGeom>
            <a:solidFill>
              <a:schemeClr val="bg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5" name="矩形 118"/>
            <p:cNvSpPr>
              <a:spLocks noChangeArrowheads="1"/>
            </p:cNvSpPr>
            <p:nvPr/>
          </p:nvSpPr>
          <p:spPr bwMode="auto">
            <a:xfrm>
              <a:off x="219476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6" name="矩形 119"/>
            <p:cNvSpPr>
              <a:spLocks noChangeArrowheads="1"/>
            </p:cNvSpPr>
            <p:nvPr/>
          </p:nvSpPr>
          <p:spPr bwMode="auto">
            <a:xfrm>
              <a:off x="30599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7" name="矩形 120"/>
            <p:cNvSpPr>
              <a:spLocks noChangeArrowheads="1"/>
            </p:cNvSpPr>
            <p:nvPr/>
          </p:nvSpPr>
          <p:spPr bwMode="auto">
            <a:xfrm>
              <a:off x="3636218" y="3501256"/>
              <a:ext cx="574675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8" name="矩形 121"/>
            <p:cNvSpPr>
              <a:spLocks noChangeArrowheads="1"/>
            </p:cNvSpPr>
            <p:nvPr/>
          </p:nvSpPr>
          <p:spPr bwMode="auto">
            <a:xfrm>
              <a:off x="457125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29" name="矩形 122"/>
            <p:cNvSpPr>
              <a:spLocks noChangeArrowheads="1"/>
            </p:cNvSpPr>
            <p:nvPr/>
          </p:nvSpPr>
          <p:spPr bwMode="auto">
            <a:xfrm>
              <a:off x="5147518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0" name="矩形 123"/>
            <p:cNvSpPr>
              <a:spLocks noChangeArrowheads="1"/>
            </p:cNvSpPr>
            <p:nvPr/>
          </p:nvSpPr>
          <p:spPr bwMode="auto">
            <a:xfrm>
              <a:off x="6731843" y="3501256"/>
              <a:ext cx="576262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sp>
          <p:nvSpPr>
            <p:cNvPr id="31" name="矩形 124"/>
            <p:cNvSpPr>
              <a:spLocks noChangeArrowheads="1"/>
            </p:cNvSpPr>
            <p:nvPr/>
          </p:nvSpPr>
          <p:spPr bwMode="auto">
            <a:xfrm>
              <a:off x="7308105" y="3501256"/>
              <a:ext cx="576263" cy="431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ea typeface="华文细黑" panose="02010600040101010101" pitchFamily="2" charset="-122"/>
              </a:endParaRPr>
            </a:p>
          </p:txBody>
        </p:sp>
        <p:cxnSp>
          <p:nvCxnSpPr>
            <p:cNvPr id="32" name="直接箭头连接符 138"/>
            <p:cNvCxnSpPr>
              <a:cxnSpLocks noChangeShapeType="1"/>
              <a:endCxn id="26" idx="1"/>
            </p:cNvCxnSpPr>
            <p:nvPr/>
          </p:nvCxnSpPr>
          <p:spPr bwMode="auto">
            <a:xfrm>
              <a:off x="2628155" y="3717156"/>
              <a:ext cx="4318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箭头连接符 140"/>
            <p:cNvCxnSpPr>
              <a:cxnSpLocks noChangeShapeType="1"/>
              <a:endCxn id="28" idx="1"/>
            </p:cNvCxnSpPr>
            <p:nvPr/>
          </p:nvCxnSpPr>
          <p:spPr bwMode="auto">
            <a:xfrm>
              <a:off x="4068018" y="3717156"/>
              <a:ext cx="50323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箭头连接符 142"/>
            <p:cNvCxnSpPr>
              <a:cxnSpLocks noChangeShapeType="1"/>
            </p:cNvCxnSpPr>
            <p:nvPr/>
          </p:nvCxnSpPr>
          <p:spPr bwMode="auto">
            <a:xfrm>
              <a:off x="5579318" y="3717156"/>
              <a:ext cx="360362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箭头连接符 144"/>
            <p:cNvCxnSpPr>
              <a:cxnSpLocks noChangeShapeType="1"/>
              <a:endCxn id="30" idx="1"/>
            </p:cNvCxnSpPr>
            <p:nvPr/>
          </p:nvCxnSpPr>
          <p:spPr bwMode="auto">
            <a:xfrm>
              <a:off x="6515943" y="3717156"/>
              <a:ext cx="2159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Box 146"/>
            <p:cNvSpPr txBox="1">
              <a:spLocks noChangeArrowheads="1"/>
            </p:cNvSpPr>
            <p:nvPr/>
          </p:nvSpPr>
          <p:spPr bwMode="auto">
            <a:xfrm>
              <a:off x="5939680" y="3501256"/>
              <a:ext cx="5048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…</a:t>
              </a:r>
              <a:endParaRPr lang="zh-CN" altLang="en-US"/>
            </a:p>
          </p:txBody>
        </p:sp>
        <p:cxnSp>
          <p:nvCxnSpPr>
            <p:cNvPr id="37" name="肘形连接符 36"/>
            <p:cNvCxnSpPr>
              <a:cxnSpLocks noChangeShapeType="1"/>
              <a:endCxn id="24" idx="1"/>
            </p:cNvCxnSpPr>
            <p:nvPr/>
          </p:nvCxnSpPr>
          <p:spPr bwMode="auto">
            <a:xfrm>
              <a:off x="827584" y="3716635"/>
              <a:ext cx="792509" cy="521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rgbClr val="4C34FE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Box 75"/>
            <p:cNvSpPr txBox="1">
              <a:spLocks noChangeArrowheads="1"/>
            </p:cNvSpPr>
            <p:nvPr/>
          </p:nvSpPr>
          <p:spPr bwMode="auto">
            <a:xfrm>
              <a:off x="395784" y="3270276"/>
              <a:ext cx="11643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dirty="0" err="1">
                  <a:solidFill>
                    <a:srgbClr val="4C34FE"/>
                  </a:solidFill>
                </a:rPr>
                <a:t>Q.front</a:t>
              </a:r>
              <a:endParaRPr lang="zh-CN" altLang="en-US" b="1" dirty="0">
                <a:solidFill>
                  <a:srgbClr val="4C34FE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380064" y="3563327"/>
              <a:ext cx="432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^</a:t>
              </a:r>
            </a:p>
          </p:txBody>
        </p:sp>
        <p:sp>
          <p:nvSpPr>
            <p:cNvPr id="40" name="TextBox 91"/>
            <p:cNvSpPr txBox="1">
              <a:spLocks noChangeArrowheads="1"/>
            </p:cNvSpPr>
            <p:nvPr/>
          </p:nvSpPr>
          <p:spPr bwMode="auto">
            <a:xfrm>
              <a:off x="6732240" y="3140968"/>
              <a:ext cx="11509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 err="1"/>
                <a:t>Q.rear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C41BBF5-BC13-C342-8AEA-953F3FED7A71}"/>
              </a:ext>
            </a:extLst>
          </p:cNvPr>
          <p:cNvSpPr txBox="1"/>
          <p:nvPr/>
        </p:nvSpPr>
        <p:spPr>
          <a:xfrm>
            <a:off x="573838" y="4937866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会导致队列中的尾指针失效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失去入队的操作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整个队列不受控制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95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栈的应用举例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数制转换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行编辑程序</a:t>
            </a:r>
            <a:endParaRPr lang="en-US" altLang="zh-CN" dirty="0"/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括号匹配的检验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表达式求值</a:t>
            </a:r>
            <a:endParaRPr lang="en-US" altLang="zh-CN" dirty="0">
              <a:latin typeface="+mn-lt"/>
              <a:ea typeface="+mn-ea"/>
              <a:cs typeface="+mn-cs"/>
            </a:endParaRPr>
          </a:p>
        </p:txBody>
      </p:sp>
      <p:sp>
        <p:nvSpPr>
          <p:cNvPr id="3686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48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C++</a:t>
            </a:r>
            <a:r>
              <a:rPr lang="zh-CN" altLang="en-US" dirty="0">
                <a:latin typeface="+mj-lt"/>
                <a:ea typeface="+mj-ea"/>
                <a:cs typeface="+mj-cs"/>
              </a:rPr>
              <a:t>中的</a:t>
            </a:r>
            <a:r>
              <a:rPr lang="en-US" altLang="zh-CN" dirty="0">
                <a:latin typeface="+mj-lt"/>
                <a:ea typeface="+mj-ea"/>
                <a:cs typeface="+mj-cs"/>
              </a:rPr>
              <a:t>STL</a:t>
            </a:r>
            <a:r>
              <a:rPr lang="zh-CN" altLang="en-US" dirty="0">
                <a:latin typeface="+mj-lt"/>
                <a:ea typeface="+mj-ea"/>
                <a:cs typeface="+mj-cs"/>
              </a:rPr>
              <a:t>库 </a:t>
            </a:r>
            <a:r>
              <a:rPr lang="en-US" altLang="zh-CN" dirty="0">
                <a:latin typeface="+mj-lt"/>
                <a:ea typeface="+mj-ea"/>
                <a:cs typeface="+mj-cs"/>
              </a:rPr>
              <a:t>– stack</a:t>
            </a:r>
            <a:r>
              <a:rPr lang="zh-CN" altLang="en-US" dirty="0">
                <a:latin typeface="+mj-lt"/>
                <a:ea typeface="+mj-ea"/>
                <a:cs typeface="+mj-cs"/>
              </a:rPr>
              <a:t>模板类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008062"/>
          </a:xfrm>
        </p:spPr>
        <p:txBody>
          <a:bodyPr vert="horz" wrap="square" lIns="91440" tIns="45720" rIns="91440" bIns="45720" anchor="t"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800" kern="1200" dirty="0"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#include&lt;stack&gt;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800" kern="1200" dirty="0"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	using namespace std; </a:t>
            </a: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49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68313" y="2205038"/>
            <a:ext cx="8207375" cy="1008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kern="0" cap="none" spc="0" normalizeH="0" baseline="0" noProof="0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stack&lt;</a:t>
            </a:r>
            <a:r>
              <a:rPr lang="en-US" altLang="zh-CN" sz="2800" dirty="0" err="1">
                <a:latin typeface="Cambria Math" panose="02040503050406030204" pitchFamily="18" charset="0"/>
                <a:cs typeface="Cambria Math" panose="02040503050406030204" pitchFamily="18" charset="0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&gt; s1;</a:t>
            </a:r>
            <a:b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</a:b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stack&lt;string&gt; s2;</a:t>
            </a: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68313" y="3213100"/>
            <a:ext cx="8207375" cy="25923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入栈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s.push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(x);</a:t>
            </a:r>
          </a:p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出栈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s.pop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();</a:t>
            </a:r>
          </a:p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注意，出栈操作只是删除栈顶元素，并不返回该元素</a:t>
            </a:r>
            <a:endParaRPr kumimoji="0" lang="en-US" altLang="zh-CN" sz="24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访问栈顶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s.top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()</a:t>
            </a:r>
          </a:p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判断栈空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s.empty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，当栈空时，返回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true</a:t>
            </a:r>
          </a:p>
          <a:p>
            <a:pPr marL="342900" marR="0" indent="-342900" defTabSz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cap="none" spc="0" normalizeH="0" baseline="0" noProof="0" dirty="0">
                <a:latin typeface="+mn-lt"/>
                <a:ea typeface="+mn-ea"/>
                <a:cs typeface="+mn-cs"/>
              </a:rPr>
              <a:t>访问栈中的元素个数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kern="0" cap="none" spc="0" normalizeH="0" baseline="0" noProof="0" dirty="0" err="1">
                <a:latin typeface="+mn-lt"/>
                <a:ea typeface="+mn-ea"/>
                <a:cs typeface="+mn-cs"/>
              </a:rPr>
              <a:t>s.size</a:t>
            </a:r>
            <a:r>
              <a:rPr kumimoji="0" lang="en-US" altLang="zh-CN" sz="2400" kern="0" cap="none" spc="0" normalizeH="0" baseline="0" noProof="0" dirty="0">
                <a:latin typeface="+mn-lt"/>
                <a:ea typeface="+mn-ea"/>
                <a:cs typeface="+mn-cs"/>
              </a:rPr>
              <a:t>()</a:t>
            </a:r>
            <a:r>
              <a:rPr kumimoji="0" lang="zh-CN" altLang="en-US" sz="2400" kern="0" cap="none" spc="0" normalizeH="0" baseline="0" noProof="0" dirty="0">
                <a:latin typeface="+mn-lt"/>
                <a:ea typeface="+mn-ea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数制转换</a:t>
            </a:r>
            <a:endParaRPr lang="en-US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2159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算法基于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原理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N = (N </a:t>
            </a:r>
            <a:r>
              <a:rPr lang="en-US" altLang="zh-CN" b="1" dirty="0">
                <a:ea typeface="楷体_GB2312" pitchFamily="49" charset="-122"/>
              </a:rPr>
              <a:t>/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 d)×d + N mod d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表示整数相除）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例：把十进制数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159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转换成八进制数并打印</a:t>
            </a:r>
            <a:b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16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50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971550" y="3213100"/>
            <a:ext cx="2803525" cy="2224088"/>
            <a:chOff x="399" y="2786"/>
            <a:chExt cx="2208" cy="1183"/>
          </a:xfrm>
        </p:grpSpPr>
        <p:sp>
          <p:nvSpPr>
            <p:cNvPr id="38953" name="Text Box 7"/>
            <p:cNvSpPr txBox="1"/>
            <p:nvPr/>
          </p:nvSpPr>
          <p:spPr>
            <a:xfrm>
              <a:off x="544" y="3758"/>
              <a:ext cx="1359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latin typeface="Arial" panose="020B0604020202020204" pitchFamily="34" charset="0"/>
                </a:rPr>
                <a:t>(159)</a:t>
              </a:r>
              <a:r>
                <a:rPr lang="en-US" altLang="zh-CN" sz="1000" dirty="0">
                  <a:latin typeface="Arial" panose="020B0604020202020204" pitchFamily="34" charset="0"/>
                </a:rPr>
                <a:t>10</a:t>
              </a:r>
              <a:r>
                <a:rPr lang="en-US" altLang="zh-CN" sz="2000" dirty="0">
                  <a:latin typeface="Arial" panose="020B0604020202020204" pitchFamily="34" charset="0"/>
                </a:rPr>
                <a:t>=(237)</a:t>
              </a:r>
              <a:r>
                <a:rPr lang="en-US" altLang="zh-CN" sz="1000" dirty="0">
                  <a:latin typeface="Arial" panose="020B0604020202020204" pitchFamily="34" charset="0"/>
                </a:rPr>
                <a:t>8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grpSp>
          <p:nvGrpSpPr>
            <p:cNvPr id="3" name="Group 8"/>
            <p:cNvGrpSpPr/>
            <p:nvPr/>
          </p:nvGrpSpPr>
          <p:grpSpPr>
            <a:xfrm>
              <a:off x="399" y="2786"/>
              <a:ext cx="2208" cy="1039"/>
              <a:chOff x="843" y="2798"/>
              <a:chExt cx="2208" cy="1039"/>
            </a:xfrm>
          </p:grpSpPr>
          <p:grpSp>
            <p:nvGrpSpPr>
              <p:cNvPr id="4" name="Group 9"/>
              <p:cNvGrpSpPr/>
              <p:nvPr/>
            </p:nvGrpSpPr>
            <p:grpSpPr>
              <a:xfrm>
                <a:off x="843" y="2798"/>
                <a:ext cx="766" cy="262"/>
                <a:chOff x="1055" y="1393"/>
                <a:chExt cx="766" cy="262"/>
              </a:xfrm>
            </p:grpSpPr>
            <p:grpSp>
              <p:nvGrpSpPr>
                <p:cNvPr id="5" name="Group 10"/>
                <p:cNvGrpSpPr/>
                <p:nvPr/>
              </p:nvGrpSpPr>
              <p:grpSpPr>
                <a:xfrm>
                  <a:off x="1245" y="1444"/>
                  <a:ext cx="477" cy="211"/>
                  <a:chOff x="1245" y="1444"/>
                  <a:chExt cx="477" cy="211"/>
                </a:xfrm>
              </p:grpSpPr>
              <p:sp>
                <p:nvSpPr>
                  <p:cNvPr id="38987" name="Line 11"/>
                  <p:cNvSpPr/>
                  <p:nvPr/>
                </p:nvSpPr>
                <p:spPr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8" name="Line 12"/>
                  <p:cNvSpPr/>
                  <p:nvPr/>
                </p:nvSpPr>
                <p:spPr>
                  <a:xfrm>
                    <a:off x="1245" y="1655"/>
                    <a:ext cx="477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8985" name="Text Box 13"/>
                <p:cNvSpPr txBox="1"/>
                <p:nvPr/>
              </p:nvSpPr>
              <p:spPr>
                <a:xfrm>
                  <a:off x="1342" y="1393"/>
                  <a:ext cx="479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159</a:t>
                  </a:r>
                </a:p>
              </p:txBody>
            </p:sp>
            <p:sp>
              <p:nvSpPr>
                <p:cNvPr id="38986" name="Text Box 14"/>
                <p:cNvSpPr txBox="1"/>
                <p:nvPr/>
              </p:nvSpPr>
              <p:spPr>
                <a:xfrm>
                  <a:off x="1055" y="1393"/>
                  <a:ext cx="256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8</a:t>
                  </a:r>
                </a:p>
              </p:txBody>
            </p:sp>
          </p:grpSp>
          <p:grpSp>
            <p:nvGrpSpPr>
              <p:cNvPr id="6" name="Group 15"/>
              <p:cNvGrpSpPr/>
              <p:nvPr/>
            </p:nvGrpSpPr>
            <p:grpSpPr>
              <a:xfrm>
                <a:off x="916" y="3049"/>
                <a:ext cx="668" cy="229"/>
                <a:chOff x="1128" y="1644"/>
                <a:chExt cx="668" cy="229"/>
              </a:xfrm>
            </p:grpSpPr>
            <p:sp>
              <p:nvSpPr>
                <p:cNvPr id="38979" name="Text Box 16"/>
                <p:cNvSpPr txBox="1"/>
                <p:nvPr/>
              </p:nvSpPr>
              <p:spPr>
                <a:xfrm>
                  <a:off x="1343" y="1659"/>
                  <a:ext cx="368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19</a:t>
                  </a:r>
                </a:p>
              </p:txBody>
            </p:sp>
            <p:grpSp>
              <p:nvGrpSpPr>
                <p:cNvPr id="7" name="Group 17"/>
                <p:cNvGrpSpPr/>
                <p:nvPr/>
              </p:nvGrpSpPr>
              <p:grpSpPr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8982" name="Line 18"/>
                  <p:cNvSpPr/>
                  <p:nvPr/>
                </p:nvSpPr>
                <p:spPr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83" name="Line 19"/>
                  <p:cNvSpPr/>
                  <p:nvPr/>
                </p:nvSpPr>
                <p:spPr>
                  <a:xfrm>
                    <a:off x="1245" y="1655"/>
                    <a:ext cx="477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8981" name="Text Box 20"/>
                <p:cNvSpPr txBox="1"/>
                <p:nvPr/>
              </p:nvSpPr>
              <p:spPr>
                <a:xfrm>
                  <a:off x="1128" y="1644"/>
                  <a:ext cx="257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8</a:t>
                  </a:r>
                </a:p>
              </p:txBody>
            </p:sp>
          </p:grpSp>
          <p:grpSp>
            <p:nvGrpSpPr>
              <p:cNvPr id="8" name="Group 21"/>
              <p:cNvGrpSpPr/>
              <p:nvPr/>
            </p:nvGrpSpPr>
            <p:grpSpPr>
              <a:xfrm>
                <a:off x="990" y="3279"/>
                <a:ext cx="668" cy="229"/>
                <a:chOff x="1128" y="1644"/>
                <a:chExt cx="668" cy="229"/>
              </a:xfrm>
            </p:grpSpPr>
            <p:sp>
              <p:nvSpPr>
                <p:cNvPr id="38974" name="Text Box 22"/>
                <p:cNvSpPr txBox="1"/>
                <p:nvPr/>
              </p:nvSpPr>
              <p:spPr>
                <a:xfrm>
                  <a:off x="1343" y="1659"/>
                  <a:ext cx="257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grpSp>
              <p:nvGrpSpPr>
                <p:cNvPr id="9" name="Group 23"/>
                <p:cNvGrpSpPr/>
                <p:nvPr/>
              </p:nvGrpSpPr>
              <p:grpSpPr>
                <a:xfrm>
                  <a:off x="1319" y="1662"/>
                  <a:ext cx="477" cy="211"/>
                  <a:chOff x="1245" y="1444"/>
                  <a:chExt cx="477" cy="211"/>
                </a:xfrm>
              </p:grpSpPr>
              <p:sp>
                <p:nvSpPr>
                  <p:cNvPr id="38977" name="Line 24"/>
                  <p:cNvSpPr/>
                  <p:nvPr/>
                </p:nvSpPr>
                <p:spPr>
                  <a:xfrm flipH="1">
                    <a:off x="1245" y="1444"/>
                    <a:ext cx="0" cy="21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8978" name="Line 25"/>
                  <p:cNvSpPr/>
                  <p:nvPr/>
                </p:nvSpPr>
                <p:spPr>
                  <a:xfrm>
                    <a:off x="1245" y="1655"/>
                    <a:ext cx="477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8976" name="Text Box 26"/>
                <p:cNvSpPr txBox="1"/>
                <p:nvPr/>
              </p:nvSpPr>
              <p:spPr>
                <a:xfrm>
                  <a:off x="1128" y="1644"/>
                  <a:ext cx="256" cy="2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8</a:t>
                  </a:r>
                </a:p>
              </p:txBody>
            </p:sp>
          </p:grpSp>
          <p:sp>
            <p:nvSpPr>
              <p:cNvPr id="38958" name="Text Box 27"/>
              <p:cNvSpPr txBox="1"/>
              <p:nvPr/>
            </p:nvSpPr>
            <p:spPr>
              <a:xfrm>
                <a:off x="1196" y="3475"/>
                <a:ext cx="257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0</a:t>
                </a:r>
              </a:p>
            </p:txBody>
          </p:sp>
          <p:grpSp>
            <p:nvGrpSpPr>
              <p:cNvPr id="10" name="Group 28"/>
              <p:cNvGrpSpPr/>
              <p:nvPr/>
            </p:nvGrpSpPr>
            <p:grpSpPr>
              <a:xfrm>
                <a:off x="2269" y="3528"/>
                <a:ext cx="782" cy="309"/>
                <a:chOff x="3901" y="2222"/>
                <a:chExt cx="782" cy="309"/>
              </a:xfrm>
            </p:grpSpPr>
            <p:sp>
              <p:nvSpPr>
                <p:cNvPr id="38969" name="Text Box 29"/>
                <p:cNvSpPr txBox="1"/>
                <p:nvPr/>
              </p:nvSpPr>
              <p:spPr>
                <a:xfrm>
                  <a:off x="3929" y="2233"/>
                  <a:ext cx="754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000" dirty="0">
                      <a:latin typeface="Arial" panose="020B0604020202020204" pitchFamily="34" charset="0"/>
                    </a:rPr>
                    <a:t>2 3  7  </a:t>
                  </a:r>
                </a:p>
              </p:txBody>
            </p:sp>
            <p:sp>
              <p:nvSpPr>
                <p:cNvPr id="38970" name="Line 30"/>
                <p:cNvSpPr/>
                <p:nvPr/>
              </p:nvSpPr>
              <p:spPr>
                <a:xfrm flipH="1">
                  <a:off x="3943" y="2531"/>
                  <a:ext cx="567" cy="0"/>
                </a:xfrm>
                <a:prstGeom prst="line">
                  <a:avLst/>
                </a:prstGeom>
                <a:ln w="9525" cap="flat" cmpd="sng">
                  <a:solidFill>
                    <a:srgbClr val="3333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38971" name="Rectangle 31"/>
                <p:cNvSpPr/>
                <p:nvPr/>
              </p:nvSpPr>
              <p:spPr>
                <a:xfrm>
                  <a:off x="3901" y="2222"/>
                  <a:ext cx="655" cy="25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72" name="Line 32"/>
                <p:cNvSpPr/>
                <p:nvPr/>
              </p:nvSpPr>
              <p:spPr>
                <a:xfrm>
                  <a:off x="4100" y="2222"/>
                  <a:ext cx="0" cy="25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73" name="Line 33"/>
                <p:cNvSpPr/>
                <p:nvPr/>
              </p:nvSpPr>
              <p:spPr>
                <a:xfrm>
                  <a:off x="4307" y="2222"/>
                  <a:ext cx="0" cy="25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60" name="Text Box 34"/>
              <p:cNvSpPr txBox="1"/>
              <p:nvPr/>
            </p:nvSpPr>
            <p:spPr>
              <a:xfrm>
                <a:off x="1723" y="2799"/>
                <a:ext cx="456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000" dirty="0">
                    <a:latin typeface="Arial" panose="020B0604020202020204" pitchFamily="34" charset="0"/>
                  </a:rPr>
                  <a:t>余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38961" name="Text Box 35"/>
              <p:cNvSpPr txBox="1"/>
              <p:nvPr/>
            </p:nvSpPr>
            <p:spPr>
              <a:xfrm>
                <a:off x="1723" y="3045"/>
                <a:ext cx="456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000" dirty="0">
                    <a:latin typeface="Arial" panose="020B0604020202020204" pitchFamily="34" charset="0"/>
                  </a:rPr>
                  <a:t>余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8962" name="Text Box 36"/>
              <p:cNvSpPr txBox="1"/>
              <p:nvPr/>
            </p:nvSpPr>
            <p:spPr>
              <a:xfrm>
                <a:off x="1723" y="3290"/>
                <a:ext cx="456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000" dirty="0">
                    <a:latin typeface="Arial" panose="020B0604020202020204" pitchFamily="34" charset="0"/>
                  </a:rPr>
                  <a:t>余</a:t>
                </a:r>
                <a:r>
                  <a:rPr lang="en-US" altLang="zh-CN" sz="2000" dirty="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8963" name="Line 37"/>
              <p:cNvSpPr/>
              <p:nvPr/>
            </p:nvSpPr>
            <p:spPr>
              <a:xfrm>
                <a:off x="2069" y="3428"/>
                <a:ext cx="3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4" name="Line 38"/>
              <p:cNvSpPr/>
              <p:nvPr/>
            </p:nvSpPr>
            <p:spPr>
              <a:xfrm>
                <a:off x="2058" y="2906"/>
                <a:ext cx="74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5" name="Line 39"/>
              <p:cNvSpPr/>
              <p:nvPr/>
            </p:nvSpPr>
            <p:spPr>
              <a:xfrm>
                <a:off x="2803" y="2906"/>
                <a:ext cx="0" cy="62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6" name="Line 40"/>
              <p:cNvSpPr/>
              <p:nvPr/>
            </p:nvSpPr>
            <p:spPr>
              <a:xfrm>
                <a:off x="2080" y="3150"/>
                <a:ext cx="4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7" name="Line 41"/>
              <p:cNvSpPr/>
              <p:nvPr/>
            </p:nvSpPr>
            <p:spPr>
              <a:xfrm>
                <a:off x="2558" y="3150"/>
                <a:ext cx="0" cy="37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8" name="Line 42"/>
              <p:cNvSpPr/>
              <p:nvPr/>
            </p:nvSpPr>
            <p:spPr>
              <a:xfrm flipV="1">
                <a:off x="2380" y="3428"/>
                <a:ext cx="0" cy="1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43"/>
          <p:cNvGrpSpPr/>
          <p:nvPr/>
        </p:nvGrpSpPr>
        <p:grpSpPr>
          <a:xfrm>
            <a:off x="4284663" y="3357563"/>
            <a:ext cx="3430587" cy="1785937"/>
            <a:chOff x="2580" y="2611"/>
            <a:chExt cx="2703" cy="950"/>
          </a:xfrm>
        </p:grpSpPr>
        <p:grpSp>
          <p:nvGrpSpPr>
            <p:cNvPr id="12" name="Group 45"/>
            <p:cNvGrpSpPr/>
            <p:nvPr/>
          </p:nvGrpSpPr>
          <p:grpSpPr>
            <a:xfrm>
              <a:off x="2580" y="2796"/>
              <a:ext cx="344" cy="720"/>
              <a:chOff x="1608" y="924"/>
              <a:chExt cx="288" cy="720"/>
            </a:xfrm>
          </p:grpSpPr>
          <p:sp>
            <p:nvSpPr>
              <p:cNvPr id="38948" name="Line 46"/>
              <p:cNvSpPr/>
              <p:nvPr/>
            </p:nvSpPr>
            <p:spPr>
              <a:xfrm flipV="1">
                <a:off x="1608" y="924"/>
                <a:ext cx="0" cy="720"/>
              </a:xfrm>
              <a:prstGeom prst="line">
                <a:avLst/>
              </a:prstGeom>
              <a:ln w="19050" cap="flat" cmpd="sng">
                <a:solidFill>
                  <a:srgbClr val="0033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49" name="Line 47"/>
              <p:cNvSpPr/>
              <p:nvPr/>
            </p:nvSpPr>
            <p:spPr>
              <a:xfrm flipV="1">
                <a:off x="1896" y="924"/>
                <a:ext cx="0" cy="720"/>
              </a:xfrm>
              <a:prstGeom prst="line">
                <a:avLst/>
              </a:prstGeom>
              <a:ln w="19050" cap="flat" cmpd="sng">
                <a:solidFill>
                  <a:srgbClr val="0033CC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0" name="Rectangle 48"/>
              <p:cNvSpPr/>
              <p:nvPr/>
            </p:nvSpPr>
            <p:spPr>
              <a:xfrm>
                <a:off x="1608" y="1452"/>
                <a:ext cx="288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51" name="Rectangle 49"/>
              <p:cNvSpPr/>
              <p:nvPr/>
            </p:nvSpPr>
            <p:spPr>
              <a:xfrm>
                <a:off x="1608" y="1260"/>
                <a:ext cx="288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52" name="Rectangle 50"/>
              <p:cNvSpPr/>
              <p:nvPr/>
            </p:nvSpPr>
            <p:spPr>
              <a:xfrm>
                <a:off x="1608" y="1068"/>
                <a:ext cx="288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Group 54"/>
            <p:cNvGrpSpPr/>
            <p:nvPr/>
          </p:nvGrpSpPr>
          <p:grpSpPr>
            <a:xfrm>
              <a:off x="3360" y="2820"/>
              <a:ext cx="344" cy="741"/>
              <a:chOff x="3912" y="2628"/>
              <a:chExt cx="344" cy="741"/>
            </a:xfrm>
          </p:grpSpPr>
          <p:grpSp>
            <p:nvGrpSpPr>
              <p:cNvPr id="14" name="Group 55"/>
              <p:cNvGrpSpPr/>
              <p:nvPr/>
            </p:nvGrpSpPr>
            <p:grpSpPr>
              <a:xfrm>
                <a:off x="3912" y="2628"/>
                <a:ext cx="344" cy="720"/>
                <a:chOff x="1608" y="924"/>
                <a:chExt cx="288" cy="720"/>
              </a:xfrm>
            </p:grpSpPr>
            <p:sp>
              <p:nvSpPr>
                <p:cNvPr id="38943" name="Line 56"/>
                <p:cNvSpPr/>
                <p:nvPr/>
              </p:nvSpPr>
              <p:spPr>
                <a:xfrm flipV="1">
                  <a:off x="1608" y="9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44" name="Line 57"/>
                <p:cNvSpPr/>
                <p:nvPr/>
              </p:nvSpPr>
              <p:spPr>
                <a:xfrm flipV="1">
                  <a:off x="1896" y="9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45" name="Rectangle 58"/>
                <p:cNvSpPr/>
                <p:nvPr/>
              </p:nvSpPr>
              <p:spPr>
                <a:xfrm>
                  <a:off x="1608" y="1452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46" name="Rectangle 59"/>
                <p:cNvSpPr/>
                <p:nvPr/>
              </p:nvSpPr>
              <p:spPr>
                <a:xfrm>
                  <a:off x="1608" y="1260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47" name="Rectangle 60"/>
                <p:cNvSpPr/>
                <p:nvPr/>
              </p:nvSpPr>
              <p:spPr>
                <a:xfrm>
                  <a:off x="1608" y="1068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8942" name="Text Box 64"/>
              <p:cNvSpPr txBox="1"/>
              <p:nvPr/>
            </p:nvSpPr>
            <p:spPr>
              <a:xfrm>
                <a:off x="3957" y="3158"/>
                <a:ext cx="245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7</a:t>
                </a:r>
              </a:p>
            </p:txBody>
          </p:sp>
        </p:grpSp>
        <p:grpSp>
          <p:nvGrpSpPr>
            <p:cNvPr id="15" name="Group 65"/>
            <p:cNvGrpSpPr/>
            <p:nvPr/>
          </p:nvGrpSpPr>
          <p:grpSpPr>
            <a:xfrm>
              <a:off x="4080" y="2796"/>
              <a:ext cx="344" cy="741"/>
              <a:chOff x="4740" y="2628"/>
              <a:chExt cx="344" cy="741"/>
            </a:xfrm>
          </p:grpSpPr>
          <p:grpSp>
            <p:nvGrpSpPr>
              <p:cNvPr id="16" name="Group 66"/>
              <p:cNvGrpSpPr/>
              <p:nvPr/>
            </p:nvGrpSpPr>
            <p:grpSpPr>
              <a:xfrm>
                <a:off x="4740" y="2628"/>
                <a:ext cx="344" cy="720"/>
                <a:chOff x="1608" y="924"/>
                <a:chExt cx="288" cy="720"/>
              </a:xfrm>
            </p:grpSpPr>
            <p:sp>
              <p:nvSpPr>
                <p:cNvPr id="38936" name="Line 67"/>
                <p:cNvSpPr/>
                <p:nvPr/>
              </p:nvSpPr>
              <p:spPr>
                <a:xfrm flipV="1">
                  <a:off x="1608" y="9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7" name="Line 68"/>
                <p:cNvSpPr/>
                <p:nvPr/>
              </p:nvSpPr>
              <p:spPr>
                <a:xfrm flipV="1">
                  <a:off x="1896" y="924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8" name="Rectangle 69"/>
                <p:cNvSpPr/>
                <p:nvPr/>
              </p:nvSpPr>
              <p:spPr>
                <a:xfrm>
                  <a:off x="1608" y="1452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39" name="Rectangle 70"/>
                <p:cNvSpPr/>
                <p:nvPr/>
              </p:nvSpPr>
              <p:spPr>
                <a:xfrm>
                  <a:off x="1608" y="1260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940" name="Rectangle 71"/>
                <p:cNvSpPr/>
                <p:nvPr/>
              </p:nvSpPr>
              <p:spPr>
                <a:xfrm>
                  <a:off x="1608" y="1068"/>
                  <a:ext cx="288" cy="19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33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en-US" altLang="zh-CN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8934" name="Text Box 75"/>
              <p:cNvSpPr txBox="1"/>
              <p:nvPr/>
            </p:nvSpPr>
            <p:spPr>
              <a:xfrm>
                <a:off x="4785" y="3158"/>
                <a:ext cx="246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38935" name="Text Box 76"/>
              <p:cNvSpPr txBox="1"/>
              <p:nvPr/>
            </p:nvSpPr>
            <p:spPr>
              <a:xfrm>
                <a:off x="4798" y="2954"/>
                <a:ext cx="245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935" y="2611"/>
              <a:ext cx="348" cy="933"/>
              <a:chOff x="4368" y="3367"/>
              <a:chExt cx="348" cy="933"/>
            </a:xfrm>
          </p:grpSpPr>
          <p:grpSp>
            <p:nvGrpSpPr>
              <p:cNvPr id="18" name="Group 78"/>
              <p:cNvGrpSpPr/>
              <p:nvPr/>
            </p:nvGrpSpPr>
            <p:grpSpPr>
              <a:xfrm>
                <a:off x="4368" y="3367"/>
                <a:ext cx="344" cy="912"/>
                <a:chOff x="4368" y="3559"/>
                <a:chExt cx="344" cy="720"/>
              </a:xfrm>
            </p:grpSpPr>
            <p:sp>
              <p:nvSpPr>
                <p:cNvPr id="38931" name="Line 79"/>
                <p:cNvSpPr/>
                <p:nvPr/>
              </p:nvSpPr>
              <p:spPr>
                <a:xfrm flipV="1">
                  <a:off x="4368" y="3559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8932" name="Line 80"/>
                <p:cNvSpPr/>
                <p:nvPr/>
              </p:nvSpPr>
              <p:spPr>
                <a:xfrm flipV="1">
                  <a:off x="4712" y="3559"/>
                  <a:ext cx="0" cy="720"/>
                </a:xfrm>
                <a:prstGeom prst="line">
                  <a:avLst/>
                </a:prstGeom>
                <a:ln w="19050" cap="flat" cmpd="sng">
                  <a:solidFill>
                    <a:srgbClr val="0033CC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8924" name="Rectangle 81"/>
              <p:cNvSpPr/>
              <p:nvPr/>
            </p:nvSpPr>
            <p:spPr>
              <a:xfrm>
                <a:off x="4368" y="4087"/>
                <a:ext cx="344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25" name="Rectangle 82"/>
              <p:cNvSpPr/>
              <p:nvPr/>
            </p:nvSpPr>
            <p:spPr>
              <a:xfrm>
                <a:off x="4368" y="3895"/>
                <a:ext cx="344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26" name="Rectangle 83"/>
              <p:cNvSpPr/>
              <p:nvPr/>
            </p:nvSpPr>
            <p:spPr>
              <a:xfrm>
                <a:off x="4368" y="3703"/>
                <a:ext cx="344" cy="19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33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en-US" altLang="zh-CN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927" name="Text Box 87"/>
              <p:cNvSpPr txBox="1"/>
              <p:nvPr/>
            </p:nvSpPr>
            <p:spPr>
              <a:xfrm>
                <a:off x="4414" y="4089"/>
                <a:ext cx="245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38928" name="Text Box 88"/>
              <p:cNvSpPr txBox="1"/>
              <p:nvPr/>
            </p:nvSpPr>
            <p:spPr>
              <a:xfrm>
                <a:off x="4425" y="3885"/>
                <a:ext cx="245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8929" name="Text Box 89"/>
              <p:cNvSpPr txBox="1"/>
              <p:nvPr/>
            </p:nvSpPr>
            <p:spPr>
              <a:xfrm>
                <a:off x="4425" y="3705"/>
                <a:ext cx="245" cy="2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lang="en-US" altLang="zh-CN" sz="2000" dirty="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38930" name="Line 90"/>
              <p:cNvSpPr/>
              <p:nvPr/>
            </p:nvSpPr>
            <p:spPr>
              <a:xfrm>
                <a:off x="4368" y="3516"/>
                <a:ext cx="348" cy="0"/>
              </a:xfrm>
              <a:prstGeom prst="line">
                <a:avLst/>
              </a:prstGeom>
              <a:ln w="9525" cap="flat" cmpd="sng">
                <a:solidFill>
                  <a:srgbClr val="0033CC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数制转换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39939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51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sp>
        <p:nvSpPr>
          <p:cNvPr id="39940" name="TextBox 4"/>
          <p:cNvSpPr txBox="1"/>
          <p:nvPr/>
        </p:nvSpPr>
        <p:spPr>
          <a:xfrm>
            <a:off x="971550" y="1196975"/>
            <a:ext cx="6697663" cy="526297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void convert(int b, int num){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stack&lt;int&gt; s;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while(num!=0){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	s.push(num%b);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	num = num/b; 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} 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while(!s.empty()){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	printf("%d",s.top());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	s.pop();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}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	printf("\n");</a:t>
            </a:r>
          </a:p>
          <a:p>
            <a:pPr eaLnBrk="1" hangingPunct="1"/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行编辑程序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#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表示退格符，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表示退行符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算法的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基本思想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00050" lvl="1" indent="0">
              <a:buNone/>
              <a:defRPr/>
            </a:pPr>
            <a:r>
              <a:rPr lang="en-US" altLang="zh-CN" noProof="0" dirty="0">
                <a:latin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914400" marR="0" lvl="1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凡出现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非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  <a:r>
              <a:rPr lang="zh-CN" altLang="en-US" dirty="0">
                <a:latin typeface="+mn-ea"/>
              </a:rPr>
              <a:t>且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非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@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的字符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，则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进栈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+mn-ea"/>
                <a:ea typeface="+mn-ea"/>
              </a:rPr>
              <a:t>；</a:t>
            </a:r>
          </a:p>
          <a:p>
            <a:pPr marL="914400" marR="0" lvl="1" indent="-514350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凡出现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字符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出栈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一个字符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914400" marR="0" lvl="1" indent="-514350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凡出现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4C34FE"/>
                </a:solidFill>
                <a:effectLst/>
                <a:uLnTx/>
                <a:uFillTx/>
                <a:latin typeface="+mn-ea"/>
                <a:ea typeface="+mn-ea"/>
              </a:rPr>
              <a:t>@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C34FE"/>
                </a:solidFill>
                <a:effectLst/>
                <a:uLnTx/>
                <a:uFillTx/>
                <a:latin typeface="+mn-ea"/>
                <a:ea typeface="+mn-ea"/>
              </a:rPr>
              <a:t>字符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4C34FE"/>
                </a:solidFill>
                <a:effectLst/>
                <a:uLnTx/>
                <a:uFillTx/>
                <a:latin typeface="+mn-ea"/>
                <a:ea typeface="+mn-ea"/>
              </a:rPr>
              <a:t>清空栈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4C34FE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914400" marR="0" lvl="1" indent="-514350" algn="l" defTabSz="914400" rtl="0" eaLnBrk="0" fontAlgn="base" latinLnBrk="0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表达式结束时，栈内存的便是编辑过的行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1988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52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括号匹配的检验</a:t>
            </a:r>
            <a:endParaRPr lang="en-US" altLang="zh-CN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算法的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基本思想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00050" lvl="1" indent="0">
              <a:buNone/>
              <a:defRPr/>
            </a:pPr>
            <a:r>
              <a:rPr lang="en-US" altLang="zh-CN" noProof="0" dirty="0">
                <a:latin typeface="+mn-ea"/>
                <a:cs typeface="+mn-cs"/>
              </a:rPr>
              <a:t>……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914400" marR="0" lvl="1" indent="-514350" algn="l" defTabSz="914400" rtl="0" eaLnBrk="0" fontAlgn="base" latinLnBrk="0" hangingPunct="0">
              <a:spcBef>
                <a:spcPts val="0"/>
              </a:spcBef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凡出现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ea"/>
                <a:ea typeface="+mn-ea"/>
              </a:rPr>
              <a:t>左括弧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，则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ea"/>
                <a:ea typeface="+mn-ea"/>
              </a:rPr>
              <a:t>进栈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+mn-ea"/>
                <a:ea typeface="+mn-ea"/>
              </a:rPr>
              <a:t>；</a:t>
            </a:r>
          </a:p>
          <a:p>
            <a:pPr marL="914400" marR="0" lvl="1" indent="-514350" algn="l" defTabSz="914400" rtl="0" eaLnBrk="0" fontAlgn="base" latinLnBrk="0" hangingPunct="0">
              <a:spcBef>
                <a:spcPts val="0"/>
              </a:spcBef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凡出现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4C34FE"/>
                </a:solidFill>
                <a:effectLst/>
                <a:uLnTx/>
                <a:uFillTx/>
                <a:latin typeface="+mn-ea"/>
                <a:ea typeface="+mn-ea"/>
              </a:rPr>
              <a:t>右括弧</a:t>
            </a: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，首先检查栈是否空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371600" marR="0" lvl="2" indent="-514350" algn="l" defTabSz="914400" rtl="0" eaLnBrk="0" fontAlgn="base" latinLnBrk="0" hangingPunct="0"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若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</a:rPr>
              <a:t>栈空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，则表明该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</a:rPr>
              <a:t>“右括弧”多余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371600" marR="0" lvl="2" indent="-514350" algn="l" defTabSz="914400" rtl="0" eaLnBrk="0" fontAlgn="base" latinLnBrk="0" hangingPunct="0"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否则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ea"/>
                <a:ea typeface="+mn-ea"/>
              </a:rPr>
              <a:t>和栈顶元素比较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828800" marR="0" lvl="3" indent="-457200" algn="l" defTabSz="914400" rtl="0" eaLnBrk="0" fontAlgn="base" latinLnBrk="0" hangingPunct="0">
              <a:spcBef>
                <a:spcPts val="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若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ea"/>
                <a:ea typeface="+mn-ea"/>
              </a:rPr>
              <a:t>相匹配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，则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ea"/>
                <a:ea typeface="+mn-ea"/>
              </a:rPr>
              <a:t>“左括弧出栈”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828800" marR="0" lvl="3" indent="-457200" algn="l" defTabSz="914400" rtl="0" eaLnBrk="0" fontAlgn="base" latinLnBrk="0" hangingPunct="0">
              <a:spcBef>
                <a:spcPts val="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ea"/>
                <a:ea typeface="+mn-ea"/>
              </a:rPr>
              <a:t>否则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表明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ea"/>
                <a:ea typeface="+mn-ea"/>
              </a:rPr>
              <a:t>不匹配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  <a:p>
            <a:pPr marL="914400" marR="0" lvl="1" indent="-514350" algn="l" defTabSz="914400" rtl="0" eaLnBrk="0" fontAlgn="base" latinLnBrk="0" hangingPunct="0">
              <a:spcBef>
                <a:spcPts val="0"/>
              </a:spcBef>
              <a:buClr>
                <a:schemeClr val="accent1"/>
              </a:buClr>
              <a:buSzTx/>
              <a:buFont typeface="+mj-lt"/>
              <a:buAutoNum type="arabicPeriod"/>
              <a:defRPr/>
            </a:pPr>
            <a:r>
              <a:rPr kumimoji="0" lang="zh-CN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表达式检验结束时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371600" marR="0" lvl="2" indent="-514350" algn="l" defTabSz="914400" rtl="0" eaLnBrk="0" fontAlgn="base" latinLnBrk="0" hangingPunct="0"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若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ea"/>
                <a:ea typeface="+mn-ea"/>
              </a:rPr>
              <a:t>栈空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，则表明表达式中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ea"/>
                <a:ea typeface="+mn-ea"/>
              </a:rPr>
              <a:t>匹配正确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371600" marR="0" lvl="2" indent="-514350" algn="l" defTabSz="914400" rtl="0" eaLnBrk="0" fontAlgn="base" latinLnBrk="0" hangingPunct="0"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否则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表明</a:t>
            </a:r>
            <a:r>
              <a:rPr kumimoji="0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ea"/>
                <a:ea typeface="+mn-ea"/>
              </a:rPr>
              <a:t>“左括弧”有余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0964" name="Slide Number Placeholder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53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表达式求值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我们习惯将一个数学表达式写成中缀的形式</a:t>
            </a:r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en-US" altLang="zh-CN" dirty="0">
                <a:solidFill>
                  <a:srgbClr val="009900"/>
                </a:solidFill>
              </a:rPr>
              <a:t>2 * (4 + 6) </a:t>
            </a:r>
            <a:endParaRPr lang="en-US" altLang="zh-CN" dirty="0"/>
          </a:p>
          <a:p>
            <a:r>
              <a:rPr lang="zh-CN" altLang="en-US" dirty="0"/>
              <a:t>在计算机对表达式求值时，通常会将其解析成抽象语法树</a:t>
            </a:r>
            <a:endParaRPr lang="en-US" altLang="zh-CN" dirty="0"/>
          </a:p>
          <a:p>
            <a:r>
              <a:rPr lang="zh-CN" altLang="en-US" dirty="0"/>
              <a:t>转换成后缀表达式</a:t>
            </a:r>
            <a:endParaRPr lang="en-US" altLang="zh-CN" dirty="0"/>
          </a:p>
          <a:p>
            <a:r>
              <a:rPr lang="en-US" altLang="zh-CN" dirty="0">
                <a:solidFill>
                  <a:srgbClr val="009900"/>
                </a:solidFill>
              </a:rPr>
              <a:t>2 4 6 + *</a:t>
            </a:r>
          </a:p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228184" y="3733407"/>
            <a:ext cx="1594246" cy="1881500"/>
            <a:chOff x="5930082" y="2420888"/>
            <a:chExt cx="1594246" cy="1881500"/>
          </a:xfrm>
        </p:grpSpPr>
        <p:sp>
          <p:nvSpPr>
            <p:cNvPr id="5" name="文本框 4"/>
            <p:cNvSpPr txBox="1"/>
            <p:nvPr/>
          </p:nvSpPr>
          <p:spPr>
            <a:xfrm>
              <a:off x="6372200" y="242088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 flipH="1">
              <a:off x="6110102" y="2780928"/>
              <a:ext cx="40611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>
              <a:endCxn id="8" idx="0"/>
            </p:cNvCxnSpPr>
            <p:nvPr/>
          </p:nvCxnSpPr>
          <p:spPr bwMode="auto">
            <a:xfrm>
              <a:off x="6516216" y="2790220"/>
              <a:ext cx="488193" cy="3610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文本框 7"/>
            <p:cNvSpPr txBox="1"/>
            <p:nvPr/>
          </p:nvSpPr>
          <p:spPr>
            <a:xfrm>
              <a:off x="6824389" y="3151242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 flipH="1">
              <a:off x="6804248" y="3501008"/>
              <a:ext cx="21602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7020272" y="3510300"/>
              <a:ext cx="216024" cy="3507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文本框 10"/>
            <p:cNvSpPr txBox="1"/>
            <p:nvPr/>
          </p:nvSpPr>
          <p:spPr>
            <a:xfrm>
              <a:off x="5930082" y="314096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660232" y="392376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164288" y="393305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337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后缀表达式求值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从左至右遍历后缀表达式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遇见数字时入栈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遇见操作符时依次出栈操作数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做运算</a:t>
            </a:r>
            <a:r>
              <a:rPr lang="en-US" altLang="zh-CN" dirty="0"/>
              <a:t>b   op   a</a:t>
            </a:r>
            <a:r>
              <a:rPr lang="zh-CN" altLang="en-US" dirty="0"/>
              <a:t>，结果入栈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遍历完成后栈内的那个元素即是结果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71550" y="4941168"/>
            <a:ext cx="2448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Clr>
                <a:srgbClr val="5B8CC1"/>
              </a:buClr>
              <a:buFont typeface="Wingdings" panose="05000000000000000000" pitchFamily="2" charset="2"/>
              <a:buChar char="n"/>
            </a:pPr>
            <a:r>
              <a:rPr lang="en-US" altLang="zh-CN" sz="3200" kern="0">
                <a:solidFill>
                  <a:srgbClr val="009900"/>
                </a:solidFill>
                <a:latin typeface="Arial"/>
                <a:ea typeface="华文细黑"/>
              </a:rPr>
              <a:t>2 4 6 + *</a:t>
            </a:r>
            <a:endParaRPr lang="en-US" altLang="zh-CN" sz="3200" kern="0" dirty="0">
              <a:solidFill>
                <a:srgbClr val="009900"/>
              </a:solidFill>
              <a:latin typeface="Arial"/>
              <a:ea typeface="华文细黑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83968" y="4292805"/>
            <a:ext cx="1594246" cy="1881500"/>
            <a:chOff x="5930082" y="2420888"/>
            <a:chExt cx="1594246" cy="1881500"/>
          </a:xfrm>
        </p:grpSpPr>
        <p:sp>
          <p:nvSpPr>
            <p:cNvPr id="6" name="文本框 5"/>
            <p:cNvSpPr txBox="1"/>
            <p:nvPr/>
          </p:nvSpPr>
          <p:spPr>
            <a:xfrm>
              <a:off x="6372200" y="242088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 flipH="1">
              <a:off x="6110102" y="2780928"/>
              <a:ext cx="40611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>
              <a:endCxn id="9" idx="0"/>
            </p:cNvCxnSpPr>
            <p:nvPr/>
          </p:nvCxnSpPr>
          <p:spPr bwMode="auto">
            <a:xfrm>
              <a:off x="6516216" y="2790220"/>
              <a:ext cx="488193" cy="3610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文本框 8"/>
            <p:cNvSpPr txBox="1"/>
            <p:nvPr/>
          </p:nvSpPr>
          <p:spPr>
            <a:xfrm>
              <a:off x="6824389" y="3151242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 flipH="1">
              <a:off x="6804248" y="3501008"/>
              <a:ext cx="21602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7020272" y="3510300"/>
              <a:ext cx="216024" cy="3507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文本框 11"/>
            <p:cNvSpPr txBox="1"/>
            <p:nvPr/>
          </p:nvSpPr>
          <p:spPr>
            <a:xfrm>
              <a:off x="5930082" y="314096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60232" y="392376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164288" y="393305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3270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后缀表达式求值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619672" y="1484784"/>
          <a:ext cx="5543849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待处理后缀表达式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栈（底 </a:t>
                      </a:r>
                      <a:r>
                        <a:rPr lang="en-US" altLang="zh-CN" dirty="0"/>
                        <a:t>-&gt;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顶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 / + 5 -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9 3 / + 5 -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 / + 5 -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 + 5 -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+ 5 -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r>
                        <a:rPr lang="en-US" altLang="zh-CN" baseline="0" dirty="0"/>
                        <a:t> 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2024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08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340768"/>
            <a:ext cx="7315200" cy="143735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计算后缀表达式的值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/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916296"/>
              </p:ext>
            </p:extLst>
          </p:nvPr>
        </p:nvGraphicFramePr>
        <p:xfrm>
          <a:off x="1501947" y="2663308"/>
          <a:ext cx="554384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待处理表达式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栈（底 </a:t>
                      </a:r>
                      <a:r>
                        <a:rPr lang="en-US" altLang="zh-CN" dirty="0"/>
                        <a:t>-&gt;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顶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 4 6 +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AD077B8-A418-B14F-A81B-EDBC907BA498}"/>
              </a:ext>
            </a:extLst>
          </p:cNvPr>
          <p:cNvSpPr txBox="1"/>
          <p:nvPr/>
        </p:nvSpPr>
        <p:spPr>
          <a:xfrm>
            <a:off x="2520671" y="3814850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*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9E37E5-6F93-604F-A9D6-093FFB669B9B}"/>
              </a:ext>
            </a:extLst>
          </p:cNvPr>
          <p:cNvSpPr txBox="1"/>
          <p:nvPr/>
        </p:nvSpPr>
        <p:spPr>
          <a:xfrm>
            <a:off x="5859294" y="38573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016DC0-BA2B-0744-954A-E1C241804A09}"/>
              </a:ext>
            </a:extLst>
          </p:cNvPr>
          <p:cNvSpPr txBox="1"/>
          <p:nvPr/>
        </p:nvSpPr>
        <p:spPr>
          <a:xfrm>
            <a:off x="2765220" y="427205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6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*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A1C8919-F2D7-B948-9BEE-85F935685EE2}"/>
              </a:ext>
            </a:extLst>
          </p:cNvPr>
          <p:cNvSpPr txBox="1"/>
          <p:nvPr/>
        </p:nvSpPr>
        <p:spPr>
          <a:xfrm>
            <a:off x="5742336" y="435711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0D625A-AC9F-3A4D-B482-E2E1940BBC15}"/>
              </a:ext>
            </a:extLst>
          </p:cNvPr>
          <p:cNvSpPr txBox="1"/>
          <p:nvPr/>
        </p:nvSpPr>
        <p:spPr>
          <a:xfrm>
            <a:off x="2605732" y="470798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+</a:t>
            </a:r>
            <a:r>
              <a:rPr kumimoji="1" lang="zh-CN" altLang="en-US" dirty="0"/>
              <a:t> *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5F49E1-895A-2542-97E1-37F1A79CA28C}"/>
              </a:ext>
            </a:extLst>
          </p:cNvPr>
          <p:cNvSpPr txBox="1"/>
          <p:nvPr/>
        </p:nvSpPr>
        <p:spPr>
          <a:xfrm>
            <a:off x="5667908" y="480367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19ACCF-0957-4343-A8A3-113746D4E52D}"/>
              </a:ext>
            </a:extLst>
          </p:cNvPr>
          <p:cNvSpPr txBox="1"/>
          <p:nvPr/>
        </p:nvSpPr>
        <p:spPr>
          <a:xfrm>
            <a:off x="2563201" y="5143919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49EFEA-83E9-4D43-A88C-6B1378A73568}"/>
              </a:ext>
            </a:extLst>
          </p:cNvPr>
          <p:cNvSpPr txBox="1"/>
          <p:nvPr/>
        </p:nvSpPr>
        <p:spPr>
          <a:xfrm>
            <a:off x="5678215" y="526447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</a:t>
            </a:r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459D1A4-B28E-064B-8718-4C2F1AF897C5}"/>
              </a:ext>
            </a:extLst>
          </p:cNvPr>
          <p:cNvSpPr txBox="1"/>
          <p:nvPr/>
        </p:nvSpPr>
        <p:spPr>
          <a:xfrm>
            <a:off x="5795499" y="571807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20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1588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中缀转后缀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从左到右进行遍历</a:t>
            </a:r>
            <a:endParaRPr lang="en-US" altLang="zh-CN" dirty="0"/>
          </a:p>
          <a:p>
            <a:r>
              <a:rPr lang="zh-CN" altLang="en-US" dirty="0"/>
              <a:t>运算数：直接输出</a:t>
            </a:r>
            <a:endParaRPr lang="en-US" altLang="zh-CN" dirty="0"/>
          </a:p>
          <a:p>
            <a:r>
              <a:rPr lang="zh-CN" altLang="en-US" dirty="0"/>
              <a:t>左括号：直接压入堆栈</a:t>
            </a:r>
            <a:endParaRPr lang="en-US" altLang="zh-CN" dirty="0"/>
          </a:p>
          <a:p>
            <a:r>
              <a:rPr lang="zh-CN" altLang="en-US" dirty="0"/>
              <a:t>右括号：不断弹出栈顶运算符并输出直到遇到左括号</a:t>
            </a:r>
            <a:r>
              <a:rPr lang="en-US" altLang="zh-CN" dirty="0"/>
              <a:t>(</a:t>
            </a:r>
            <a:r>
              <a:rPr lang="zh-CN" altLang="en-US" dirty="0"/>
              <a:t>弹出但不输出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362130" y="3861048"/>
            <a:ext cx="1594246" cy="1881500"/>
            <a:chOff x="5930082" y="2420888"/>
            <a:chExt cx="1594246" cy="1881500"/>
          </a:xfrm>
        </p:grpSpPr>
        <p:sp>
          <p:nvSpPr>
            <p:cNvPr id="5" name="文本框 4"/>
            <p:cNvSpPr txBox="1"/>
            <p:nvPr/>
          </p:nvSpPr>
          <p:spPr>
            <a:xfrm>
              <a:off x="6372200" y="242088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</a:t>
              </a: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 flipH="1">
              <a:off x="6110102" y="2780928"/>
              <a:ext cx="40611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>
              <a:endCxn id="8" idx="0"/>
            </p:cNvCxnSpPr>
            <p:nvPr/>
          </p:nvCxnSpPr>
          <p:spPr bwMode="auto">
            <a:xfrm>
              <a:off x="6516216" y="2790220"/>
              <a:ext cx="488193" cy="3610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文本框 7"/>
            <p:cNvSpPr txBox="1"/>
            <p:nvPr/>
          </p:nvSpPr>
          <p:spPr>
            <a:xfrm>
              <a:off x="6824389" y="3151242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 flipH="1">
              <a:off x="6804248" y="3501008"/>
              <a:ext cx="216024" cy="3600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7020272" y="3510300"/>
              <a:ext cx="216024" cy="3507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文本框 10"/>
            <p:cNvSpPr txBox="1"/>
            <p:nvPr/>
          </p:nvSpPr>
          <p:spPr>
            <a:xfrm>
              <a:off x="5930082" y="314096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660232" y="392376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164288" y="393305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15734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中缀转后缀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1" y="1125538"/>
            <a:ext cx="8640960" cy="5162550"/>
          </a:xfrm>
        </p:spPr>
        <p:txBody>
          <a:bodyPr/>
          <a:lstStyle/>
          <a:p>
            <a:r>
              <a:rPr lang="zh-CN" altLang="en-US" dirty="0"/>
              <a:t>运算符：将该运算符与栈顶运算符进行比较</a:t>
            </a:r>
            <a:r>
              <a:rPr lang="en-US" altLang="zh-CN" dirty="0"/>
              <a:t>,</a:t>
            </a:r>
          </a:p>
          <a:p>
            <a:pPr lvl="1"/>
            <a:r>
              <a:rPr lang="zh-CN" altLang="en-US" dirty="0"/>
              <a:t>如果栈为空或优先级高于栈顶运算符则压入堆栈</a:t>
            </a:r>
            <a:endParaRPr lang="en-US" altLang="zh-CN" dirty="0"/>
          </a:p>
          <a:p>
            <a:pPr lvl="2"/>
            <a:r>
              <a:rPr lang="zh-CN" altLang="en-US" dirty="0"/>
              <a:t>入栈后，</a:t>
            </a:r>
            <a:r>
              <a:rPr lang="en-US" altLang="zh-CN" dirty="0"/>
              <a:t>“(“ </a:t>
            </a:r>
            <a:r>
              <a:rPr lang="zh-CN" altLang="en-US" dirty="0"/>
              <a:t>的优先级最低</a:t>
            </a:r>
            <a:endParaRPr lang="en-US" altLang="zh-CN" dirty="0"/>
          </a:p>
          <a:p>
            <a:pPr lvl="1"/>
            <a:r>
              <a:rPr lang="zh-CN" altLang="en-US" dirty="0"/>
              <a:t>如果优先级低于等于栈顶运算符则将栈顶运算符弹出并输出</a:t>
            </a:r>
            <a:r>
              <a:rPr lang="en-US" altLang="zh-CN" dirty="0"/>
              <a:t>,</a:t>
            </a:r>
            <a:r>
              <a:rPr lang="zh-CN" altLang="en-US" dirty="0"/>
              <a:t>然后比较新的栈顶运算符</a:t>
            </a:r>
            <a:endParaRPr lang="en-US" altLang="zh-CN" dirty="0"/>
          </a:p>
          <a:p>
            <a:pPr lvl="1"/>
            <a:r>
              <a:rPr lang="zh-CN" altLang="en-US" dirty="0"/>
              <a:t>直到优先级大于栈顶运算符或者栈空</a:t>
            </a:r>
            <a:r>
              <a:rPr lang="en-US" altLang="zh-CN" dirty="0"/>
              <a:t>,</a:t>
            </a:r>
            <a:r>
              <a:rPr lang="zh-CN" altLang="en-US" dirty="0"/>
              <a:t>再将该运算符入栈</a:t>
            </a:r>
            <a:endParaRPr lang="en-US" altLang="zh-CN" dirty="0"/>
          </a:p>
          <a:p>
            <a:r>
              <a:rPr lang="zh-CN" altLang="en-US" dirty="0"/>
              <a:t>如果对象处理完毕</a:t>
            </a:r>
            <a:r>
              <a:rPr lang="en-US" altLang="zh-CN" dirty="0"/>
              <a:t>,</a:t>
            </a:r>
            <a:r>
              <a:rPr lang="zh-CN" altLang="en-US" dirty="0"/>
              <a:t>则按顺序弹出并输出栈中所有运算符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39559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中缀转后缀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755576" y="1556792"/>
          <a:ext cx="7720020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待处理表达式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栈（底 </a:t>
                      </a:r>
                      <a:r>
                        <a:rPr lang="en-US" altLang="zh-CN" dirty="0"/>
                        <a:t>-&gt;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顶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2+9/3-5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+9/3-5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9/3-5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/3-5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</a:t>
                      </a:r>
                      <a:r>
                        <a:rPr lang="en-US" altLang="zh-CN" baseline="0" dirty="0"/>
                        <a:t> 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 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</a:t>
                      </a:r>
                      <a:r>
                        <a:rPr lang="en-US" altLang="zh-CN" baseline="0" dirty="0"/>
                        <a:t> 3 /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 / +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 / +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 / + 5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 9 3 / + 5 -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690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中缀转后缀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755576" y="1556792"/>
          <a:ext cx="772002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待处理表达式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栈（底 </a:t>
                      </a:r>
                      <a:r>
                        <a:rPr lang="en-US" altLang="zh-CN" dirty="0"/>
                        <a:t>-&gt;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顶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</a:t>
                      </a:r>
                      <a:r>
                        <a:rPr lang="en-US" altLang="zh-CN" baseline="0" dirty="0"/>
                        <a:t> b – c ) 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/>
                        <a:t>b – c ) 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 c ) 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 ) 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) 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 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 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 c 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 c 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 c - 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 c - a</a:t>
                      </a:r>
                      <a:r>
                        <a:rPr lang="zh-CN" altLang="en-US" baseline="0" dirty="0"/>
                        <a:t> </a:t>
                      </a:r>
                      <a:r>
                        <a:rPr lang="en-US" altLang="zh-CN" baseline="0" dirty="0"/>
                        <a:t>/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374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3-8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62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将下面中缀表达式转换成后缀表达式</a:t>
            </a: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/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3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4125577"/>
              </p:ext>
            </p:extLst>
          </p:nvPr>
        </p:nvGraphicFramePr>
        <p:xfrm>
          <a:off x="1235529" y="2777381"/>
          <a:ext cx="554384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待处理后缀表达式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栈（底 </a:t>
                      </a:r>
                      <a:r>
                        <a:rPr lang="en-US" altLang="zh-CN" dirty="0"/>
                        <a:t>-&gt;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顶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2*(4+6)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26EA608-9894-8242-AE60-3B01E983B38C}"/>
              </a:ext>
            </a:extLst>
          </p:cNvPr>
          <p:cNvSpPr txBox="1"/>
          <p:nvPr/>
        </p:nvSpPr>
        <p:spPr>
          <a:xfrm>
            <a:off x="2424223" y="3933056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6</a:t>
            </a:r>
            <a:r>
              <a:rPr kumimoji="1" lang="zh-CN" altLang="en-US" dirty="0"/>
              <a:t> 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86D04E-5FCA-F946-8196-1A21F70343E7}"/>
              </a:ext>
            </a:extLst>
          </p:cNvPr>
          <p:cNvSpPr txBox="1"/>
          <p:nvPr/>
        </p:nvSpPr>
        <p:spPr>
          <a:xfrm>
            <a:off x="5050465" y="386104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CB8A2E-23C4-AD46-BCBB-1F129DCF69FF}"/>
              </a:ext>
            </a:extLst>
          </p:cNvPr>
          <p:cNvSpPr txBox="1"/>
          <p:nvPr/>
        </p:nvSpPr>
        <p:spPr>
          <a:xfrm>
            <a:off x="2685249" y="4293096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4+6</a:t>
            </a:r>
            <a:r>
              <a:rPr kumimoji="1" lang="zh-CN" altLang="en-US" dirty="0"/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1A4D18-3982-2A41-842F-DB14B4CA30CA}"/>
              </a:ext>
            </a:extLst>
          </p:cNvPr>
          <p:cNvSpPr txBox="1"/>
          <p:nvPr/>
        </p:nvSpPr>
        <p:spPr>
          <a:xfrm>
            <a:off x="4965405" y="422108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* 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F34676-666C-5F44-B534-D4CB55849D5B}"/>
              </a:ext>
            </a:extLst>
          </p:cNvPr>
          <p:cNvSpPr txBox="1"/>
          <p:nvPr/>
        </p:nvSpPr>
        <p:spPr>
          <a:xfrm>
            <a:off x="2788350" y="46531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F69741-4684-B345-A918-ED87B2203F03}"/>
              </a:ext>
            </a:extLst>
          </p:cNvPr>
          <p:cNvSpPr txBox="1"/>
          <p:nvPr/>
        </p:nvSpPr>
        <p:spPr>
          <a:xfrm>
            <a:off x="4986670" y="458112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* （</a:t>
            </a:r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4D534D-B4D9-3D48-9F1E-04415406C550}"/>
              </a:ext>
            </a:extLst>
          </p:cNvPr>
          <p:cNvSpPr txBox="1"/>
          <p:nvPr/>
        </p:nvSpPr>
        <p:spPr>
          <a:xfrm>
            <a:off x="5076056" y="494116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 * </a:t>
            </a:r>
            <a:r>
              <a:rPr kumimoji="1" lang="en-US" altLang="zh-CN" dirty="0"/>
              <a:t>10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F80D4C-5240-B44D-8B9B-8D810E7A1BA0}"/>
              </a:ext>
            </a:extLst>
          </p:cNvPr>
          <p:cNvSpPr txBox="1"/>
          <p:nvPr/>
        </p:nvSpPr>
        <p:spPr>
          <a:xfrm>
            <a:off x="5241073" y="537321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20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8252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>
                <a:latin typeface="+mj-lt"/>
                <a:ea typeface="+mj-ea"/>
                <a:cs typeface="+mj-cs"/>
              </a:rPr>
              <a:t>C++</a:t>
            </a:r>
            <a:r>
              <a:rPr lang="zh-CN" altLang="en-US" dirty="0">
                <a:latin typeface="+mj-lt"/>
                <a:ea typeface="+mj-ea"/>
                <a:cs typeface="+mj-cs"/>
              </a:rPr>
              <a:t>中的</a:t>
            </a:r>
            <a:r>
              <a:rPr lang="en-US" altLang="zh-CN" dirty="0">
                <a:latin typeface="+mj-lt"/>
                <a:ea typeface="+mj-ea"/>
                <a:cs typeface="+mj-cs"/>
              </a:rPr>
              <a:t>STL</a:t>
            </a:r>
            <a:r>
              <a:rPr lang="zh-CN" altLang="en-US" dirty="0">
                <a:latin typeface="+mj-lt"/>
                <a:ea typeface="+mj-ea"/>
                <a:cs typeface="+mj-cs"/>
              </a:rPr>
              <a:t>库 </a:t>
            </a:r>
            <a:r>
              <a:rPr lang="en-US" altLang="zh-CN" dirty="0">
                <a:latin typeface="+mj-lt"/>
                <a:ea typeface="+mj-ea"/>
                <a:cs typeface="+mj-cs"/>
              </a:rPr>
              <a:t>– queue</a:t>
            </a:r>
            <a:r>
              <a:rPr lang="zh-CN" altLang="en-US" dirty="0">
                <a:latin typeface="+mj-lt"/>
                <a:ea typeface="+mj-ea"/>
                <a:cs typeface="+mj-cs"/>
              </a:rPr>
              <a:t>模板类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008062"/>
          </a:xfrm>
        </p:spPr>
        <p:txBody>
          <a:bodyPr vert="horz" wrap="square" lIns="91440" tIns="45720" rIns="91440" bIns="45720" anchor="t"/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800" kern="1200" dirty="0"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#include&lt;queue&gt;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2800" kern="1200" dirty="0"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	using namespace std; </a:t>
            </a:r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65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68313" y="2132856"/>
            <a:ext cx="8207375" cy="1008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>
              <a:buClr>
                <a:schemeClr val="accent1"/>
              </a:buClr>
              <a:buSzTx/>
              <a:defRPr/>
            </a:pPr>
            <a:r>
              <a:rPr kumimoji="0" lang="en-US" altLang="zh-CN" sz="3200" kern="0" cap="none" spc="0" normalizeH="0" baseline="0" noProof="0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queue&lt;</a:t>
            </a:r>
            <a:r>
              <a:rPr lang="en-US" altLang="zh-CN" sz="2800" dirty="0" err="1">
                <a:latin typeface="Cambria Math" panose="02040503050406030204" pitchFamily="18" charset="0"/>
                <a:cs typeface="Cambria Math" panose="02040503050406030204" pitchFamily="18" charset="0"/>
              </a:rPr>
              <a:t>int</a:t>
            </a: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&gt; q1;</a:t>
            </a:r>
            <a:b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</a:br>
            <a:r>
              <a:rPr lang="en-US" altLang="zh-CN" sz="2800" dirty="0">
                <a:latin typeface="Cambria Math" panose="02040503050406030204" pitchFamily="18" charset="0"/>
                <a:cs typeface="Cambria Math" panose="02040503050406030204" pitchFamily="18" charset="0"/>
              </a:rPr>
              <a:t>queue&lt;double&gt; q2;</a:t>
            </a:r>
          </a:p>
        </p:txBody>
      </p:sp>
      <p:sp>
        <p:nvSpPr>
          <p:cNvPr id="63494" name="内容占位符 2"/>
          <p:cNvSpPr txBox="1"/>
          <p:nvPr/>
        </p:nvSpPr>
        <p:spPr>
          <a:xfrm>
            <a:off x="468313" y="3213100"/>
            <a:ext cx="8207375" cy="25923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en-US" sz="2400" b="1" dirty="0">
                <a:latin typeface="Arial" panose="020B0604020202020204" pitchFamily="34" charset="0"/>
              </a:rPr>
              <a:t>入队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q.push</a:t>
            </a:r>
            <a:r>
              <a:rPr lang="en-US" altLang="zh-CN" sz="2400" dirty="0">
                <a:latin typeface="Arial" panose="020B0604020202020204" pitchFamily="34" charset="0"/>
              </a:rPr>
              <a:t>(x); </a:t>
            </a:r>
            <a:r>
              <a:rPr lang="zh-CN" altLang="en-US" sz="2400" dirty="0">
                <a:latin typeface="Arial" panose="020B0604020202020204" pitchFamily="34" charset="0"/>
              </a:rPr>
              <a:t>将</a:t>
            </a:r>
            <a:r>
              <a:rPr lang="en-US" altLang="zh-CN" sz="2400" dirty="0">
                <a:latin typeface="Arial" panose="020B0604020202020204" pitchFamily="34" charset="0"/>
              </a:rPr>
              <a:t>x </a:t>
            </a:r>
            <a:r>
              <a:rPr lang="zh-CN" altLang="en-US" sz="2400" dirty="0">
                <a:latin typeface="Arial" panose="020B0604020202020204" pitchFamily="34" charset="0"/>
              </a:rPr>
              <a:t>接到队列的末端。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b="1" dirty="0">
                <a:latin typeface="Arial" panose="020B0604020202020204" pitchFamily="34" charset="0"/>
              </a:rPr>
              <a:t>出队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q.pop</a:t>
            </a:r>
            <a:r>
              <a:rPr lang="en-US" altLang="zh-CN" sz="2400" dirty="0">
                <a:latin typeface="Arial" panose="020B0604020202020204" pitchFamily="34" charset="0"/>
              </a:rPr>
              <a:t>(); </a:t>
            </a:r>
            <a:r>
              <a:rPr lang="zh-CN" altLang="en-US" sz="2400" dirty="0">
                <a:latin typeface="Arial" panose="020B0604020202020204" pitchFamily="34" charset="0"/>
              </a:rPr>
              <a:t>弹出队列的第一个元素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</a:rPr>
              <a:t>		</a:t>
            </a:r>
            <a:r>
              <a:rPr lang="zh-CN" altLang="en-US" sz="2400" dirty="0">
                <a:latin typeface="Arial" panose="020B0604020202020204" pitchFamily="34" charset="0"/>
              </a:rPr>
              <a:t>注意，并不会返回被弹出元素的值。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b="1" dirty="0">
                <a:latin typeface="Arial" panose="020B0604020202020204" pitchFamily="34" charset="0"/>
              </a:rPr>
              <a:t>访问队首元素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q.front</a:t>
            </a:r>
            <a:r>
              <a:rPr lang="en-US" altLang="zh-CN" sz="2400" dirty="0">
                <a:latin typeface="Arial" panose="020B0604020202020204" pitchFamily="34" charset="0"/>
              </a:rPr>
              <a:t>()</a:t>
            </a:r>
            <a:r>
              <a:rPr lang="zh-CN" altLang="en-US" sz="2400" dirty="0">
                <a:latin typeface="Arial" panose="020B0604020202020204" pitchFamily="34" charset="0"/>
              </a:rPr>
              <a:t>，即最早被压入队列的元素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b="1" dirty="0">
                <a:latin typeface="Arial" panose="020B0604020202020204" pitchFamily="34" charset="0"/>
              </a:rPr>
              <a:t>访问队尾元素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q.back</a:t>
            </a:r>
            <a:r>
              <a:rPr lang="en-US" altLang="zh-CN" sz="2400" dirty="0">
                <a:latin typeface="Arial" panose="020B0604020202020204" pitchFamily="34" charset="0"/>
              </a:rPr>
              <a:t>()</a:t>
            </a:r>
            <a:r>
              <a:rPr lang="zh-CN" altLang="en-US" sz="2400" dirty="0">
                <a:latin typeface="Arial" panose="020B0604020202020204" pitchFamily="34" charset="0"/>
              </a:rPr>
              <a:t>，即最后被压入队列的元素</a:t>
            </a:r>
            <a:endParaRPr lang="en-US" altLang="zh-CN" sz="2400" dirty="0">
              <a:latin typeface="Arial" panose="020B0604020202020204" pitchFamily="34" charset="0"/>
            </a:endParaRPr>
          </a:p>
          <a:p>
            <a:r>
              <a:rPr lang="zh-CN" altLang="en-US" sz="2400" b="1" dirty="0">
                <a:latin typeface="Arial" panose="020B0604020202020204" pitchFamily="34" charset="0"/>
              </a:rPr>
              <a:t>判断队列空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q.empty</a:t>
            </a:r>
            <a:r>
              <a:rPr lang="en-US" altLang="zh-CN" sz="2400" dirty="0">
                <a:latin typeface="Arial" panose="020B0604020202020204" pitchFamily="34" charset="0"/>
              </a:rPr>
              <a:t>()</a:t>
            </a:r>
            <a:r>
              <a:rPr lang="zh-CN" altLang="en-US" sz="2400" dirty="0">
                <a:latin typeface="Arial" panose="020B0604020202020204" pitchFamily="34" charset="0"/>
              </a:rPr>
              <a:t>，当队列空时，返回</a:t>
            </a:r>
            <a:r>
              <a:rPr lang="en-US" altLang="zh-CN" sz="2400" dirty="0">
                <a:latin typeface="Arial" panose="020B0604020202020204" pitchFamily="34" charset="0"/>
              </a:rPr>
              <a:t>true</a:t>
            </a:r>
          </a:p>
          <a:p>
            <a:r>
              <a:rPr lang="zh-CN" altLang="en-US" sz="2400" b="1" dirty="0">
                <a:latin typeface="Arial" panose="020B0604020202020204" pitchFamily="34" charset="0"/>
              </a:rPr>
              <a:t>访问队列中的元素个数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 err="1">
                <a:latin typeface="Arial" panose="020B0604020202020204" pitchFamily="34" charset="0"/>
              </a:rPr>
              <a:t>q.size</a:t>
            </a:r>
            <a:r>
              <a:rPr lang="en-US" altLang="zh-CN" sz="2400" dirty="0">
                <a:latin typeface="Arial" panose="020B0604020202020204" pitchFamily="34" charset="0"/>
              </a:rPr>
              <a:t>()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舞伴配对问题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在舞会上，男、女各自排成一队</a:t>
            </a:r>
            <a:endParaRPr lang="en-US" altLang="zh-CN" sz="2800" dirty="0"/>
          </a:p>
          <a:p>
            <a:r>
              <a:rPr lang="zh-CN" altLang="en-US" sz="2800" dirty="0"/>
              <a:t>舞会开始时，依次从男队和女队各出一人配成舞伴</a:t>
            </a:r>
            <a:endParaRPr lang="en-US" altLang="zh-CN" sz="2800" dirty="0"/>
          </a:p>
          <a:p>
            <a:r>
              <a:rPr lang="zh-CN" altLang="en-US" sz="2800" dirty="0"/>
              <a:t>舞曲结束后再依次排回本队队尾</a:t>
            </a:r>
            <a:endParaRPr lang="en-US" altLang="zh-CN" sz="2800" dirty="0"/>
          </a:p>
          <a:p>
            <a:r>
              <a:rPr lang="zh-CN" altLang="en-US" sz="2800" dirty="0"/>
              <a:t>如果两队初始人数不等，则较长的那一队中未配对者等待下一轮舞曲</a:t>
            </a:r>
            <a:endParaRPr lang="en-US" altLang="zh-CN" sz="2800" dirty="0"/>
          </a:p>
          <a:p>
            <a:r>
              <a:rPr lang="zh-CN" altLang="en-US" sz="2800" dirty="0"/>
              <a:t>给定男、女人数及每首舞曲的播放时间</a:t>
            </a:r>
            <a:endParaRPr lang="en-US" altLang="zh-CN" sz="2800" dirty="0"/>
          </a:p>
          <a:p>
            <a:r>
              <a:rPr lang="zh-CN" altLang="en-US" sz="2800" dirty="0"/>
              <a:t>你排在第</a:t>
            </a:r>
            <a:r>
              <a:rPr lang="en-US" altLang="zh-CN" sz="2800" dirty="0"/>
              <a:t>m</a:t>
            </a:r>
            <a:r>
              <a:rPr lang="zh-CN" altLang="en-US" sz="2800" dirty="0"/>
              <a:t>位，而你暗恋的小姐姐（小哥哥）排在另一队的第</a:t>
            </a:r>
            <a:r>
              <a:rPr lang="en-US" altLang="zh-CN" sz="2800" dirty="0"/>
              <a:t>n</a:t>
            </a:r>
            <a:r>
              <a:rPr lang="zh-CN" altLang="en-US" sz="2800" dirty="0"/>
              <a:t>位，要过多久你才能和你的暗恋对象共舞？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队列的应用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现代操作系统可处理多个进程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一个</a:t>
            </a:r>
            <a:r>
              <a:rPr lang="en-US" altLang="zh-CN" dirty="0">
                <a:latin typeface="+mn-lt"/>
                <a:ea typeface="+mn-ea"/>
                <a:cs typeface="+mn-cs"/>
              </a:rPr>
              <a:t>CPU</a:t>
            </a:r>
            <a:r>
              <a:rPr lang="zh-CN" altLang="en-US" dirty="0">
                <a:latin typeface="+mn-lt"/>
                <a:ea typeface="+mn-ea"/>
                <a:cs typeface="+mn-cs"/>
              </a:rPr>
              <a:t>怎样实现？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</a:rPr>
              <a:t>先来先服务调度算法</a:t>
            </a:r>
            <a:r>
              <a:rPr lang="en-US" altLang="zh-CN" dirty="0">
                <a:latin typeface="+mn-lt"/>
                <a:ea typeface="+mn-ea"/>
              </a:rPr>
              <a:t>(First come, first served)</a:t>
            </a:r>
          </a:p>
          <a:p>
            <a:pPr lvl="1"/>
            <a:r>
              <a:rPr lang="zh-CN" altLang="en-US" dirty="0">
                <a:latin typeface="+mn-lt"/>
                <a:ea typeface="+mn-ea"/>
              </a:rPr>
              <a:t>短进程（作业）优先调度算法</a:t>
            </a:r>
            <a:r>
              <a:rPr lang="en-US" altLang="zh-CN" dirty="0">
                <a:latin typeface="+mn-lt"/>
                <a:ea typeface="+mn-ea"/>
              </a:rPr>
              <a:t>(Shortest job first)</a:t>
            </a:r>
          </a:p>
          <a:p>
            <a:pPr lvl="1"/>
            <a:r>
              <a:rPr lang="zh-CN" altLang="en-US" dirty="0">
                <a:latin typeface="+mn-lt"/>
                <a:ea typeface="+mn-ea"/>
              </a:rPr>
              <a:t>时间片轮转调度算法</a:t>
            </a:r>
            <a:r>
              <a:rPr lang="en-US" altLang="zh-CN" dirty="0">
                <a:latin typeface="+mn-lt"/>
                <a:ea typeface="+mn-ea"/>
              </a:rPr>
              <a:t>(Round-Robin)</a:t>
            </a:r>
          </a:p>
          <a:p>
            <a:pPr lvl="1"/>
            <a:r>
              <a:rPr lang="zh-CN" altLang="en-US" dirty="0">
                <a:latin typeface="+mn-lt"/>
                <a:ea typeface="+mn-ea"/>
              </a:rPr>
              <a:t>多级队列调度算法</a:t>
            </a:r>
            <a:r>
              <a:rPr lang="en-US" altLang="zh-CN" dirty="0">
                <a:latin typeface="+mn-lt"/>
                <a:ea typeface="+mn-ea"/>
              </a:rPr>
              <a:t>(Multi level queue)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000" b="1" dirty="0">
                <a:ea typeface="华文细黑" panose="02010600040101010101" pitchFamily="2" charset="-122"/>
              </a:rPr>
              <a:pPr lvl="0" algn="r"/>
              <a:t>67</a:t>
            </a:fld>
            <a:endParaRPr lang="zh-CN" altLang="en-US" sz="1000" b="1" dirty="0"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假设某个操作系统中采用时间片轮转调度算法</a:t>
            </a:r>
            <a:r>
              <a:rPr lang="en-US" altLang="zh-CN" dirty="0"/>
              <a:t>(Round-Robin)</a:t>
            </a:r>
            <a:r>
              <a:rPr lang="zh-CN" altLang="en-US" dirty="0"/>
              <a:t>来处理</a:t>
            </a:r>
            <a:r>
              <a:rPr lang="en-US" altLang="zh-CN" dirty="0"/>
              <a:t>n</a:t>
            </a:r>
            <a:r>
              <a:rPr lang="zh-CN" altLang="en-US" dirty="0"/>
              <a:t>个进程</a:t>
            </a:r>
            <a:endParaRPr lang="en-US" altLang="zh-CN" dirty="0"/>
          </a:p>
          <a:p>
            <a:r>
              <a:rPr lang="zh-CN" altLang="en-US" dirty="0"/>
              <a:t>每个时间片为</a:t>
            </a:r>
            <a:r>
              <a:rPr lang="en-US" altLang="zh-CN" dirty="0" err="1"/>
              <a:t>ts</a:t>
            </a:r>
            <a:endParaRPr lang="en-US" altLang="zh-CN" dirty="0"/>
          </a:p>
          <a:p>
            <a:r>
              <a:rPr lang="zh-CN" altLang="en-US" dirty="0"/>
              <a:t>完成每个任务所需时间</a:t>
            </a:r>
            <a:r>
              <a:rPr lang="en-US" altLang="zh-CN" dirty="0" err="1"/>
              <a:t>tt</a:t>
            </a:r>
            <a:r>
              <a:rPr lang="en-US" altLang="zh-CN" baseline="-25000" dirty="0" err="1"/>
              <a:t>i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=1..n)</a:t>
            </a:r>
          </a:p>
          <a:p>
            <a:r>
              <a:rPr lang="zh-CN" altLang="en-US" dirty="0"/>
              <a:t>忽略进程间切换所需时间</a:t>
            </a:r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CPU</a:t>
            </a:r>
            <a:r>
              <a:rPr lang="zh-CN" altLang="en-US" dirty="0"/>
              <a:t>开始执行操作的时间为</a:t>
            </a:r>
            <a:r>
              <a:rPr lang="en-US" altLang="zh-CN" dirty="0"/>
              <a:t>0</a:t>
            </a:r>
            <a:r>
              <a:rPr lang="zh-CN" altLang="en-US" dirty="0"/>
              <a:t>，则每个任务完成的时间是多少？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演示设计">
  <a:themeElements>
    <a:clrScheme name="演示设计 3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2A94FE"/>
      </a:folHlink>
    </a:clrScheme>
    <a:fontScheme name="演示设计">
      <a:majorFont>
        <a:latin typeface="Arial"/>
        <a:ea typeface="华文细黑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细黑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细黑" panose="02010600040101010101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463900"/>
        </a:hlink>
        <a:folHlink>
          <a:srgbClr val="FFE6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AD5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C468B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DDDF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7BD52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ppt模板IT</Template>
  <TotalTime>15078</TotalTime>
  <Words>4439</Words>
  <Application>Microsoft Macintosh PowerPoint</Application>
  <PresentationFormat>全屏显示(4:3)</PresentationFormat>
  <Paragraphs>1019</Paragraphs>
  <Slides>68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7" baseType="lpstr">
      <vt:lpstr>华文细黑</vt:lpstr>
      <vt:lpstr>楷体_GB2312</vt:lpstr>
      <vt:lpstr>Microsoft Yahei</vt:lpstr>
      <vt:lpstr>Arial</vt:lpstr>
      <vt:lpstr>Calibri</vt:lpstr>
      <vt:lpstr>Cambria Math</vt:lpstr>
      <vt:lpstr>Times New Roman</vt:lpstr>
      <vt:lpstr>Wingdings</vt:lpstr>
      <vt:lpstr>演示设计</vt:lpstr>
      <vt:lpstr>Ch3 栈和队列</vt:lpstr>
      <vt:lpstr>本章内容</vt:lpstr>
      <vt:lpstr>栈和队列</vt:lpstr>
      <vt:lpstr>栈</vt:lpstr>
      <vt:lpstr>栈的特点</vt:lpstr>
      <vt:lpstr>栈的抽象数据类型</vt:lpstr>
      <vt:lpstr>栈的基本操作</vt:lpstr>
      <vt:lpstr>练习 3-1</vt:lpstr>
      <vt:lpstr>PowerPoint 演示文稿</vt:lpstr>
      <vt:lpstr>PowerPoint 演示文稿</vt:lpstr>
      <vt:lpstr>顺序栈</vt:lpstr>
      <vt:lpstr>init, isEmpty, isFull</vt:lpstr>
      <vt:lpstr>top, push, pop</vt:lpstr>
      <vt:lpstr>双栈</vt:lpstr>
      <vt:lpstr>练习 3-2</vt:lpstr>
      <vt:lpstr>PowerPoint 演示文稿</vt:lpstr>
      <vt:lpstr>栈的链式存储</vt:lpstr>
      <vt:lpstr>链栈</vt:lpstr>
      <vt:lpstr>init, isEmpty, isFull</vt:lpstr>
      <vt:lpstr>top, push</vt:lpstr>
      <vt:lpstr>pop</vt:lpstr>
      <vt:lpstr>练习 3-3</vt:lpstr>
      <vt:lpstr>PowerPoint 演示文稿</vt:lpstr>
      <vt:lpstr>栈与递归</vt:lpstr>
      <vt:lpstr>栈与递归</vt:lpstr>
      <vt:lpstr>求解阶乘 n! 的过程</vt:lpstr>
      <vt:lpstr>队列</vt:lpstr>
      <vt:lpstr>队列的特点</vt:lpstr>
      <vt:lpstr>栈的抽象数据类型</vt:lpstr>
      <vt:lpstr>栈的基本操作</vt:lpstr>
      <vt:lpstr>练习 3-4</vt:lpstr>
      <vt:lpstr>PowerPoint 演示文稿</vt:lpstr>
      <vt:lpstr>顺序队列</vt:lpstr>
      <vt:lpstr>假溢出问题</vt:lpstr>
      <vt:lpstr>元素个数</vt:lpstr>
      <vt:lpstr>init, isEmpty, isFull</vt:lpstr>
      <vt:lpstr>front, enqueue</vt:lpstr>
      <vt:lpstr>dequeue</vt:lpstr>
      <vt:lpstr>练习 3-5</vt:lpstr>
      <vt:lpstr>PowerPoint 演示文稿</vt:lpstr>
      <vt:lpstr>链队列</vt:lpstr>
      <vt:lpstr>init, isEmpty, isFull</vt:lpstr>
      <vt:lpstr>front</vt:lpstr>
      <vt:lpstr>enqueue</vt:lpstr>
      <vt:lpstr>dequeue</vt:lpstr>
      <vt:lpstr>练习 3-6</vt:lpstr>
      <vt:lpstr>PowerPoint 演示文稿</vt:lpstr>
      <vt:lpstr>栈的应用举例</vt:lpstr>
      <vt:lpstr>C++中的STL库 – stack模板类</vt:lpstr>
      <vt:lpstr>数制转换</vt:lpstr>
      <vt:lpstr>数制转换</vt:lpstr>
      <vt:lpstr>行编辑程序</vt:lpstr>
      <vt:lpstr>括号匹配的检验</vt:lpstr>
      <vt:lpstr>表达式求值</vt:lpstr>
      <vt:lpstr>后缀表达式求值</vt:lpstr>
      <vt:lpstr>后缀表达式求值</vt:lpstr>
      <vt:lpstr>练习 3-7</vt:lpstr>
      <vt:lpstr>PowerPoint 演示文稿</vt:lpstr>
      <vt:lpstr>中缀转后缀</vt:lpstr>
      <vt:lpstr>中缀转后缀</vt:lpstr>
      <vt:lpstr>中缀转后缀</vt:lpstr>
      <vt:lpstr>中缀转后缀</vt:lpstr>
      <vt:lpstr>练习 3-8</vt:lpstr>
      <vt:lpstr>PowerPoint 演示文稿</vt:lpstr>
      <vt:lpstr>C++中的STL库 – queue模板类</vt:lpstr>
      <vt:lpstr>舞伴配对问题</vt:lpstr>
      <vt:lpstr>队列的应用</vt:lpstr>
      <vt:lpstr>队列的应用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软件测试自动化</dc:title>
  <dc:creator>acer</dc:creator>
  <cp:lastModifiedBy>Liu Xinyi</cp:lastModifiedBy>
  <cp:revision>1491</cp:revision>
  <dcterms:created xsi:type="dcterms:W3CDTF">2012-09-10T06:31:00Z</dcterms:created>
  <dcterms:modified xsi:type="dcterms:W3CDTF">2020-04-14T10:26:29Z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