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8.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8"/>
  </p:notesMasterIdLst>
  <p:sldIdLst>
    <p:sldId id="732" r:id="rId2"/>
    <p:sldId id="311" r:id="rId3"/>
    <p:sldId id="536" r:id="rId4"/>
    <p:sldId id="312" r:id="rId5"/>
    <p:sldId id="476" r:id="rId6"/>
    <p:sldId id="415" r:id="rId7"/>
    <p:sldId id="416" r:id="rId8"/>
    <p:sldId id="537" r:id="rId9"/>
    <p:sldId id="739" r:id="rId10"/>
    <p:sldId id="740" r:id="rId11"/>
    <p:sldId id="741" r:id="rId12"/>
    <p:sldId id="733" r:id="rId13"/>
    <p:sldId id="738" r:id="rId14"/>
    <p:sldId id="539" r:id="rId15"/>
    <p:sldId id="734" r:id="rId16"/>
    <p:sldId id="735" r:id="rId17"/>
    <p:sldId id="736" r:id="rId18"/>
    <p:sldId id="737" r:id="rId19"/>
    <p:sldId id="766" r:id="rId20"/>
    <p:sldId id="762" r:id="rId21"/>
    <p:sldId id="764" r:id="rId22"/>
    <p:sldId id="540" r:id="rId23"/>
    <p:sldId id="541" r:id="rId24"/>
    <p:sldId id="423" r:id="rId25"/>
    <p:sldId id="424" r:id="rId26"/>
    <p:sldId id="542" r:id="rId27"/>
    <p:sldId id="545" r:id="rId28"/>
    <p:sldId id="546" r:id="rId29"/>
    <p:sldId id="482" r:id="rId30"/>
    <p:sldId id="662" r:id="rId31"/>
    <p:sldId id="483" r:id="rId32"/>
    <p:sldId id="486" r:id="rId33"/>
    <p:sldId id="663" r:id="rId34"/>
    <p:sldId id="547" r:id="rId35"/>
    <p:sldId id="588" r:id="rId36"/>
    <p:sldId id="507" r:id="rId37"/>
    <p:sldId id="768" r:id="rId38"/>
    <p:sldId id="769" r:id="rId39"/>
    <p:sldId id="783" r:id="rId40"/>
    <p:sldId id="784" r:id="rId41"/>
    <p:sldId id="439" r:id="rId42"/>
    <p:sldId id="441" r:id="rId43"/>
    <p:sldId id="492" r:id="rId44"/>
    <p:sldId id="550" r:id="rId45"/>
    <p:sldId id="442" r:id="rId46"/>
    <p:sldId id="443" r:id="rId47"/>
    <p:sldId id="444" r:id="rId48"/>
    <p:sldId id="785" r:id="rId49"/>
    <p:sldId id="786" r:id="rId50"/>
    <p:sldId id="787" r:id="rId51"/>
    <p:sldId id="788" r:id="rId52"/>
    <p:sldId id="789" r:id="rId53"/>
    <p:sldId id="794" r:id="rId54"/>
    <p:sldId id="548" r:id="rId55"/>
    <p:sldId id="591" r:id="rId56"/>
    <p:sldId id="592" r:id="rId57"/>
    <p:sldId id="496" r:id="rId58"/>
    <p:sldId id="590" r:id="rId59"/>
    <p:sldId id="761" r:id="rId60"/>
    <p:sldId id="625" r:id="rId61"/>
    <p:sldId id="627" r:id="rId62"/>
    <p:sldId id="652" r:id="rId63"/>
    <p:sldId id="779" r:id="rId64"/>
    <p:sldId id="772" r:id="rId65"/>
    <p:sldId id="743" r:id="rId66"/>
    <p:sldId id="653" r:id="rId67"/>
    <p:sldId id="744" r:id="rId68"/>
    <p:sldId id="745" r:id="rId69"/>
    <p:sldId id="650" r:id="rId70"/>
    <p:sldId id="655" r:id="rId71"/>
    <p:sldId id="657" r:id="rId72"/>
    <p:sldId id="651" r:id="rId73"/>
    <p:sldId id="791" r:id="rId74"/>
    <p:sldId id="792" r:id="rId75"/>
    <p:sldId id="793" r:id="rId76"/>
    <p:sldId id="781" r:id="rId77"/>
    <p:sldId id="782" r:id="rId78"/>
    <p:sldId id="503" r:id="rId79"/>
    <p:sldId id="664" r:id="rId80"/>
    <p:sldId id="504" r:id="rId81"/>
    <p:sldId id="505" r:id="rId82"/>
    <p:sldId id="506" r:id="rId83"/>
    <p:sldId id="671" r:id="rId84"/>
    <p:sldId id="508" r:id="rId85"/>
    <p:sldId id="751" r:id="rId86"/>
    <p:sldId id="795" r:id="rId87"/>
    <p:sldId id="467" r:id="rId88"/>
    <p:sldId id="752" r:id="rId89"/>
    <p:sldId id="673" r:id="rId90"/>
    <p:sldId id="753" r:id="rId91"/>
    <p:sldId id="672" r:id="rId92"/>
    <p:sldId id="466" r:id="rId93"/>
    <p:sldId id="748" r:id="rId94"/>
    <p:sldId id="749" r:id="rId95"/>
    <p:sldId id="511" r:id="rId96"/>
    <p:sldId id="724" r:id="rId97"/>
    <p:sldId id="725" r:id="rId98"/>
    <p:sldId id="756" r:id="rId99"/>
    <p:sldId id="760" r:id="rId100"/>
    <p:sldId id="726" r:id="rId101"/>
    <p:sldId id="727" r:id="rId102"/>
    <p:sldId id="728" r:id="rId103"/>
    <p:sldId id="755" r:id="rId104"/>
    <p:sldId id="754" r:id="rId105"/>
    <p:sldId id="729" r:id="rId106"/>
    <p:sldId id="731" r:id="rId10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1">
          <p15:clr>
            <a:srgbClr val="A4A3A4"/>
          </p15:clr>
        </p15:guide>
        <p15:guide id="2" pos="275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08000"/>
    <a:srgbClr val="4C34FE"/>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0"/>
    <p:restoredTop sz="94015" autoAdjust="0"/>
  </p:normalViewPr>
  <p:slideViewPr>
    <p:cSldViewPr showGuides="1">
      <p:cViewPr varScale="1">
        <p:scale>
          <a:sx n="131" d="100"/>
          <a:sy n="131" d="100"/>
        </p:scale>
        <p:origin x="888" y="184"/>
      </p:cViewPr>
      <p:guideLst>
        <p:guide orient="horz" pos="2101"/>
        <p:guide pos="2754"/>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F4ED8D9F-F1CC-457F-B53E-9E8B8AA2F3D9}"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913440"/>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7660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49768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848409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79484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821185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25429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9417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2534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08620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3858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30696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28592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24424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01363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35194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281934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0"/>
          <p:cNvPicPr>
            <a:picLocks noChangeAspect="1"/>
          </p:cNvPicPr>
          <p:nvPr/>
        </p:nvPicPr>
        <p:blipFill>
          <a:blip r:embed="rId2" cstate="print"/>
          <a:stretch>
            <a:fillRect/>
          </a:stretch>
        </p:blipFill>
        <p:spPr>
          <a:xfrm>
            <a:off x="0" y="5359400"/>
            <a:ext cx="9144000" cy="1498600"/>
          </a:xfrm>
          <a:prstGeom prst="rect">
            <a:avLst/>
          </a:prstGeom>
          <a:noFill/>
          <a:ln w="9525">
            <a:noFill/>
          </a:ln>
        </p:spPr>
      </p:pic>
      <p:grpSp>
        <p:nvGrpSpPr>
          <p:cNvPr id="2051" name="Group 2"/>
          <p:cNvGrpSpPr/>
          <p:nvPr/>
        </p:nvGrpSpPr>
        <p:grpSpPr>
          <a:xfrm>
            <a:off x="0" y="0"/>
            <a:ext cx="9144000" cy="1123950"/>
            <a:chOff x="0" y="0"/>
            <a:chExt cx="5760" cy="708"/>
          </a:xfrm>
        </p:grpSpPr>
        <p:pic>
          <p:nvPicPr>
            <p:cNvPr id="2054" name="Picture 3" descr="2"/>
            <p:cNvPicPr>
              <a:picLocks noChangeAspect="1"/>
            </p:cNvPicPr>
            <p:nvPr userDrawn="1"/>
          </p:nvPicPr>
          <p:blipFill>
            <a:blip r:embed="rId3" cstate="print"/>
            <a:stretch>
              <a:fillRect/>
            </a:stretch>
          </p:blipFill>
          <p:spPr>
            <a:xfrm>
              <a:off x="0" y="0"/>
              <a:ext cx="5760" cy="599"/>
            </a:xfrm>
            <a:prstGeom prst="rect">
              <a:avLst/>
            </a:prstGeom>
            <a:noFill/>
            <a:ln w="9525">
              <a:noFill/>
            </a:ln>
          </p:spPr>
        </p:pic>
        <p:sp>
          <p:nvSpPr>
            <p:cNvPr id="13" name="Rectangle 4"/>
            <p:cNvSpPr>
              <a:spLocks noChangeArrowheads="1"/>
            </p:cNvSpPr>
            <p:nvPr/>
          </p:nvSpPr>
          <p:spPr bwMode="auto">
            <a:xfrm>
              <a:off x="0" y="0"/>
              <a:ext cx="5760" cy="255"/>
            </a:xfrm>
            <a:prstGeom prst="rect">
              <a:avLst/>
            </a:prstGeom>
            <a:gradFill rotWithShape="1">
              <a:gsLst>
                <a:gs pos="0">
                  <a:schemeClr val="bg1">
                    <a:alpha val="34000"/>
                  </a:schemeClr>
                </a:gs>
                <a:gs pos="100000">
                  <a:schemeClr val="bg1">
                    <a:alpha val="4999"/>
                  </a:schemeClr>
                </a:gs>
              </a:gsLst>
              <a:lin ang="54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pic>
          <p:nvPicPr>
            <p:cNvPr id="2" name="Picture 5" descr="投影2"/>
            <p:cNvPicPr>
              <a:picLocks noChangeAspect="1"/>
            </p:cNvPicPr>
            <p:nvPr userDrawn="1"/>
          </p:nvPicPr>
          <p:blipFill>
            <a:blip r:embed="rId4" cstate="print"/>
            <a:stretch>
              <a:fillRect/>
            </a:stretch>
          </p:blipFill>
          <p:spPr>
            <a:xfrm>
              <a:off x="0" y="456"/>
              <a:ext cx="5340" cy="252"/>
            </a:xfrm>
            <a:prstGeom prst="rect">
              <a:avLst/>
            </a:prstGeom>
            <a:noFill/>
            <a:ln w="9525">
              <a:noFill/>
            </a:ln>
          </p:spPr>
        </p:pic>
      </p:grpSp>
      <p:sp>
        <p:nvSpPr>
          <p:cNvPr id="2055" name="Rectangle 27"/>
          <p:cNvSpPr>
            <a:spLocks noGrp="1" noChangeArrowheads="1"/>
          </p:cNvSpPr>
          <p:nvPr>
            <p:ph type="ctrTitle"/>
          </p:nvPr>
        </p:nvSpPr>
        <p:spPr>
          <a:xfrm>
            <a:off x="1907704" y="1916832"/>
            <a:ext cx="5399087" cy="1079500"/>
          </a:xfrm>
        </p:spPr>
        <p:txBody>
          <a:bodyPr/>
          <a:lstStyle>
            <a:lvl1pPr algn="ctr">
              <a:defRPr sz="4400">
                <a:solidFill>
                  <a:schemeClr val="tx1"/>
                </a:solidFill>
              </a:defRPr>
            </a:lvl1pPr>
          </a:lstStyle>
          <a:p>
            <a:r>
              <a:rPr lang="zh-CN" altLang="en-US" dirty="0"/>
              <a:t>单击此处编辑母版标题样式</a:t>
            </a:r>
            <a:endParaRPr lang="zh-CN" dirty="0"/>
          </a:p>
        </p:txBody>
      </p:sp>
      <p:sp>
        <p:nvSpPr>
          <p:cNvPr id="2056" name="Rectangle 31"/>
          <p:cNvSpPr>
            <a:spLocks noGrp="1" noChangeArrowheads="1"/>
          </p:cNvSpPr>
          <p:nvPr>
            <p:ph type="subTitle" idx="1"/>
          </p:nvPr>
        </p:nvSpPr>
        <p:spPr>
          <a:xfrm>
            <a:off x="1907704" y="3428380"/>
            <a:ext cx="5400675" cy="600075"/>
          </a:xfrm>
        </p:spPr>
        <p:txBody>
          <a:bodyPr/>
          <a:lstStyle>
            <a:lvl1pPr marL="0" indent="0" algn="ctr">
              <a:buFont typeface="Wingdings" panose="05000000000000000000" pitchFamily="2" charset="2"/>
              <a:buNone/>
              <a:defRPr sz="3600"/>
            </a:lvl1pPr>
          </a:lstStyle>
          <a:p>
            <a:r>
              <a:rPr lang="zh-CN" altLang="en-US" dirty="0"/>
              <a:t>单击此处编辑母版副标题样式</a:t>
            </a:r>
            <a:endParaRPr 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10" name="TextBox 9"/>
          <p:cNvSpPr txBox="1">
            <a:spLocks noChangeArrowheads="1"/>
          </p:cNvSpPr>
          <p:nvPr/>
        </p:nvSpPr>
        <p:spPr bwMode="auto">
          <a:xfrm>
            <a:off x="3132138" y="6381750"/>
            <a:ext cx="3168650" cy="3079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accent1"/>
                </a:solidFill>
                <a:effectLst/>
                <a:uLnTx/>
                <a:uFillTx/>
                <a:latin typeface="Arial" panose="020B0604020202020204" pitchFamily="34" charset="0"/>
                <a:ea typeface="华文细黑" panose="02010600040101010101" pitchFamily="2" charset="-122"/>
                <a:cs typeface="+mn-cs"/>
              </a:rPr>
              <a:t>信息技术学院 于文</a:t>
            </a:r>
          </a:p>
        </p:txBody>
      </p:sp>
      <p:sp>
        <p:nvSpPr>
          <p:cNvPr id="2" name="标题 1"/>
          <p:cNvSpPr>
            <a:spLocks noGrp="1"/>
          </p:cNvSpPr>
          <p:nvPr>
            <p:ph type="title"/>
          </p:nvPr>
        </p:nvSpPr>
        <p:spPr/>
        <p:txBody>
          <a:bodyPr/>
          <a:lstStyle>
            <a:lvl1pPr>
              <a:defRPr>
                <a:solidFill>
                  <a:srgbClr val="FFFF00"/>
                </a:solidFill>
              </a:defRPr>
            </a:lvl1pPr>
          </a:lstStyle>
          <a:p>
            <a:r>
              <a:rPr lang="zh-CN" altLang="en-US" dirty="0"/>
              <a:t>单击此处编辑母版标题样式</a:t>
            </a:r>
          </a:p>
        </p:txBody>
      </p:sp>
      <p:sp>
        <p:nvSpPr>
          <p:cNvPr id="3" name="内容占位符 2"/>
          <p:cNvSpPr>
            <a:spLocks noGrp="1"/>
          </p:cNvSpPr>
          <p:nvPr>
            <p:ph idx="1"/>
          </p:nvPr>
        </p:nvSpPr>
        <p:spPr/>
        <p:txBody>
          <a:bodyPr/>
          <a:lstStyle>
            <a:lvl1pPr>
              <a:spcBef>
                <a:spcPts val="600"/>
              </a:spcBef>
              <a:spcAft>
                <a:spcPts val="600"/>
              </a:spcAft>
              <a:defRPr/>
            </a:lvl1pPr>
            <a:lvl2pPr>
              <a:spcBef>
                <a:spcPts val="600"/>
              </a:spcBef>
              <a:spcAft>
                <a:spcPts val="600"/>
              </a:spcAft>
              <a:defRPr/>
            </a:lvl2pPr>
            <a:lvl3pPr>
              <a:spcBef>
                <a:spcPts val="600"/>
              </a:spcBef>
              <a:spcAft>
                <a:spcPts val="600"/>
              </a:spcAft>
              <a:defRPr/>
            </a:lvl3pPr>
            <a:lvl4pPr>
              <a:spcBef>
                <a:spcPts val="600"/>
              </a:spcBef>
              <a:spcAft>
                <a:spcPts val="600"/>
              </a:spcAft>
              <a:defRPr/>
            </a:lvl4pPr>
            <a:lvl5pPr>
              <a:spcBef>
                <a:spcPts val="600"/>
              </a:spcBef>
              <a:spcAft>
                <a:spcPts val="600"/>
              </a:spcAf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Rectangle 8"/>
          <p:cNvSpPr>
            <a:spLocks noGrp="1" noChangeArrowheads="1"/>
          </p:cNvSpPr>
          <p:nvPr>
            <p:ph type="sldNum" sz="quarter" idx="4"/>
          </p:nvPr>
        </p:nvSpPr>
        <p:spPr bwMode="auto">
          <a:xfrm>
            <a:off x="7235825" y="6453188"/>
            <a:ext cx="1439863" cy="1968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sp>
        <p:nvSpPr>
          <p:cNvPr id="10" name="TextBox 9"/>
          <p:cNvSpPr txBox="1">
            <a:spLocks noChangeArrowheads="1"/>
          </p:cNvSpPr>
          <p:nvPr/>
        </p:nvSpPr>
        <p:spPr bwMode="auto">
          <a:xfrm>
            <a:off x="3132138" y="6381750"/>
            <a:ext cx="3168650" cy="3079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accent1"/>
                </a:solidFill>
                <a:effectLst/>
                <a:uLnTx/>
                <a:uFillTx/>
                <a:latin typeface="Arial" panose="020B0604020202020204" pitchFamily="34" charset="0"/>
                <a:ea typeface="华文细黑" panose="02010600040101010101" pitchFamily="2" charset="-122"/>
                <a:cs typeface="+mn-cs"/>
              </a:rPr>
              <a:t>信息技术学院 于文</a:t>
            </a:r>
          </a:p>
        </p:txBody>
      </p:sp>
      <p:sp>
        <p:nvSpPr>
          <p:cNvPr id="3" name="文本占位符 2"/>
          <p:cNvSpPr>
            <a:spLocks noGrp="1"/>
          </p:cNvSpPr>
          <p:nvPr>
            <p:ph type="body" idx="1"/>
          </p:nvPr>
        </p:nvSpPr>
        <p:spPr>
          <a:xfrm>
            <a:off x="683568" y="2276872"/>
            <a:ext cx="7772400" cy="2466503"/>
          </a:xfrm>
        </p:spPr>
        <p:txBody>
          <a:bodyPr anchor="ctr"/>
          <a:lstStyle>
            <a:lvl1pPr marL="0" indent="0" algn="ctr">
              <a:buNone/>
              <a:defRPr sz="4000">
                <a:latin typeface="+mj-ea"/>
                <a:ea typeface="+mj-ea"/>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11" name="Rectangle 8"/>
          <p:cNvSpPr>
            <a:spLocks noGrp="1" noChangeArrowheads="1"/>
          </p:cNvSpPr>
          <p:nvPr>
            <p:ph type="sldNum" sz="quarter" idx="4"/>
          </p:nvPr>
        </p:nvSpPr>
        <p:spPr bwMode="auto">
          <a:xfrm>
            <a:off x="7235825" y="6453188"/>
            <a:ext cx="1439863" cy="1968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B0764B98-D2CB-4555-8042-56FC0892E24D}"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125538"/>
            <a:ext cx="4027487" cy="5162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25538"/>
            <a:ext cx="4027488" cy="5162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82352"/>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3200" b="0" i="0" u="none" strike="noStrike" kern="0" cap="none" spc="0" normalizeH="0" baseline="0" noProof="0">
                <a:ln>
                  <a:noFill/>
                </a:ln>
                <a:solidFill>
                  <a:schemeClr val="tx1"/>
                </a:solidFill>
                <a:effectLst/>
                <a:uLnTx/>
                <a:uFillTx/>
                <a:latin typeface="+mn-lt"/>
                <a:ea typeface="+mn-ea"/>
                <a:cs typeface="+mn-cs"/>
              </a:rPr>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971600" y="315913"/>
            <a:ext cx="6121350" cy="592137"/>
          </a:xfrm>
        </p:spPr>
        <p:txBody>
          <a:bodyPr/>
          <a:lstStyle/>
          <a:p>
            <a:r>
              <a:rPr lang="zh-CN" altLang="en-US"/>
              <a:t>单击此处编辑母版标题样式</a:t>
            </a:r>
          </a:p>
        </p:txBody>
      </p:sp>
      <p:sp>
        <p:nvSpPr>
          <p:cNvPr id="3" name="图表占位符 2"/>
          <p:cNvSpPr>
            <a:spLocks noGrp="1"/>
          </p:cNvSpPr>
          <p:nvPr>
            <p:ph type="chart" idx="1" hasCustomPrompt="1"/>
          </p:nvPr>
        </p:nvSpPr>
        <p:spPr>
          <a:xfrm>
            <a:off x="468313" y="1125538"/>
            <a:ext cx="8207375" cy="51625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uLnTx/>
                <a:uFillTx/>
                <a:latin typeface="+mn-lt"/>
                <a:ea typeface="+mn-ea"/>
                <a:cs typeface="+mn-cs"/>
              </a:rPr>
              <a:t>单击图标添加图表</a:t>
            </a: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bl" preserve="1">
  <p:cSld name="课件">
    <p:spTree>
      <p:nvGrpSpPr>
        <p:cNvPr id="1" name=""/>
        <p:cNvGrpSpPr/>
        <p:nvPr/>
      </p:nvGrpSpPr>
      <p:grpSpPr>
        <a:xfrm>
          <a:off x="0" y="0"/>
          <a:ext cx="0" cy="0"/>
          <a:chOff x="0" y="0"/>
          <a:chExt cx="0" cy="0"/>
        </a:xfrm>
      </p:grpSpPr>
      <p:sp>
        <p:nvSpPr>
          <p:cNvPr id="2" name="标题 1"/>
          <p:cNvSpPr>
            <a:spLocks noGrp="1"/>
          </p:cNvSpPr>
          <p:nvPr>
            <p:ph type="title"/>
          </p:nvPr>
        </p:nvSpPr>
        <p:spPr>
          <a:xfrm>
            <a:off x="971600" y="315913"/>
            <a:ext cx="6121350" cy="592137"/>
          </a:xfrm>
        </p:spPr>
        <p:txBody>
          <a:bodyPr/>
          <a:lstStyle/>
          <a:p>
            <a:r>
              <a:rPr lang="zh-CN" altLang="en-US"/>
              <a:t>单击此处编辑母版标题样式</a:t>
            </a:r>
            <a:endParaRPr lang="zh-CN" altLang="en-US" dirty="0"/>
          </a:p>
        </p:txBody>
      </p:sp>
      <p:sp>
        <p:nvSpPr>
          <p:cNvPr id="3" name="表格占位符 2"/>
          <p:cNvSpPr>
            <a:spLocks noGrp="1"/>
          </p:cNvSpPr>
          <p:nvPr>
            <p:ph type="tbl" idx="1" hasCustomPrompt="1"/>
          </p:nvPr>
        </p:nvSpPr>
        <p:spPr>
          <a:xfrm>
            <a:off x="468313" y="1125538"/>
            <a:ext cx="8207375" cy="51625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n"/>
              <a:defRPr/>
            </a:pPr>
            <a:r>
              <a:rPr kumimoji="0" lang="zh-CN" altLang="en-US" sz="3200" b="0" i="0" u="none" strike="noStrike" kern="0" cap="none" spc="0" normalizeH="0" baseline="0" noProof="0">
                <a:ln>
                  <a:noFill/>
                </a:ln>
                <a:solidFill>
                  <a:schemeClr val="tx1"/>
                </a:solidFill>
                <a:effectLst/>
                <a:uLnTx/>
                <a:uFillTx/>
                <a:latin typeface="+mn-lt"/>
                <a:ea typeface="+mn-ea"/>
                <a:cs typeface="+mn-cs"/>
              </a:rPr>
              <a:t>单击图标添加表格</a:t>
            </a: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359400"/>
            <a:ext cx="914400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2"/>
          <p:cNvGrpSpPr>
            <a:grpSpLocks/>
          </p:cNvGrpSpPr>
          <p:nvPr/>
        </p:nvGrpSpPr>
        <p:grpSpPr bwMode="auto">
          <a:xfrm>
            <a:off x="0" y="0"/>
            <a:ext cx="9144000" cy="1123950"/>
            <a:chOff x="0" y="0"/>
            <a:chExt cx="5760" cy="708"/>
          </a:xfrm>
        </p:grpSpPr>
        <p:pic>
          <p:nvPicPr>
            <p:cNvPr id="6" name="Picture 3" descr="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0"/>
              <a:ext cx="5760"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p:cNvSpPr>
              <a:spLocks noChangeArrowheads="1"/>
            </p:cNvSpPr>
            <p:nvPr/>
          </p:nvSpPr>
          <p:spPr bwMode="auto">
            <a:xfrm>
              <a:off x="0" y="0"/>
              <a:ext cx="5760" cy="255"/>
            </a:xfrm>
            <a:prstGeom prst="rect">
              <a:avLst/>
            </a:prstGeom>
            <a:gradFill rotWithShape="1">
              <a:gsLst>
                <a:gs pos="0">
                  <a:schemeClr val="bg1">
                    <a:alpha val="34000"/>
                  </a:schemeClr>
                </a:gs>
                <a:gs pos="100000">
                  <a:schemeClr val="bg1">
                    <a:alpha val="4999"/>
                  </a:scheme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00"/>
                </a:solidFill>
                <a:ea typeface="华文细黑" panose="02010600040101010101" pitchFamily="2" charset="-122"/>
              </a:endParaRPr>
            </a:p>
          </p:txBody>
        </p:sp>
        <p:pic>
          <p:nvPicPr>
            <p:cNvPr id="8" name="Picture 5" descr="投影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456"/>
              <a:ext cx="5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5" name="Rectangle 27"/>
          <p:cNvSpPr>
            <a:spLocks noGrp="1" noChangeArrowheads="1"/>
          </p:cNvSpPr>
          <p:nvPr>
            <p:ph type="ctrTitle"/>
          </p:nvPr>
        </p:nvSpPr>
        <p:spPr>
          <a:xfrm>
            <a:off x="1872456" y="2615406"/>
            <a:ext cx="5399087" cy="1079500"/>
          </a:xfrm>
        </p:spPr>
        <p:txBody>
          <a:bodyPr/>
          <a:lstStyle>
            <a:lvl1pPr algn="ctr">
              <a:defRPr sz="4400">
                <a:solidFill>
                  <a:schemeClr val="tx1"/>
                </a:solidFill>
              </a:defRPr>
            </a:lvl1pPr>
          </a:lstStyle>
          <a:p>
            <a:r>
              <a:rPr lang="zh-CN" altLang="en-US" noProof="1"/>
              <a:t>单击此处编辑母版标题样式</a:t>
            </a:r>
            <a:endParaRPr lang="zh-CN" noProof="1"/>
          </a:p>
        </p:txBody>
      </p:sp>
    </p:spTree>
    <p:extLst>
      <p:ext uri="{BB962C8B-B14F-4D97-AF65-F5344CB8AC3E}">
        <p14:creationId xmlns:p14="http://schemas.microsoft.com/office/powerpoint/2010/main" val="241763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a:xfrm>
            <a:off x="0" y="0"/>
            <a:ext cx="9144000" cy="1123950"/>
            <a:chOff x="0" y="0"/>
            <a:chExt cx="5760" cy="708"/>
          </a:xfrm>
        </p:grpSpPr>
        <p:pic>
          <p:nvPicPr>
            <p:cNvPr id="1031" name="Picture 3" descr="2"/>
            <p:cNvPicPr>
              <a:picLocks noChangeAspect="1"/>
            </p:cNvPicPr>
            <p:nvPr userDrawn="1"/>
          </p:nvPicPr>
          <p:blipFill>
            <a:blip r:embed="rId12" cstate="print"/>
            <a:stretch>
              <a:fillRect/>
            </a:stretch>
          </p:blipFill>
          <p:spPr>
            <a:xfrm>
              <a:off x="0" y="0"/>
              <a:ext cx="5760" cy="599"/>
            </a:xfrm>
            <a:prstGeom prst="rect">
              <a:avLst/>
            </a:prstGeom>
            <a:noFill/>
            <a:ln w="9525">
              <a:noFill/>
            </a:ln>
          </p:spPr>
        </p:pic>
        <p:sp>
          <p:nvSpPr>
            <p:cNvPr id="2" name="Rectangle 4"/>
            <p:cNvSpPr>
              <a:spLocks noChangeArrowheads="1"/>
            </p:cNvSpPr>
            <p:nvPr/>
          </p:nvSpPr>
          <p:spPr bwMode="auto">
            <a:xfrm>
              <a:off x="0" y="0"/>
              <a:ext cx="5760" cy="255"/>
            </a:xfrm>
            <a:prstGeom prst="rect">
              <a:avLst/>
            </a:prstGeom>
            <a:gradFill rotWithShape="1">
              <a:gsLst>
                <a:gs pos="0">
                  <a:schemeClr val="bg1">
                    <a:alpha val="34000"/>
                  </a:schemeClr>
                </a:gs>
                <a:gs pos="100000">
                  <a:schemeClr val="bg1">
                    <a:alpha val="4999"/>
                  </a:schemeClr>
                </a:gs>
              </a:gsLst>
              <a:lin ang="54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pic>
          <p:nvPicPr>
            <p:cNvPr id="1033" name="Picture 5" descr="投影2"/>
            <p:cNvPicPr>
              <a:picLocks noChangeAspect="1"/>
            </p:cNvPicPr>
            <p:nvPr userDrawn="1"/>
          </p:nvPicPr>
          <p:blipFill>
            <a:blip r:embed="rId13" cstate="print"/>
            <a:stretch>
              <a:fillRect/>
            </a:stretch>
          </p:blipFill>
          <p:spPr>
            <a:xfrm>
              <a:off x="0" y="456"/>
              <a:ext cx="5340" cy="252"/>
            </a:xfrm>
            <a:prstGeom prst="rect">
              <a:avLst/>
            </a:prstGeom>
            <a:noFill/>
            <a:ln w="9525">
              <a:noFill/>
            </a:ln>
          </p:spPr>
        </p:pic>
      </p:grpSp>
      <p:sp>
        <p:nvSpPr>
          <p:cNvPr id="1027" name="Rectangle 31"/>
          <p:cNvSpPr>
            <a:spLocks noGrp="1"/>
          </p:cNvSpPr>
          <p:nvPr>
            <p:ph type="body" idx="1"/>
          </p:nvPr>
        </p:nvSpPr>
        <p:spPr>
          <a:xfrm>
            <a:off x="468313" y="1125538"/>
            <a:ext cx="8207375" cy="5162550"/>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p:txBody>
      </p:sp>
      <p:sp>
        <p:nvSpPr>
          <p:cNvPr id="1032" name="Rectangle 8"/>
          <p:cNvSpPr>
            <a:spLocks noGrp="1" noChangeArrowheads="1"/>
          </p:cNvSpPr>
          <p:nvPr>
            <p:ph type="sldNum" sz="quarter" idx="4"/>
          </p:nvPr>
        </p:nvSpPr>
        <p:spPr bwMode="auto">
          <a:xfrm>
            <a:off x="7235825" y="6453188"/>
            <a:ext cx="1439863" cy="196850"/>
          </a:xfrm>
          <a:prstGeom prst="rect">
            <a:avLst/>
          </a:prstGeom>
          <a:noFill/>
          <a:ln w="9525">
            <a:noFill/>
            <a:miter lim="800000"/>
          </a:ln>
          <a:effectLst/>
        </p:spPr>
        <p:txBody>
          <a:bodyPr vert="horz" wrap="square" lIns="91440" tIns="45720" rIns="91440" bIns="45720" numCol="1" anchor="t" anchorCtr="0" compatLnSpc="1"/>
          <a:lstStyle>
            <a:lvl1pPr algn="r">
              <a:defRPr sz="1000" b="1">
                <a:ea typeface="华文细黑" panose="0201060004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1029" name="Rectangle 27"/>
          <p:cNvSpPr>
            <a:spLocks noGrp="1"/>
          </p:cNvSpPr>
          <p:nvPr>
            <p:ph type="title"/>
          </p:nvPr>
        </p:nvSpPr>
        <p:spPr>
          <a:xfrm>
            <a:off x="971550" y="315913"/>
            <a:ext cx="7704138" cy="592137"/>
          </a:xfrm>
          <a:prstGeom prst="rect">
            <a:avLst/>
          </a:prstGeom>
          <a:noFill/>
          <a:ln w="9525">
            <a:noFill/>
          </a:ln>
        </p:spPr>
        <p:txBody>
          <a:bodyPr anchor="ctr"/>
          <a:lstStyle/>
          <a:p>
            <a:pPr lvl="0"/>
            <a:r>
              <a:rPr lang="zh-CN" altLang="zh-CN" dirty="0"/>
              <a:t>单击此处编辑母版标题样式</a:t>
            </a:r>
          </a:p>
        </p:txBody>
      </p:sp>
      <p:pic>
        <p:nvPicPr>
          <p:cNvPr id="1030" name="Picture 10" descr="北京师范大学珠海分校标志"/>
          <p:cNvPicPr>
            <a:picLocks noChangeAspect="1"/>
          </p:cNvPicPr>
          <p:nvPr/>
        </p:nvPicPr>
        <p:blipFill>
          <a:blip r:embed="rId14" cstate="print"/>
          <a:stretch>
            <a:fillRect/>
          </a:stretch>
        </p:blipFill>
        <p:spPr>
          <a:xfrm>
            <a:off x="0" y="0"/>
            <a:ext cx="971550" cy="9080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rtl="0" eaLnBrk="0" fontAlgn="base" hangingPunct="0">
        <a:spcBef>
          <a:spcPct val="0"/>
        </a:spcBef>
        <a:spcAft>
          <a:spcPct val="0"/>
        </a:spcAft>
        <a:defRPr sz="4000">
          <a:solidFill>
            <a:srgbClr val="FFFF00"/>
          </a:solidFill>
          <a:latin typeface="+mj-lt"/>
          <a:ea typeface="+mj-ea"/>
          <a:cs typeface="+mj-cs"/>
        </a:defRPr>
      </a:lvl1pPr>
      <a:lvl2pPr algn="l" rtl="0" eaLnBrk="0" fontAlgn="base" hangingPunct="0">
        <a:spcBef>
          <a:spcPct val="0"/>
        </a:spcBef>
        <a:spcAft>
          <a:spcPct val="0"/>
        </a:spcAft>
        <a:defRPr sz="4000">
          <a:solidFill>
            <a:srgbClr val="FFFF00"/>
          </a:solidFill>
          <a:latin typeface="Arial" panose="020B0604020202020204" pitchFamily="34" charset="0"/>
          <a:ea typeface="华文细黑" panose="02010600040101010101" pitchFamily="2" charset="-122"/>
        </a:defRPr>
      </a:lvl2pPr>
      <a:lvl3pPr algn="l" rtl="0" eaLnBrk="0" fontAlgn="base" hangingPunct="0">
        <a:spcBef>
          <a:spcPct val="0"/>
        </a:spcBef>
        <a:spcAft>
          <a:spcPct val="0"/>
        </a:spcAft>
        <a:defRPr sz="4000">
          <a:solidFill>
            <a:srgbClr val="FFFF00"/>
          </a:solidFill>
          <a:latin typeface="Arial" panose="020B0604020202020204" pitchFamily="34" charset="0"/>
          <a:ea typeface="华文细黑" panose="02010600040101010101" pitchFamily="2" charset="-122"/>
        </a:defRPr>
      </a:lvl3pPr>
      <a:lvl4pPr algn="l" rtl="0" eaLnBrk="0" fontAlgn="base" hangingPunct="0">
        <a:spcBef>
          <a:spcPct val="0"/>
        </a:spcBef>
        <a:spcAft>
          <a:spcPct val="0"/>
        </a:spcAft>
        <a:defRPr sz="4000">
          <a:solidFill>
            <a:srgbClr val="FFFF00"/>
          </a:solidFill>
          <a:latin typeface="Arial" panose="020B0604020202020204" pitchFamily="34" charset="0"/>
          <a:ea typeface="华文细黑" panose="02010600040101010101" pitchFamily="2" charset="-122"/>
        </a:defRPr>
      </a:lvl4pPr>
      <a:lvl5pPr algn="l" rtl="0" eaLnBrk="0" fontAlgn="base" hangingPunct="0">
        <a:spcBef>
          <a:spcPct val="0"/>
        </a:spcBef>
        <a:spcAft>
          <a:spcPct val="0"/>
        </a:spcAft>
        <a:defRPr sz="4000">
          <a:solidFill>
            <a:srgbClr val="FFFF00"/>
          </a:solidFill>
          <a:latin typeface="Arial" panose="020B0604020202020204" pitchFamily="34" charset="0"/>
          <a:ea typeface="华文细黑" panose="02010600040101010101" pitchFamily="2" charset="-122"/>
        </a:defRPr>
      </a:lvl5pPr>
      <a:lvl6pPr marL="457200" algn="l" rtl="0" eaLnBrk="1" fontAlgn="base" hangingPunct="1">
        <a:spcBef>
          <a:spcPct val="0"/>
        </a:spcBef>
        <a:spcAft>
          <a:spcPct val="0"/>
        </a:spcAft>
        <a:defRPr sz="2400">
          <a:solidFill>
            <a:schemeClr val="bg1"/>
          </a:solidFill>
          <a:latin typeface="Arial" panose="020B0604020202020204" pitchFamily="34" charset="0"/>
          <a:ea typeface="华文细黑" panose="02010600040101010101" pitchFamily="2" charset="-122"/>
        </a:defRPr>
      </a:lvl6pPr>
      <a:lvl7pPr marL="914400" algn="l" rtl="0" eaLnBrk="1" fontAlgn="base" hangingPunct="1">
        <a:spcBef>
          <a:spcPct val="0"/>
        </a:spcBef>
        <a:spcAft>
          <a:spcPct val="0"/>
        </a:spcAft>
        <a:defRPr sz="2400">
          <a:solidFill>
            <a:schemeClr val="bg1"/>
          </a:solidFill>
          <a:latin typeface="Arial" panose="020B0604020202020204" pitchFamily="34" charset="0"/>
          <a:ea typeface="华文细黑" panose="02010600040101010101" pitchFamily="2" charset="-122"/>
        </a:defRPr>
      </a:lvl7pPr>
      <a:lvl8pPr marL="1371600" algn="l" rtl="0" eaLnBrk="1" fontAlgn="base" hangingPunct="1">
        <a:spcBef>
          <a:spcPct val="0"/>
        </a:spcBef>
        <a:spcAft>
          <a:spcPct val="0"/>
        </a:spcAft>
        <a:defRPr sz="2400">
          <a:solidFill>
            <a:schemeClr val="bg1"/>
          </a:solidFill>
          <a:latin typeface="Arial" panose="020B0604020202020204" pitchFamily="34" charset="0"/>
          <a:ea typeface="华文细黑" panose="02010600040101010101" pitchFamily="2" charset="-122"/>
        </a:defRPr>
      </a:lvl8pPr>
      <a:lvl9pPr marL="1828800" algn="l" rtl="0" eaLnBrk="1" fontAlgn="base" hangingPunct="1">
        <a:spcBef>
          <a:spcPct val="0"/>
        </a:spcBef>
        <a:spcAft>
          <a:spcPct val="0"/>
        </a:spcAft>
        <a:defRPr sz="2400">
          <a:solidFill>
            <a:schemeClr val="bg1"/>
          </a:solidFill>
          <a:latin typeface="Arial" panose="020B0604020202020204" pitchFamily="34"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6" Type="http://schemas.openxmlformats.org/officeDocument/2006/relationships/image" Target="../media/image6.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6.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1.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6.tmp"/><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tags" Target="../tags/tag4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image" Target="../media/image6.tmp"/><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19" Type="http://schemas.openxmlformats.org/officeDocument/2006/relationships/slideLayout" Target="../slideLayouts/slideLayout6.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39.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6.tmp"/><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slideLayout" Target="../slideLayouts/slideLayout6.xml"/><Relationship Id="rId5" Type="http://schemas.openxmlformats.org/officeDocument/2006/relationships/tags" Target="../tags/tag48.xml"/><Relationship Id="rId10" Type="http://schemas.openxmlformats.org/officeDocument/2006/relationships/tags" Target="../tags/tag53.xml"/><Relationship Id="rId4" Type="http://schemas.openxmlformats.org/officeDocument/2006/relationships/tags" Target="../tags/tag47.xml"/><Relationship Id="rId9" Type="http://schemas.openxmlformats.org/officeDocument/2006/relationships/tags" Target="../tags/tag52.xml"/></Relationships>
</file>

<file path=ppt/slides/_rels/slide40.xml.rels><?xml version="1.0" encoding="UTF-8" standalone="yes"?>
<Relationships xmlns="http://schemas.openxmlformats.org/package/2006/relationships"><Relationship Id="rId8" Type="http://schemas.openxmlformats.org/officeDocument/2006/relationships/tags" Target="../tags/tag61.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6.tmp"/><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slideLayout" Target="../slideLayouts/slideLayout6.xml"/><Relationship Id="rId5" Type="http://schemas.openxmlformats.org/officeDocument/2006/relationships/tags" Target="../tags/tag58.xml"/><Relationship Id="rId10" Type="http://schemas.openxmlformats.org/officeDocument/2006/relationships/tags" Target="../tags/tag63.xml"/><Relationship Id="rId4" Type="http://schemas.openxmlformats.org/officeDocument/2006/relationships/tags" Target="../tags/tag57.xml"/><Relationship Id="rId9" Type="http://schemas.openxmlformats.org/officeDocument/2006/relationships/tags" Target="../tags/tag6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tags" Target="../tags/tag8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image" Target="../media/image6.tmp"/><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tags" Target="../tags/tag78.xml"/><Relationship Id="rId10" Type="http://schemas.openxmlformats.org/officeDocument/2006/relationships/tags" Target="../tags/tag73.xml"/><Relationship Id="rId19" Type="http://schemas.openxmlformats.org/officeDocument/2006/relationships/slideLayout" Target="../slideLayouts/slideLayout6.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s>
</file>

<file path=ppt/slides/_rels/slide50.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tags" Target="../tags/tag99.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image" Target="../media/image6.tmp"/><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tags" Target="../tags/tag96.xml"/><Relationship Id="rId10" Type="http://schemas.openxmlformats.org/officeDocument/2006/relationships/tags" Target="../tags/tag91.xml"/><Relationship Id="rId19" Type="http://schemas.openxmlformats.org/officeDocument/2006/relationships/slideLayout" Target="../slideLayouts/slideLayout6.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s>
</file>

<file path=ppt/slides/_rels/slide51.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tags" Target="../tags/tag112.xml"/><Relationship Id="rId18" Type="http://schemas.openxmlformats.org/officeDocument/2006/relationships/tags" Target="../tags/tag117.xml"/><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tags" Target="../tags/tag111.xml"/><Relationship Id="rId17" Type="http://schemas.openxmlformats.org/officeDocument/2006/relationships/tags" Target="../tags/tag116.xml"/><Relationship Id="rId2" Type="http://schemas.openxmlformats.org/officeDocument/2006/relationships/tags" Target="../tags/tag101.xml"/><Relationship Id="rId16" Type="http://schemas.openxmlformats.org/officeDocument/2006/relationships/tags" Target="../tags/tag115.xml"/><Relationship Id="rId20" Type="http://schemas.openxmlformats.org/officeDocument/2006/relationships/image" Target="../media/image6.tmp"/><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5" Type="http://schemas.openxmlformats.org/officeDocument/2006/relationships/tags" Target="../tags/tag104.xml"/><Relationship Id="rId15" Type="http://schemas.openxmlformats.org/officeDocument/2006/relationships/tags" Target="../tags/tag114.xml"/><Relationship Id="rId10" Type="http://schemas.openxmlformats.org/officeDocument/2006/relationships/tags" Target="../tags/tag109.xml"/><Relationship Id="rId19" Type="http://schemas.openxmlformats.org/officeDocument/2006/relationships/slideLayout" Target="../slideLayouts/slideLayout6.xml"/><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tags" Target="../tags/tag113.xml"/></Relationships>
</file>

<file path=ppt/slides/_rels/slide52.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18" Type="http://schemas.openxmlformats.org/officeDocument/2006/relationships/tags" Target="../tags/tag135.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tags" Target="../tags/tag134.xml"/><Relationship Id="rId2" Type="http://schemas.openxmlformats.org/officeDocument/2006/relationships/tags" Target="../tags/tag119.xml"/><Relationship Id="rId16" Type="http://schemas.openxmlformats.org/officeDocument/2006/relationships/tags" Target="../tags/tag133.xml"/><Relationship Id="rId20" Type="http://schemas.openxmlformats.org/officeDocument/2006/relationships/image" Target="../media/image6.tmp"/><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tags" Target="../tags/tag132.xml"/><Relationship Id="rId10" Type="http://schemas.openxmlformats.org/officeDocument/2006/relationships/tags" Target="../tags/tag127.xml"/><Relationship Id="rId19" Type="http://schemas.openxmlformats.org/officeDocument/2006/relationships/slideLayout" Target="../slideLayouts/slideLayout6.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s>
</file>

<file path=ppt/slides/_rels/slide53.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slideLayout" Target="../slideLayouts/slideLayout6.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tags" Target="../tags/tag146.xml"/><Relationship Id="rId2" Type="http://schemas.openxmlformats.org/officeDocument/2006/relationships/tags" Target="../tags/tag136.xml"/><Relationship Id="rId16" Type="http://schemas.openxmlformats.org/officeDocument/2006/relationships/image" Target="../media/image6.tmp"/><Relationship Id="rId1" Type="http://schemas.openxmlformats.org/officeDocument/2006/relationships/vmlDrawing" Target="../drawings/vmlDrawing1.v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5" Type="http://schemas.openxmlformats.org/officeDocument/2006/relationships/image" Target="../media/image9.emf"/><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0.emf"/><Relationship Id="rId5" Type="http://schemas.openxmlformats.org/officeDocument/2006/relationships/oleObject" Target="../embeddings/oleObject4.bin"/><Relationship Id="rId4" Type="http://schemas.openxmlformats.org/officeDocument/2006/relationships/image" Target="../media/image11.w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1.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1.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8" Type="http://schemas.openxmlformats.org/officeDocument/2006/relationships/tags" Target="../tags/tag154.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image" Target="../media/image6.tmp"/><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slideLayout" Target="../slideLayouts/slideLayout6.xml"/><Relationship Id="rId5" Type="http://schemas.openxmlformats.org/officeDocument/2006/relationships/tags" Target="../tags/tag15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1.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2.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3.wmf"/></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8" Type="http://schemas.openxmlformats.org/officeDocument/2006/relationships/tags" Target="../tags/tag164.xml"/><Relationship Id="rId3" Type="http://schemas.openxmlformats.org/officeDocument/2006/relationships/tags" Target="../tags/tag159.xml"/><Relationship Id="rId7" Type="http://schemas.openxmlformats.org/officeDocument/2006/relationships/tags" Target="../tags/tag163.xml"/><Relationship Id="rId12" Type="http://schemas.openxmlformats.org/officeDocument/2006/relationships/image" Target="../media/image6.tmp"/><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slideLayout" Target="../slideLayouts/slideLayout6.xml"/><Relationship Id="rId5" Type="http://schemas.openxmlformats.org/officeDocument/2006/relationships/tags" Target="../tags/tag161.xml"/><Relationship Id="rId10" Type="http://schemas.openxmlformats.org/officeDocument/2006/relationships/tags" Target="../tags/tag166.xml"/><Relationship Id="rId4" Type="http://schemas.openxmlformats.org/officeDocument/2006/relationships/tags" Target="../tags/tag160.xml"/><Relationship Id="rId9" Type="http://schemas.openxmlformats.org/officeDocument/2006/relationships/tags" Target="../tags/tag165.xml"/></Relationships>
</file>

<file path=ppt/slides/_rels/slide77.xml.rels><?xml version="1.0" encoding="UTF-8" standalone="yes"?>
<Relationships xmlns="http://schemas.openxmlformats.org/package/2006/relationships"><Relationship Id="rId8" Type="http://schemas.openxmlformats.org/officeDocument/2006/relationships/tags" Target="../tags/tag174.xml"/><Relationship Id="rId3" Type="http://schemas.openxmlformats.org/officeDocument/2006/relationships/tags" Target="../tags/tag169.xml"/><Relationship Id="rId7" Type="http://schemas.openxmlformats.org/officeDocument/2006/relationships/tags" Target="../tags/tag173.xml"/><Relationship Id="rId12" Type="http://schemas.openxmlformats.org/officeDocument/2006/relationships/image" Target="../media/image6.tmp"/><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slideLayout" Target="../slideLayouts/slideLayout6.xml"/><Relationship Id="rId5" Type="http://schemas.openxmlformats.org/officeDocument/2006/relationships/tags" Target="../tags/tag171.xml"/><Relationship Id="rId10" Type="http://schemas.openxmlformats.org/officeDocument/2006/relationships/tags" Target="../tags/tag176.xml"/><Relationship Id="rId4" Type="http://schemas.openxmlformats.org/officeDocument/2006/relationships/tags" Target="../tags/tag170.xml"/><Relationship Id="rId9" Type="http://schemas.openxmlformats.org/officeDocument/2006/relationships/tags" Target="../tags/tag175.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eaLnBrk="1" hangingPunct="1">
              <a:defRPr/>
            </a:pPr>
            <a:r>
              <a:rPr lang="en-US" altLang="zh-CN" dirty="0"/>
              <a:t>Ch2 </a:t>
            </a:r>
            <a:r>
              <a:rPr lang="zh-CN" altLang="en-US" dirty="0"/>
              <a:t>线性表</a:t>
            </a:r>
            <a:endParaRPr lang="en-US" dirty="0"/>
          </a:p>
        </p:txBody>
      </p:sp>
    </p:spTree>
    <p:extLst>
      <p:ext uri="{BB962C8B-B14F-4D97-AF65-F5344CB8AC3E}">
        <p14:creationId xmlns:p14="http://schemas.microsoft.com/office/powerpoint/2010/main" val="155253575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vert="horz" wrap="square" lIns="91440" tIns="45720" rIns="91440" bIns="45720" anchor="ctr"/>
          <a:lstStyle/>
          <a:p>
            <a:pPr eaLnBrk="1" hangingPunct="1"/>
            <a:r>
              <a:rPr lang="zh-CN" altLang="en-US" dirty="0">
                <a:latin typeface="+mj-lt"/>
                <a:ea typeface="+mj-ea"/>
                <a:cs typeface="+mj-cs"/>
              </a:rPr>
              <a:t>本章内容</a:t>
            </a:r>
          </a:p>
        </p:txBody>
      </p:sp>
      <p:sp>
        <p:nvSpPr>
          <p:cNvPr id="7171" name="内容占位符 2"/>
          <p:cNvSpPr>
            <a:spLocks noGrp="1"/>
          </p:cNvSpPr>
          <p:nvPr>
            <p:ph idx="1"/>
          </p:nvPr>
        </p:nvSpPr>
        <p:spPr/>
        <p:txBody>
          <a:bodyPr vert="horz" wrap="square" lIns="91440" tIns="45720" rIns="91440" bIns="45720" anchor="t"/>
          <a:lstStyle/>
          <a:p>
            <a:pPr eaLnBrk="1" hangingPunct="1">
              <a:spcBef>
                <a:spcPts val="1200"/>
              </a:spcBef>
              <a:spcAft>
                <a:spcPts val="1200"/>
              </a:spcAft>
            </a:pPr>
            <a:r>
              <a:rPr lang="zh-CN" altLang="en-US" dirty="0">
                <a:latin typeface="+mn-lt"/>
                <a:ea typeface="+mn-ea"/>
                <a:cs typeface="+mn-cs"/>
              </a:rPr>
              <a:t>线性表的基本概念和术语</a:t>
            </a:r>
            <a:endParaRPr lang="en-US" altLang="zh-CN" dirty="0">
              <a:latin typeface="+mn-lt"/>
              <a:ea typeface="+mn-ea"/>
              <a:cs typeface="+mn-cs"/>
            </a:endParaRPr>
          </a:p>
          <a:p>
            <a:pPr eaLnBrk="1" hangingPunct="1">
              <a:spcBef>
                <a:spcPts val="1200"/>
              </a:spcBef>
              <a:spcAft>
                <a:spcPts val="1200"/>
              </a:spcAft>
            </a:pPr>
            <a:r>
              <a:rPr lang="zh-CN" altLang="en-US" dirty="0">
                <a:latin typeface="+mn-lt"/>
                <a:ea typeface="+mn-ea"/>
                <a:cs typeface="+mn-cs"/>
              </a:rPr>
              <a:t>线性表的抽象数据类型</a:t>
            </a:r>
            <a:endParaRPr lang="en-US" altLang="zh-CN" dirty="0">
              <a:latin typeface="+mn-lt"/>
              <a:ea typeface="+mn-ea"/>
              <a:cs typeface="+mn-cs"/>
            </a:endParaRPr>
          </a:p>
          <a:p>
            <a:pPr lvl="1" eaLnBrk="1" hangingPunct="1">
              <a:spcBef>
                <a:spcPts val="1200"/>
              </a:spcBef>
              <a:spcAft>
                <a:spcPts val="1200"/>
              </a:spcAft>
            </a:pPr>
            <a:r>
              <a:rPr lang="zh-CN" altLang="en-US" dirty="0"/>
              <a:t>数据对象、数据关系、</a:t>
            </a:r>
            <a:r>
              <a:rPr lang="zh-CN" altLang="en-US" dirty="0">
                <a:latin typeface="+mn-lt"/>
                <a:ea typeface="+mn-ea"/>
                <a:cs typeface="+mn-cs"/>
              </a:rPr>
              <a:t>基本操作</a:t>
            </a:r>
            <a:endParaRPr lang="en-US" altLang="zh-CN" dirty="0">
              <a:latin typeface="+mn-lt"/>
              <a:ea typeface="+mn-ea"/>
              <a:cs typeface="+mn-cs"/>
            </a:endParaRPr>
          </a:p>
          <a:p>
            <a:pPr eaLnBrk="1" hangingPunct="1">
              <a:spcBef>
                <a:spcPts val="1200"/>
              </a:spcBef>
              <a:spcAft>
                <a:spcPts val="1200"/>
              </a:spcAft>
            </a:pPr>
            <a:r>
              <a:rPr lang="zh-CN" altLang="en-US" dirty="0">
                <a:latin typeface="+mn-lt"/>
                <a:ea typeface="+mn-ea"/>
                <a:cs typeface="+mn-cs"/>
              </a:rPr>
              <a:t>线性表的顺序存储</a:t>
            </a:r>
            <a:endParaRPr lang="en-US" altLang="zh-CN" dirty="0">
              <a:latin typeface="+mn-lt"/>
              <a:ea typeface="+mn-ea"/>
              <a:cs typeface="+mn-cs"/>
            </a:endParaRPr>
          </a:p>
          <a:p>
            <a:pPr eaLnBrk="1" hangingPunct="1">
              <a:spcBef>
                <a:spcPts val="1200"/>
              </a:spcBef>
              <a:spcAft>
                <a:spcPts val="1200"/>
              </a:spcAft>
            </a:pPr>
            <a:r>
              <a:rPr lang="zh-CN" altLang="en-US" dirty="0">
                <a:latin typeface="+mn-lt"/>
                <a:ea typeface="+mn-ea"/>
                <a:cs typeface="+mn-cs"/>
              </a:rPr>
              <a:t>线性表的链式存储</a:t>
            </a:r>
            <a:endParaRPr lang="en-US" altLang="zh-CN" dirty="0">
              <a:latin typeface="+mn-lt"/>
              <a:ea typeface="+mn-ea"/>
              <a:cs typeface="+mn-cs"/>
            </a:endParaRPr>
          </a:p>
          <a:p>
            <a:pPr eaLnBrk="1" hangingPunct="1">
              <a:spcBef>
                <a:spcPts val="1200"/>
              </a:spcBef>
              <a:spcAft>
                <a:spcPts val="1200"/>
              </a:spcAft>
            </a:pPr>
            <a:r>
              <a:rPr lang="zh-CN" altLang="en-US" dirty="0">
                <a:latin typeface="+mn-lt"/>
                <a:ea typeface="+mn-ea"/>
                <a:cs typeface="+mn-cs"/>
              </a:rPr>
              <a:t>线性表的应用</a:t>
            </a:r>
            <a:endParaRPr lang="en-US" altLang="zh-CN" dirty="0">
              <a:latin typeface="+mn-lt"/>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数据结构总览</a:t>
            </a:r>
          </a:p>
        </p:txBody>
      </p:sp>
      <p:sp>
        <p:nvSpPr>
          <p:cNvPr id="35843" name="AutoShape 4"/>
          <p:cNvSpPr/>
          <p:nvPr/>
        </p:nvSpPr>
        <p:spPr>
          <a:xfrm>
            <a:off x="919480" y="2612390"/>
            <a:ext cx="533400" cy="3443288"/>
          </a:xfrm>
          <a:prstGeom prst="leftBrace">
            <a:avLst>
              <a:gd name="adj1" fmla="val 53794"/>
              <a:gd name="adj2" fmla="val 50000"/>
            </a:avLst>
          </a:prstGeom>
          <a:noFill/>
          <a:ln w="38100" cap="flat" cmpd="sng">
            <a:solidFill>
              <a:srgbClr val="FF3300"/>
            </a:solidFill>
            <a:prstDash val="solid"/>
            <a:headEnd type="none" w="med" len="med"/>
            <a:tailEnd type="none" w="med" len="med"/>
          </a:ln>
        </p:spPr>
        <p:txBody>
          <a:bodyPr/>
          <a:lstStyle/>
          <a:p>
            <a:endParaRPr lang="zh-CN" altLang="en-US" sz="2400" dirty="0">
              <a:latin typeface="Times New Roman" panose="02020603050405020304" pitchFamily="18" charset="0"/>
            </a:endParaRPr>
          </a:p>
        </p:txBody>
      </p:sp>
      <p:sp>
        <p:nvSpPr>
          <p:cNvPr id="35844" name="Text Box 5" descr="花岗岩"/>
          <p:cNvSpPr txBox="1"/>
          <p:nvPr/>
        </p:nvSpPr>
        <p:spPr>
          <a:xfrm>
            <a:off x="1508602" y="2426970"/>
            <a:ext cx="2477770" cy="460375"/>
          </a:xfrm>
          <a:prstGeom prst="rect">
            <a:avLst/>
          </a:prstGeom>
          <a:noFill/>
          <a:ln w="9525">
            <a:noFill/>
          </a:ln>
        </p:spPr>
        <p:txBody>
          <a:bodyPr wrap="none">
            <a:spAutoFit/>
          </a:bodyPr>
          <a:lstStyle/>
          <a:p>
            <a:pPr algn="ctr" eaLnBrk="1" hangingPunct="1">
              <a:spcBef>
                <a:spcPct val="50000"/>
              </a:spcBef>
            </a:pPr>
            <a:r>
              <a:rPr lang="en-US" altLang="zh-CN" sz="2400" b="1" dirty="0">
                <a:latin typeface="Times New Roman" panose="02020603050405020304" pitchFamily="18" charset="0"/>
                <a:ea typeface="隶书" panose="02010509060101010101" pitchFamily="49" charset="-122"/>
              </a:rPr>
              <a:t> </a:t>
            </a:r>
            <a:r>
              <a:rPr lang="zh-CN" altLang="en-US" sz="2400" b="1" dirty="0">
                <a:latin typeface="Times New Roman" panose="02020603050405020304" pitchFamily="18" charset="0"/>
                <a:ea typeface="隶书" panose="02010509060101010101" pitchFamily="49" charset="-122"/>
              </a:rPr>
              <a:t>数据的逻辑结构 </a:t>
            </a:r>
          </a:p>
        </p:txBody>
      </p:sp>
      <p:sp>
        <p:nvSpPr>
          <p:cNvPr id="35845" name="Text Box 6" descr="花岗岩"/>
          <p:cNvSpPr txBox="1"/>
          <p:nvPr/>
        </p:nvSpPr>
        <p:spPr>
          <a:xfrm>
            <a:off x="1508602" y="4407535"/>
            <a:ext cx="2477770" cy="460375"/>
          </a:xfrm>
          <a:prstGeom prst="rect">
            <a:avLst/>
          </a:prstGeom>
          <a:noFill/>
          <a:ln w="9525">
            <a:noFill/>
          </a:ln>
        </p:spPr>
        <p:txBody>
          <a:bodyPr wrap="none">
            <a:spAutoFit/>
          </a:bodyPr>
          <a:lstStyle/>
          <a:p>
            <a:pPr algn="ctr" eaLnBrk="1" hangingPunct="1">
              <a:spcBef>
                <a:spcPct val="50000"/>
              </a:spcBef>
            </a:pPr>
            <a:r>
              <a:rPr lang="en-US" altLang="zh-CN" sz="2400" b="1" dirty="0">
                <a:latin typeface="Times New Roman" panose="02020603050405020304" pitchFamily="18" charset="0"/>
                <a:ea typeface="隶书" panose="02010509060101010101" pitchFamily="49" charset="-122"/>
              </a:rPr>
              <a:t> </a:t>
            </a:r>
            <a:r>
              <a:rPr lang="zh-CN" altLang="en-US" sz="2400" b="1" dirty="0">
                <a:latin typeface="Times New Roman" panose="02020603050405020304" pitchFamily="18" charset="0"/>
                <a:ea typeface="隶书" panose="02010509060101010101" pitchFamily="49" charset="-122"/>
              </a:rPr>
              <a:t>数据的存储结构 </a:t>
            </a:r>
          </a:p>
        </p:txBody>
      </p:sp>
      <p:sp>
        <p:nvSpPr>
          <p:cNvPr id="35846" name="Text Box 7" descr="花岗岩"/>
          <p:cNvSpPr txBox="1"/>
          <p:nvPr/>
        </p:nvSpPr>
        <p:spPr>
          <a:xfrm>
            <a:off x="1619250" y="5821998"/>
            <a:ext cx="1713230" cy="460375"/>
          </a:xfrm>
          <a:prstGeom prst="rect">
            <a:avLst/>
          </a:prstGeom>
          <a:noFill/>
          <a:ln w="9525">
            <a:noFill/>
          </a:ln>
        </p:spPr>
        <p:txBody>
          <a:bodyPr wrap="none">
            <a:spAutoFit/>
          </a:bodyPr>
          <a:lstStyle/>
          <a:p>
            <a:pPr algn="ctr" eaLnBrk="1" hangingPunct="1">
              <a:spcBef>
                <a:spcPct val="50000"/>
              </a:spcBef>
            </a:pPr>
            <a:r>
              <a:rPr lang="zh-CN" altLang="en-US" sz="2400" b="1" dirty="0">
                <a:latin typeface="Times New Roman" panose="02020603050405020304" pitchFamily="18" charset="0"/>
                <a:ea typeface="隶书" panose="02010509060101010101" pitchFamily="49" charset="-122"/>
              </a:rPr>
              <a:t>数据的运算</a:t>
            </a:r>
          </a:p>
        </p:txBody>
      </p:sp>
      <p:sp>
        <p:nvSpPr>
          <p:cNvPr id="35847" name="AutoShape 8"/>
          <p:cNvSpPr/>
          <p:nvPr/>
        </p:nvSpPr>
        <p:spPr>
          <a:xfrm>
            <a:off x="4272280" y="4199573"/>
            <a:ext cx="114300" cy="944562"/>
          </a:xfrm>
          <a:prstGeom prst="leftBrace">
            <a:avLst>
              <a:gd name="adj1" fmla="val 68865"/>
              <a:gd name="adj2" fmla="val 50000"/>
            </a:avLst>
          </a:prstGeom>
          <a:noFill/>
          <a:ln w="38100" cap="flat" cmpd="sng">
            <a:solidFill>
              <a:srgbClr val="FF3300"/>
            </a:solidFill>
            <a:prstDash val="solid"/>
            <a:headEnd type="none" w="med" len="med"/>
            <a:tailEnd type="none" w="med" len="med"/>
          </a:ln>
        </p:spPr>
        <p:txBody>
          <a:bodyPr/>
          <a:lstStyle/>
          <a:p>
            <a:endParaRPr lang="zh-CN" altLang="en-US" sz="2400" dirty="0">
              <a:latin typeface="Times New Roman" panose="02020603050405020304" pitchFamily="18" charset="0"/>
            </a:endParaRPr>
          </a:p>
        </p:txBody>
      </p:sp>
      <p:sp>
        <p:nvSpPr>
          <p:cNvPr id="35848" name="AutoShape 9"/>
          <p:cNvSpPr/>
          <p:nvPr/>
        </p:nvSpPr>
        <p:spPr>
          <a:xfrm>
            <a:off x="4119880" y="1791970"/>
            <a:ext cx="457200" cy="1774825"/>
          </a:xfrm>
          <a:prstGeom prst="leftBrace">
            <a:avLst>
              <a:gd name="adj1" fmla="val 20326"/>
              <a:gd name="adj2" fmla="val 49282"/>
            </a:avLst>
          </a:prstGeom>
          <a:noFill/>
          <a:ln w="38100" cap="flat" cmpd="sng">
            <a:solidFill>
              <a:srgbClr val="FF3300"/>
            </a:solidFill>
            <a:prstDash val="solid"/>
            <a:headEnd type="none" w="med" len="med"/>
            <a:tailEnd type="none" w="med" len="med"/>
          </a:ln>
        </p:spPr>
        <p:txBody>
          <a:bodyPr/>
          <a:lstStyle/>
          <a:p>
            <a:endParaRPr lang="zh-CN" altLang="en-US" sz="2400" dirty="0">
              <a:latin typeface="Times New Roman" panose="02020603050405020304" pitchFamily="18" charset="0"/>
            </a:endParaRPr>
          </a:p>
        </p:txBody>
      </p:sp>
      <p:sp>
        <p:nvSpPr>
          <p:cNvPr id="35849" name="AutoShape 10"/>
          <p:cNvSpPr/>
          <p:nvPr/>
        </p:nvSpPr>
        <p:spPr>
          <a:xfrm>
            <a:off x="6520180" y="1182370"/>
            <a:ext cx="152400" cy="1360488"/>
          </a:xfrm>
          <a:prstGeom prst="leftBrace">
            <a:avLst>
              <a:gd name="adj1" fmla="val 74392"/>
              <a:gd name="adj2" fmla="val 50000"/>
            </a:avLst>
          </a:prstGeom>
          <a:noFill/>
          <a:ln w="38100" cap="flat" cmpd="sng">
            <a:solidFill>
              <a:srgbClr val="FF3300"/>
            </a:solidFill>
            <a:prstDash val="solid"/>
            <a:headEnd type="none" w="med" len="med"/>
            <a:tailEnd type="none" w="med" len="med"/>
          </a:ln>
        </p:spPr>
        <p:txBody>
          <a:bodyPr/>
          <a:lstStyle/>
          <a:p>
            <a:endParaRPr lang="zh-CN" altLang="en-US" sz="2400" dirty="0">
              <a:latin typeface="Times New Roman" panose="02020603050405020304" pitchFamily="18" charset="0"/>
            </a:endParaRPr>
          </a:p>
        </p:txBody>
      </p:sp>
      <p:sp>
        <p:nvSpPr>
          <p:cNvPr id="35850" name="AutoShape 11"/>
          <p:cNvSpPr/>
          <p:nvPr/>
        </p:nvSpPr>
        <p:spPr>
          <a:xfrm>
            <a:off x="6558280" y="2782570"/>
            <a:ext cx="114300" cy="944563"/>
          </a:xfrm>
          <a:prstGeom prst="leftBrace">
            <a:avLst>
              <a:gd name="adj1" fmla="val 68865"/>
              <a:gd name="adj2" fmla="val 50000"/>
            </a:avLst>
          </a:prstGeom>
          <a:noFill/>
          <a:ln w="38100" cap="flat" cmpd="sng">
            <a:solidFill>
              <a:srgbClr val="FF3300"/>
            </a:solidFill>
            <a:prstDash val="solid"/>
            <a:headEnd type="none" w="med" len="med"/>
            <a:tailEnd type="none" w="med" len="med"/>
          </a:ln>
        </p:spPr>
        <p:txBody>
          <a:bodyPr/>
          <a:lstStyle/>
          <a:p>
            <a:endParaRPr lang="zh-CN" altLang="en-US" sz="2400" dirty="0">
              <a:latin typeface="Times New Roman" panose="02020603050405020304" pitchFamily="18" charset="0"/>
            </a:endParaRPr>
          </a:p>
        </p:txBody>
      </p:sp>
      <p:sp>
        <p:nvSpPr>
          <p:cNvPr id="35851" name="Text Box 12" descr="花岗岩"/>
          <p:cNvSpPr txBox="1"/>
          <p:nvPr/>
        </p:nvSpPr>
        <p:spPr>
          <a:xfrm>
            <a:off x="4635500" y="1701483"/>
            <a:ext cx="1559560" cy="460375"/>
          </a:xfrm>
          <a:prstGeom prst="rect">
            <a:avLst/>
          </a:prstGeom>
          <a:noFill/>
          <a:ln w="9525">
            <a:noFill/>
          </a:ln>
        </p:spPr>
        <p:txBody>
          <a:bodyPr wrap="none">
            <a:spAutoFit/>
          </a:bodyPr>
          <a:lstStyle/>
          <a:p>
            <a:pPr algn="ctr" eaLnBrk="1" hangingPunct="1">
              <a:spcBef>
                <a:spcPct val="50000"/>
              </a:spcBef>
            </a:pPr>
            <a:r>
              <a:rPr lang="en-US" altLang="zh-CN" sz="2400" b="1" dirty="0">
                <a:latin typeface="Times New Roman" panose="02020603050405020304" pitchFamily="18" charset="0"/>
                <a:ea typeface="隶书" panose="02010509060101010101" pitchFamily="49" charset="-122"/>
              </a:rPr>
              <a:t> </a:t>
            </a:r>
            <a:r>
              <a:rPr lang="zh-CN" altLang="en-US" sz="2400" b="1" dirty="0">
                <a:latin typeface="Times New Roman" panose="02020603050405020304" pitchFamily="18" charset="0"/>
                <a:ea typeface="隶书" panose="02010509060101010101" pitchFamily="49" charset="-122"/>
              </a:rPr>
              <a:t>线性结构 </a:t>
            </a:r>
          </a:p>
        </p:txBody>
      </p:sp>
      <p:sp>
        <p:nvSpPr>
          <p:cNvPr id="35852" name="Text Box 13" descr="花岗岩"/>
          <p:cNvSpPr txBox="1"/>
          <p:nvPr/>
        </p:nvSpPr>
        <p:spPr>
          <a:xfrm>
            <a:off x="4654709" y="3011170"/>
            <a:ext cx="1789430" cy="460375"/>
          </a:xfrm>
          <a:prstGeom prst="rect">
            <a:avLst/>
          </a:prstGeom>
          <a:noFill/>
          <a:ln w="9525">
            <a:noFill/>
          </a:ln>
        </p:spPr>
        <p:txBody>
          <a:bodyPr wrap="none">
            <a:spAutoFit/>
          </a:bodyPr>
          <a:lstStyle/>
          <a:p>
            <a:pPr algn="ctr" eaLnBrk="1" hangingPunct="1">
              <a:spcBef>
                <a:spcPct val="50000"/>
              </a:spcBef>
            </a:pPr>
            <a:r>
              <a:rPr lang="en-US" altLang="zh-CN" sz="2400" b="1" dirty="0">
                <a:latin typeface="Times New Roman" panose="02020603050405020304" pitchFamily="18" charset="0"/>
                <a:ea typeface="隶书" panose="02010509060101010101" pitchFamily="49" charset="-122"/>
              </a:rPr>
              <a:t> </a:t>
            </a:r>
            <a:r>
              <a:rPr lang="zh-CN" altLang="en-US" sz="2400" b="1" dirty="0">
                <a:latin typeface="Times New Roman" panose="02020603050405020304" pitchFamily="18" charset="0"/>
                <a:ea typeface="隶书" panose="02010509060101010101" pitchFamily="49" charset="-122"/>
              </a:rPr>
              <a:t>非线性结构</a:t>
            </a:r>
          </a:p>
        </p:txBody>
      </p:sp>
      <p:sp>
        <p:nvSpPr>
          <p:cNvPr id="35853" name="Text Box 14" descr="花岗岩"/>
          <p:cNvSpPr txBox="1"/>
          <p:nvPr/>
        </p:nvSpPr>
        <p:spPr>
          <a:xfrm>
            <a:off x="4559300" y="4159885"/>
            <a:ext cx="1483360" cy="460375"/>
          </a:xfrm>
          <a:prstGeom prst="rect">
            <a:avLst/>
          </a:prstGeom>
          <a:noFill/>
          <a:ln w="9525">
            <a:noFill/>
          </a:ln>
        </p:spPr>
        <p:txBody>
          <a:bodyPr wrap="none">
            <a:spAutoFit/>
          </a:bodyPr>
          <a:lstStyle/>
          <a:p>
            <a:pPr algn="ctr" eaLnBrk="1" hangingPunct="1">
              <a:spcBef>
                <a:spcPct val="50000"/>
              </a:spcBef>
            </a:pPr>
            <a:r>
              <a:rPr lang="en-US" altLang="zh-CN" sz="2400" b="1" dirty="0">
                <a:latin typeface="Times New Roman" panose="02020603050405020304" pitchFamily="18" charset="0"/>
                <a:ea typeface="隶书" panose="02010509060101010101" pitchFamily="49" charset="-122"/>
              </a:rPr>
              <a:t> </a:t>
            </a:r>
            <a:r>
              <a:rPr lang="zh-CN" altLang="en-US" sz="2400" b="1" dirty="0">
                <a:latin typeface="Times New Roman" panose="02020603050405020304" pitchFamily="18" charset="0"/>
                <a:ea typeface="隶书" panose="02010509060101010101" pitchFamily="49" charset="-122"/>
              </a:rPr>
              <a:t>顺序存储</a:t>
            </a:r>
          </a:p>
        </p:txBody>
      </p:sp>
      <p:sp>
        <p:nvSpPr>
          <p:cNvPr id="35854" name="Text Box 15" descr="花岗岩"/>
          <p:cNvSpPr txBox="1"/>
          <p:nvPr/>
        </p:nvSpPr>
        <p:spPr>
          <a:xfrm>
            <a:off x="4483100" y="4693285"/>
            <a:ext cx="1635760" cy="460375"/>
          </a:xfrm>
          <a:prstGeom prst="rect">
            <a:avLst/>
          </a:prstGeom>
          <a:noFill/>
          <a:ln w="9525">
            <a:noFill/>
          </a:ln>
        </p:spPr>
        <p:txBody>
          <a:bodyPr wrap="none">
            <a:spAutoFit/>
          </a:bodyPr>
          <a:lstStyle/>
          <a:p>
            <a:pPr algn="ctr" eaLnBrk="1" hangingPunct="1">
              <a:spcBef>
                <a:spcPct val="50000"/>
              </a:spcBef>
            </a:pPr>
            <a:r>
              <a:rPr lang="en-US" altLang="zh-CN" sz="2400" b="1" dirty="0">
                <a:latin typeface="Times New Roman" panose="02020603050405020304" pitchFamily="18" charset="0"/>
                <a:ea typeface="隶书" panose="02010509060101010101" pitchFamily="49" charset="-122"/>
              </a:rPr>
              <a:t>  </a:t>
            </a:r>
            <a:r>
              <a:rPr lang="zh-CN" altLang="en-US" sz="2400" b="1" dirty="0">
                <a:latin typeface="Times New Roman" panose="02020603050405020304" pitchFamily="18" charset="0"/>
                <a:ea typeface="隶书" panose="02010509060101010101" pitchFamily="49" charset="-122"/>
              </a:rPr>
              <a:t>链式存储 </a:t>
            </a:r>
          </a:p>
        </p:txBody>
      </p:sp>
      <p:sp>
        <p:nvSpPr>
          <p:cNvPr id="35855" name="Text Box 16" descr="花岗岩"/>
          <p:cNvSpPr txBox="1"/>
          <p:nvPr/>
        </p:nvSpPr>
        <p:spPr>
          <a:xfrm>
            <a:off x="6831489" y="1076325"/>
            <a:ext cx="1101090" cy="460375"/>
          </a:xfrm>
          <a:prstGeom prst="rect">
            <a:avLst/>
          </a:prstGeom>
          <a:noFill/>
          <a:ln w="9525">
            <a:noFill/>
          </a:ln>
        </p:spPr>
        <p:txBody>
          <a:bodyPr wrap="none">
            <a:spAutoFit/>
          </a:bodyPr>
          <a:lstStyle/>
          <a:p>
            <a:pPr algn="ctr" eaLnBrk="1" hangingPunct="1">
              <a:spcBef>
                <a:spcPct val="50000"/>
              </a:spcBef>
            </a:pPr>
            <a:r>
              <a:rPr lang="zh-CN" altLang="en-US" sz="2400" b="1" dirty="0">
                <a:latin typeface="Times New Roman" panose="02020603050405020304" pitchFamily="18" charset="0"/>
                <a:ea typeface="隶书" panose="02010509060101010101" pitchFamily="49" charset="-122"/>
              </a:rPr>
              <a:t>线性表</a:t>
            </a:r>
          </a:p>
        </p:txBody>
      </p:sp>
      <p:sp>
        <p:nvSpPr>
          <p:cNvPr id="35856" name="Text Box 17" descr="花岗岩"/>
          <p:cNvSpPr txBox="1"/>
          <p:nvPr/>
        </p:nvSpPr>
        <p:spPr>
          <a:xfrm>
            <a:off x="6807200" y="1632268"/>
            <a:ext cx="1407160" cy="460375"/>
          </a:xfrm>
          <a:prstGeom prst="rect">
            <a:avLst/>
          </a:prstGeom>
          <a:noFill/>
          <a:ln w="9525">
            <a:noFill/>
          </a:ln>
        </p:spPr>
        <p:txBody>
          <a:bodyPr wrap="none">
            <a:spAutoFit/>
          </a:bodyPr>
          <a:lstStyle/>
          <a:p>
            <a:pPr eaLnBrk="1" hangingPunct="1">
              <a:spcBef>
                <a:spcPct val="50000"/>
              </a:spcBef>
            </a:pPr>
            <a:r>
              <a:rPr lang="zh-CN" altLang="en-US" sz="2400" b="1" dirty="0">
                <a:latin typeface="Times New Roman" panose="02020603050405020304" pitchFamily="18" charset="0"/>
                <a:ea typeface="隶书" panose="02010509060101010101" pitchFamily="49" charset="-122"/>
              </a:rPr>
              <a:t>栈、队列</a:t>
            </a:r>
          </a:p>
        </p:txBody>
      </p:sp>
      <p:sp>
        <p:nvSpPr>
          <p:cNvPr id="35857" name="Text Box 18" descr="花岗岩"/>
          <p:cNvSpPr txBox="1"/>
          <p:nvPr/>
        </p:nvSpPr>
        <p:spPr>
          <a:xfrm>
            <a:off x="6672580" y="2144395"/>
            <a:ext cx="1680845" cy="460375"/>
          </a:xfrm>
          <a:prstGeom prst="rect">
            <a:avLst/>
          </a:prstGeom>
          <a:noFill/>
          <a:ln w="9525">
            <a:noFill/>
          </a:ln>
        </p:spPr>
        <p:txBody>
          <a:bodyPr wrap="square">
            <a:spAutoFit/>
          </a:bodyPr>
          <a:lstStyle/>
          <a:p>
            <a:pPr algn="ctr" eaLnBrk="1" hangingPunct="1">
              <a:spcBef>
                <a:spcPct val="50000"/>
              </a:spcBef>
            </a:pPr>
            <a:r>
              <a:rPr lang="zh-CN" altLang="en-US" sz="2400" b="1" dirty="0">
                <a:latin typeface="Times New Roman" panose="02020603050405020304" pitchFamily="18" charset="0"/>
                <a:ea typeface="隶书" panose="02010509060101010101" pitchFamily="49" charset="-122"/>
              </a:rPr>
              <a:t>串、数组</a:t>
            </a:r>
          </a:p>
        </p:txBody>
      </p:sp>
      <p:sp>
        <p:nvSpPr>
          <p:cNvPr id="35858" name="Text Box 19" descr="花岗岩"/>
          <p:cNvSpPr txBox="1"/>
          <p:nvPr/>
        </p:nvSpPr>
        <p:spPr>
          <a:xfrm>
            <a:off x="6807200" y="2782570"/>
            <a:ext cx="1407160" cy="460375"/>
          </a:xfrm>
          <a:prstGeom prst="rect">
            <a:avLst/>
          </a:prstGeom>
          <a:noFill/>
          <a:ln w="9525">
            <a:noFill/>
          </a:ln>
        </p:spPr>
        <p:txBody>
          <a:bodyPr wrap="none">
            <a:spAutoFit/>
          </a:bodyPr>
          <a:lstStyle/>
          <a:p>
            <a:pPr algn="ctr" eaLnBrk="1" hangingPunct="1">
              <a:spcBef>
                <a:spcPct val="50000"/>
              </a:spcBef>
            </a:pPr>
            <a:r>
              <a:rPr lang="zh-CN" altLang="en-US" sz="2400" b="1" dirty="0">
                <a:latin typeface="Times New Roman" panose="02020603050405020304" pitchFamily="18" charset="0"/>
                <a:ea typeface="隶书" panose="02010509060101010101" pitchFamily="49" charset="-122"/>
              </a:rPr>
              <a:t>树形结构</a:t>
            </a:r>
          </a:p>
        </p:txBody>
      </p:sp>
      <p:sp>
        <p:nvSpPr>
          <p:cNvPr id="35859" name="Text Box 20" descr="花岗岩"/>
          <p:cNvSpPr txBox="1"/>
          <p:nvPr/>
        </p:nvSpPr>
        <p:spPr>
          <a:xfrm>
            <a:off x="6807200" y="3315970"/>
            <a:ext cx="1407160" cy="460375"/>
          </a:xfrm>
          <a:prstGeom prst="rect">
            <a:avLst/>
          </a:prstGeom>
          <a:noFill/>
          <a:ln w="9525">
            <a:noFill/>
          </a:ln>
        </p:spPr>
        <p:txBody>
          <a:bodyPr wrap="none">
            <a:spAutoFit/>
          </a:bodyPr>
          <a:lstStyle/>
          <a:p>
            <a:pPr algn="ctr" eaLnBrk="1" hangingPunct="1">
              <a:spcBef>
                <a:spcPct val="50000"/>
              </a:spcBef>
            </a:pPr>
            <a:r>
              <a:rPr lang="zh-CN" altLang="en-US" sz="2400" b="1" dirty="0">
                <a:latin typeface="Times New Roman" panose="02020603050405020304" pitchFamily="18" charset="0"/>
                <a:ea typeface="隶书" panose="02010509060101010101" pitchFamily="49" charset="-122"/>
              </a:rPr>
              <a:t>图形结构</a:t>
            </a:r>
          </a:p>
        </p:txBody>
      </p:sp>
      <p:grpSp>
        <p:nvGrpSpPr>
          <p:cNvPr id="6" name="组合 5"/>
          <p:cNvGrpSpPr/>
          <p:nvPr/>
        </p:nvGrpSpPr>
        <p:grpSpPr>
          <a:xfrm>
            <a:off x="843280" y="1438275"/>
            <a:ext cx="1295400" cy="647700"/>
            <a:chOff x="2119" y="2286"/>
            <a:chExt cx="2040" cy="1020"/>
          </a:xfrm>
        </p:grpSpPr>
        <p:sp>
          <p:nvSpPr>
            <p:cNvPr id="4" name="云形标注 3"/>
            <p:cNvSpPr/>
            <p:nvPr/>
          </p:nvSpPr>
          <p:spPr>
            <a:xfrm>
              <a:off x="2119" y="2286"/>
              <a:ext cx="2041" cy="1020"/>
            </a:xfrm>
            <a:prstGeom prst="cloudCallout">
              <a:avLst>
                <a:gd name="adj1" fmla="val 82631"/>
                <a:gd name="adj2" fmla="val 10960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5" name="文本框 4"/>
            <p:cNvSpPr txBox="1"/>
            <p:nvPr/>
          </p:nvSpPr>
          <p:spPr>
            <a:xfrm>
              <a:off x="2496" y="2441"/>
              <a:ext cx="1188" cy="580"/>
            </a:xfrm>
            <a:prstGeom prst="rect">
              <a:avLst/>
            </a:prstGeom>
            <a:noFill/>
          </p:spPr>
          <p:txBody>
            <a:bodyPr wrap="square" rtlCol="0">
              <a:spAutoFit/>
            </a:bodyPr>
            <a:lstStyle/>
            <a:p>
              <a:pPr algn="ctr"/>
              <a:r>
                <a:rPr lang="zh-CN" altLang="en-US"/>
                <a:t>唯一</a:t>
              </a:r>
            </a:p>
          </p:txBody>
        </p:sp>
      </p:grpSp>
      <p:grpSp>
        <p:nvGrpSpPr>
          <p:cNvPr id="7" name="组合 6"/>
          <p:cNvGrpSpPr/>
          <p:nvPr/>
        </p:nvGrpSpPr>
        <p:grpSpPr>
          <a:xfrm>
            <a:off x="913187" y="3315970"/>
            <a:ext cx="1625878" cy="647700"/>
            <a:chOff x="2119" y="2286"/>
            <a:chExt cx="2041" cy="1020"/>
          </a:xfrm>
        </p:grpSpPr>
        <p:sp>
          <p:nvSpPr>
            <p:cNvPr id="8" name="云形标注 7"/>
            <p:cNvSpPr/>
            <p:nvPr/>
          </p:nvSpPr>
          <p:spPr>
            <a:xfrm>
              <a:off x="2119" y="2286"/>
              <a:ext cx="2041" cy="1020"/>
            </a:xfrm>
            <a:prstGeom prst="cloudCallout">
              <a:avLst>
                <a:gd name="adj1" fmla="val 61876"/>
                <a:gd name="adj2" fmla="val 129775"/>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9" name="文本框 8"/>
            <p:cNvSpPr txBox="1"/>
            <p:nvPr/>
          </p:nvSpPr>
          <p:spPr>
            <a:xfrm>
              <a:off x="2496" y="2441"/>
              <a:ext cx="1188" cy="582"/>
            </a:xfrm>
            <a:prstGeom prst="rect">
              <a:avLst/>
            </a:prstGeom>
            <a:noFill/>
          </p:spPr>
          <p:txBody>
            <a:bodyPr wrap="square" rtlCol="0">
              <a:spAutoFit/>
            </a:bodyPr>
            <a:lstStyle/>
            <a:p>
              <a:pPr algn="ctr"/>
              <a:r>
                <a:rPr lang="zh-CN" altLang="en-US" b="1" dirty="0"/>
                <a:t>不</a:t>
              </a:r>
              <a:r>
                <a:rPr lang="zh-CN" altLang="en-US" dirty="0"/>
                <a:t>唯一</a:t>
              </a:r>
            </a:p>
          </p:txBody>
        </p:sp>
      </p:grpSp>
      <p:sp>
        <p:nvSpPr>
          <p:cNvPr id="12" name="Text Box 7" descr="花岗岩"/>
          <p:cNvSpPr txBox="1"/>
          <p:nvPr/>
        </p:nvSpPr>
        <p:spPr>
          <a:xfrm>
            <a:off x="3347720" y="5805805"/>
            <a:ext cx="4858385" cy="460375"/>
          </a:xfrm>
          <a:prstGeom prst="rect">
            <a:avLst/>
          </a:prstGeom>
          <a:noFill/>
          <a:ln w="9525">
            <a:noFill/>
          </a:ln>
        </p:spPr>
        <p:txBody>
          <a:bodyPr wrap="square">
            <a:spAutoFit/>
          </a:bodyPr>
          <a:lstStyle/>
          <a:p>
            <a:pPr algn="ctr" eaLnBrk="1" hangingPunct="1">
              <a:spcBef>
                <a:spcPct val="50000"/>
              </a:spcBef>
            </a:pPr>
            <a:r>
              <a:rPr lang="zh-CN" altLang="en-US" sz="2400" b="1" dirty="0">
                <a:latin typeface="Times New Roman" panose="02020603050405020304" pitchFamily="18" charset="0"/>
                <a:ea typeface="隶书" panose="02010509060101010101" pitchFamily="49" charset="-122"/>
              </a:rPr>
              <a:t>：插入、删除、修改、查找、排序 </a:t>
            </a:r>
          </a:p>
        </p:txBody>
      </p:sp>
      <p:grpSp>
        <p:nvGrpSpPr>
          <p:cNvPr id="19" name="组合 18"/>
          <p:cNvGrpSpPr/>
          <p:nvPr/>
        </p:nvGrpSpPr>
        <p:grpSpPr>
          <a:xfrm flipV="1">
            <a:off x="2894936" y="2887345"/>
            <a:ext cx="723452" cy="2996000"/>
            <a:chOff x="2898041" y="2874804"/>
            <a:chExt cx="504056" cy="2918460"/>
          </a:xfrm>
        </p:grpSpPr>
        <p:sp>
          <p:nvSpPr>
            <p:cNvPr id="16" name="上箭头 15"/>
            <p:cNvSpPr/>
            <p:nvPr/>
          </p:nvSpPr>
          <p:spPr bwMode="auto">
            <a:xfrm>
              <a:off x="2898041" y="2874804"/>
              <a:ext cx="504056" cy="2918460"/>
            </a:xfrm>
            <a:prstGeom prst="upArrow">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noFill/>
                <a:effectLst/>
                <a:latin typeface="Arial" panose="020B0604020202020204" pitchFamily="34" charset="0"/>
                <a:ea typeface="华文细黑" panose="02010600040101010101" pitchFamily="2" charset="-122"/>
              </a:endParaRPr>
            </a:p>
          </p:txBody>
        </p:sp>
        <p:sp>
          <p:nvSpPr>
            <p:cNvPr id="18" name="文本框 17"/>
            <p:cNvSpPr txBox="1"/>
            <p:nvPr/>
          </p:nvSpPr>
          <p:spPr>
            <a:xfrm flipV="1">
              <a:off x="2999501" y="4636023"/>
              <a:ext cx="279460" cy="629603"/>
            </a:xfrm>
            <a:prstGeom prst="rect">
              <a:avLst/>
            </a:prstGeom>
            <a:noFill/>
          </p:spPr>
          <p:txBody>
            <a:bodyPr wrap="square" rtlCol="0">
              <a:spAutoFit/>
            </a:bodyPr>
            <a:lstStyle/>
            <a:p>
              <a:pPr algn="ctr"/>
              <a:r>
                <a:rPr lang="zh-CN" altLang="en-US" dirty="0"/>
                <a:t>定义</a:t>
              </a:r>
            </a:p>
          </p:txBody>
        </p:sp>
      </p:grpSp>
      <p:grpSp>
        <p:nvGrpSpPr>
          <p:cNvPr id="39" name="组合 38"/>
          <p:cNvGrpSpPr/>
          <p:nvPr/>
        </p:nvGrpSpPr>
        <p:grpSpPr>
          <a:xfrm>
            <a:off x="2025894" y="4836836"/>
            <a:ext cx="504056" cy="1000043"/>
            <a:chOff x="2918870" y="3059883"/>
            <a:chExt cx="504056" cy="2457202"/>
          </a:xfrm>
        </p:grpSpPr>
        <p:sp>
          <p:nvSpPr>
            <p:cNvPr id="40" name="上箭头 39"/>
            <p:cNvSpPr/>
            <p:nvPr/>
          </p:nvSpPr>
          <p:spPr bwMode="auto">
            <a:xfrm flipV="1">
              <a:off x="2918870" y="3059883"/>
              <a:ext cx="504056" cy="2457202"/>
            </a:xfrm>
            <a:prstGeom prst="upArrow">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noFill/>
                <a:effectLst/>
                <a:latin typeface="Arial" panose="020B0604020202020204" pitchFamily="34" charset="0"/>
                <a:ea typeface="华文细黑" panose="02010600040101010101" pitchFamily="2" charset="-122"/>
              </a:endParaRPr>
            </a:p>
          </p:txBody>
        </p:sp>
        <p:sp>
          <p:nvSpPr>
            <p:cNvPr id="41" name="文本框 40"/>
            <p:cNvSpPr txBox="1"/>
            <p:nvPr/>
          </p:nvSpPr>
          <p:spPr>
            <a:xfrm>
              <a:off x="3037061" y="3316236"/>
              <a:ext cx="267675" cy="1970336"/>
            </a:xfrm>
            <a:prstGeom prst="rect">
              <a:avLst/>
            </a:prstGeom>
            <a:noFill/>
          </p:spPr>
          <p:txBody>
            <a:bodyPr wrap="square" rtlCol="0">
              <a:spAutoFit/>
            </a:bodyPr>
            <a:lstStyle/>
            <a:p>
              <a:pPr algn="ctr"/>
              <a:r>
                <a:rPr lang="zh-CN" altLang="en-US" dirty="0"/>
                <a:t>实现</a:t>
              </a:r>
            </a:p>
          </p:txBody>
        </p:sp>
      </p:gr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blinds(horizontal)">
                                      <p:cBhvr>
                                        <p:cTn id="7" dur="500"/>
                                        <p:tgtEl>
                                          <p:spTgt spid="3584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5845"/>
                                        </p:tgtEl>
                                        <p:attrNameLst>
                                          <p:attrName>style.visibility</p:attrName>
                                        </p:attrNameLst>
                                      </p:cBhvr>
                                      <p:to>
                                        <p:strVal val="visible"/>
                                      </p:to>
                                    </p:set>
                                    <p:animEffect transition="in" filter="blinds(horizontal)">
                                      <p:cBhvr>
                                        <p:cTn id="10" dur="500"/>
                                        <p:tgtEl>
                                          <p:spTgt spid="3584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5846"/>
                                        </p:tgtEl>
                                        <p:attrNameLst>
                                          <p:attrName>style.visibility</p:attrName>
                                        </p:attrNameLst>
                                      </p:cBhvr>
                                      <p:to>
                                        <p:strVal val="visible"/>
                                      </p:to>
                                    </p:set>
                                    <p:animEffect transition="in" filter="blinds(horizontal)">
                                      <p:cBhvr>
                                        <p:cTn id="13" dur="500"/>
                                        <p:tgtEl>
                                          <p:spTgt spid="3584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5843"/>
                                        </p:tgtEl>
                                        <p:attrNameLst>
                                          <p:attrName>style.visibility</p:attrName>
                                        </p:attrNameLst>
                                      </p:cBhvr>
                                      <p:to>
                                        <p:strVal val="visible"/>
                                      </p:to>
                                    </p:set>
                                    <p:animEffect transition="in" filter="blinds(horizontal)">
                                      <p:cBhvr>
                                        <p:cTn id="16" dur="500"/>
                                        <p:tgtEl>
                                          <p:spTgt spid="35843"/>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2" nodeType="clickEffect">
                                  <p:stCondLst>
                                    <p:cond delay="0"/>
                                  </p:stCondLst>
                                  <p:childTnLst>
                                    <p:set>
                                      <p:cBhvr>
                                        <p:cTn id="20" dur="1" fill="hold">
                                          <p:stCondLst>
                                            <p:cond delay="0"/>
                                          </p:stCondLst>
                                        </p:cTn>
                                        <p:tgtEl>
                                          <p:spTgt spid="35848"/>
                                        </p:tgtEl>
                                        <p:attrNameLst>
                                          <p:attrName>style.visibility</p:attrName>
                                        </p:attrNameLst>
                                      </p:cBhvr>
                                      <p:to>
                                        <p:strVal val="visible"/>
                                      </p:to>
                                    </p:set>
                                    <p:anim calcmode="lin" valueType="num">
                                      <p:cBhvr>
                                        <p:cTn id="21" dur="500" fill="hold"/>
                                        <p:tgtEl>
                                          <p:spTgt spid="35848"/>
                                        </p:tgtEl>
                                        <p:attrNameLst>
                                          <p:attrName>ppt_w</p:attrName>
                                        </p:attrNameLst>
                                      </p:cBhvr>
                                      <p:tavLst>
                                        <p:tav tm="0">
                                          <p:val>
                                            <p:fltVal val="0"/>
                                          </p:val>
                                        </p:tav>
                                        <p:tav tm="100000">
                                          <p:val>
                                            <p:strVal val="#ppt_w"/>
                                          </p:val>
                                        </p:tav>
                                      </p:tavLst>
                                    </p:anim>
                                    <p:anim calcmode="lin" valueType="num">
                                      <p:cBhvr>
                                        <p:cTn id="22" dur="500" fill="hold"/>
                                        <p:tgtEl>
                                          <p:spTgt spid="35848"/>
                                        </p:tgtEl>
                                        <p:attrNameLst>
                                          <p:attrName>ppt_h</p:attrName>
                                        </p:attrNameLst>
                                      </p:cBhvr>
                                      <p:tavLst>
                                        <p:tav tm="0">
                                          <p:val>
                                            <p:fltVal val="0"/>
                                          </p:val>
                                        </p:tav>
                                        <p:tav tm="100000">
                                          <p:val>
                                            <p:strVal val="#ppt_h"/>
                                          </p:val>
                                        </p:tav>
                                      </p:tavLst>
                                    </p:anim>
                                  </p:childTnLst>
                                </p:cTn>
                              </p:par>
                              <p:par>
                                <p:cTn id="23" presetID="23" presetClass="entr" presetSubtype="16" fill="hold" grpId="2" nodeType="withEffect">
                                  <p:stCondLst>
                                    <p:cond delay="0"/>
                                  </p:stCondLst>
                                  <p:childTnLst>
                                    <p:set>
                                      <p:cBhvr>
                                        <p:cTn id="24" dur="1" fill="hold">
                                          <p:stCondLst>
                                            <p:cond delay="0"/>
                                          </p:stCondLst>
                                        </p:cTn>
                                        <p:tgtEl>
                                          <p:spTgt spid="35851"/>
                                        </p:tgtEl>
                                        <p:attrNameLst>
                                          <p:attrName>style.visibility</p:attrName>
                                        </p:attrNameLst>
                                      </p:cBhvr>
                                      <p:to>
                                        <p:strVal val="visible"/>
                                      </p:to>
                                    </p:set>
                                    <p:anim calcmode="lin" valueType="num">
                                      <p:cBhvr>
                                        <p:cTn id="25" dur="500" fill="hold"/>
                                        <p:tgtEl>
                                          <p:spTgt spid="35851"/>
                                        </p:tgtEl>
                                        <p:attrNameLst>
                                          <p:attrName>ppt_w</p:attrName>
                                        </p:attrNameLst>
                                      </p:cBhvr>
                                      <p:tavLst>
                                        <p:tav tm="0">
                                          <p:val>
                                            <p:fltVal val="0"/>
                                          </p:val>
                                        </p:tav>
                                        <p:tav tm="100000">
                                          <p:val>
                                            <p:strVal val="#ppt_w"/>
                                          </p:val>
                                        </p:tav>
                                      </p:tavLst>
                                    </p:anim>
                                    <p:anim calcmode="lin" valueType="num">
                                      <p:cBhvr>
                                        <p:cTn id="26" dur="500" fill="hold"/>
                                        <p:tgtEl>
                                          <p:spTgt spid="35851"/>
                                        </p:tgtEl>
                                        <p:attrNameLst>
                                          <p:attrName>ppt_h</p:attrName>
                                        </p:attrNameLst>
                                      </p:cBhvr>
                                      <p:tavLst>
                                        <p:tav tm="0">
                                          <p:val>
                                            <p:fltVal val="0"/>
                                          </p:val>
                                        </p:tav>
                                        <p:tav tm="100000">
                                          <p:val>
                                            <p:strVal val="#ppt_h"/>
                                          </p:val>
                                        </p:tav>
                                      </p:tavLst>
                                    </p:anim>
                                  </p:childTnLst>
                                </p:cTn>
                              </p:par>
                              <p:par>
                                <p:cTn id="27" presetID="23" presetClass="entr" presetSubtype="16" fill="hold" grpId="2" nodeType="withEffect">
                                  <p:stCondLst>
                                    <p:cond delay="0"/>
                                  </p:stCondLst>
                                  <p:childTnLst>
                                    <p:set>
                                      <p:cBhvr>
                                        <p:cTn id="28" dur="1" fill="hold">
                                          <p:stCondLst>
                                            <p:cond delay="0"/>
                                          </p:stCondLst>
                                        </p:cTn>
                                        <p:tgtEl>
                                          <p:spTgt spid="35852"/>
                                        </p:tgtEl>
                                        <p:attrNameLst>
                                          <p:attrName>style.visibility</p:attrName>
                                        </p:attrNameLst>
                                      </p:cBhvr>
                                      <p:to>
                                        <p:strVal val="visible"/>
                                      </p:to>
                                    </p:set>
                                    <p:anim calcmode="lin" valueType="num">
                                      <p:cBhvr>
                                        <p:cTn id="29" dur="500" fill="hold"/>
                                        <p:tgtEl>
                                          <p:spTgt spid="35852"/>
                                        </p:tgtEl>
                                        <p:attrNameLst>
                                          <p:attrName>ppt_w</p:attrName>
                                        </p:attrNameLst>
                                      </p:cBhvr>
                                      <p:tavLst>
                                        <p:tav tm="0">
                                          <p:val>
                                            <p:fltVal val="0"/>
                                          </p:val>
                                        </p:tav>
                                        <p:tav tm="100000">
                                          <p:val>
                                            <p:strVal val="#ppt_w"/>
                                          </p:val>
                                        </p:tav>
                                      </p:tavLst>
                                    </p:anim>
                                    <p:anim calcmode="lin" valueType="num">
                                      <p:cBhvr>
                                        <p:cTn id="30" dur="500" fill="hold"/>
                                        <p:tgtEl>
                                          <p:spTgt spid="35852"/>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1" nodeType="clickEffect">
                                  <p:stCondLst>
                                    <p:cond delay="0"/>
                                  </p:stCondLst>
                                  <p:childTnLst>
                                    <p:set>
                                      <p:cBhvr>
                                        <p:cTn id="34" dur="1" fill="hold">
                                          <p:stCondLst>
                                            <p:cond delay="0"/>
                                          </p:stCondLst>
                                        </p:cTn>
                                        <p:tgtEl>
                                          <p:spTgt spid="35847"/>
                                        </p:tgtEl>
                                        <p:attrNameLst>
                                          <p:attrName>style.visibility</p:attrName>
                                        </p:attrNameLst>
                                      </p:cBhvr>
                                      <p:to>
                                        <p:strVal val="visible"/>
                                      </p:to>
                                    </p:set>
                                    <p:anim calcmode="lin" valueType="num">
                                      <p:cBhvr>
                                        <p:cTn id="35" dur="500" fill="hold"/>
                                        <p:tgtEl>
                                          <p:spTgt spid="35847"/>
                                        </p:tgtEl>
                                        <p:attrNameLst>
                                          <p:attrName>ppt_w</p:attrName>
                                        </p:attrNameLst>
                                      </p:cBhvr>
                                      <p:tavLst>
                                        <p:tav tm="0">
                                          <p:val>
                                            <p:fltVal val="0"/>
                                          </p:val>
                                        </p:tav>
                                        <p:tav tm="100000">
                                          <p:val>
                                            <p:strVal val="#ppt_w"/>
                                          </p:val>
                                        </p:tav>
                                      </p:tavLst>
                                    </p:anim>
                                    <p:anim calcmode="lin" valueType="num">
                                      <p:cBhvr>
                                        <p:cTn id="36" dur="500" fill="hold"/>
                                        <p:tgtEl>
                                          <p:spTgt spid="35847"/>
                                        </p:tgtEl>
                                        <p:attrNameLst>
                                          <p:attrName>ppt_h</p:attrName>
                                        </p:attrNameLst>
                                      </p:cBhvr>
                                      <p:tavLst>
                                        <p:tav tm="0">
                                          <p:val>
                                            <p:fltVal val="0"/>
                                          </p:val>
                                        </p:tav>
                                        <p:tav tm="100000">
                                          <p:val>
                                            <p:strVal val="#ppt_h"/>
                                          </p:val>
                                        </p:tav>
                                      </p:tavLst>
                                    </p:anim>
                                  </p:childTnLst>
                                </p:cTn>
                              </p:par>
                              <p:par>
                                <p:cTn id="37" presetID="23" presetClass="entr" presetSubtype="16" fill="hold" grpId="1" nodeType="withEffect">
                                  <p:stCondLst>
                                    <p:cond delay="0"/>
                                  </p:stCondLst>
                                  <p:childTnLst>
                                    <p:set>
                                      <p:cBhvr>
                                        <p:cTn id="38" dur="1" fill="hold">
                                          <p:stCondLst>
                                            <p:cond delay="0"/>
                                          </p:stCondLst>
                                        </p:cTn>
                                        <p:tgtEl>
                                          <p:spTgt spid="35853"/>
                                        </p:tgtEl>
                                        <p:attrNameLst>
                                          <p:attrName>style.visibility</p:attrName>
                                        </p:attrNameLst>
                                      </p:cBhvr>
                                      <p:to>
                                        <p:strVal val="visible"/>
                                      </p:to>
                                    </p:set>
                                    <p:anim calcmode="lin" valueType="num">
                                      <p:cBhvr>
                                        <p:cTn id="39" dur="500" fill="hold"/>
                                        <p:tgtEl>
                                          <p:spTgt spid="35853"/>
                                        </p:tgtEl>
                                        <p:attrNameLst>
                                          <p:attrName>ppt_w</p:attrName>
                                        </p:attrNameLst>
                                      </p:cBhvr>
                                      <p:tavLst>
                                        <p:tav tm="0">
                                          <p:val>
                                            <p:fltVal val="0"/>
                                          </p:val>
                                        </p:tav>
                                        <p:tav tm="100000">
                                          <p:val>
                                            <p:strVal val="#ppt_w"/>
                                          </p:val>
                                        </p:tav>
                                      </p:tavLst>
                                    </p:anim>
                                    <p:anim calcmode="lin" valueType="num">
                                      <p:cBhvr>
                                        <p:cTn id="40" dur="500" fill="hold"/>
                                        <p:tgtEl>
                                          <p:spTgt spid="35853"/>
                                        </p:tgtEl>
                                        <p:attrNameLst>
                                          <p:attrName>ppt_h</p:attrName>
                                        </p:attrNameLst>
                                      </p:cBhvr>
                                      <p:tavLst>
                                        <p:tav tm="0">
                                          <p:val>
                                            <p:fltVal val="0"/>
                                          </p:val>
                                        </p:tav>
                                        <p:tav tm="100000">
                                          <p:val>
                                            <p:strVal val="#ppt_h"/>
                                          </p:val>
                                        </p:tav>
                                      </p:tavLst>
                                    </p:anim>
                                  </p:childTnLst>
                                </p:cTn>
                              </p:par>
                              <p:par>
                                <p:cTn id="41" presetID="23" presetClass="entr" presetSubtype="16" fill="hold" grpId="1" nodeType="withEffect">
                                  <p:stCondLst>
                                    <p:cond delay="0"/>
                                  </p:stCondLst>
                                  <p:childTnLst>
                                    <p:set>
                                      <p:cBhvr>
                                        <p:cTn id="42" dur="1" fill="hold">
                                          <p:stCondLst>
                                            <p:cond delay="0"/>
                                          </p:stCondLst>
                                        </p:cTn>
                                        <p:tgtEl>
                                          <p:spTgt spid="35854"/>
                                        </p:tgtEl>
                                        <p:attrNameLst>
                                          <p:attrName>style.visibility</p:attrName>
                                        </p:attrNameLst>
                                      </p:cBhvr>
                                      <p:to>
                                        <p:strVal val="visible"/>
                                      </p:to>
                                    </p:set>
                                    <p:anim calcmode="lin" valueType="num">
                                      <p:cBhvr>
                                        <p:cTn id="43" dur="500" fill="hold"/>
                                        <p:tgtEl>
                                          <p:spTgt spid="35854"/>
                                        </p:tgtEl>
                                        <p:attrNameLst>
                                          <p:attrName>ppt_w</p:attrName>
                                        </p:attrNameLst>
                                      </p:cBhvr>
                                      <p:tavLst>
                                        <p:tav tm="0">
                                          <p:val>
                                            <p:fltVal val="0"/>
                                          </p:val>
                                        </p:tav>
                                        <p:tav tm="100000">
                                          <p:val>
                                            <p:strVal val="#ppt_w"/>
                                          </p:val>
                                        </p:tav>
                                      </p:tavLst>
                                    </p:anim>
                                    <p:anim calcmode="lin" valueType="num">
                                      <p:cBhvr>
                                        <p:cTn id="44" dur="500" fill="hold"/>
                                        <p:tgtEl>
                                          <p:spTgt spid="35854"/>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grpId="2" nodeType="clickEffect">
                                  <p:stCondLst>
                                    <p:cond delay="0"/>
                                  </p:stCondLst>
                                  <p:iterate type="lt">
                                    <p:tmPct val="50000"/>
                                  </p:iterate>
                                  <p:childTnLst>
                                    <p:set>
                                      <p:cBhvr>
                                        <p:cTn id="48" dur="1" fill="hold">
                                          <p:stCondLst>
                                            <p:cond delay="0"/>
                                          </p:stCondLst>
                                        </p:cTn>
                                        <p:tgtEl>
                                          <p:spTgt spid="12"/>
                                        </p:tgtEl>
                                        <p:attrNameLst>
                                          <p:attrName>style.visibility</p:attrName>
                                        </p:attrNameLst>
                                      </p:cBhvr>
                                      <p:to>
                                        <p:strVal val="visible"/>
                                      </p:to>
                                    </p:set>
                                    <p:anim calcmode="discrete" valueType="clr">
                                      <p:cBhvr override="childStyle">
                                        <p:cTn id="49" dur="80"/>
                                        <p:tgtEl>
                                          <p:spTgt spid="12"/>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12"/>
                                        </p:tgtEl>
                                        <p:attrNameLst>
                                          <p:attrName>fillcolor</p:attrName>
                                        </p:attrNameLst>
                                      </p:cBhvr>
                                      <p:tavLst>
                                        <p:tav tm="0">
                                          <p:val>
                                            <p:clrVal>
                                              <a:schemeClr val="accent2"/>
                                            </p:clrVal>
                                          </p:val>
                                        </p:tav>
                                        <p:tav tm="50000">
                                          <p:val>
                                            <p:clrVal>
                                              <a:schemeClr val="hlink"/>
                                            </p:clrVal>
                                          </p:val>
                                        </p:tav>
                                      </p:tavLst>
                                    </p:anim>
                                    <p:set>
                                      <p:cBhvr>
                                        <p:cTn id="51" dur="80"/>
                                        <p:tgtEl>
                                          <p:spTgt spid="12"/>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35849"/>
                                        </p:tgtEl>
                                        <p:attrNameLst>
                                          <p:attrName>style.visibility</p:attrName>
                                        </p:attrNameLst>
                                      </p:cBhvr>
                                      <p:to>
                                        <p:strVal val="visible"/>
                                      </p:to>
                                    </p:set>
                                    <p:animEffect transition="in" filter="checkerboard(across)">
                                      <p:cBhvr>
                                        <p:cTn id="56" dur="500"/>
                                        <p:tgtEl>
                                          <p:spTgt spid="35849"/>
                                        </p:tgtEl>
                                      </p:cBhvr>
                                    </p:animEffect>
                                  </p:childTnLst>
                                </p:cTn>
                              </p:par>
                              <p:par>
                                <p:cTn id="57" presetID="5" presetClass="entr" presetSubtype="10" fill="hold" grpId="0" nodeType="withEffect">
                                  <p:stCondLst>
                                    <p:cond delay="0"/>
                                  </p:stCondLst>
                                  <p:childTnLst>
                                    <p:set>
                                      <p:cBhvr>
                                        <p:cTn id="58" dur="1" fill="hold">
                                          <p:stCondLst>
                                            <p:cond delay="0"/>
                                          </p:stCondLst>
                                        </p:cTn>
                                        <p:tgtEl>
                                          <p:spTgt spid="35855"/>
                                        </p:tgtEl>
                                        <p:attrNameLst>
                                          <p:attrName>style.visibility</p:attrName>
                                        </p:attrNameLst>
                                      </p:cBhvr>
                                      <p:to>
                                        <p:strVal val="visible"/>
                                      </p:to>
                                    </p:set>
                                    <p:animEffect transition="in" filter="checkerboard(across)">
                                      <p:cBhvr>
                                        <p:cTn id="59" dur="500"/>
                                        <p:tgtEl>
                                          <p:spTgt spid="35855"/>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35856"/>
                                        </p:tgtEl>
                                        <p:attrNameLst>
                                          <p:attrName>style.visibility</p:attrName>
                                        </p:attrNameLst>
                                      </p:cBhvr>
                                      <p:to>
                                        <p:strVal val="visible"/>
                                      </p:to>
                                    </p:set>
                                    <p:animEffect transition="in" filter="checkerboard(across)">
                                      <p:cBhvr>
                                        <p:cTn id="62" dur="500"/>
                                        <p:tgtEl>
                                          <p:spTgt spid="35856"/>
                                        </p:tgtEl>
                                      </p:cBhvr>
                                    </p:animEffect>
                                  </p:childTnLst>
                                </p:cTn>
                              </p:par>
                              <p:par>
                                <p:cTn id="63" presetID="5" presetClass="entr" presetSubtype="10" fill="hold" grpId="0" nodeType="withEffect">
                                  <p:stCondLst>
                                    <p:cond delay="0"/>
                                  </p:stCondLst>
                                  <p:childTnLst>
                                    <p:set>
                                      <p:cBhvr>
                                        <p:cTn id="64" dur="1" fill="hold">
                                          <p:stCondLst>
                                            <p:cond delay="0"/>
                                          </p:stCondLst>
                                        </p:cTn>
                                        <p:tgtEl>
                                          <p:spTgt spid="35857"/>
                                        </p:tgtEl>
                                        <p:attrNameLst>
                                          <p:attrName>style.visibility</p:attrName>
                                        </p:attrNameLst>
                                      </p:cBhvr>
                                      <p:to>
                                        <p:strVal val="visible"/>
                                      </p:to>
                                    </p:set>
                                    <p:animEffect transition="in" filter="checkerboard(across)">
                                      <p:cBhvr>
                                        <p:cTn id="65" dur="500"/>
                                        <p:tgtEl>
                                          <p:spTgt spid="35857"/>
                                        </p:tgtEl>
                                      </p:cBhvr>
                                    </p:animEffect>
                                  </p:childTnLst>
                                </p:cTn>
                              </p:par>
                            </p:childTnLst>
                          </p:cTn>
                        </p:par>
                      </p:childTnLst>
                    </p:cTn>
                  </p:par>
                  <p:par>
                    <p:cTn id="66" fill="hold">
                      <p:stCondLst>
                        <p:cond delay="indefinite"/>
                      </p:stCondLst>
                      <p:childTnLst>
                        <p:par>
                          <p:cTn id="67" fill="hold">
                            <p:stCondLst>
                              <p:cond delay="0"/>
                            </p:stCondLst>
                            <p:childTnLst>
                              <p:par>
                                <p:cTn id="68" presetID="5" presetClass="entr" presetSubtype="10" fill="hold" grpId="0" nodeType="clickEffect">
                                  <p:stCondLst>
                                    <p:cond delay="0"/>
                                  </p:stCondLst>
                                  <p:childTnLst>
                                    <p:set>
                                      <p:cBhvr>
                                        <p:cTn id="69" dur="1" fill="hold">
                                          <p:stCondLst>
                                            <p:cond delay="0"/>
                                          </p:stCondLst>
                                        </p:cTn>
                                        <p:tgtEl>
                                          <p:spTgt spid="35850"/>
                                        </p:tgtEl>
                                        <p:attrNameLst>
                                          <p:attrName>style.visibility</p:attrName>
                                        </p:attrNameLst>
                                      </p:cBhvr>
                                      <p:to>
                                        <p:strVal val="visible"/>
                                      </p:to>
                                    </p:set>
                                    <p:animEffect transition="in" filter="checkerboard(across)">
                                      <p:cBhvr>
                                        <p:cTn id="70" dur="500"/>
                                        <p:tgtEl>
                                          <p:spTgt spid="35850"/>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35858"/>
                                        </p:tgtEl>
                                        <p:attrNameLst>
                                          <p:attrName>style.visibility</p:attrName>
                                        </p:attrNameLst>
                                      </p:cBhvr>
                                      <p:to>
                                        <p:strVal val="visible"/>
                                      </p:to>
                                    </p:set>
                                    <p:animEffect transition="in" filter="checkerboard(across)">
                                      <p:cBhvr>
                                        <p:cTn id="73" dur="500"/>
                                        <p:tgtEl>
                                          <p:spTgt spid="35858"/>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35859"/>
                                        </p:tgtEl>
                                        <p:attrNameLst>
                                          <p:attrName>style.visibility</p:attrName>
                                        </p:attrNameLst>
                                      </p:cBhvr>
                                      <p:to>
                                        <p:strVal val="visible"/>
                                      </p:to>
                                    </p:set>
                                    <p:animEffect transition="in" filter="checkerboard(across)">
                                      <p:cBhvr>
                                        <p:cTn id="76" dur="500"/>
                                        <p:tgtEl>
                                          <p:spTgt spid="35859"/>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7" presetClass="entr" presetSubtype="1" fill="hold" nodeType="clickEffect">
                                  <p:stCondLst>
                                    <p:cond delay="0"/>
                                  </p:stCondLst>
                                  <p:childTnLst>
                                    <p:set>
                                      <p:cBhvr>
                                        <p:cTn id="88" dur="1" fill="hold">
                                          <p:stCondLst>
                                            <p:cond delay="0"/>
                                          </p:stCondLst>
                                        </p:cTn>
                                        <p:tgtEl>
                                          <p:spTgt spid="19"/>
                                        </p:tgtEl>
                                        <p:attrNameLst>
                                          <p:attrName>style.visibility</p:attrName>
                                        </p:attrNameLst>
                                      </p:cBhvr>
                                      <p:to>
                                        <p:strVal val="visible"/>
                                      </p:to>
                                    </p:set>
                                    <p:anim calcmode="lin" valueType="num">
                                      <p:cBhvr>
                                        <p:cTn id="89" dur="500" fill="hold"/>
                                        <p:tgtEl>
                                          <p:spTgt spid="19"/>
                                        </p:tgtEl>
                                        <p:attrNameLst>
                                          <p:attrName>ppt_x</p:attrName>
                                        </p:attrNameLst>
                                      </p:cBhvr>
                                      <p:tavLst>
                                        <p:tav tm="0">
                                          <p:val>
                                            <p:strVal val="#ppt_x"/>
                                          </p:val>
                                        </p:tav>
                                        <p:tav tm="100000">
                                          <p:val>
                                            <p:strVal val="#ppt_x"/>
                                          </p:val>
                                        </p:tav>
                                      </p:tavLst>
                                    </p:anim>
                                    <p:anim calcmode="lin" valueType="num">
                                      <p:cBhvr>
                                        <p:cTn id="90" dur="500" fill="hold"/>
                                        <p:tgtEl>
                                          <p:spTgt spid="19"/>
                                        </p:tgtEl>
                                        <p:attrNameLst>
                                          <p:attrName>ppt_y</p:attrName>
                                        </p:attrNameLst>
                                      </p:cBhvr>
                                      <p:tavLst>
                                        <p:tav tm="0">
                                          <p:val>
                                            <p:strVal val="#ppt_y-#ppt_h/2"/>
                                          </p:val>
                                        </p:tav>
                                        <p:tav tm="100000">
                                          <p:val>
                                            <p:strVal val="#ppt_y"/>
                                          </p:val>
                                        </p:tav>
                                      </p:tavLst>
                                    </p:anim>
                                    <p:anim calcmode="lin" valueType="num">
                                      <p:cBhvr>
                                        <p:cTn id="91" dur="500" fill="hold"/>
                                        <p:tgtEl>
                                          <p:spTgt spid="19"/>
                                        </p:tgtEl>
                                        <p:attrNameLst>
                                          <p:attrName>ppt_w</p:attrName>
                                        </p:attrNameLst>
                                      </p:cBhvr>
                                      <p:tavLst>
                                        <p:tav tm="0">
                                          <p:val>
                                            <p:strVal val="#ppt_w"/>
                                          </p:val>
                                        </p:tav>
                                        <p:tav tm="100000">
                                          <p:val>
                                            <p:strVal val="#ppt_w"/>
                                          </p:val>
                                        </p:tav>
                                      </p:tavLst>
                                    </p:anim>
                                    <p:anim calcmode="lin" valueType="num">
                                      <p:cBhvr>
                                        <p:cTn id="92"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7" presetClass="entr" presetSubtype="1" fill="hold" nodeType="clickEffect">
                                  <p:stCondLst>
                                    <p:cond delay="0"/>
                                  </p:stCondLst>
                                  <p:childTnLst>
                                    <p:set>
                                      <p:cBhvr>
                                        <p:cTn id="96" dur="1" fill="hold">
                                          <p:stCondLst>
                                            <p:cond delay="0"/>
                                          </p:stCondLst>
                                        </p:cTn>
                                        <p:tgtEl>
                                          <p:spTgt spid="39"/>
                                        </p:tgtEl>
                                        <p:attrNameLst>
                                          <p:attrName>style.visibility</p:attrName>
                                        </p:attrNameLst>
                                      </p:cBhvr>
                                      <p:to>
                                        <p:strVal val="visible"/>
                                      </p:to>
                                    </p:set>
                                    <p:anim calcmode="lin" valueType="num">
                                      <p:cBhvr>
                                        <p:cTn id="97" dur="500" fill="hold"/>
                                        <p:tgtEl>
                                          <p:spTgt spid="39"/>
                                        </p:tgtEl>
                                        <p:attrNameLst>
                                          <p:attrName>ppt_x</p:attrName>
                                        </p:attrNameLst>
                                      </p:cBhvr>
                                      <p:tavLst>
                                        <p:tav tm="0">
                                          <p:val>
                                            <p:strVal val="#ppt_x"/>
                                          </p:val>
                                        </p:tav>
                                        <p:tav tm="100000">
                                          <p:val>
                                            <p:strVal val="#ppt_x"/>
                                          </p:val>
                                        </p:tav>
                                      </p:tavLst>
                                    </p:anim>
                                    <p:anim calcmode="lin" valueType="num">
                                      <p:cBhvr>
                                        <p:cTn id="98" dur="500" fill="hold"/>
                                        <p:tgtEl>
                                          <p:spTgt spid="39"/>
                                        </p:tgtEl>
                                        <p:attrNameLst>
                                          <p:attrName>ppt_y</p:attrName>
                                        </p:attrNameLst>
                                      </p:cBhvr>
                                      <p:tavLst>
                                        <p:tav tm="0">
                                          <p:val>
                                            <p:strVal val="#ppt_y-#ppt_h/2"/>
                                          </p:val>
                                        </p:tav>
                                        <p:tav tm="100000">
                                          <p:val>
                                            <p:strVal val="#ppt_y"/>
                                          </p:val>
                                        </p:tav>
                                      </p:tavLst>
                                    </p:anim>
                                    <p:anim calcmode="lin" valueType="num">
                                      <p:cBhvr>
                                        <p:cTn id="99" dur="500" fill="hold"/>
                                        <p:tgtEl>
                                          <p:spTgt spid="39"/>
                                        </p:tgtEl>
                                        <p:attrNameLst>
                                          <p:attrName>ppt_w</p:attrName>
                                        </p:attrNameLst>
                                      </p:cBhvr>
                                      <p:tavLst>
                                        <p:tav tm="0">
                                          <p:val>
                                            <p:strVal val="#ppt_w"/>
                                          </p:val>
                                        </p:tav>
                                        <p:tav tm="100000">
                                          <p:val>
                                            <p:strVal val="#ppt_w"/>
                                          </p:val>
                                        </p:tav>
                                      </p:tavLst>
                                    </p:anim>
                                    <p:anim calcmode="lin" valueType="num">
                                      <p:cBhvr>
                                        <p:cTn id="100" dur="500" fill="hold"/>
                                        <p:tgtEl>
                                          <p:spTgt spid="3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nimBg="1"/>
      <p:bldP spid="35844" grpId="0"/>
      <p:bldP spid="35845" grpId="0"/>
      <p:bldP spid="35846" grpId="0"/>
      <p:bldP spid="35847" grpId="0" animBg="1"/>
      <p:bldP spid="35847" grpId="1" animBg="1"/>
      <p:bldP spid="35848" grpId="0" animBg="1"/>
      <p:bldP spid="35848" grpId="1" animBg="1"/>
      <p:bldP spid="35848" grpId="2" animBg="1"/>
      <p:bldP spid="35849" grpId="0" animBg="1"/>
      <p:bldP spid="35850" grpId="0" animBg="1"/>
      <p:bldP spid="35851" grpId="0"/>
      <p:bldP spid="35851" grpId="1"/>
      <p:bldP spid="35851" grpId="2"/>
      <p:bldP spid="35852" grpId="0"/>
      <p:bldP spid="35852" grpId="1"/>
      <p:bldP spid="35852" grpId="2"/>
      <p:bldP spid="35853" grpId="0"/>
      <p:bldP spid="35853" grpId="1"/>
      <p:bldP spid="35854" grpId="0"/>
      <p:bldP spid="35854" grpId="1"/>
      <p:bldP spid="35855" grpId="0"/>
      <p:bldP spid="35856" grpId="0"/>
      <p:bldP spid="35857" grpId="0"/>
      <p:bldP spid="35858" grpId="0"/>
      <p:bldP spid="35859" grpId="0"/>
      <p:bldP spid="12" grpId="0"/>
      <p:bldP spid="12" grpId="1"/>
      <p:bldP spid="12"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vert="horz" wrap="square" lIns="91440" tIns="45720" rIns="91440" bIns="45720" anchor="ctr"/>
          <a:lstStyle/>
          <a:p>
            <a:r>
              <a:rPr lang="zh-CN" altLang="en-US" dirty="0">
                <a:latin typeface="+mj-lt"/>
                <a:ea typeface="+mj-ea"/>
                <a:cs typeface="+mj-cs"/>
              </a:rPr>
              <a:t>线性表的</a:t>
            </a:r>
            <a:r>
              <a:rPr lang="zh-CN" altLang="en-US" dirty="0"/>
              <a:t>概念</a:t>
            </a:r>
            <a:endParaRPr lang="en-US" altLang="zh-CN" dirty="0">
              <a:latin typeface="+mj-lt"/>
              <a:ea typeface="+mj-ea"/>
              <a:cs typeface="+mj-cs"/>
            </a:endParaRPr>
          </a:p>
        </p:txBody>
      </p:sp>
      <p:sp>
        <p:nvSpPr>
          <p:cNvPr id="8195" name="Content Placeholder 2"/>
          <p:cNvSpPr>
            <a:spLocks noGrp="1"/>
          </p:cNvSpPr>
          <p:nvPr>
            <p:ph idx="1"/>
          </p:nvPr>
        </p:nvSpPr>
        <p:spPr/>
        <p:txBody>
          <a:bodyPr vert="horz" wrap="square" lIns="91440" tIns="45720" rIns="91440" bIns="45720" anchor="t"/>
          <a:lstStyle/>
          <a:p>
            <a:r>
              <a:rPr lang="zh-CN" altLang="en-US" dirty="0">
                <a:solidFill>
                  <a:srgbClr val="FF0000"/>
                </a:solidFill>
                <a:latin typeface="+mn-lt"/>
                <a:ea typeface="黑体" panose="02010609060101010101" pitchFamily="49" charset="-122"/>
                <a:cs typeface="+mn-cs"/>
              </a:rPr>
              <a:t>线性表</a:t>
            </a:r>
            <a:r>
              <a:rPr lang="zh-CN" altLang="en-US" dirty="0">
                <a:latin typeface="+mn-lt"/>
                <a:ea typeface="+mn-ea"/>
                <a:cs typeface="+mn-cs"/>
              </a:rPr>
              <a:t>是由</a:t>
            </a:r>
            <a:r>
              <a:rPr lang="en-US" altLang="zh-CN" dirty="0">
                <a:latin typeface="+mn-lt"/>
                <a:ea typeface="+mn-ea"/>
                <a:cs typeface="+mn-cs"/>
              </a:rPr>
              <a:t>n</a:t>
            </a:r>
            <a:r>
              <a:rPr lang="zh-CN" altLang="en-US" dirty="0">
                <a:latin typeface="+mn-lt"/>
                <a:ea typeface="+mn-ea"/>
                <a:cs typeface="+mn-cs"/>
              </a:rPr>
              <a:t>（</a:t>
            </a:r>
            <a:r>
              <a:rPr lang="en-US" altLang="zh-CN" dirty="0">
                <a:latin typeface="+mn-lt"/>
                <a:ea typeface="+mn-ea"/>
                <a:cs typeface="+mn-cs"/>
              </a:rPr>
              <a:t>n</a:t>
            </a:r>
            <a:r>
              <a:rPr lang="en-US" altLang="zh-CN" dirty="0">
                <a:latin typeface="宋体" panose="02010600030101010101" pitchFamily="2" charset="-122"/>
                <a:ea typeface="+mn-ea"/>
                <a:cs typeface="+mn-cs"/>
              </a:rPr>
              <a:t>≥</a:t>
            </a:r>
            <a:r>
              <a:rPr lang="en-US" altLang="zh-CN" dirty="0">
                <a:latin typeface="+mn-lt"/>
                <a:ea typeface="+mn-ea"/>
                <a:cs typeface="+mn-cs"/>
              </a:rPr>
              <a:t>0</a:t>
            </a:r>
            <a:r>
              <a:rPr lang="zh-CN" altLang="en-US" dirty="0">
                <a:latin typeface="+mn-lt"/>
                <a:ea typeface="+mn-ea"/>
                <a:cs typeface="+mn-cs"/>
              </a:rPr>
              <a:t>）个</a:t>
            </a:r>
            <a:r>
              <a:rPr lang="zh-CN" altLang="en-US" dirty="0">
                <a:solidFill>
                  <a:srgbClr val="00B050"/>
                </a:solidFill>
                <a:latin typeface="+mn-lt"/>
                <a:ea typeface="+mn-ea"/>
                <a:cs typeface="+mn-cs"/>
              </a:rPr>
              <a:t>类型相同</a:t>
            </a:r>
            <a:r>
              <a:rPr lang="zh-CN" altLang="en-US" dirty="0">
                <a:latin typeface="+mn-lt"/>
                <a:ea typeface="+mn-ea"/>
                <a:cs typeface="+mn-cs"/>
              </a:rPr>
              <a:t>的数据元素组成的</a:t>
            </a:r>
            <a:r>
              <a:rPr lang="zh-CN" altLang="en-US" dirty="0">
                <a:solidFill>
                  <a:srgbClr val="00B050"/>
                </a:solidFill>
                <a:latin typeface="+mn-lt"/>
                <a:ea typeface="+mn-ea"/>
                <a:cs typeface="+mn-cs"/>
              </a:rPr>
              <a:t>有限序列</a:t>
            </a:r>
            <a:endParaRPr lang="en-US" altLang="zh-CN" dirty="0">
              <a:solidFill>
                <a:srgbClr val="00B050"/>
              </a:solidFill>
              <a:latin typeface="+mn-lt"/>
              <a:ea typeface="+mn-ea"/>
              <a:cs typeface="+mn-cs"/>
            </a:endParaRPr>
          </a:p>
          <a:p>
            <a:r>
              <a:rPr lang="en-US" altLang="zh-CN" dirty="0">
                <a:latin typeface="+mn-lt"/>
                <a:ea typeface="+mn-ea"/>
                <a:cs typeface="+mn-cs"/>
              </a:rPr>
              <a:t>L=( a</a:t>
            </a:r>
            <a:r>
              <a:rPr lang="en-US" altLang="zh-CN" baseline="-25000" dirty="0">
                <a:latin typeface="+mn-lt"/>
                <a:ea typeface="+mn-ea"/>
                <a:cs typeface="+mn-cs"/>
              </a:rPr>
              <a:t>1</a:t>
            </a:r>
            <a:r>
              <a:rPr lang="en-US" altLang="zh-CN" dirty="0">
                <a:latin typeface="+mn-lt"/>
                <a:ea typeface="+mn-ea"/>
                <a:cs typeface="+mn-cs"/>
              </a:rPr>
              <a:t>, a</a:t>
            </a:r>
            <a:r>
              <a:rPr lang="en-US" altLang="zh-CN" baseline="-25000" dirty="0">
                <a:latin typeface="+mn-lt"/>
                <a:ea typeface="+mn-ea"/>
                <a:cs typeface="+mn-cs"/>
              </a:rPr>
              <a:t>2</a:t>
            </a:r>
            <a:r>
              <a:rPr lang="en-US" altLang="zh-CN" dirty="0">
                <a:latin typeface="+mn-lt"/>
                <a:ea typeface="+mn-ea"/>
                <a:cs typeface="+mn-cs"/>
              </a:rPr>
              <a:t>,...,a</a:t>
            </a:r>
            <a:r>
              <a:rPr lang="en-US" altLang="zh-CN" baseline="-25000" dirty="0">
                <a:latin typeface="+mn-lt"/>
                <a:ea typeface="+mn-ea"/>
                <a:cs typeface="+mn-cs"/>
              </a:rPr>
              <a:t>i-1</a:t>
            </a:r>
            <a:r>
              <a:rPr lang="en-US" altLang="zh-CN" dirty="0">
                <a:latin typeface="+mn-lt"/>
                <a:ea typeface="+mn-ea"/>
                <a:cs typeface="+mn-cs"/>
              </a:rPr>
              <a:t>,a</a:t>
            </a:r>
            <a:r>
              <a:rPr lang="en-US" altLang="zh-CN" baseline="-25000" dirty="0">
                <a:latin typeface="+mn-lt"/>
                <a:ea typeface="+mn-ea"/>
                <a:cs typeface="+mn-cs"/>
              </a:rPr>
              <a:t>i</a:t>
            </a:r>
            <a:r>
              <a:rPr lang="en-US" altLang="zh-CN" dirty="0">
                <a:latin typeface="+mn-lt"/>
                <a:ea typeface="+mn-ea"/>
                <a:cs typeface="+mn-cs"/>
              </a:rPr>
              <a:t>,a</a:t>
            </a:r>
            <a:r>
              <a:rPr lang="en-US" altLang="zh-CN" baseline="-25000" dirty="0">
                <a:latin typeface="+mn-lt"/>
                <a:ea typeface="+mn-ea"/>
                <a:cs typeface="+mn-cs"/>
              </a:rPr>
              <a:t>i+1</a:t>
            </a:r>
            <a:r>
              <a:rPr lang="en-US" altLang="zh-CN" dirty="0">
                <a:latin typeface="+mn-lt"/>
                <a:ea typeface="+mn-ea"/>
                <a:cs typeface="+mn-cs"/>
              </a:rPr>
              <a:t>,...,a</a:t>
            </a:r>
            <a:r>
              <a:rPr lang="en-US" altLang="zh-CN" baseline="-25000" dirty="0">
                <a:latin typeface="+mn-lt"/>
                <a:ea typeface="+mn-ea"/>
                <a:cs typeface="+mn-cs"/>
              </a:rPr>
              <a:t>n</a:t>
            </a:r>
            <a:r>
              <a:rPr lang="en-US" altLang="zh-CN" dirty="0">
                <a:latin typeface="+mn-lt"/>
                <a:ea typeface="+mn-ea"/>
                <a:cs typeface="+mn-cs"/>
              </a:rPr>
              <a:t>)</a:t>
            </a:r>
          </a:p>
          <a:p>
            <a:pPr lvl="1"/>
            <a:r>
              <a:rPr lang="en-US" altLang="zh-CN" dirty="0">
                <a:latin typeface="+mn-lt"/>
                <a:ea typeface="+mn-ea"/>
              </a:rPr>
              <a:t>L</a:t>
            </a:r>
            <a:r>
              <a:rPr lang="zh-CN" altLang="en-US" dirty="0">
                <a:latin typeface="+mn-lt"/>
                <a:ea typeface="+mn-ea"/>
              </a:rPr>
              <a:t>为表名，习惯用大写书写</a:t>
            </a:r>
            <a:endParaRPr lang="en-US" altLang="zh-CN" dirty="0">
              <a:latin typeface="+mn-lt"/>
              <a:ea typeface="+mn-ea"/>
            </a:endParaRPr>
          </a:p>
          <a:p>
            <a:pPr lvl="1"/>
            <a:r>
              <a:rPr lang="en-US" altLang="zh-CN" dirty="0">
                <a:latin typeface="+mn-lt"/>
                <a:ea typeface="+mn-ea"/>
              </a:rPr>
              <a:t>a</a:t>
            </a:r>
            <a:r>
              <a:rPr lang="en-US" altLang="zh-CN" baseline="-25000" dirty="0">
                <a:latin typeface="+mn-lt"/>
                <a:ea typeface="+mn-ea"/>
              </a:rPr>
              <a:t>i</a:t>
            </a:r>
            <a:r>
              <a:rPr lang="zh-CN" altLang="en-US" dirty="0">
                <a:latin typeface="+mn-lt"/>
                <a:ea typeface="+mn-ea"/>
              </a:rPr>
              <a:t>为该线性表的数据元素，习惯用小写书写</a:t>
            </a:r>
            <a:endParaRPr lang="en-US" altLang="zh-CN" dirty="0">
              <a:latin typeface="+mn-lt"/>
              <a:ea typeface="+mn-ea"/>
            </a:endParaRPr>
          </a:p>
          <a:p>
            <a:r>
              <a:rPr lang="zh-CN" altLang="en-US" dirty="0">
                <a:latin typeface="+mn-lt"/>
                <a:ea typeface="+mn-ea"/>
                <a:cs typeface="+mn-cs"/>
              </a:rPr>
              <a:t>线性表中相邻数据元素之间存在着</a:t>
            </a:r>
            <a:r>
              <a:rPr lang="zh-CN" altLang="en-US" dirty="0">
                <a:solidFill>
                  <a:srgbClr val="FF6600"/>
                </a:solidFill>
                <a:latin typeface="+mn-lt"/>
                <a:ea typeface="+mn-ea"/>
                <a:cs typeface="+mn-cs"/>
              </a:rPr>
              <a:t>线性关系</a:t>
            </a:r>
            <a:endParaRPr lang="en-US" altLang="zh-CN" dirty="0">
              <a:solidFill>
                <a:srgbClr val="FF6600"/>
              </a:solidFill>
              <a:latin typeface="+mn-lt"/>
              <a:ea typeface="+mn-ea"/>
              <a:cs typeface="+mn-cs"/>
            </a:endParaRPr>
          </a:p>
          <a:p>
            <a:endParaRPr lang="en-US" altLang="zh-CN" dirty="0">
              <a:solidFill>
                <a:schemeClr val="folHlink"/>
              </a:solidFill>
              <a:latin typeface="+mn-lt"/>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vert="horz" wrap="square" lIns="91440" tIns="45720" rIns="91440" bIns="45720" anchor="ctr"/>
          <a:lstStyle/>
          <a:p>
            <a:r>
              <a:rPr lang="zh-CN" altLang="en-US" dirty="0"/>
              <a:t>线性表的概念</a:t>
            </a:r>
            <a:endParaRPr lang="en-US" altLang="zh-CN" dirty="0">
              <a:latin typeface="+mj-lt"/>
              <a:ea typeface="+mj-ea"/>
              <a:cs typeface="+mj-cs"/>
            </a:endParaRPr>
          </a:p>
        </p:txBody>
      </p:sp>
      <p:sp>
        <p:nvSpPr>
          <p:cNvPr id="9219" name="Content Placeholder 2"/>
          <p:cNvSpPr>
            <a:spLocks noGrp="1"/>
          </p:cNvSpPr>
          <p:nvPr>
            <p:ph idx="1"/>
          </p:nvPr>
        </p:nvSpPr>
        <p:spPr/>
        <p:txBody>
          <a:bodyPr vert="horz" wrap="square" lIns="91440" tIns="45720" rIns="91440" bIns="45720" anchor="t"/>
          <a:lstStyle/>
          <a:p>
            <a:r>
              <a:rPr lang="en-US" altLang="zh-CN" dirty="0"/>
              <a:t>L=( a</a:t>
            </a:r>
            <a:r>
              <a:rPr lang="en-US" altLang="zh-CN" baseline="-25000" dirty="0"/>
              <a:t>1</a:t>
            </a:r>
            <a:r>
              <a:rPr lang="en-US" altLang="zh-CN" dirty="0"/>
              <a:t>, a</a:t>
            </a:r>
            <a:r>
              <a:rPr lang="en-US" altLang="zh-CN" baseline="-25000" dirty="0"/>
              <a:t>2</a:t>
            </a:r>
            <a:r>
              <a:rPr lang="en-US" altLang="zh-CN" dirty="0"/>
              <a:t>,...,a</a:t>
            </a:r>
            <a:r>
              <a:rPr lang="en-US" altLang="zh-CN" baseline="-25000" dirty="0"/>
              <a:t>i-1</a:t>
            </a:r>
            <a:r>
              <a:rPr lang="en-US" altLang="zh-CN" dirty="0"/>
              <a:t>,a</a:t>
            </a:r>
            <a:r>
              <a:rPr lang="en-US" altLang="zh-CN" baseline="-25000" dirty="0"/>
              <a:t>i</a:t>
            </a:r>
            <a:r>
              <a:rPr lang="en-US" altLang="zh-CN" dirty="0"/>
              <a:t>,a</a:t>
            </a:r>
            <a:r>
              <a:rPr lang="en-US" altLang="zh-CN" baseline="-25000" dirty="0"/>
              <a:t>i+1</a:t>
            </a:r>
            <a:r>
              <a:rPr lang="en-US" altLang="zh-CN" dirty="0"/>
              <a:t>,...,a</a:t>
            </a:r>
            <a:r>
              <a:rPr lang="en-US" altLang="zh-CN" baseline="-25000" dirty="0"/>
              <a:t>n</a:t>
            </a:r>
            <a:r>
              <a:rPr lang="en-US" altLang="zh-CN" dirty="0"/>
              <a:t>)</a:t>
            </a:r>
            <a:endParaRPr lang="en-US" altLang="zh-CN" dirty="0">
              <a:latin typeface="+mn-lt"/>
              <a:ea typeface="+mn-ea"/>
              <a:cs typeface="+mn-cs"/>
            </a:endParaRPr>
          </a:p>
          <a:p>
            <a:r>
              <a:rPr lang="zh-CN" altLang="en-US" dirty="0">
                <a:latin typeface="+mn-lt"/>
                <a:ea typeface="+mn-ea"/>
                <a:cs typeface="+mn-cs"/>
              </a:rPr>
              <a:t>线性表中数据元素的个数被称为</a:t>
            </a:r>
            <a:r>
              <a:rPr lang="zh-CN" altLang="en-US" dirty="0">
                <a:solidFill>
                  <a:srgbClr val="008000"/>
                </a:solidFill>
                <a:latin typeface="+mn-lt"/>
                <a:ea typeface="黑体" panose="02010609060101010101" pitchFamily="49" charset="-122"/>
                <a:cs typeface="+mn-cs"/>
              </a:rPr>
              <a:t>线性表的长度</a:t>
            </a:r>
            <a:endParaRPr lang="en-US" altLang="zh-CN" dirty="0">
              <a:solidFill>
                <a:srgbClr val="008000"/>
              </a:solidFill>
              <a:latin typeface="+mn-lt"/>
              <a:ea typeface="+mn-ea"/>
              <a:cs typeface="+mn-cs"/>
            </a:endParaRPr>
          </a:p>
          <a:p>
            <a:r>
              <a:rPr lang="zh-CN" altLang="en-US" dirty="0">
                <a:latin typeface="+mn-lt"/>
                <a:ea typeface="+mn-ea"/>
                <a:cs typeface="+mn-cs"/>
              </a:rPr>
              <a:t>当</a:t>
            </a:r>
            <a:r>
              <a:rPr lang="en-US" altLang="zh-CN" dirty="0">
                <a:latin typeface="+mn-lt"/>
                <a:ea typeface="+mn-ea"/>
                <a:cs typeface="+mn-cs"/>
              </a:rPr>
              <a:t>n=0</a:t>
            </a:r>
            <a:r>
              <a:rPr lang="zh-CN" altLang="en-US" dirty="0">
                <a:latin typeface="+mn-lt"/>
                <a:ea typeface="+mn-ea"/>
                <a:cs typeface="+mn-cs"/>
              </a:rPr>
              <a:t>时，称为</a:t>
            </a:r>
            <a:r>
              <a:rPr lang="zh-CN" altLang="en-US" dirty="0">
                <a:solidFill>
                  <a:srgbClr val="008000"/>
                </a:solidFill>
                <a:latin typeface="+mn-lt"/>
                <a:ea typeface="黑体" panose="02010609060101010101" pitchFamily="49" charset="-122"/>
                <a:cs typeface="+mn-cs"/>
              </a:rPr>
              <a:t>空线性表</a:t>
            </a:r>
            <a:endParaRPr lang="en-US" altLang="zh-CN" dirty="0">
              <a:solidFill>
                <a:srgbClr val="008000"/>
              </a:solidFill>
              <a:latin typeface="+mn-lt"/>
              <a:ea typeface="黑体" panose="02010609060101010101" pitchFamily="49" charset="-122"/>
              <a:cs typeface="+mn-cs"/>
            </a:endParaRPr>
          </a:p>
          <a:p>
            <a:r>
              <a:rPr lang="en-US" altLang="zh-CN" dirty="0">
                <a:ea typeface="黑体" panose="02010609060101010101" pitchFamily="49" charset="-122"/>
              </a:rPr>
              <a:t>1&lt;</a:t>
            </a:r>
            <a:r>
              <a:rPr lang="en-US" altLang="zh-CN" dirty="0" err="1">
                <a:ea typeface="黑体" panose="02010609060101010101" pitchFamily="49" charset="-122"/>
              </a:rPr>
              <a:t>i</a:t>
            </a:r>
            <a:r>
              <a:rPr lang="en-US" altLang="zh-CN" dirty="0">
                <a:ea typeface="黑体" panose="02010609060101010101" pitchFamily="49" charset="-122"/>
              </a:rPr>
              <a:t>&lt;=n</a:t>
            </a:r>
            <a:r>
              <a:rPr lang="zh-CN" altLang="en-US" dirty="0">
                <a:ea typeface="黑体" panose="02010609060101010101" pitchFamily="49" charset="-122"/>
              </a:rPr>
              <a:t>时，</a:t>
            </a:r>
            <a:r>
              <a:rPr lang="en-US" altLang="zh-CN" dirty="0" err="1">
                <a:latin typeface="+mn-lt"/>
                <a:ea typeface="黑体" panose="02010609060101010101" pitchFamily="49" charset="-122"/>
              </a:rPr>
              <a:t>a</a:t>
            </a:r>
            <a:r>
              <a:rPr lang="en-US" altLang="zh-CN" baseline="-25000" dirty="0" err="1">
                <a:latin typeface="+mn-lt"/>
                <a:ea typeface="黑体" panose="02010609060101010101" pitchFamily="49" charset="-122"/>
              </a:rPr>
              <a:t>i</a:t>
            </a:r>
            <a:r>
              <a:rPr lang="zh-CN" altLang="en-US" dirty="0">
                <a:latin typeface="+mn-lt"/>
                <a:ea typeface="黑体" panose="02010609060101010101" pitchFamily="49" charset="-122"/>
              </a:rPr>
              <a:t>的</a:t>
            </a:r>
            <a:r>
              <a:rPr lang="en-US" altLang="zh-CN" dirty="0">
                <a:solidFill>
                  <a:srgbClr val="4C34FE"/>
                </a:solidFill>
                <a:latin typeface="+mn-lt"/>
                <a:ea typeface="黑体" panose="02010609060101010101" pitchFamily="49" charset="-122"/>
              </a:rPr>
              <a:t>(</a:t>
            </a:r>
            <a:r>
              <a:rPr lang="zh-CN" altLang="en-US" dirty="0">
                <a:solidFill>
                  <a:srgbClr val="4C34FE"/>
                </a:solidFill>
                <a:latin typeface="+mn-lt"/>
                <a:ea typeface="黑体" panose="02010609060101010101" pitchFamily="49" charset="-122"/>
              </a:rPr>
              <a:t>直接</a:t>
            </a:r>
            <a:r>
              <a:rPr lang="en-US" altLang="zh-CN" dirty="0">
                <a:solidFill>
                  <a:srgbClr val="4C34FE"/>
                </a:solidFill>
                <a:latin typeface="+mn-lt"/>
                <a:ea typeface="黑体" panose="02010609060101010101" pitchFamily="49" charset="-122"/>
              </a:rPr>
              <a:t>)</a:t>
            </a:r>
            <a:r>
              <a:rPr lang="zh-CN" altLang="en-US" dirty="0">
                <a:solidFill>
                  <a:srgbClr val="4C34FE"/>
                </a:solidFill>
                <a:latin typeface="+mn-lt"/>
                <a:ea typeface="黑体" panose="02010609060101010101" pitchFamily="49" charset="-122"/>
              </a:rPr>
              <a:t>前驱</a:t>
            </a:r>
            <a:r>
              <a:rPr lang="zh-CN" altLang="en-US" dirty="0">
                <a:latin typeface="+mn-lt"/>
                <a:ea typeface="黑体" panose="02010609060101010101" pitchFamily="49" charset="-122"/>
              </a:rPr>
              <a:t>是</a:t>
            </a:r>
            <a:r>
              <a:rPr lang="en-US" altLang="zh-CN" dirty="0">
                <a:latin typeface="+mn-lt"/>
                <a:ea typeface="黑体" panose="02010609060101010101" pitchFamily="49" charset="-122"/>
              </a:rPr>
              <a:t>a</a:t>
            </a:r>
            <a:r>
              <a:rPr lang="en-US" altLang="zh-CN" baseline="-25000" dirty="0">
                <a:latin typeface="+mn-lt"/>
                <a:ea typeface="黑体" panose="02010609060101010101" pitchFamily="49" charset="-122"/>
              </a:rPr>
              <a:t>i-1</a:t>
            </a:r>
            <a:endParaRPr lang="en-US" altLang="zh-CN" dirty="0">
              <a:ea typeface="黑体" panose="02010609060101010101" pitchFamily="49" charset="-122"/>
            </a:endParaRPr>
          </a:p>
          <a:p>
            <a:pPr lvl="1"/>
            <a:r>
              <a:rPr lang="en-US" altLang="zh-CN" dirty="0">
                <a:latin typeface="+mn-lt"/>
                <a:ea typeface="黑体" panose="02010609060101010101" pitchFamily="49" charset="-122"/>
              </a:rPr>
              <a:t>a</a:t>
            </a:r>
            <a:r>
              <a:rPr lang="en-US" altLang="zh-CN" baseline="-25000" dirty="0">
                <a:latin typeface="+mn-lt"/>
                <a:ea typeface="黑体" panose="02010609060101010101" pitchFamily="49" charset="-122"/>
              </a:rPr>
              <a:t>1</a:t>
            </a:r>
            <a:r>
              <a:rPr lang="zh-CN" altLang="en-US" dirty="0">
                <a:latin typeface="+mn-lt"/>
                <a:ea typeface="黑体" panose="02010609060101010101" pitchFamily="49" charset="-122"/>
              </a:rPr>
              <a:t>无直接前驱</a:t>
            </a:r>
          </a:p>
          <a:p>
            <a:r>
              <a:rPr lang="en-US" altLang="zh-CN" dirty="0">
                <a:ea typeface="黑体" panose="02010609060101010101" pitchFamily="49" charset="-122"/>
              </a:rPr>
              <a:t>1&lt;=</a:t>
            </a:r>
            <a:r>
              <a:rPr lang="en-US" altLang="zh-CN" dirty="0" err="1">
                <a:ea typeface="黑体" panose="02010609060101010101" pitchFamily="49" charset="-122"/>
              </a:rPr>
              <a:t>i</a:t>
            </a:r>
            <a:r>
              <a:rPr lang="en-US" altLang="zh-CN" dirty="0">
                <a:ea typeface="黑体" panose="02010609060101010101" pitchFamily="49" charset="-122"/>
              </a:rPr>
              <a:t>&lt;n</a:t>
            </a:r>
            <a:r>
              <a:rPr lang="zh-CN" altLang="en-US" dirty="0">
                <a:ea typeface="黑体" panose="02010609060101010101" pitchFamily="49" charset="-122"/>
              </a:rPr>
              <a:t>时， </a:t>
            </a:r>
            <a:r>
              <a:rPr lang="en-US" altLang="zh-CN" dirty="0" err="1">
                <a:latin typeface="+mn-lt"/>
                <a:ea typeface="黑体" panose="02010609060101010101" pitchFamily="49" charset="-122"/>
              </a:rPr>
              <a:t>a</a:t>
            </a:r>
            <a:r>
              <a:rPr lang="en-US" altLang="zh-CN" baseline="-25000" dirty="0" err="1">
                <a:latin typeface="+mn-lt"/>
                <a:ea typeface="黑体" panose="02010609060101010101" pitchFamily="49" charset="-122"/>
              </a:rPr>
              <a:t>i</a:t>
            </a:r>
            <a:r>
              <a:rPr lang="zh-CN" altLang="en-US" dirty="0">
                <a:latin typeface="+mn-lt"/>
                <a:ea typeface="黑体" panose="02010609060101010101" pitchFamily="49" charset="-122"/>
              </a:rPr>
              <a:t>的</a:t>
            </a:r>
            <a:r>
              <a:rPr lang="en-US" altLang="zh-CN" dirty="0">
                <a:solidFill>
                  <a:srgbClr val="4C34FE"/>
                </a:solidFill>
                <a:ea typeface="黑体" panose="02010609060101010101" pitchFamily="49" charset="-122"/>
              </a:rPr>
              <a:t>(</a:t>
            </a:r>
            <a:r>
              <a:rPr lang="zh-CN" altLang="en-US" dirty="0">
                <a:solidFill>
                  <a:srgbClr val="4C34FE"/>
                </a:solidFill>
                <a:ea typeface="黑体" panose="02010609060101010101" pitchFamily="49" charset="-122"/>
              </a:rPr>
              <a:t>直接</a:t>
            </a:r>
            <a:r>
              <a:rPr lang="en-US" altLang="zh-CN" dirty="0">
                <a:solidFill>
                  <a:srgbClr val="4C34FE"/>
                </a:solidFill>
                <a:ea typeface="黑体" panose="02010609060101010101" pitchFamily="49" charset="-122"/>
              </a:rPr>
              <a:t>)</a:t>
            </a:r>
            <a:r>
              <a:rPr lang="zh-CN" altLang="en-US" dirty="0">
                <a:solidFill>
                  <a:srgbClr val="4C34FE"/>
                </a:solidFill>
                <a:latin typeface="+mn-lt"/>
                <a:ea typeface="黑体" panose="02010609060101010101" pitchFamily="49" charset="-122"/>
              </a:rPr>
              <a:t>后继</a:t>
            </a:r>
            <a:r>
              <a:rPr lang="zh-CN" altLang="en-US" dirty="0">
                <a:latin typeface="+mn-lt"/>
                <a:ea typeface="黑体" panose="02010609060101010101" pitchFamily="49" charset="-122"/>
              </a:rPr>
              <a:t>是</a:t>
            </a:r>
            <a:r>
              <a:rPr lang="en-US" altLang="zh-CN" dirty="0">
                <a:latin typeface="+mn-lt"/>
                <a:ea typeface="黑体" panose="02010609060101010101" pitchFamily="49" charset="-122"/>
              </a:rPr>
              <a:t>a</a:t>
            </a:r>
            <a:r>
              <a:rPr lang="en-US" altLang="zh-CN" baseline="-25000" dirty="0">
                <a:latin typeface="+mn-lt"/>
                <a:ea typeface="黑体" panose="02010609060101010101" pitchFamily="49" charset="-122"/>
              </a:rPr>
              <a:t>i+1</a:t>
            </a:r>
            <a:endParaRPr lang="en-US" altLang="zh-CN" dirty="0">
              <a:ea typeface="黑体" panose="02010609060101010101" pitchFamily="49" charset="-122"/>
            </a:endParaRPr>
          </a:p>
          <a:p>
            <a:pPr lvl="1"/>
            <a:r>
              <a:rPr lang="en-US" altLang="zh-CN" dirty="0">
                <a:latin typeface="+mn-lt"/>
                <a:ea typeface="黑体" panose="02010609060101010101" pitchFamily="49" charset="-122"/>
              </a:rPr>
              <a:t>a</a:t>
            </a:r>
            <a:r>
              <a:rPr lang="en-US" altLang="zh-CN" baseline="-25000" dirty="0">
                <a:latin typeface="+mn-lt"/>
                <a:ea typeface="黑体" panose="02010609060101010101" pitchFamily="49" charset="-122"/>
              </a:rPr>
              <a:t>n</a:t>
            </a:r>
            <a:r>
              <a:rPr lang="zh-CN" altLang="en-US" dirty="0">
                <a:latin typeface="+mn-lt"/>
                <a:ea typeface="黑体" panose="02010609060101010101" pitchFamily="49" charset="-122"/>
              </a:rPr>
              <a:t>无直接后继</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21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vert="horz" wrap="square" lIns="91440" tIns="45720" rIns="91440" bIns="45720" anchor="ctr"/>
          <a:lstStyle/>
          <a:p>
            <a:r>
              <a:rPr lang="zh-CN" altLang="en-US" dirty="0"/>
              <a:t>线性表的概念</a:t>
            </a:r>
            <a:endParaRPr lang="en-US" altLang="zh-CN" dirty="0">
              <a:latin typeface="+mj-lt"/>
              <a:ea typeface="+mj-ea"/>
              <a:cs typeface="+mj-cs"/>
            </a:endParaRPr>
          </a:p>
        </p:txBody>
      </p:sp>
      <p:sp>
        <p:nvSpPr>
          <p:cNvPr id="10243" name="Content Placeholder 2"/>
          <p:cNvSpPr>
            <a:spLocks noGrp="1"/>
          </p:cNvSpPr>
          <p:nvPr>
            <p:ph idx="1"/>
          </p:nvPr>
        </p:nvSpPr>
        <p:spPr/>
        <p:txBody>
          <a:bodyPr vert="horz" wrap="square" lIns="91440" tIns="45720" rIns="91440" bIns="45720" anchor="t"/>
          <a:lstStyle/>
          <a:p>
            <a:r>
              <a:rPr lang="zh-CN" altLang="en-US" dirty="0">
                <a:latin typeface="+mn-lt"/>
                <a:ea typeface="+mn-ea"/>
                <a:cs typeface="+mn-cs"/>
              </a:rPr>
              <a:t>线性表中的数据元素也称为</a:t>
            </a:r>
            <a:r>
              <a:rPr lang="zh-CN" altLang="en-US" dirty="0">
                <a:solidFill>
                  <a:srgbClr val="008000"/>
                </a:solidFill>
                <a:latin typeface="+mn-lt"/>
                <a:ea typeface="+mn-ea"/>
                <a:cs typeface="+mn-cs"/>
              </a:rPr>
              <a:t>结点</a:t>
            </a:r>
            <a:r>
              <a:rPr lang="zh-CN" altLang="en-US" dirty="0">
                <a:latin typeface="+mn-lt"/>
                <a:ea typeface="+mn-ea"/>
                <a:cs typeface="+mn-cs"/>
              </a:rPr>
              <a:t>或记录</a:t>
            </a:r>
            <a:endParaRPr lang="en-US" altLang="zh-CN" dirty="0">
              <a:latin typeface="+mn-lt"/>
              <a:ea typeface="+mn-ea"/>
              <a:cs typeface="+mn-cs"/>
            </a:endParaRPr>
          </a:p>
          <a:p>
            <a:pPr lvl="1"/>
            <a:r>
              <a:rPr lang="zh-CN" altLang="en-US" dirty="0">
                <a:latin typeface="+mn-lt"/>
                <a:ea typeface="+mn-ea"/>
              </a:rPr>
              <a:t>可以是</a:t>
            </a:r>
            <a:r>
              <a:rPr lang="zh-CN" altLang="en-US" dirty="0">
                <a:solidFill>
                  <a:srgbClr val="DE580E"/>
                </a:solidFill>
                <a:latin typeface="+mn-lt"/>
                <a:ea typeface="+mn-ea"/>
              </a:rPr>
              <a:t>原子类型</a:t>
            </a:r>
            <a:r>
              <a:rPr lang="en-US" altLang="zh-CN" dirty="0">
                <a:latin typeface="+mn-lt"/>
                <a:ea typeface="+mn-ea"/>
              </a:rPr>
              <a:t>(</a:t>
            </a:r>
            <a:r>
              <a:rPr lang="zh-CN" altLang="en-US" dirty="0">
                <a:latin typeface="+mn-lt"/>
                <a:ea typeface="+mn-ea"/>
              </a:rPr>
              <a:t>整型等</a:t>
            </a:r>
            <a:r>
              <a:rPr lang="en-US" altLang="zh-CN" dirty="0">
                <a:latin typeface="+mn-lt"/>
                <a:ea typeface="+mn-ea"/>
              </a:rPr>
              <a:t>)</a:t>
            </a:r>
          </a:p>
          <a:p>
            <a:pPr lvl="2"/>
            <a:r>
              <a:rPr lang="zh-CN" altLang="en-US" dirty="0">
                <a:latin typeface="+mn-lt"/>
                <a:ea typeface="+mn-ea"/>
              </a:rPr>
              <a:t>每个元素只有一个数据项</a:t>
            </a:r>
            <a:endParaRPr lang="en-US" altLang="zh-CN" dirty="0">
              <a:latin typeface="+mn-lt"/>
              <a:ea typeface="+mn-ea"/>
            </a:endParaRPr>
          </a:p>
          <a:p>
            <a:pPr lvl="1"/>
            <a:r>
              <a:rPr lang="zh-CN" altLang="en-US" dirty="0">
                <a:latin typeface="+mn-lt"/>
                <a:ea typeface="+mn-ea"/>
              </a:rPr>
              <a:t>也可以是</a:t>
            </a:r>
            <a:r>
              <a:rPr lang="zh-CN" altLang="en-US" dirty="0">
                <a:solidFill>
                  <a:srgbClr val="DE580E"/>
                </a:solidFill>
                <a:latin typeface="+mn-lt"/>
                <a:ea typeface="+mn-ea"/>
              </a:rPr>
              <a:t>聚合类型</a:t>
            </a:r>
            <a:r>
              <a:rPr lang="en-US" altLang="zh-CN" dirty="0">
                <a:latin typeface="+mn-lt"/>
                <a:ea typeface="+mn-ea"/>
              </a:rPr>
              <a:t>(</a:t>
            </a:r>
            <a:r>
              <a:rPr lang="zh-CN" altLang="en-US" dirty="0">
                <a:latin typeface="+mn-lt"/>
                <a:ea typeface="+mn-ea"/>
              </a:rPr>
              <a:t>结构体类型等）</a:t>
            </a:r>
            <a:endParaRPr lang="en-US" altLang="zh-CN" dirty="0">
              <a:latin typeface="+mn-lt"/>
              <a:ea typeface="+mn-ea"/>
            </a:endParaRPr>
          </a:p>
          <a:p>
            <a:pPr lvl="2"/>
            <a:r>
              <a:rPr lang="zh-CN" altLang="en-US" dirty="0">
                <a:latin typeface="+mn-lt"/>
                <a:ea typeface="+mn-ea"/>
              </a:rPr>
              <a:t>每个元素含有多个数据项 ，每个项称为结点的一个域</a:t>
            </a:r>
            <a:endParaRPr lang="en-US" altLang="zh-CN" dirty="0">
              <a:latin typeface="+mn-lt"/>
              <a:ea typeface="+mn-ea"/>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线性表举例</a:t>
            </a:r>
          </a:p>
        </p:txBody>
      </p:sp>
      <p:sp>
        <p:nvSpPr>
          <p:cNvPr id="11267" name="内容占位符 2"/>
          <p:cNvSpPr>
            <a:spLocks noGrp="1"/>
          </p:cNvSpPr>
          <p:nvPr>
            <p:ph idx="1"/>
          </p:nvPr>
        </p:nvSpPr>
        <p:spPr>
          <a:xfrm>
            <a:off x="468313" y="1125538"/>
            <a:ext cx="8207375" cy="3240087"/>
          </a:xfrm>
        </p:spPr>
        <p:txBody>
          <a:bodyPr vert="horz" wrap="square" lIns="91440" tIns="45720" rIns="91440" bIns="45720" anchor="t"/>
          <a:lstStyle/>
          <a:p>
            <a:pPr marL="342900" lvl="1" indent="-342900"/>
            <a:r>
              <a:rPr lang="en-US" altLang="zh-CN" dirty="0">
                <a:latin typeface="+mn-lt"/>
                <a:ea typeface="+mn-ea"/>
              </a:rPr>
              <a:t>La=</a:t>
            </a:r>
            <a:r>
              <a:rPr lang="zh-CN" altLang="en-US" dirty="0">
                <a:latin typeface="+mn-lt"/>
                <a:ea typeface="+mn-ea"/>
              </a:rPr>
              <a:t>（</a:t>
            </a:r>
            <a:r>
              <a:rPr lang="en-US" altLang="zh-CN" dirty="0">
                <a:latin typeface="+mn-lt"/>
                <a:ea typeface="+mn-ea"/>
              </a:rPr>
              <a:t>34</a:t>
            </a:r>
            <a:r>
              <a:rPr lang="zh-CN" altLang="en-US" dirty="0">
                <a:latin typeface="+mn-lt"/>
                <a:ea typeface="+mn-ea"/>
              </a:rPr>
              <a:t>，</a:t>
            </a:r>
            <a:r>
              <a:rPr lang="en-US" altLang="zh-CN" dirty="0">
                <a:latin typeface="+mn-lt"/>
                <a:ea typeface="+mn-ea"/>
              </a:rPr>
              <a:t>89</a:t>
            </a:r>
            <a:r>
              <a:rPr lang="zh-CN" altLang="en-US" dirty="0">
                <a:latin typeface="+mn-lt"/>
                <a:ea typeface="+mn-ea"/>
              </a:rPr>
              <a:t>，</a:t>
            </a:r>
            <a:r>
              <a:rPr lang="en-US" altLang="zh-CN" dirty="0">
                <a:latin typeface="+mn-lt"/>
                <a:ea typeface="+mn-ea"/>
              </a:rPr>
              <a:t>765</a:t>
            </a:r>
            <a:r>
              <a:rPr lang="zh-CN" altLang="en-US" dirty="0">
                <a:latin typeface="+mn-lt"/>
                <a:ea typeface="+mn-ea"/>
              </a:rPr>
              <a:t>，</a:t>
            </a:r>
            <a:r>
              <a:rPr lang="en-US" altLang="zh-CN" dirty="0">
                <a:latin typeface="+mn-lt"/>
                <a:ea typeface="+mn-ea"/>
              </a:rPr>
              <a:t>12</a:t>
            </a:r>
            <a:r>
              <a:rPr lang="zh-CN" altLang="en-US" dirty="0">
                <a:latin typeface="+mn-lt"/>
                <a:ea typeface="+mn-ea"/>
              </a:rPr>
              <a:t>，</a:t>
            </a:r>
            <a:r>
              <a:rPr lang="en-US" altLang="zh-CN" dirty="0">
                <a:latin typeface="+mn-lt"/>
                <a:ea typeface="+mn-ea"/>
              </a:rPr>
              <a:t>90</a:t>
            </a:r>
            <a:r>
              <a:rPr lang="zh-CN" altLang="en-US" dirty="0">
                <a:latin typeface="+mn-lt"/>
                <a:ea typeface="+mn-ea"/>
              </a:rPr>
              <a:t>，</a:t>
            </a:r>
            <a:r>
              <a:rPr lang="en-US" altLang="zh-CN" dirty="0">
                <a:latin typeface="+mn-lt"/>
                <a:ea typeface="+mn-ea"/>
              </a:rPr>
              <a:t>-34</a:t>
            </a:r>
            <a:r>
              <a:rPr lang="zh-CN" altLang="en-US" dirty="0">
                <a:latin typeface="+mn-lt"/>
                <a:ea typeface="+mn-ea"/>
              </a:rPr>
              <a:t>，</a:t>
            </a:r>
            <a:r>
              <a:rPr lang="en-US" altLang="zh-CN" dirty="0">
                <a:latin typeface="+mn-lt"/>
                <a:ea typeface="+mn-ea"/>
              </a:rPr>
              <a:t>22</a:t>
            </a:r>
            <a:r>
              <a:rPr lang="zh-CN" altLang="en-US" dirty="0">
                <a:latin typeface="+mn-lt"/>
                <a:ea typeface="+mn-ea"/>
              </a:rPr>
              <a:t>）  数据元素类型为</a:t>
            </a:r>
            <a:r>
              <a:rPr lang="en-US" altLang="zh-CN" dirty="0">
                <a:latin typeface="+mn-lt"/>
                <a:ea typeface="+mn-ea"/>
              </a:rPr>
              <a:t>int</a:t>
            </a:r>
          </a:p>
          <a:p>
            <a:r>
              <a:rPr lang="en-US" altLang="zh-CN" dirty="0">
                <a:latin typeface="+mn-lt"/>
                <a:ea typeface="+mn-ea"/>
                <a:cs typeface="+mn-cs"/>
              </a:rPr>
              <a:t>Ls=(</a:t>
            </a:r>
            <a:r>
              <a:rPr lang="en-US" altLang="zh-CN" dirty="0">
                <a:latin typeface="+mn-lt"/>
                <a:ea typeface="+mn-ea"/>
                <a:cs typeface="+mn-cs"/>
                <a:sym typeface="Symbol" panose="05050102010706020507" pitchFamily="18" charset="2"/>
              </a:rPr>
              <a:t></a:t>
            </a:r>
            <a:r>
              <a:rPr lang="en-US" altLang="zh-CN" dirty="0">
                <a:latin typeface="+mn-lt"/>
                <a:ea typeface="+mn-ea"/>
                <a:cs typeface="+mn-cs"/>
              </a:rPr>
              <a:t>Hello</a:t>
            </a:r>
            <a:r>
              <a:rPr lang="en-US" altLang="zh-CN" dirty="0">
                <a:latin typeface="+mn-lt"/>
                <a:ea typeface="+mn-ea"/>
                <a:cs typeface="+mn-cs"/>
                <a:sym typeface="Symbol" panose="05050102010706020507" pitchFamily="18" charset="2"/>
              </a:rPr>
              <a:t></a:t>
            </a:r>
            <a:r>
              <a:rPr lang="en-US" altLang="zh-CN" dirty="0">
                <a:latin typeface="+mn-lt"/>
                <a:ea typeface="+mn-ea"/>
                <a:cs typeface="+mn-cs"/>
              </a:rPr>
              <a:t>,</a:t>
            </a:r>
            <a:r>
              <a:rPr lang="en-US" altLang="zh-CN" dirty="0">
                <a:latin typeface="+mn-lt"/>
                <a:ea typeface="+mn-ea"/>
                <a:cs typeface="+mn-cs"/>
                <a:sym typeface="Symbol" panose="05050102010706020507" pitchFamily="18" charset="2"/>
              </a:rPr>
              <a:t></a:t>
            </a:r>
            <a:r>
              <a:rPr lang="en-US" altLang="zh-CN" dirty="0">
                <a:latin typeface="+mn-lt"/>
                <a:ea typeface="+mn-ea"/>
                <a:cs typeface="+mn-cs"/>
              </a:rPr>
              <a:t>World</a:t>
            </a:r>
            <a:r>
              <a:rPr lang="en-US" altLang="zh-CN" dirty="0">
                <a:latin typeface="+mn-lt"/>
                <a:ea typeface="+mn-ea"/>
                <a:cs typeface="+mn-cs"/>
                <a:sym typeface="Symbol" panose="05050102010706020507" pitchFamily="18" charset="2"/>
              </a:rPr>
              <a:t></a:t>
            </a:r>
            <a:r>
              <a:rPr lang="en-US" altLang="zh-CN" dirty="0">
                <a:latin typeface="+mn-lt"/>
                <a:ea typeface="+mn-ea"/>
                <a:cs typeface="+mn-cs"/>
              </a:rPr>
              <a:t>, </a:t>
            </a:r>
            <a:r>
              <a:rPr lang="en-US" altLang="zh-CN" dirty="0">
                <a:latin typeface="+mn-lt"/>
                <a:ea typeface="+mn-ea"/>
                <a:cs typeface="+mn-cs"/>
                <a:sym typeface="Symbol" panose="05050102010706020507" pitchFamily="18" charset="2"/>
              </a:rPr>
              <a:t></a:t>
            </a:r>
            <a:r>
              <a:rPr lang="en-US" altLang="zh-CN" dirty="0">
                <a:latin typeface="+mn-lt"/>
                <a:ea typeface="+mn-ea"/>
                <a:cs typeface="+mn-cs"/>
              </a:rPr>
              <a:t>China</a:t>
            </a:r>
            <a:r>
              <a:rPr lang="en-US" altLang="zh-CN" dirty="0">
                <a:latin typeface="+mn-lt"/>
                <a:ea typeface="+mn-ea"/>
                <a:cs typeface="+mn-cs"/>
                <a:sym typeface="Symbol" panose="05050102010706020507" pitchFamily="18" charset="2"/>
              </a:rPr>
              <a:t></a:t>
            </a:r>
            <a:r>
              <a:rPr lang="en-US" altLang="zh-CN" dirty="0">
                <a:latin typeface="+mn-lt"/>
                <a:ea typeface="+mn-ea"/>
                <a:cs typeface="+mn-cs"/>
              </a:rPr>
              <a:t>, </a:t>
            </a:r>
            <a:r>
              <a:rPr lang="en-US" altLang="zh-CN" dirty="0">
                <a:latin typeface="+mn-lt"/>
                <a:ea typeface="+mn-ea"/>
                <a:cs typeface="+mn-cs"/>
                <a:sym typeface="Symbol" panose="05050102010706020507" pitchFamily="18" charset="2"/>
              </a:rPr>
              <a:t></a:t>
            </a:r>
            <a:r>
              <a:rPr lang="en-US" altLang="zh-CN" dirty="0">
                <a:latin typeface="+mn-lt"/>
                <a:ea typeface="+mn-ea"/>
                <a:cs typeface="+mn-cs"/>
              </a:rPr>
              <a:t>Welcome</a:t>
            </a:r>
            <a:r>
              <a:rPr lang="en-US" altLang="zh-CN" dirty="0">
                <a:latin typeface="+mn-lt"/>
                <a:ea typeface="+mn-ea"/>
                <a:cs typeface="+mn-cs"/>
                <a:sym typeface="Symbol" panose="05050102010706020507" pitchFamily="18" charset="2"/>
              </a:rPr>
              <a:t></a:t>
            </a:r>
            <a:r>
              <a:rPr lang="en-US" altLang="zh-CN" dirty="0">
                <a:latin typeface="+mn-lt"/>
                <a:ea typeface="+mn-ea"/>
                <a:cs typeface="+mn-cs"/>
              </a:rPr>
              <a:t>)  </a:t>
            </a:r>
            <a:r>
              <a:rPr lang="zh-CN" altLang="en-US" dirty="0">
                <a:latin typeface="+mn-lt"/>
                <a:ea typeface="+mn-ea"/>
                <a:cs typeface="+mn-cs"/>
              </a:rPr>
              <a:t>数据元素类型为</a:t>
            </a:r>
            <a:r>
              <a:rPr lang="en-US" altLang="zh-CN" dirty="0">
                <a:latin typeface="+mn-lt"/>
                <a:ea typeface="+mn-ea"/>
                <a:cs typeface="+mn-cs"/>
              </a:rPr>
              <a:t>string</a:t>
            </a:r>
          </a:p>
          <a:p>
            <a:r>
              <a:rPr lang="en-US" altLang="zh-CN" dirty="0">
                <a:latin typeface="+mn-lt"/>
                <a:ea typeface="+mn-ea"/>
                <a:cs typeface="+mn-cs"/>
              </a:rPr>
              <a:t>Lb=(book</a:t>
            </a:r>
            <a:r>
              <a:rPr lang="en-US" altLang="zh-CN" baseline="-25000" dirty="0">
                <a:latin typeface="+mn-lt"/>
                <a:ea typeface="+mn-ea"/>
                <a:cs typeface="+mn-cs"/>
              </a:rPr>
              <a:t>1</a:t>
            </a:r>
            <a:r>
              <a:rPr lang="en-US" altLang="zh-CN" dirty="0">
                <a:latin typeface="+mn-lt"/>
                <a:ea typeface="+mn-ea"/>
                <a:cs typeface="+mn-cs"/>
              </a:rPr>
              <a:t>,book</a:t>
            </a:r>
            <a:r>
              <a:rPr lang="en-US" altLang="zh-CN" baseline="-25000" dirty="0">
                <a:latin typeface="+mn-lt"/>
                <a:ea typeface="+mn-ea"/>
                <a:cs typeface="+mn-cs"/>
              </a:rPr>
              <a:t>2</a:t>
            </a:r>
            <a:r>
              <a:rPr lang="en-US" altLang="zh-CN" dirty="0">
                <a:latin typeface="+mn-lt"/>
                <a:ea typeface="+mn-ea"/>
                <a:cs typeface="+mn-cs"/>
              </a:rPr>
              <a:t>,...,book</a:t>
            </a:r>
            <a:r>
              <a:rPr lang="en-US" altLang="zh-CN" baseline="-25000" dirty="0">
                <a:latin typeface="+mn-lt"/>
                <a:ea typeface="+mn-ea"/>
                <a:cs typeface="+mn-cs"/>
              </a:rPr>
              <a:t>100</a:t>
            </a:r>
            <a:r>
              <a:rPr lang="en-US" altLang="zh-CN" dirty="0">
                <a:latin typeface="+mn-lt"/>
                <a:ea typeface="+mn-ea"/>
                <a:cs typeface="+mn-cs"/>
              </a:rPr>
              <a:t>)  </a:t>
            </a:r>
            <a:r>
              <a:rPr lang="zh-CN" altLang="en-US" dirty="0">
                <a:latin typeface="+mn-lt"/>
                <a:ea typeface="+mn-ea"/>
                <a:cs typeface="+mn-cs"/>
              </a:rPr>
              <a:t>数据元素类型为下列所示的结构类型</a:t>
            </a:r>
            <a:endParaRPr lang="en-US" altLang="zh-CN" dirty="0">
              <a:latin typeface="+mn-lt"/>
              <a:ea typeface="+mn-ea"/>
              <a:cs typeface="+mn-cs"/>
            </a:endParaRPr>
          </a:p>
          <a:p>
            <a:endParaRPr lang="zh-CN" altLang="en-US" dirty="0">
              <a:latin typeface="+mn-lt"/>
              <a:ea typeface="+mn-ea"/>
              <a:cs typeface="+mn-cs"/>
            </a:endParaRPr>
          </a:p>
        </p:txBody>
      </p:sp>
      <p:sp>
        <p:nvSpPr>
          <p:cNvPr id="11269" name="文本框 4"/>
          <p:cNvSpPr txBox="1"/>
          <p:nvPr/>
        </p:nvSpPr>
        <p:spPr>
          <a:xfrm>
            <a:off x="3095290" y="4385293"/>
            <a:ext cx="3456657" cy="20313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1800" dirty="0" err="1">
                <a:ea typeface="宋体" panose="02010600030101010101" pitchFamily="2" charset="-122"/>
              </a:rPr>
              <a:t>struct</a:t>
            </a:r>
            <a:r>
              <a:rPr lang="en-US" altLang="zh-CN" sz="1800" dirty="0">
                <a:ea typeface="宋体" panose="02010600030101010101" pitchFamily="2" charset="-122"/>
              </a:rPr>
              <a:t> book{</a:t>
            </a:r>
          </a:p>
          <a:p>
            <a:pPr marL="0" lvl="0" indent="0">
              <a:spcBef>
                <a:spcPct val="0"/>
              </a:spcBef>
              <a:buClrTx/>
              <a:buNone/>
            </a:pPr>
            <a:r>
              <a:rPr lang="en-US" altLang="zh-CN" sz="1800" dirty="0">
                <a:ea typeface="宋体" panose="02010600030101010101" pitchFamily="2" charset="-122"/>
              </a:rPr>
              <a:t>	char </a:t>
            </a:r>
            <a:r>
              <a:rPr lang="en-US" altLang="zh-CN" sz="1800" dirty="0" err="1">
                <a:ea typeface="宋体" panose="02010600030101010101" pitchFamily="2" charset="-122"/>
              </a:rPr>
              <a:t>isbn</a:t>
            </a:r>
            <a:r>
              <a:rPr lang="en-US" altLang="zh-CN" sz="1800" dirty="0">
                <a:ea typeface="宋体" panose="02010600030101010101" pitchFamily="2" charset="-122"/>
              </a:rPr>
              <a:t>[80];</a:t>
            </a:r>
          </a:p>
          <a:p>
            <a:pPr marL="0" lvl="0" indent="0">
              <a:spcBef>
                <a:spcPct val="0"/>
              </a:spcBef>
              <a:buClrTx/>
              <a:buNone/>
            </a:pPr>
            <a:r>
              <a:rPr lang="en-US" altLang="zh-CN" sz="1800" dirty="0">
                <a:ea typeface="宋体" panose="02010600030101010101" pitchFamily="2" charset="-122"/>
              </a:rPr>
              <a:t>	char title[80];</a:t>
            </a:r>
          </a:p>
          <a:p>
            <a:pPr marL="0" lvl="0" indent="0">
              <a:spcBef>
                <a:spcPct val="0"/>
              </a:spcBef>
              <a:buClrTx/>
              <a:buNone/>
            </a:pPr>
            <a:r>
              <a:rPr lang="en-US" altLang="zh-CN" sz="1800" dirty="0">
                <a:ea typeface="宋体" panose="02010600030101010101" pitchFamily="2" charset="-122"/>
              </a:rPr>
              <a:t>	char author[80];</a:t>
            </a:r>
          </a:p>
          <a:p>
            <a:pPr marL="0" lvl="0" indent="0">
              <a:spcBef>
                <a:spcPct val="0"/>
              </a:spcBef>
              <a:buClrTx/>
              <a:buNone/>
            </a:pPr>
            <a:r>
              <a:rPr lang="en-US" altLang="zh-CN" sz="1800" dirty="0">
                <a:ea typeface="宋体" panose="02010600030101010101" pitchFamily="2" charset="-122"/>
              </a:rPr>
              <a:t>	char publisher[80];</a:t>
            </a:r>
          </a:p>
          <a:p>
            <a:pPr marL="0" lvl="0" indent="0">
              <a:spcBef>
                <a:spcPct val="0"/>
              </a:spcBef>
              <a:buClrTx/>
              <a:buNone/>
            </a:pPr>
            <a:r>
              <a:rPr lang="en-US" altLang="zh-CN" sz="1800" dirty="0">
                <a:ea typeface="宋体" panose="02010600030101010101" pitchFamily="2" charset="-122"/>
              </a:rPr>
              <a:t>	float </a:t>
            </a:r>
            <a:r>
              <a:rPr lang="en-US" altLang="zh-CN" sz="1800" dirty="0" err="1">
                <a:ea typeface="宋体" panose="02010600030101010101" pitchFamily="2" charset="-122"/>
              </a:rPr>
              <a:t>pirce</a:t>
            </a:r>
            <a:r>
              <a:rPr lang="en-US" altLang="zh-CN" sz="1800" dirty="0">
                <a:ea typeface="宋体" panose="02010600030101010101" pitchFamily="2" charset="-122"/>
              </a:rPr>
              <a:t>;</a:t>
            </a:r>
          </a:p>
          <a:p>
            <a:pPr marL="0" lvl="0" indent="0">
              <a:spcBef>
                <a:spcPct val="0"/>
              </a:spcBef>
              <a:buClrTx/>
              <a:buNone/>
            </a:pPr>
            <a:r>
              <a:rPr lang="en-US" altLang="zh-CN" sz="1800" dirty="0">
                <a:ea typeface="宋体" panose="02010600030101010101" pitchFamily="2" charset="-122"/>
              </a:rPr>
              <a:t>};</a:t>
            </a:r>
            <a:endParaRPr lang="zh-CN" altLang="en-US" sz="1800" dirty="0">
              <a:ea typeface="宋体" panose="02010600030101010101" pitchFamily="2" charset="-122"/>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0" dirty="0">
                <a:ln>
                  <a:noFill/>
                </a:ln>
                <a:effectLst/>
                <a:uLnTx/>
                <a:uFillTx/>
                <a:sym typeface="+mn-ea"/>
              </a:rPr>
              <a:t>线性表的抽象数据类型定义</a:t>
            </a:r>
            <a:endParaRPr lang="zh-CN" altLang="en-US"/>
          </a:p>
        </p:txBody>
      </p:sp>
      <p:sp>
        <p:nvSpPr>
          <p:cNvPr id="46083" name="Text Box 3"/>
          <p:cNvSpPr txBox="1">
            <a:spLocks noChangeArrowheads="1"/>
          </p:cNvSpPr>
          <p:nvPr/>
        </p:nvSpPr>
        <p:spPr bwMode="auto">
          <a:xfrm>
            <a:off x="869950" y="1405369"/>
            <a:ext cx="2557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buNone/>
              <a:defRPr/>
            </a:pPr>
            <a:r>
              <a:rPr kumimoji="0" lang="en-US" altLang="zh-CN" sz="2800" b="1" kern="1200" cap="none" spc="0" normalizeH="0" baseline="0" noProof="0" dirty="0">
                <a:latin typeface="+mn-ea"/>
                <a:ea typeface="+mn-ea"/>
                <a:cs typeface="+mn-cs"/>
              </a:rPr>
              <a:t>ADT List {</a:t>
            </a:r>
          </a:p>
        </p:txBody>
      </p:sp>
      <p:sp>
        <p:nvSpPr>
          <p:cNvPr id="46084" name="Text Box 4"/>
          <p:cNvSpPr txBox="1">
            <a:spLocks noChangeArrowheads="1"/>
          </p:cNvSpPr>
          <p:nvPr/>
        </p:nvSpPr>
        <p:spPr bwMode="auto">
          <a:xfrm>
            <a:off x="1389063" y="1924482"/>
            <a:ext cx="203835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0" lang="en-US" altLang="zh-CN" b="1" kern="1200" cap="none" spc="0" normalizeH="0" baseline="0" noProof="0" dirty="0">
                <a:latin typeface="+mn-ea"/>
                <a:ea typeface="+mn-ea"/>
                <a:cs typeface="+mn-cs"/>
              </a:rPr>
              <a:t> </a:t>
            </a:r>
            <a:r>
              <a:rPr kumimoji="0" lang="zh-CN" altLang="en-US" sz="2800" b="1" kern="1200" cap="none" spc="0" normalizeH="0" baseline="0" noProof="0" dirty="0">
                <a:latin typeface="+mn-ea"/>
                <a:ea typeface="+mn-ea"/>
                <a:cs typeface="+mn-cs"/>
              </a:rPr>
              <a:t>数据对象：</a:t>
            </a:r>
          </a:p>
        </p:txBody>
      </p:sp>
      <p:sp>
        <p:nvSpPr>
          <p:cNvPr id="46085" name="Text Box 5"/>
          <p:cNvSpPr txBox="1"/>
          <p:nvPr/>
        </p:nvSpPr>
        <p:spPr>
          <a:xfrm>
            <a:off x="1939925" y="2428989"/>
            <a:ext cx="5862502" cy="5355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20000"/>
              </a:lnSpc>
              <a:spcBef>
                <a:spcPct val="0"/>
              </a:spcBef>
              <a:buClrTx/>
              <a:buNone/>
            </a:pPr>
            <a:r>
              <a:rPr lang="en-US" altLang="zh-CN" sz="2400" dirty="0">
                <a:latin typeface="+mn-ea"/>
              </a:rPr>
              <a:t>D</a:t>
            </a:r>
            <a:r>
              <a:rPr lang="zh-CN" altLang="en-US" sz="2400" dirty="0">
                <a:latin typeface="+mn-ea"/>
              </a:rPr>
              <a:t>＝</a:t>
            </a:r>
            <a:r>
              <a:rPr lang="en-US" altLang="zh-CN" sz="2400" dirty="0">
                <a:latin typeface="+mn-ea"/>
              </a:rPr>
              <a:t>{ a</a:t>
            </a:r>
            <a:r>
              <a:rPr lang="en-US" altLang="zh-CN" sz="2400" baseline="-25000" dirty="0">
                <a:latin typeface="+mn-ea"/>
              </a:rPr>
              <a:t>i</a:t>
            </a:r>
            <a:r>
              <a:rPr lang="en-US" altLang="zh-CN" sz="2400" dirty="0">
                <a:latin typeface="+mn-ea"/>
              </a:rPr>
              <a:t> | a</a:t>
            </a:r>
            <a:r>
              <a:rPr lang="en-US" altLang="zh-CN" sz="2400" baseline="-25000" dirty="0">
                <a:latin typeface="+mn-ea"/>
              </a:rPr>
              <a:t>i</a:t>
            </a:r>
            <a:r>
              <a:rPr lang="en-US" altLang="zh-CN" sz="2400" dirty="0">
                <a:latin typeface="+mn-ea"/>
              </a:rPr>
              <a:t> ∈ElemSet, i=1,2,...,n,  n≥0 }</a:t>
            </a:r>
          </a:p>
        </p:txBody>
      </p:sp>
      <p:sp>
        <p:nvSpPr>
          <p:cNvPr id="46086" name="Text Box 6"/>
          <p:cNvSpPr txBox="1">
            <a:spLocks noChangeArrowheads="1"/>
          </p:cNvSpPr>
          <p:nvPr/>
        </p:nvSpPr>
        <p:spPr bwMode="auto">
          <a:xfrm>
            <a:off x="1483995" y="3065259"/>
            <a:ext cx="1979613"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0" lang="zh-CN" altLang="en-US" sz="2800" b="1" kern="1200" cap="none" spc="0" normalizeH="0" baseline="0" noProof="0" dirty="0">
                <a:latin typeface="+mn-ea"/>
                <a:ea typeface="+mn-ea"/>
                <a:cs typeface="+mn-cs"/>
              </a:rPr>
              <a:t>数据关系：</a:t>
            </a:r>
          </a:p>
        </p:txBody>
      </p:sp>
      <p:sp>
        <p:nvSpPr>
          <p:cNvPr id="46087" name="Text Box 7"/>
          <p:cNvSpPr txBox="1">
            <a:spLocks noChangeArrowheads="1"/>
          </p:cNvSpPr>
          <p:nvPr/>
        </p:nvSpPr>
        <p:spPr bwMode="auto">
          <a:xfrm>
            <a:off x="1939925" y="3650729"/>
            <a:ext cx="51441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0" lang="en-US" altLang="zh-CN" sz="2400" kern="1200" cap="none" spc="0" normalizeH="0" baseline="0" noProof="0" dirty="0">
                <a:latin typeface="+mn-ea"/>
                <a:ea typeface="+mn-ea"/>
                <a:cs typeface="+mn-cs"/>
              </a:rPr>
              <a:t>R</a:t>
            </a:r>
            <a:r>
              <a:rPr kumimoji="0" lang="zh-CN" altLang="en-US" sz="2400" kern="1200" cap="none" spc="0" normalizeH="0" baseline="0" noProof="0" dirty="0">
                <a:latin typeface="+mn-ea"/>
                <a:ea typeface="+mn-ea"/>
                <a:cs typeface="+mn-cs"/>
              </a:rPr>
              <a:t>＝</a:t>
            </a:r>
            <a:r>
              <a:rPr kumimoji="0" lang="en-US" altLang="zh-CN" sz="2400" kern="1200" cap="none" spc="0" normalizeH="0" baseline="0" noProof="0" dirty="0">
                <a:latin typeface="+mn-ea"/>
                <a:ea typeface="+mn-ea"/>
                <a:cs typeface="+mn-cs"/>
              </a:rPr>
              <a:t>{ &lt;a</a:t>
            </a:r>
            <a:r>
              <a:rPr kumimoji="0" lang="en-US" altLang="zh-CN" sz="2400" kern="1200" cap="none" spc="0" normalizeH="0" baseline="-25000" noProof="0" dirty="0">
                <a:latin typeface="+mn-ea"/>
                <a:ea typeface="+mn-ea"/>
                <a:cs typeface="+mn-cs"/>
              </a:rPr>
              <a:t>i-1</a:t>
            </a:r>
            <a:r>
              <a:rPr kumimoji="0" lang="en-US" altLang="zh-CN" sz="2400" kern="1200" cap="none" spc="0" normalizeH="0" baseline="0" noProof="0" dirty="0">
                <a:latin typeface="+mn-ea"/>
                <a:ea typeface="+mn-ea"/>
                <a:cs typeface="+mn-cs"/>
              </a:rPr>
              <a:t> ,</a:t>
            </a:r>
            <a:r>
              <a:rPr kumimoji="0" lang="en-US" altLang="zh-CN" sz="2400" kern="1200" cap="none" spc="0" normalizeH="0" baseline="0" noProof="0" dirty="0" err="1">
                <a:latin typeface="+mn-ea"/>
                <a:ea typeface="+mn-ea"/>
                <a:cs typeface="+mn-cs"/>
              </a:rPr>
              <a:t>a</a:t>
            </a:r>
            <a:r>
              <a:rPr kumimoji="0" lang="en-US" altLang="zh-CN" sz="2400" kern="1200" cap="none" spc="0" normalizeH="0" baseline="-25000" noProof="0" dirty="0" err="1">
                <a:latin typeface="+mn-ea"/>
                <a:ea typeface="+mn-ea"/>
                <a:cs typeface="+mn-cs"/>
              </a:rPr>
              <a:t>i</a:t>
            </a:r>
            <a:r>
              <a:rPr kumimoji="0" lang="en-US" altLang="zh-CN" sz="2400" kern="1200" cap="none" spc="0" normalizeH="0" baseline="0" noProof="0" dirty="0">
                <a:latin typeface="+mn-ea"/>
                <a:ea typeface="+mn-ea"/>
                <a:cs typeface="+mn-cs"/>
              </a:rPr>
              <a:t> &gt;|a</a:t>
            </a:r>
            <a:r>
              <a:rPr kumimoji="0" lang="en-US" altLang="zh-CN" sz="2400" kern="1200" cap="none" spc="0" normalizeH="0" baseline="-25000" noProof="0" dirty="0">
                <a:latin typeface="+mn-ea"/>
                <a:ea typeface="+mn-ea"/>
                <a:cs typeface="+mn-cs"/>
              </a:rPr>
              <a:t>i-1</a:t>
            </a:r>
            <a:r>
              <a:rPr kumimoji="0" lang="en-US" altLang="zh-CN" sz="2400" kern="1200" cap="none" spc="0" normalizeH="0" baseline="0" noProof="0" dirty="0">
                <a:latin typeface="+mn-ea"/>
                <a:ea typeface="+mn-ea"/>
                <a:cs typeface="+mn-cs"/>
              </a:rPr>
              <a:t> ,</a:t>
            </a:r>
            <a:r>
              <a:rPr kumimoji="0" lang="en-US" altLang="zh-CN" sz="2400" kern="1200" cap="none" spc="0" normalizeH="0" baseline="0" noProof="0" dirty="0" err="1">
                <a:latin typeface="+mn-ea"/>
                <a:ea typeface="+mn-ea"/>
                <a:cs typeface="+mn-cs"/>
              </a:rPr>
              <a:t>a</a:t>
            </a:r>
            <a:r>
              <a:rPr kumimoji="0" lang="en-US" altLang="zh-CN" sz="2400" kern="1200" cap="none" spc="0" normalizeH="0" baseline="-25000" noProof="0" dirty="0" err="1">
                <a:latin typeface="+mn-ea"/>
                <a:ea typeface="+mn-ea"/>
                <a:cs typeface="+mn-cs"/>
              </a:rPr>
              <a:t>i</a:t>
            </a:r>
            <a:r>
              <a:rPr kumimoji="0" lang="en-US" altLang="zh-CN" sz="2400" kern="1200" cap="none" spc="0" normalizeH="0" baseline="0" noProof="0" dirty="0" err="1">
                <a:latin typeface="+mn-ea"/>
                <a:ea typeface="+mn-ea"/>
                <a:cs typeface="+mn-cs"/>
              </a:rPr>
              <a:t>∈D</a:t>
            </a:r>
            <a:r>
              <a:rPr kumimoji="0" lang="en-US" altLang="zh-CN" sz="2400" kern="1200" cap="none" spc="0" normalizeH="0" baseline="0" noProof="0" dirty="0">
                <a:latin typeface="+mn-ea"/>
                <a:ea typeface="+mn-ea"/>
                <a:cs typeface="+mn-cs"/>
              </a:rPr>
              <a:t>,  </a:t>
            </a:r>
            <a:r>
              <a:rPr kumimoji="0" lang="en-US" altLang="zh-CN" sz="2400" kern="1200" cap="none" spc="0" normalizeH="0" baseline="0" noProof="0" dirty="0" err="1">
                <a:latin typeface="+mn-ea"/>
                <a:ea typeface="+mn-ea"/>
                <a:cs typeface="+mn-cs"/>
              </a:rPr>
              <a:t>i</a:t>
            </a:r>
            <a:r>
              <a:rPr kumimoji="0" lang="en-US" altLang="zh-CN" sz="2400" kern="1200" cap="none" spc="0" normalizeH="0" baseline="0" noProof="0" dirty="0">
                <a:latin typeface="+mn-ea"/>
                <a:ea typeface="+mn-ea"/>
                <a:cs typeface="+mn-cs"/>
              </a:rPr>
              <a:t>=2,...,n }</a:t>
            </a:r>
          </a:p>
        </p:txBody>
      </p:sp>
      <p:sp>
        <p:nvSpPr>
          <p:cNvPr id="11" name="Text Box 2"/>
          <p:cNvSpPr txBox="1">
            <a:spLocks noChangeArrowheads="1"/>
          </p:cNvSpPr>
          <p:nvPr/>
        </p:nvSpPr>
        <p:spPr bwMode="auto">
          <a:xfrm>
            <a:off x="1389380" y="4315892"/>
            <a:ext cx="20701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0" lang="en-US" altLang="zh-CN" sz="2800" b="1" kern="1200" cap="none" spc="0" normalizeH="0" baseline="0" noProof="0" dirty="0">
                <a:latin typeface="+mn-ea"/>
                <a:ea typeface="+mn-ea"/>
                <a:cs typeface="+mn-cs"/>
              </a:rPr>
              <a:t> </a:t>
            </a:r>
            <a:r>
              <a:rPr kumimoji="0" lang="zh-CN" altLang="en-US" sz="2800" b="1" kern="1200" cap="none" spc="0" normalizeH="0" baseline="0" noProof="0" dirty="0">
                <a:latin typeface="+mn-ea"/>
                <a:ea typeface="+mn-ea"/>
                <a:cs typeface="+mn-cs"/>
              </a:rPr>
              <a:t>基本操作：</a:t>
            </a:r>
          </a:p>
        </p:txBody>
      </p:sp>
      <p:sp>
        <p:nvSpPr>
          <p:cNvPr id="12" name="Text Box 3">
            <a:hlinkClick r:id="" action="ppaction://noaction"/>
          </p:cNvPr>
          <p:cNvSpPr txBox="1">
            <a:spLocks noChangeArrowheads="1"/>
          </p:cNvSpPr>
          <p:nvPr/>
        </p:nvSpPr>
        <p:spPr bwMode="auto">
          <a:xfrm>
            <a:off x="2014538" y="4901098"/>
            <a:ext cx="51441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spAutoFit/>
          </a:bodyPr>
          <a:lstStyle/>
          <a:p>
            <a:pPr marR="0" defTabSz="914400">
              <a:buClrTx/>
              <a:buSzTx/>
              <a:buFontTx/>
              <a:buNone/>
              <a:defRPr/>
            </a:pPr>
            <a:r>
              <a:rPr lang="en-US" altLang="zh-CN" sz="2000" dirty="0">
                <a:latin typeface="+mn-ea"/>
                <a:ea typeface="+mn-ea"/>
              </a:rPr>
              <a:t>……</a:t>
            </a:r>
            <a:endParaRPr kumimoji="0" lang="zh-CN" altLang="en-US" sz="2000" kern="1200" cap="none" spc="0" normalizeH="0" baseline="0" noProof="0" dirty="0">
              <a:latin typeface="+mn-ea"/>
              <a:ea typeface="+mn-ea"/>
              <a:cs typeface="+mn-cs"/>
            </a:endParaRPr>
          </a:p>
        </p:txBody>
      </p:sp>
      <p:sp>
        <p:nvSpPr>
          <p:cNvPr id="16" name="Text Box 7"/>
          <p:cNvSpPr txBox="1">
            <a:spLocks noChangeArrowheads="1"/>
          </p:cNvSpPr>
          <p:nvPr/>
        </p:nvSpPr>
        <p:spPr bwMode="auto">
          <a:xfrm>
            <a:off x="972503" y="5517232"/>
            <a:ext cx="16779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0" lang="en-US" altLang="zh-CN" sz="2800" b="1" kern="1200" cap="none" spc="0" normalizeH="0" baseline="0" noProof="0" dirty="0">
                <a:latin typeface="+mn-ea"/>
                <a:ea typeface="+mn-ea"/>
                <a:cs typeface="+mn-cs"/>
              </a:rPr>
              <a:t>} ADT List</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anim calcmode="lin" valueType="num">
                                      <p:cBhvr>
                                        <p:cTn id="7" dur="500" fill="hold"/>
                                        <p:tgtEl>
                                          <p:spTgt spid="46083"/>
                                        </p:tgtEl>
                                        <p:attrNameLst>
                                          <p:attrName>ppt_x</p:attrName>
                                        </p:attrNameLst>
                                      </p:cBhvr>
                                      <p:tavLst>
                                        <p:tav tm="0">
                                          <p:val>
                                            <p:strVal val="#ppt_x+#ppt_w/2"/>
                                          </p:val>
                                        </p:tav>
                                        <p:tav tm="100000">
                                          <p:val>
                                            <p:strVal val="#ppt_x"/>
                                          </p:val>
                                        </p:tav>
                                      </p:tavLst>
                                    </p:anim>
                                    <p:anim calcmode="lin" valueType="num">
                                      <p:cBhvr>
                                        <p:cTn id="8" dur="500" fill="hold"/>
                                        <p:tgtEl>
                                          <p:spTgt spid="46083"/>
                                        </p:tgtEl>
                                        <p:attrNameLst>
                                          <p:attrName>ppt_y</p:attrName>
                                        </p:attrNameLst>
                                      </p:cBhvr>
                                      <p:tavLst>
                                        <p:tav tm="0">
                                          <p:val>
                                            <p:strVal val="#ppt_y"/>
                                          </p:val>
                                        </p:tav>
                                        <p:tav tm="100000">
                                          <p:val>
                                            <p:strVal val="#ppt_y"/>
                                          </p:val>
                                        </p:tav>
                                      </p:tavLst>
                                    </p:anim>
                                    <p:anim calcmode="lin" valueType="num">
                                      <p:cBhvr>
                                        <p:cTn id="9" dur="500" fill="hold"/>
                                        <p:tgtEl>
                                          <p:spTgt spid="46083"/>
                                        </p:tgtEl>
                                        <p:attrNameLst>
                                          <p:attrName>ppt_w</p:attrName>
                                        </p:attrNameLst>
                                      </p:cBhvr>
                                      <p:tavLst>
                                        <p:tav tm="0">
                                          <p:val>
                                            <p:fltVal val="0"/>
                                          </p:val>
                                        </p:tav>
                                        <p:tav tm="100000">
                                          <p:val>
                                            <p:strVal val="#ppt_w"/>
                                          </p:val>
                                        </p:tav>
                                      </p:tavLst>
                                    </p:anim>
                                    <p:anim calcmode="lin" valueType="num">
                                      <p:cBhvr>
                                        <p:cTn id="10" dur="500" fill="hold"/>
                                        <p:tgtEl>
                                          <p:spTgt spid="46083"/>
                                        </p:tgtEl>
                                        <p:attrNameLst>
                                          <p:attrName>ppt_h</p:attrName>
                                        </p:attrNameLst>
                                      </p:cBhvr>
                                      <p:tavLst>
                                        <p:tav tm="0">
                                          <p:val>
                                            <p:strVal val="#ppt_h"/>
                                          </p:val>
                                        </p:tav>
                                        <p:tav tm="100000">
                                          <p:val>
                                            <p:strVal val="#ppt_h"/>
                                          </p:val>
                                        </p:tav>
                                      </p:tavLst>
                                    </p:anim>
                                  </p:childTnLst>
                                </p:cTn>
                              </p:par>
                              <p:par>
                                <p:cTn id="11" presetID="17" presetClass="entr" presetSubtype="10" fill="hold" grpId="1" nodeType="with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ppt_w</p:attrName>
                                        </p:attrNameLst>
                                      </p:cBhvr>
                                      <p:tavLst>
                                        <p:tav tm="0">
                                          <p:val>
                                            <p:fltVal val="0"/>
                                          </p:val>
                                        </p:tav>
                                        <p:tav tm="100000">
                                          <p:val>
                                            <p:strVal val="#ppt_w"/>
                                          </p:val>
                                        </p:tav>
                                      </p:tavLst>
                                    </p:anim>
                                    <p:anim calcmode="lin" valueType="num">
                                      <p:cBhvr>
                                        <p:cTn id="14"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42" fill="hold" grpId="0" nodeType="clickEffect">
                                  <p:stCondLst>
                                    <p:cond delay="0"/>
                                  </p:stCondLst>
                                  <p:childTnLst>
                                    <p:set>
                                      <p:cBhvr>
                                        <p:cTn id="18" dur="1" fill="hold">
                                          <p:stCondLst>
                                            <p:cond delay="0"/>
                                          </p:stCondLst>
                                        </p:cTn>
                                        <p:tgtEl>
                                          <p:spTgt spid="46084"/>
                                        </p:tgtEl>
                                        <p:attrNameLst>
                                          <p:attrName>style.visibility</p:attrName>
                                        </p:attrNameLst>
                                      </p:cBhvr>
                                      <p:to>
                                        <p:strVal val="visible"/>
                                      </p:to>
                                    </p:set>
                                    <p:animEffect transition="in" filter="barn(outHorizontal)">
                                      <p:cBhvr>
                                        <p:cTn id="19" dur="500"/>
                                        <p:tgtEl>
                                          <p:spTgt spid="4608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42" fill="hold" grpId="0" nodeType="clickEffect">
                                  <p:stCondLst>
                                    <p:cond delay="0"/>
                                  </p:stCondLst>
                                  <p:childTnLst>
                                    <p:set>
                                      <p:cBhvr>
                                        <p:cTn id="23" dur="1" fill="hold">
                                          <p:stCondLst>
                                            <p:cond delay="0"/>
                                          </p:stCondLst>
                                        </p:cTn>
                                        <p:tgtEl>
                                          <p:spTgt spid="46086"/>
                                        </p:tgtEl>
                                        <p:attrNameLst>
                                          <p:attrName>style.visibility</p:attrName>
                                        </p:attrNameLst>
                                      </p:cBhvr>
                                      <p:to>
                                        <p:strVal val="visible"/>
                                      </p:to>
                                    </p:set>
                                    <p:animEffect transition="in" filter="barn(outHorizontal)">
                                      <p:cBhvr>
                                        <p:cTn id="24" dur="500"/>
                                        <p:tgtEl>
                                          <p:spTgt spid="4608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42" fill="hold" grpId="1"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outHorizontal)">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6085"/>
                                        </p:tgtEl>
                                        <p:attrNameLst>
                                          <p:attrName>style.visibility</p:attrName>
                                        </p:attrNameLst>
                                      </p:cBhvr>
                                      <p:to>
                                        <p:strVal val="visible"/>
                                      </p:to>
                                    </p:set>
                                    <p:animEffect transition="in" filter="wipe(left)">
                                      <p:cBhvr>
                                        <p:cTn id="34" dur="500"/>
                                        <p:tgtEl>
                                          <p:spTgt spid="4608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6087"/>
                                        </p:tgtEl>
                                        <p:attrNameLst>
                                          <p:attrName>style.visibility</p:attrName>
                                        </p:attrNameLst>
                                      </p:cBhvr>
                                      <p:to>
                                        <p:strVal val="visible"/>
                                      </p:to>
                                    </p:set>
                                    <p:animEffect transition="in" filter="wipe(left)">
                                      <p:cBhvr>
                                        <p:cTn id="39" dur="500"/>
                                        <p:tgtEl>
                                          <p:spTgt spid="46087"/>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ldLvl="0" animBg="1"/>
      <p:bldP spid="46084" grpId="0" bldLvl="0" animBg="1"/>
      <p:bldP spid="46085" grpId="0"/>
      <p:bldP spid="46086" grpId="0" bldLvl="0" animBg="1"/>
      <p:bldP spid="46087" grpId="0" bldLvl="0" animBg="1"/>
      <p:bldP spid="11" grpId="0" animBg="1"/>
      <p:bldP spid="11" grpId="1" animBg="1"/>
      <p:bldP spid="12" grpId="0"/>
      <p:bldP spid="16" grpId="0" animBg="1"/>
      <p:bldP spid="1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补充：</a:t>
            </a:r>
            <a:r>
              <a:rPr lang="en-US" altLang="zh-CN" dirty="0"/>
              <a:t>C++</a:t>
            </a:r>
            <a:r>
              <a:rPr lang="zh-CN" altLang="en-US" dirty="0"/>
              <a:t>中的参数传递</a:t>
            </a:r>
          </a:p>
        </p:txBody>
      </p:sp>
      <p:sp>
        <p:nvSpPr>
          <p:cNvPr id="3" name="内容占位符 2"/>
          <p:cNvSpPr>
            <a:spLocks noGrp="1"/>
          </p:cNvSpPr>
          <p:nvPr>
            <p:ph idx="1"/>
          </p:nvPr>
        </p:nvSpPr>
        <p:spPr/>
        <p:txBody>
          <a:bodyPr/>
          <a:lstStyle/>
          <a:p>
            <a:r>
              <a:rPr lang="zh-CN" altLang="en-US" dirty="0"/>
              <a:t>函数调用时传送给形参表的实参必须与形参在类型、个数、顺序上保持一致</a:t>
            </a:r>
          </a:p>
          <a:p>
            <a:r>
              <a:rPr lang="zh-CN" altLang="en-US" dirty="0"/>
              <a:t>参数传递有两种方式</a:t>
            </a:r>
          </a:p>
          <a:p>
            <a:pPr lvl="1"/>
            <a:r>
              <a:rPr lang="zh-CN" altLang="en-US" dirty="0"/>
              <a:t>值（</a:t>
            </a:r>
            <a:r>
              <a:rPr lang="en-US" altLang="zh-CN" dirty="0" err="1"/>
              <a:t>int</a:t>
            </a:r>
            <a:r>
              <a:rPr lang="en-US" altLang="zh-CN" dirty="0"/>
              <a:t>, char, …</a:t>
            </a:r>
            <a:r>
              <a:rPr lang="zh-CN" altLang="en-US" dirty="0"/>
              <a:t>）</a:t>
            </a:r>
          </a:p>
          <a:p>
            <a:pPr lvl="1"/>
            <a:r>
              <a:rPr lang="zh-CN" altLang="en-US" dirty="0"/>
              <a:t>引用</a:t>
            </a:r>
          </a:p>
          <a:p>
            <a:pPr lvl="2"/>
            <a:r>
              <a:rPr lang="zh-CN" altLang="en-US" dirty="0"/>
              <a:t>参数为指针变量</a:t>
            </a:r>
          </a:p>
          <a:p>
            <a:pPr lvl="2"/>
            <a:r>
              <a:rPr lang="zh-CN" altLang="en-US" dirty="0"/>
              <a:t>参数为数组名</a:t>
            </a:r>
          </a:p>
          <a:p>
            <a:pPr lvl="2"/>
            <a:r>
              <a:rPr lang="zh-CN" altLang="en-US" dirty="0">
                <a:solidFill>
                  <a:srgbClr val="FF0000"/>
                </a:solidFill>
              </a:rPr>
              <a:t>参数为引用类型变量</a:t>
            </a:r>
          </a:p>
        </p:txBody>
      </p:sp>
      <p:sp>
        <p:nvSpPr>
          <p:cNvPr id="4" name="文本框 3"/>
          <p:cNvSpPr txBox="1"/>
          <p:nvPr/>
        </p:nvSpPr>
        <p:spPr>
          <a:xfrm>
            <a:off x="5292080" y="2420888"/>
            <a:ext cx="3600400" cy="3046988"/>
          </a:xfrm>
          <a:prstGeom prst="rect">
            <a:avLst/>
          </a:prstGeom>
          <a:noFill/>
          <a:ln>
            <a:solidFill>
              <a:schemeClr val="tx1"/>
            </a:solidFill>
          </a:ln>
        </p:spPr>
        <p:txBody>
          <a:bodyPr wrap="square" rtlCol="0">
            <a:spAutoFit/>
          </a:bodyPr>
          <a:lstStyle/>
          <a:p>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sum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b){</a:t>
            </a:r>
          </a:p>
          <a:p>
            <a:r>
              <a:rPr lang="en-US" altLang="zh-CN" sz="2400" dirty="0">
                <a:latin typeface="Cambria Math" panose="02040503050406030204" pitchFamily="18" charset="0"/>
                <a:ea typeface="Cambria Math" panose="02040503050406030204" pitchFamily="18" charset="0"/>
                <a:cs typeface="Arial Unicode MS" panose="020B0604020202020204" charset="-122"/>
              </a:rPr>
              <a:t>      return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a+b</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main(){</a:t>
            </a:r>
          </a:p>
          <a:p>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a=1, b=2;</a:t>
            </a:r>
          </a:p>
          <a:p>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c = sum(a, b);</a:t>
            </a:r>
          </a:p>
          <a:p>
            <a:r>
              <a:rPr lang="en-US" altLang="zh-CN" sz="2400" dirty="0">
                <a:latin typeface="Cambria Math" panose="02040503050406030204" pitchFamily="18" charset="0"/>
                <a:ea typeface="Cambria Math" panose="02040503050406030204" pitchFamily="18" charset="0"/>
                <a:cs typeface="Arial Unicode MS" panose="020B0604020202020204" charset="-122"/>
              </a:rPr>
              <a:t>      return 0;</a:t>
            </a:r>
          </a:p>
          <a:p>
            <a:r>
              <a:rPr lang="en-US" altLang="zh-CN" sz="2400" dirty="0">
                <a:latin typeface="Cambria Math" panose="02040503050406030204" pitchFamily="18" charset="0"/>
                <a:ea typeface="Cambria Math" panose="02040503050406030204" pitchFamily="18" charset="0"/>
                <a:cs typeface="Arial Unicode MS" panose="020B0604020202020204" charset="-122"/>
              </a:rPr>
              <a:t>}</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5" name="灯片编号占位符 4"/>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248424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500"/>
                                        <p:tgtEl>
                                          <p:spTgt spid="3">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2" dur="500"/>
                                        <p:tgtEl>
                                          <p:spTgt spid="3">
                                            <p:txEl>
                                              <p:pRg st="5" end="5"/>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补充：引用类型变量</a:t>
            </a:r>
          </a:p>
        </p:txBody>
      </p:sp>
      <p:sp>
        <p:nvSpPr>
          <p:cNvPr id="3" name="内容占位符 2"/>
          <p:cNvSpPr>
            <a:spLocks noGrp="1"/>
          </p:cNvSpPr>
          <p:nvPr>
            <p:ph idx="1"/>
          </p:nvPr>
        </p:nvSpPr>
        <p:spPr>
          <a:xfrm>
            <a:off x="468313" y="1125538"/>
            <a:ext cx="8207375" cy="1223342"/>
          </a:xfrm>
        </p:spPr>
        <p:txBody>
          <a:bodyPr/>
          <a:lstStyle/>
          <a:p>
            <a:r>
              <a:rPr lang="zh-CN" altLang="en-US" dirty="0"/>
              <a:t>用来给一个对象（变量）提供一个替代的名字</a:t>
            </a:r>
          </a:p>
        </p:txBody>
      </p:sp>
      <p:sp>
        <p:nvSpPr>
          <p:cNvPr id="5" name="Text Box 2"/>
          <p:cNvSpPr txBox="1"/>
          <p:nvPr/>
        </p:nvSpPr>
        <p:spPr>
          <a:xfrm>
            <a:off x="1799692" y="2577321"/>
            <a:ext cx="5544616" cy="2751522"/>
          </a:xfrm>
          <a:prstGeom prst="rect">
            <a:avLst/>
          </a:prstGeom>
          <a:noFill/>
          <a:ln w="9525">
            <a:solidFill>
              <a:schemeClr val="tx1"/>
            </a:solid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main(){</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 = 5;</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&amp;j =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j = 7;</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printf</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=%d, j=%d\n",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 j);</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4119041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补充：引用类型参数</a:t>
            </a:r>
          </a:p>
        </p:txBody>
      </p:sp>
      <p:sp>
        <p:nvSpPr>
          <p:cNvPr id="3" name="内容占位符 2"/>
          <p:cNvSpPr>
            <a:spLocks noGrp="1"/>
          </p:cNvSpPr>
          <p:nvPr>
            <p:ph idx="1"/>
          </p:nvPr>
        </p:nvSpPr>
        <p:spPr>
          <a:xfrm>
            <a:off x="468313" y="1125538"/>
            <a:ext cx="8207375" cy="1223342"/>
          </a:xfrm>
        </p:spPr>
        <p:txBody>
          <a:bodyPr/>
          <a:lstStyle/>
          <a:p>
            <a:r>
              <a:rPr lang="zh-CN" altLang="en-US" dirty="0"/>
              <a:t>若</a:t>
            </a:r>
            <a:r>
              <a:rPr lang="en-US" altLang="zh-CN" dirty="0"/>
              <a:t>swap</a:t>
            </a:r>
            <a:r>
              <a:rPr lang="zh-CN" altLang="en-US" dirty="0"/>
              <a:t>函数形式参数为引用类型，当函数修改参数时，调用它的实际参数也发生变化</a:t>
            </a:r>
          </a:p>
        </p:txBody>
      </p:sp>
      <p:sp>
        <p:nvSpPr>
          <p:cNvPr id="5" name="Text Box 2"/>
          <p:cNvSpPr txBox="1"/>
          <p:nvPr/>
        </p:nvSpPr>
        <p:spPr>
          <a:xfrm>
            <a:off x="1907704" y="2276872"/>
            <a:ext cx="5544616" cy="4081117"/>
          </a:xfrm>
          <a:prstGeom prst="rect">
            <a:avLst/>
          </a:prstGeom>
          <a:noFill/>
          <a:ln w="9525">
            <a:solidFill>
              <a:schemeClr val="tx1"/>
            </a:solid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void swap(</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&amp;m,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&amp;n){</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temp = m;</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m = n; 	n = temp;</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main(){</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a=1, b=2;</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swap(</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a,b</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printf</a:t>
            </a:r>
            <a:r>
              <a:rPr lang="en-US" altLang="zh-CN" sz="2400" dirty="0">
                <a:latin typeface="Cambria Math" panose="02040503050406030204" pitchFamily="18" charset="0"/>
                <a:ea typeface="Cambria Math" panose="02040503050406030204" pitchFamily="18" charset="0"/>
                <a:cs typeface="Arial Unicode MS" panose="020B0604020202020204" charset="-122"/>
              </a:rPr>
              <a:t>("a=%d, b=%d\n", a, b);</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41688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线性表的基本操作 </a:t>
            </a:r>
            <a:r>
              <a:rPr lang="en-US" altLang="zh-CN" dirty="0"/>
              <a:t>- 1</a:t>
            </a:r>
            <a:endParaRPr lang="zh-CN" altLang="en-US" dirty="0"/>
          </a:p>
        </p:txBody>
      </p:sp>
      <p:sp>
        <p:nvSpPr>
          <p:cNvPr id="4" name="Text Box 2"/>
          <p:cNvSpPr txBox="1"/>
          <p:nvPr/>
        </p:nvSpPr>
        <p:spPr>
          <a:xfrm>
            <a:off x="1049233" y="1653059"/>
            <a:ext cx="5034935"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InitList</a:t>
            </a:r>
            <a:r>
              <a:rPr lang="en-US" altLang="zh-CN" sz="2400" b="1" dirty="0">
                <a:latin typeface="楷体_GB2312" pitchFamily="49" charset="-122"/>
                <a:ea typeface="楷体_GB2312" pitchFamily="49" charset="-122"/>
              </a:rPr>
              <a:t>(&amp;L)  // </a:t>
            </a:r>
            <a:r>
              <a:rPr lang="zh-CN" altLang="en-US" sz="2400" b="1" dirty="0">
                <a:latin typeface="楷体_GB2312" pitchFamily="49" charset="-122"/>
                <a:ea typeface="楷体_GB2312" pitchFamily="49" charset="-122"/>
              </a:rPr>
              <a:t>初始化</a:t>
            </a:r>
            <a:endParaRPr lang="en-US" altLang="zh-CN" sz="2400" b="1" dirty="0">
              <a:latin typeface="楷体_GB2312" pitchFamily="49" charset="-122"/>
              <a:ea typeface="楷体_GB2312" pitchFamily="49" charset="-122"/>
            </a:endParaRPr>
          </a:p>
        </p:txBody>
      </p:sp>
      <p:sp>
        <p:nvSpPr>
          <p:cNvPr id="6" name="Text Box 3"/>
          <p:cNvSpPr txBox="1"/>
          <p:nvPr/>
        </p:nvSpPr>
        <p:spPr>
          <a:xfrm>
            <a:off x="1455217" y="2055490"/>
            <a:ext cx="17160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13" name="Text Box 4"/>
          <p:cNvSpPr txBox="1"/>
          <p:nvPr/>
        </p:nvSpPr>
        <p:spPr>
          <a:xfrm>
            <a:off x="3323704" y="2055490"/>
            <a:ext cx="3768576"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构造一个空的线性表 </a:t>
            </a:r>
            <a:r>
              <a:rPr lang="en-US" altLang="zh-CN" sz="2400" b="1" dirty="0">
                <a:latin typeface="楷体_GB2312" pitchFamily="49" charset="-122"/>
                <a:ea typeface="楷体_GB2312" pitchFamily="49" charset="-122"/>
              </a:rPr>
              <a:t>L</a:t>
            </a:r>
            <a:r>
              <a:rPr lang="zh-CN" altLang="en-US" sz="2400" b="1" dirty="0">
                <a:latin typeface="楷体_GB2312" pitchFamily="49" charset="-122"/>
                <a:ea typeface="楷体_GB2312" pitchFamily="49" charset="-122"/>
              </a:rPr>
              <a:t>。</a:t>
            </a:r>
          </a:p>
        </p:txBody>
      </p:sp>
      <p:sp>
        <p:nvSpPr>
          <p:cNvPr id="17" name="Text Box 7"/>
          <p:cNvSpPr txBox="1"/>
          <p:nvPr/>
        </p:nvSpPr>
        <p:spPr>
          <a:xfrm>
            <a:off x="1049233" y="3309243"/>
            <a:ext cx="5106670"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DestroyList</a:t>
            </a:r>
            <a:r>
              <a:rPr lang="en-US" altLang="zh-CN" sz="2400" b="1" dirty="0">
                <a:latin typeface="楷体_GB2312" pitchFamily="49" charset="-122"/>
                <a:ea typeface="楷体_GB2312" pitchFamily="49" charset="-122"/>
              </a:rPr>
              <a:t>(&amp;L)  // </a:t>
            </a:r>
            <a:r>
              <a:rPr lang="zh-CN" altLang="en-US" sz="2400" b="1" dirty="0">
                <a:latin typeface="楷体_GB2312" pitchFamily="49" charset="-122"/>
                <a:ea typeface="楷体_GB2312" pitchFamily="49" charset="-122"/>
              </a:rPr>
              <a:t>销毁</a:t>
            </a:r>
            <a:endParaRPr lang="en-US" altLang="zh-CN" sz="2400" b="1" dirty="0">
              <a:latin typeface="楷体_GB2312" pitchFamily="49" charset="-122"/>
              <a:ea typeface="楷体_GB2312" pitchFamily="49" charset="-122"/>
            </a:endParaRPr>
          </a:p>
        </p:txBody>
      </p:sp>
      <p:sp>
        <p:nvSpPr>
          <p:cNvPr id="18" name="Text Box 8"/>
          <p:cNvSpPr txBox="1"/>
          <p:nvPr/>
        </p:nvSpPr>
        <p:spPr>
          <a:xfrm>
            <a:off x="1488653" y="3669283"/>
            <a:ext cx="3232150" cy="111376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50000"/>
              </a:lnSpc>
              <a:spcBef>
                <a:spcPct val="0"/>
              </a:spcBef>
              <a:buClrTx/>
              <a:buNone/>
            </a:pPr>
            <a:r>
              <a:rPr lang="zh-CN" altLang="en-US" sz="2400" b="1" dirty="0">
                <a:latin typeface="楷体_GB2312" pitchFamily="49" charset="-122"/>
                <a:ea typeface="楷体_GB2312" pitchFamily="49" charset="-122"/>
              </a:rPr>
              <a:t>初始条件：</a:t>
            </a:r>
          </a:p>
          <a:p>
            <a:pPr marL="0" lvl="0" indent="0">
              <a:lnSpc>
                <a:spcPct val="150000"/>
              </a:lnSpc>
              <a:spcBef>
                <a:spcPct val="0"/>
              </a:spcBef>
              <a:buClrTx/>
              <a:buNone/>
            </a:pPr>
            <a:r>
              <a:rPr lang="zh-CN" altLang="en-US" sz="2400" b="1" dirty="0">
                <a:latin typeface="楷体_GB2312" pitchFamily="49" charset="-122"/>
                <a:ea typeface="楷体_GB2312" pitchFamily="49" charset="-122"/>
              </a:rPr>
              <a:t>操作结果：</a:t>
            </a:r>
          </a:p>
        </p:txBody>
      </p:sp>
      <p:sp>
        <p:nvSpPr>
          <p:cNvPr id="19" name="Text Box 9"/>
          <p:cNvSpPr txBox="1"/>
          <p:nvPr/>
        </p:nvSpPr>
        <p:spPr>
          <a:xfrm>
            <a:off x="3365078" y="3763888"/>
            <a:ext cx="2790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20" name="Text Box 10"/>
          <p:cNvSpPr txBox="1"/>
          <p:nvPr/>
        </p:nvSpPr>
        <p:spPr>
          <a:xfrm>
            <a:off x="3377778" y="4339952"/>
            <a:ext cx="23304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销毁线性表 </a:t>
            </a:r>
            <a:r>
              <a:rPr lang="en-US" altLang="zh-CN" sz="2400" b="1" dirty="0">
                <a:latin typeface="楷体_GB2312" pitchFamily="49" charset="-122"/>
                <a:ea typeface="楷体_GB2312" pitchFamily="49" charset="-122"/>
              </a:rPr>
              <a:t>L</a:t>
            </a:r>
            <a:r>
              <a:rPr lang="zh-CN" altLang="en-US" sz="2400" b="1" dirty="0">
                <a:latin typeface="楷体_GB2312" pitchFamily="49" charset="-122"/>
                <a:ea typeface="楷体_GB2312" pitchFamily="49" charset="-122"/>
              </a:rPr>
              <a:t>。</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2447122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线性表的基本操作 </a:t>
            </a:r>
            <a:r>
              <a:rPr lang="en-US" altLang="zh-CN" dirty="0"/>
              <a:t>- 2</a:t>
            </a:r>
            <a:endParaRPr lang="zh-CN" altLang="en-US" dirty="0"/>
          </a:p>
        </p:txBody>
      </p:sp>
      <p:sp>
        <p:nvSpPr>
          <p:cNvPr id="17" name="Text Box 7"/>
          <p:cNvSpPr txBox="1"/>
          <p:nvPr/>
        </p:nvSpPr>
        <p:spPr>
          <a:xfrm>
            <a:off x="1049232" y="1628800"/>
            <a:ext cx="6187063"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TraverseList</a:t>
            </a:r>
            <a:r>
              <a:rPr lang="en-US" altLang="zh-CN" sz="2400" b="1" dirty="0">
                <a:latin typeface="楷体_GB2312" pitchFamily="49" charset="-122"/>
                <a:ea typeface="楷体_GB2312" pitchFamily="49" charset="-122"/>
              </a:rPr>
              <a:t>(L) // </a:t>
            </a:r>
            <a:r>
              <a:rPr lang="zh-CN" altLang="en-US" sz="2400" b="1" dirty="0">
                <a:latin typeface="楷体_GB2312" pitchFamily="49" charset="-122"/>
                <a:ea typeface="楷体_GB2312" pitchFamily="49" charset="-122"/>
              </a:rPr>
              <a:t>遍历</a:t>
            </a:r>
            <a:endParaRPr lang="en-US" altLang="zh-CN" sz="2400" b="1" dirty="0">
              <a:latin typeface="楷体_GB2312" pitchFamily="49" charset="-122"/>
              <a:ea typeface="楷体_GB2312" pitchFamily="49" charset="-122"/>
            </a:endParaRPr>
          </a:p>
        </p:txBody>
      </p:sp>
      <p:sp>
        <p:nvSpPr>
          <p:cNvPr id="18" name="Text Box 8"/>
          <p:cNvSpPr txBox="1"/>
          <p:nvPr/>
        </p:nvSpPr>
        <p:spPr>
          <a:xfrm>
            <a:off x="1488653" y="1988840"/>
            <a:ext cx="3232150" cy="111376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50000"/>
              </a:lnSpc>
              <a:spcBef>
                <a:spcPct val="0"/>
              </a:spcBef>
              <a:buClrTx/>
              <a:buNone/>
            </a:pPr>
            <a:r>
              <a:rPr lang="zh-CN" altLang="en-US" sz="2400" b="1" dirty="0">
                <a:latin typeface="楷体_GB2312" pitchFamily="49" charset="-122"/>
                <a:ea typeface="楷体_GB2312" pitchFamily="49" charset="-122"/>
              </a:rPr>
              <a:t>初始条件：</a:t>
            </a:r>
          </a:p>
          <a:p>
            <a:pPr marL="0" lvl="0" indent="0">
              <a:lnSpc>
                <a:spcPct val="150000"/>
              </a:lnSpc>
              <a:spcBef>
                <a:spcPct val="0"/>
              </a:spcBef>
              <a:buClrTx/>
              <a:buNone/>
            </a:pPr>
            <a:r>
              <a:rPr lang="zh-CN" altLang="en-US" sz="2400" b="1" dirty="0">
                <a:latin typeface="楷体_GB2312" pitchFamily="49" charset="-122"/>
                <a:ea typeface="楷体_GB2312" pitchFamily="49" charset="-122"/>
              </a:rPr>
              <a:t>操作结果：</a:t>
            </a:r>
          </a:p>
        </p:txBody>
      </p:sp>
      <p:sp>
        <p:nvSpPr>
          <p:cNvPr id="19" name="Text Box 9"/>
          <p:cNvSpPr txBox="1"/>
          <p:nvPr/>
        </p:nvSpPr>
        <p:spPr>
          <a:xfrm>
            <a:off x="3365078" y="2083445"/>
            <a:ext cx="2790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20" name="Text Box 10"/>
          <p:cNvSpPr txBox="1"/>
          <p:nvPr/>
        </p:nvSpPr>
        <p:spPr>
          <a:xfrm>
            <a:off x="3377778" y="2659509"/>
            <a:ext cx="4982454"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对线性表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进行遍历，在遍历</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过程中对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的每个结点访问一次。</a:t>
            </a:r>
          </a:p>
        </p:txBody>
      </p:sp>
      <p:sp>
        <p:nvSpPr>
          <p:cNvPr id="11" name="Text Box 7"/>
          <p:cNvSpPr txBox="1"/>
          <p:nvPr/>
        </p:nvSpPr>
        <p:spPr>
          <a:xfrm>
            <a:off x="1043608" y="3933056"/>
            <a:ext cx="6480720"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ClearList</a:t>
            </a:r>
            <a:r>
              <a:rPr lang="en-US" altLang="zh-CN" sz="2400" b="1" dirty="0">
                <a:latin typeface="楷体_GB2312" pitchFamily="49" charset="-122"/>
                <a:ea typeface="楷体_GB2312" pitchFamily="49" charset="-122"/>
              </a:rPr>
              <a:t>(&amp;L)  // </a:t>
            </a:r>
            <a:r>
              <a:rPr lang="zh-CN" altLang="en-US" sz="2400" b="1" dirty="0">
                <a:latin typeface="楷体_GB2312" pitchFamily="49" charset="-122"/>
                <a:ea typeface="楷体_GB2312" pitchFamily="49" charset="-122"/>
              </a:rPr>
              <a:t>置空</a:t>
            </a:r>
            <a:endParaRPr lang="en-US" altLang="zh-CN" sz="2400" b="1" dirty="0">
              <a:latin typeface="楷体_GB2312" pitchFamily="49" charset="-122"/>
              <a:ea typeface="楷体_GB2312" pitchFamily="49" charset="-122"/>
            </a:endParaRPr>
          </a:p>
        </p:txBody>
      </p:sp>
      <p:sp>
        <p:nvSpPr>
          <p:cNvPr id="12" name="Text Box 8"/>
          <p:cNvSpPr txBox="1"/>
          <p:nvPr/>
        </p:nvSpPr>
        <p:spPr>
          <a:xfrm>
            <a:off x="1483028" y="4273946"/>
            <a:ext cx="3232150" cy="111376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50000"/>
              </a:lnSpc>
              <a:spcBef>
                <a:spcPct val="0"/>
              </a:spcBef>
              <a:buClrTx/>
              <a:buNone/>
            </a:pPr>
            <a:r>
              <a:rPr lang="zh-CN" altLang="en-US" sz="2400" b="1" dirty="0">
                <a:latin typeface="楷体_GB2312" pitchFamily="49" charset="-122"/>
                <a:ea typeface="楷体_GB2312" pitchFamily="49" charset="-122"/>
              </a:rPr>
              <a:t>初始条件：</a:t>
            </a:r>
          </a:p>
          <a:p>
            <a:pPr marL="0" lvl="0" indent="0">
              <a:lnSpc>
                <a:spcPct val="150000"/>
              </a:lnSpc>
              <a:spcBef>
                <a:spcPct val="0"/>
              </a:spcBef>
              <a:buClrTx/>
              <a:buNone/>
            </a:pPr>
            <a:r>
              <a:rPr lang="zh-CN" altLang="en-US" sz="2400" b="1" dirty="0">
                <a:latin typeface="楷体_GB2312" pitchFamily="49" charset="-122"/>
                <a:ea typeface="楷体_GB2312" pitchFamily="49" charset="-122"/>
              </a:rPr>
              <a:t>操作结果：</a:t>
            </a:r>
          </a:p>
        </p:txBody>
      </p:sp>
      <p:sp>
        <p:nvSpPr>
          <p:cNvPr id="14" name="Text Box 9"/>
          <p:cNvSpPr txBox="1"/>
          <p:nvPr/>
        </p:nvSpPr>
        <p:spPr>
          <a:xfrm>
            <a:off x="3359453" y="4368824"/>
            <a:ext cx="2790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15" name="Text Box 10"/>
          <p:cNvSpPr txBox="1"/>
          <p:nvPr/>
        </p:nvSpPr>
        <p:spPr>
          <a:xfrm>
            <a:off x="3372153" y="4983559"/>
            <a:ext cx="2816797"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将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重置为空表。</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190309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线性表的基本操作 </a:t>
            </a:r>
            <a:r>
              <a:rPr lang="en-US" altLang="zh-CN" dirty="0"/>
              <a:t>- 3</a:t>
            </a:r>
            <a:endParaRPr lang="zh-CN" altLang="en-US" dirty="0"/>
          </a:p>
        </p:txBody>
      </p:sp>
      <p:sp>
        <p:nvSpPr>
          <p:cNvPr id="17" name="Text Box 7"/>
          <p:cNvSpPr txBox="1"/>
          <p:nvPr/>
        </p:nvSpPr>
        <p:spPr>
          <a:xfrm>
            <a:off x="1049233" y="1484784"/>
            <a:ext cx="5827023"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ListEmpty</a:t>
            </a:r>
            <a:r>
              <a:rPr lang="en-US" altLang="zh-CN" sz="2400" b="1" dirty="0">
                <a:latin typeface="楷体_GB2312" pitchFamily="49" charset="-122"/>
                <a:ea typeface="楷体_GB2312" pitchFamily="49" charset="-122"/>
              </a:rPr>
              <a:t>(L)  // </a:t>
            </a:r>
            <a:r>
              <a:rPr lang="zh-CN" altLang="en-US" sz="2400" b="1" dirty="0">
                <a:latin typeface="楷体_GB2312" pitchFamily="49" charset="-122"/>
                <a:ea typeface="楷体_GB2312" pitchFamily="49" charset="-122"/>
              </a:rPr>
              <a:t>判空</a:t>
            </a:r>
            <a:endParaRPr lang="en-US" altLang="zh-CN" sz="2400" b="1" dirty="0">
              <a:latin typeface="楷体_GB2312" pitchFamily="49" charset="-122"/>
              <a:ea typeface="楷体_GB2312" pitchFamily="49" charset="-122"/>
            </a:endParaRPr>
          </a:p>
        </p:txBody>
      </p:sp>
      <p:sp>
        <p:nvSpPr>
          <p:cNvPr id="18" name="Text Box 8"/>
          <p:cNvSpPr txBox="1"/>
          <p:nvPr/>
        </p:nvSpPr>
        <p:spPr>
          <a:xfrm>
            <a:off x="1488653" y="1888390"/>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19" name="Text Box 9"/>
          <p:cNvSpPr txBox="1"/>
          <p:nvPr/>
        </p:nvSpPr>
        <p:spPr>
          <a:xfrm>
            <a:off x="3365078" y="1912203"/>
            <a:ext cx="2790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20" name="Text Box 10"/>
          <p:cNvSpPr txBox="1"/>
          <p:nvPr/>
        </p:nvSpPr>
        <p:spPr>
          <a:xfrm>
            <a:off x="3377778" y="2598003"/>
            <a:ext cx="4057521"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若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为空表，则返回</a:t>
            </a:r>
            <a:r>
              <a:rPr lang="en-US" altLang="zh-CN" sz="2400" b="1" dirty="0">
                <a:latin typeface="楷体_GB2312" pitchFamily="49" charset="-122"/>
                <a:ea typeface="楷体_GB2312" pitchFamily="49" charset="-122"/>
              </a:rPr>
              <a:t>true</a:t>
            </a:r>
            <a:r>
              <a:rPr lang="zh-CN" altLang="en-US"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否则返回</a:t>
            </a:r>
            <a:r>
              <a:rPr lang="en-US" altLang="zh-CN" sz="2400" b="1" dirty="0">
                <a:latin typeface="楷体_GB2312" pitchFamily="49" charset="-122"/>
                <a:ea typeface="楷体_GB2312" pitchFamily="49" charset="-122"/>
              </a:rPr>
              <a:t>false</a:t>
            </a:r>
            <a:r>
              <a:rPr lang="zh-CN" altLang="en-US" sz="2400" b="1" dirty="0">
                <a:latin typeface="楷体_GB2312" pitchFamily="49" charset="-122"/>
                <a:ea typeface="楷体_GB2312" pitchFamily="49" charset="-122"/>
              </a:rPr>
              <a:t>。</a:t>
            </a:r>
          </a:p>
        </p:txBody>
      </p:sp>
      <p:sp>
        <p:nvSpPr>
          <p:cNvPr id="26" name="Text Box 7"/>
          <p:cNvSpPr txBox="1"/>
          <p:nvPr/>
        </p:nvSpPr>
        <p:spPr>
          <a:xfrm>
            <a:off x="1043608" y="3933056"/>
            <a:ext cx="6120680"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ListLength</a:t>
            </a:r>
            <a:r>
              <a:rPr lang="en-US" altLang="zh-CN" sz="2400" b="1" dirty="0">
                <a:latin typeface="楷体_GB2312" pitchFamily="49" charset="-122"/>
                <a:ea typeface="楷体_GB2312" pitchFamily="49" charset="-122"/>
              </a:rPr>
              <a:t>(L)  // </a:t>
            </a:r>
            <a:r>
              <a:rPr lang="zh-CN" altLang="en-US" sz="2400" b="1" dirty="0">
                <a:latin typeface="楷体_GB2312" pitchFamily="49" charset="-122"/>
                <a:ea typeface="楷体_GB2312" pitchFamily="49" charset="-122"/>
              </a:rPr>
              <a:t>求长度</a:t>
            </a:r>
            <a:endParaRPr lang="en-US" altLang="zh-CN" sz="2400" b="1" dirty="0">
              <a:latin typeface="楷体_GB2312" pitchFamily="49" charset="-122"/>
              <a:ea typeface="楷体_GB2312" pitchFamily="49" charset="-122"/>
            </a:endParaRPr>
          </a:p>
        </p:txBody>
      </p:sp>
      <p:sp>
        <p:nvSpPr>
          <p:cNvPr id="27" name="Text Box 8"/>
          <p:cNvSpPr txBox="1"/>
          <p:nvPr/>
        </p:nvSpPr>
        <p:spPr>
          <a:xfrm>
            <a:off x="1483028" y="4317082"/>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28" name="Text Box 9"/>
          <p:cNvSpPr txBox="1"/>
          <p:nvPr/>
        </p:nvSpPr>
        <p:spPr>
          <a:xfrm>
            <a:off x="3359453" y="4340895"/>
            <a:ext cx="2790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29" name="Text Box 10"/>
          <p:cNvSpPr txBox="1"/>
          <p:nvPr/>
        </p:nvSpPr>
        <p:spPr>
          <a:xfrm>
            <a:off x="3372153" y="5026695"/>
            <a:ext cx="4054315"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返回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中数据元素的个数。</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线性表的基本操作 </a:t>
            </a:r>
            <a:r>
              <a:rPr lang="en-US" altLang="zh-CN" dirty="0"/>
              <a:t>- 4</a:t>
            </a:r>
            <a:endParaRPr lang="zh-CN" altLang="en-US" dirty="0"/>
          </a:p>
        </p:txBody>
      </p:sp>
      <p:sp>
        <p:nvSpPr>
          <p:cNvPr id="17" name="Text Box 7"/>
          <p:cNvSpPr txBox="1"/>
          <p:nvPr/>
        </p:nvSpPr>
        <p:spPr>
          <a:xfrm>
            <a:off x="1049232" y="3573016"/>
            <a:ext cx="6187063"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LocateElem</a:t>
            </a:r>
            <a:r>
              <a:rPr lang="en-US" altLang="zh-CN" sz="2400" b="1" dirty="0">
                <a:latin typeface="楷体_GB2312" pitchFamily="49" charset="-122"/>
                <a:ea typeface="楷体_GB2312" pitchFamily="49" charset="-122"/>
              </a:rPr>
              <a:t>(L, e)  // </a:t>
            </a:r>
            <a:r>
              <a:rPr lang="zh-CN" altLang="en-US" sz="2400" b="1" dirty="0">
                <a:latin typeface="楷体_GB2312" pitchFamily="49" charset="-122"/>
                <a:ea typeface="楷体_GB2312" pitchFamily="49" charset="-122"/>
              </a:rPr>
              <a:t>查找</a:t>
            </a:r>
            <a:endParaRPr lang="en-US" altLang="zh-CN" sz="2400" b="1" dirty="0">
              <a:latin typeface="楷体_GB2312" pitchFamily="49" charset="-122"/>
              <a:ea typeface="楷体_GB2312" pitchFamily="49" charset="-122"/>
            </a:endParaRPr>
          </a:p>
        </p:txBody>
      </p:sp>
      <p:sp>
        <p:nvSpPr>
          <p:cNvPr id="18" name="Text Box 8"/>
          <p:cNvSpPr txBox="1"/>
          <p:nvPr/>
        </p:nvSpPr>
        <p:spPr>
          <a:xfrm>
            <a:off x="1488653" y="3967330"/>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19" name="Text Box 9"/>
          <p:cNvSpPr txBox="1"/>
          <p:nvPr/>
        </p:nvSpPr>
        <p:spPr>
          <a:xfrm>
            <a:off x="3365078" y="3991143"/>
            <a:ext cx="2790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20" name="Text Box 10"/>
          <p:cNvSpPr txBox="1"/>
          <p:nvPr/>
        </p:nvSpPr>
        <p:spPr>
          <a:xfrm>
            <a:off x="3377778" y="4676943"/>
            <a:ext cx="5295039" cy="120032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返回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中第</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个值与 </a:t>
            </a:r>
            <a:r>
              <a:rPr lang="en-US" altLang="zh-CN" sz="2400" b="1" dirty="0">
                <a:latin typeface="楷体_GB2312" pitchFamily="49" charset="-122"/>
                <a:ea typeface="楷体_GB2312" pitchFamily="49" charset="-122"/>
              </a:rPr>
              <a:t>e </a:t>
            </a:r>
            <a:r>
              <a:rPr lang="zh-CN" altLang="en-US" sz="2400" b="1" dirty="0">
                <a:latin typeface="楷体_GB2312" pitchFamily="49" charset="-122"/>
                <a:ea typeface="楷体_GB2312" pitchFamily="49" charset="-122"/>
              </a:rPr>
              <a:t>相同的元素在</a:t>
            </a:r>
            <a:endParaRPr lang="en-US" altLang="zh-CN" sz="2400" b="1" dirty="0">
              <a:latin typeface="楷体_GB2312" pitchFamily="49" charset="-122"/>
              <a:ea typeface="楷体_GB2312" pitchFamily="49" charset="-122"/>
            </a:endParaRPr>
          </a:p>
          <a:p>
            <a:pPr marL="0" lvl="0" indent="0">
              <a:spcBef>
                <a:spcPct val="0"/>
              </a:spcBef>
              <a:buClrTx/>
              <a:buNone/>
            </a:pP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中的位置。若这样的元素不存在，</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则返回值为</a:t>
            </a:r>
            <a:r>
              <a:rPr lang="en-US" altLang="zh-CN" sz="2400" b="1" dirty="0">
                <a:latin typeface="楷体_GB2312" pitchFamily="49" charset="-122"/>
                <a:ea typeface="楷体_GB2312" pitchFamily="49" charset="-122"/>
              </a:rPr>
              <a:t> 0</a:t>
            </a:r>
            <a:endParaRPr lang="zh-CN" altLang="en-US" sz="2400" b="1" dirty="0">
              <a:latin typeface="楷体_GB2312" pitchFamily="49" charset="-122"/>
              <a:ea typeface="楷体_GB2312" pitchFamily="49" charset="-122"/>
            </a:endParaRPr>
          </a:p>
        </p:txBody>
      </p:sp>
      <p:sp>
        <p:nvSpPr>
          <p:cNvPr id="22" name="Text Box 7"/>
          <p:cNvSpPr txBox="1"/>
          <p:nvPr/>
        </p:nvSpPr>
        <p:spPr>
          <a:xfrm>
            <a:off x="1043608" y="1243335"/>
            <a:ext cx="6336704"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GetElem</a:t>
            </a:r>
            <a:r>
              <a:rPr lang="en-US" altLang="zh-CN" sz="2400" b="1" dirty="0">
                <a:latin typeface="楷体_GB2312" pitchFamily="49" charset="-122"/>
                <a:ea typeface="楷体_GB2312" pitchFamily="49" charset="-122"/>
              </a:rPr>
              <a:t>(L,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&amp;e)  // </a:t>
            </a:r>
            <a:r>
              <a:rPr lang="zh-CN" altLang="en-US" sz="2400" b="1" dirty="0">
                <a:latin typeface="楷体_GB2312" pitchFamily="49" charset="-122"/>
                <a:ea typeface="楷体_GB2312" pitchFamily="49" charset="-122"/>
              </a:rPr>
              <a:t>取值</a:t>
            </a:r>
            <a:endParaRPr lang="en-US" altLang="zh-CN" sz="2400" b="1" dirty="0">
              <a:latin typeface="楷体_GB2312" pitchFamily="49" charset="-122"/>
              <a:ea typeface="楷体_GB2312" pitchFamily="49" charset="-122"/>
            </a:endParaRPr>
          </a:p>
        </p:txBody>
      </p:sp>
      <p:sp>
        <p:nvSpPr>
          <p:cNvPr id="23" name="Text Box 8"/>
          <p:cNvSpPr txBox="1"/>
          <p:nvPr/>
        </p:nvSpPr>
        <p:spPr>
          <a:xfrm>
            <a:off x="1483028" y="1671191"/>
            <a:ext cx="3232150" cy="138499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en-US" altLang="zh-CN" sz="2400" b="1" dirty="0">
              <a:latin typeface="楷体_GB2312" pitchFamily="49" charset="-122"/>
              <a:ea typeface="楷体_GB2312" pitchFamily="49" charset="-122"/>
            </a:endParaRPr>
          </a:p>
          <a:p>
            <a:pPr marL="0" lvl="0" indent="0">
              <a:spcBef>
                <a:spcPct val="0"/>
              </a:spcBef>
              <a:buClrTx/>
              <a:buNone/>
            </a:pPr>
            <a:endParaRPr lang="zh-CN" altLang="en-US" sz="12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24" name="Text Box 9"/>
          <p:cNvSpPr txBox="1"/>
          <p:nvPr/>
        </p:nvSpPr>
        <p:spPr>
          <a:xfrm>
            <a:off x="3359453" y="1695004"/>
            <a:ext cx="3754554"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且</a:t>
            </a:r>
            <a:r>
              <a:rPr lang="en-US" altLang="zh-CN" sz="2400" b="1" dirty="0">
                <a:latin typeface="楷体_GB2312" pitchFamily="49" charset="-122"/>
                <a:ea typeface="楷体_GB2312" pitchFamily="49" charset="-122"/>
              </a:rPr>
              <a:t>1</a:t>
            </a:r>
            <a:r>
              <a:rPr lang="en-US" altLang="zh-CN" sz="2400" b="1" dirty="0">
                <a:latin typeface="宋体" panose="02010600030101010101" pitchFamily="2" charset="-122"/>
                <a:ea typeface="宋体" panose="02010600030101010101" pitchFamily="2" charset="-122"/>
              </a:rPr>
              <a:t>≤i≤ListLength(L)</a:t>
            </a:r>
            <a:r>
              <a:rPr lang="zh-CN" altLang="en-US" sz="2400" b="1" dirty="0">
                <a:latin typeface="楷体_GB2312" pitchFamily="49" charset="-122"/>
                <a:ea typeface="楷体_GB2312" pitchFamily="49" charset="-122"/>
              </a:rPr>
              <a:t>。</a:t>
            </a:r>
          </a:p>
        </p:txBody>
      </p:sp>
      <p:sp>
        <p:nvSpPr>
          <p:cNvPr id="25" name="Text Box 10"/>
          <p:cNvSpPr txBox="1"/>
          <p:nvPr/>
        </p:nvSpPr>
        <p:spPr>
          <a:xfrm>
            <a:off x="3372153" y="2607295"/>
            <a:ext cx="5452134"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用 </a:t>
            </a:r>
            <a:r>
              <a:rPr lang="en-US" altLang="zh-CN" sz="2400" b="1" dirty="0">
                <a:latin typeface="楷体_GB2312" pitchFamily="49" charset="-122"/>
                <a:ea typeface="楷体_GB2312" pitchFamily="49" charset="-122"/>
              </a:rPr>
              <a:t>e </a:t>
            </a:r>
            <a:r>
              <a:rPr lang="zh-CN" altLang="en-US" sz="2400" b="1" dirty="0">
                <a:latin typeface="楷体_GB2312" pitchFamily="49" charset="-122"/>
                <a:ea typeface="楷体_GB2312" pitchFamily="49" charset="-122"/>
              </a:rPr>
              <a:t>返回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中第</a:t>
            </a:r>
            <a:r>
              <a:rPr lang="en-US" altLang="zh-CN" sz="2400" b="1" dirty="0" err="1">
                <a:latin typeface="楷体_GB2312" pitchFamily="49" charset="-122"/>
                <a:ea typeface="楷体_GB2312" pitchFamily="49" charset="-122"/>
              </a:rPr>
              <a:t>i</a:t>
            </a:r>
            <a:r>
              <a:rPr lang="zh-CN" altLang="en-US" sz="2400" b="1" dirty="0">
                <a:latin typeface="楷体_GB2312" pitchFamily="49" charset="-122"/>
                <a:ea typeface="楷体_GB2312" pitchFamily="49" charset="-122"/>
              </a:rPr>
              <a:t>个数据元素的值。</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847479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线性表的基本操作 </a:t>
            </a:r>
            <a:r>
              <a:rPr lang="en-US" altLang="zh-CN" dirty="0"/>
              <a:t>- 5</a:t>
            </a:r>
            <a:endParaRPr lang="zh-CN" altLang="en-US" dirty="0"/>
          </a:p>
        </p:txBody>
      </p:sp>
      <p:sp>
        <p:nvSpPr>
          <p:cNvPr id="17" name="Text Box 7"/>
          <p:cNvSpPr txBox="1"/>
          <p:nvPr/>
        </p:nvSpPr>
        <p:spPr>
          <a:xfrm>
            <a:off x="1049232" y="3573016"/>
            <a:ext cx="6691119"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NextElem</a:t>
            </a:r>
            <a:r>
              <a:rPr lang="en-US" altLang="zh-CN" sz="2400" b="1" dirty="0">
                <a:latin typeface="楷体_GB2312" pitchFamily="49" charset="-122"/>
                <a:ea typeface="楷体_GB2312" pitchFamily="49" charset="-122"/>
              </a:rPr>
              <a:t>(L, </a:t>
            </a:r>
            <a:r>
              <a:rPr lang="en-US" altLang="zh-CN" sz="2400" b="1" dirty="0" err="1">
                <a:latin typeface="楷体_GB2312" pitchFamily="49" charset="-122"/>
                <a:ea typeface="楷体_GB2312" pitchFamily="49" charset="-122"/>
              </a:rPr>
              <a:t>cur_e</a:t>
            </a:r>
            <a:r>
              <a:rPr lang="en-US" altLang="zh-CN" sz="2400" b="1" dirty="0">
                <a:latin typeface="楷体_GB2312" pitchFamily="49" charset="-122"/>
                <a:ea typeface="楷体_GB2312" pitchFamily="49" charset="-122"/>
              </a:rPr>
              <a:t>, &amp;</a:t>
            </a:r>
            <a:r>
              <a:rPr lang="en-US" altLang="zh-CN" sz="2400" b="1" dirty="0" err="1">
                <a:latin typeface="楷体_GB2312" pitchFamily="49" charset="-122"/>
                <a:ea typeface="楷体_GB2312" pitchFamily="49" charset="-122"/>
              </a:rPr>
              <a:t>next_e</a:t>
            </a:r>
            <a:r>
              <a:rPr lang="en-US" altLang="zh-CN" sz="2400" b="1" dirty="0">
                <a:latin typeface="楷体_GB2312" pitchFamily="49" charset="-122"/>
                <a:ea typeface="楷体_GB2312" pitchFamily="49" charset="-122"/>
              </a:rPr>
              <a:t>)  // </a:t>
            </a:r>
            <a:r>
              <a:rPr lang="zh-CN" altLang="en-US" sz="2400" b="1" dirty="0">
                <a:latin typeface="楷体_GB2312" pitchFamily="49" charset="-122"/>
                <a:ea typeface="楷体_GB2312" pitchFamily="49" charset="-122"/>
              </a:rPr>
              <a:t>求后继</a:t>
            </a:r>
            <a:endParaRPr lang="en-US" altLang="zh-CN" sz="2400" b="1" dirty="0">
              <a:latin typeface="楷体_GB2312" pitchFamily="49" charset="-122"/>
              <a:ea typeface="楷体_GB2312" pitchFamily="49" charset="-122"/>
            </a:endParaRPr>
          </a:p>
        </p:txBody>
      </p:sp>
      <p:sp>
        <p:nvSpPr>
          <p:cNvPr id="18" name="Text Box 8"/>
          <p:cNvSpPr txBox="1"/>
          <p:nvPr/>
        </p:nvSpPr>
        <p:spPr>
          <a:xfrm>
            <a:off x="1488653" y="4005064"/>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19" name="Text Box 9"/>
          <p:cNvSpPr txBox="1"/>
          <p:nvPr/>
        </p:nvSpPr>
        <p:spPr>
          <a:xfrm>
            <a:off x="3365078" y="4028877"/>
            <a:ext cx="27908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20" name="Text Box 10"/>
          <p:cNvSpPr txBox="1"/>
          <p:nvPr/>
        </p:nvSpPr>
        <p:spPr>
          <a:xfrm>
            <a:off x="3377778" y="4714677"/>
            <a:ext cx="5296643" cy="120032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若</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cur_e</a:t>
            </a:r>
            <a:r>
              <a:rPr lang="zh-CN" altLang="en-US" sz="2400" b="1" dirty="0">
                <a:latin typeface="楷体_GB2312" pitchFamily="49" charset="-122"/>
                <a:ea typeface="楷体_GB2312" pitchFamily="49" charset="-122"/>
              </a:rPr>
              <a:t>是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的数据元素，且不是最</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后一个，则用 </a:t>
            </a:r>
            <a:r>
              <a:rPr lang="en-US" altLang="zh-CN" sz="2400" b="1" dirty="0" err="1">
                <a:latin typeface="楷体_GB2312" pitchFamily="49" charset="-122"/>
                <a:ea typeface="楷体_GB2312" pitchFamily="49" charset="-122"/>
              </a:rPr>
              <a:t>next_e</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返回其后继，</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否则操作失败，</a:t>
            </a:r>
            <a:r>
              <a:rPr lang="en-US" altLang="zh-CN" sz="2400" b="1" dirty="0" err="1">
                <a:latin typeface="楷体_GB2312" pitchFamily="49" charset="-122"/>
                <a:ea typeface="楷体_GB2312" pitchFamily="49" charset="-122"/>
              </a:rPr>
              <a:t>next_e</a:t>
            </a:r>
            <a:r>
              <a:rPr lang="zh-CN" altLang="en-US" sz="2400" b="1" dirty="0">
                <a:latin typeface="楷体_GB2312" pitchFamily="49" charset="-122"/>
                <a:ea typeface="楷体_GB2312" pitchFamily="49" charset="-122"/>
              </a:rPr>
              <a:t>无定义。</a:t>
            </a:r>
          </a:p>
        </p:txBody>
      </p:sp>
      <p:sp>
        <p:nvSpPr>
          <p:cNvPr id="22" name="Text Box 7"/>
          <p:cNvSpPr txBox="1"/>
          <p:nvPr/>
        </p:nvSpPr>
        <p:spPr>
          <a:xfrm>
            <a:off x="1043608" y="1052736"/>
            <a:ext cx="7056784"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PriorElem</a:t>
            </a:r>
            <a:r>
              <a:rPr lang="en-US" altLang="zh-CN" sz="2400" b="1" dirty="0">
                <a:latin typeface="楷体_GB2312" pitchFamily="49" charset="-122"/>
                <a:ea typeface="楷体_GB2312" pitchFamily="49" charset="-122"/>
              </a:rPr>
              <a:t>(L, </a:t>
            </a:r>
            <a:r>
              <a:rPr lang="en-US" altLang="zh-CN" sz="2400" b="1" dirty="0" err="1">
                <a:latin typeface="楷体_GB2312" pitchFamily="49" charset="-122"/>
                <a:ea typeface="楷体_GB2312" pitchFamily="49" charset="-122"/>
              </a:rPr>
              <a:t>cur_e</a:t>
            </a:r>
            <a:r>
              <a:rPr lang="en-US" altLang="zh-CN" sz="2400" b="1" dirty="0">
                <a:latin typeface="楷体_GB2312" pitchFamily="49" charset="-122"/>
                <a:ea typeface="楷体_GB2312" pitchFamily="49" charset="-122"/>
              </a:rPr>
              <a:t>, &amp;</a:t>
            </a:r>
            <a:r>
              <a:rPr lang="en-US" altLang="zh-CN" sz="2400" b="1" dirty="0" err="1">
                <a:latin typeface="楷体_GB2312" pitchFamily="49" charset="-122"/>
                <a:ea typeface="楷体_GB2312" pitchFamily="49" charset="-122"/>
              </a:rPr>
              <a:t>pre_e</a:t>
            </a:r>
            <a:r>
              <a:rPr lang="en-US" altLang="zh-CN" sz="2400" b="1" dirty="0">
                <a:latin typeface="楷体_GB2312" pitchFamily="49" charset="-122"/>
                <a:ea typeface="楷体_GB2312" pitchFamily="49" charset="-122"/>
              </a:rPr>
              <a:t>)  // </a:t>
            </a:r>
            <a:r>
              <a:rPr lang="zh-CN" altLang="en-US" sz="2400" b="1" dirty="0">
                <a:latin typeface="楷体_GB2312" pitchFamily="49" charset="-122"/>
                <a:ea typeface="楷体_GB2312" pitchFamily="49" charset="-122"/>
              </a:rPr>
              <a:t>求前驱</a:t>
            </a:r>
            <a:endParaRPr lang="en-US" altLang="zh-CN" sz="2400" b="1" dirty="0">
              <a:latin typeface="楷体_GB2312" pitchFamily="49" charset="-122"/>
              <a:ea typeface="楷体_GB2312" pitchFamily="49" charset="-122"/>
            </a:endParaRPr>
          </a:p>
        </p:txBody>
      </p:sp>
      <p:sp>
        <p:nvSpPr>
          <p:cNvPr id="23" name="Text Box 8"/>
          <p:cNvSpPr txBox="1"/>
          <p:nvPr/>
        </p:nvSpPr>
        <p:spPr>
          <a:xfrm>
            <a:off x="1483028" y="1484784"/>
            <a:ext cx="3232150" cy="10156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zh-CN" altLang="en-US" sz="12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24" name="Text Box 9"/>
          <p:cNvSpPr txBox="1"/>
          <p:nvPr/>
        </p:nvSpPr>
        <p:spPr>
          <a:xfrm>
            <a:off x="3359453" y="1508597"/>
            <a:ext cx="2816797"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p>
        </p:txBody>
      </p:sp>
      <p:sp>
        <p:nvSpPr>
          <p:cNvPr id="25" name="Text Box 10"/>
          <p:cNvSpPr txBox="1"/>
          <p:nvPr/>
        </p:nvSpPr>
        <p:spPr>
          <a:xfrm>
            <a:off x="3372153" y="2036862"/>
            <a:ext cx="5296643" cy="120032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若</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cur_e</a:t>
            </a:r>
            <a:r>
              <a:rPr lang="zh-CN" altLang="en-US" sz="2400" b="1" dirty="0">
                <a:latin typeface="楷体_GB2312" pitchFamily="49" charset="-122"/>
                <a:ea typeface="楷体_GB2312" pitchFamily="49" charset="-122"/>
              </a:rPr>
              <a:t>是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的数据元素，且不是第</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一个，则用 </a:t>
            </a:r>
            <a:r>
              <a:rPr lang="en-US" altLang="zh-CN" sz="2400" b="1" dirty="0" err="1">
                <a:latin typeface="楷体_GB2312" pitchFamily="49" charset="-122"/>
                <a:ea typeface="楷体_GB2312" pitchFamily="49" charset="-122"/>
              </a:rPr>
              <a:t>pre_e</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返回其前驱，否则</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操作失败，</a:t>
            </a:r>
            <a:r>
              <a:rPr lang="en-US" altLang="zh-CN" sz="2400" b="1" dirty="0" err="1">
                <a:latin typeface="楷体_GB2312" pitchFamily="49" charset="-122"/>
                <a:ea typeface="楷体_GB2312" pitchFamily="49" charset="-122"/>
              </a:rPr>
              <a:t>pre_e</a:t>
            </a:r>
            <a:r>
              <a:rPr lang="zh-CN" altLang="en-US" sz="2400" b="1" dirty="0">
                <a:latin typeface="楷体_GB2312" pitchFamily="49" charset="-122"/>
                <a:ea typeface="楷体_GB2312" pitchFamily="49" charset="-122"/>
              </a:rPr>
              <a:t>无定义。</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4240676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线性表的基本操作 </a:t>
            </a:r>
            <a:r>
              <a:rPr lang="en-US" altLang="zh-CN" dirty="0"/>
              <a:t>- 6</a:t>
            </a:r>
            <a:endParaRPr lang="zh-CN" altLang="en-US" dirty="0"/>
          </a:p>
        </p:txBody>
      </p:sp>
      <p:sp>
        <p:nvSpPr>
          <p:cNvPr id="18" name="Text Box 8"/>
          <p:cNvSpPr txBox="1"/>
          <p:nvPr/>
        </p:nvSpPr>
        <p:spPr>
          <a:xfrm>
            <a:off x="1488653" y="3967330"/>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插入前：</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插入后：</a:t>
            </a:r>
          </a:p>
        </p:txBody>
      </p:sp>
      <p:sp>
        <p:nvSpPr>
          <p:cNvPr id="19" name="Text Box 9"/>
          <p:cNvSpPr txBox="1"/>
          <p:nvPr/>
        </p:nvSpPr>
        <p:spPr>
          <a:xfrm>
            <a:off x="2843808" y="3991143"/>
            <a:ext cx="4362092"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t>
            </a:r>
            <a:r>
              <a:rPr lang="en-US" altLang="zh-CN" sz="2400" dirty="0" err="1"/>
              <a:t>a</a:t>
            </a:r>
            <a:r>
              <a:rPr lang="en-US" altLang="zh-CN" sz="2400" baseline="-25000" dirty="0" err="1"/>
              <a:t>i</a:t>
            </a:r>
            <a:r>
              <a:rPr lang="en-US" altLang="zh-CN" sz="2400" dirty="0"/>
              <a:t>, a</a:t>
            </a:r>
            <a:r>
              <a:rPr lang="en-US" altLang="zh-CN" sz="2400" baseline="-25000" dirty="0"/>
              <a:t>i+1</a:t>
            </a:r>
            <a:r>
              <a:rPr lang="en-US" altLang="zh-CN" sz="2400" dirty="0"/>
              <a:t>, ..., a</a:t>
            </a:r>
            <a:r>
              <a:rPr lang="en-US" altLang="zh-CN" sz="2400" baseline="-25000" dirty="0"/>
              <a:t>n</a:t>
            </a:r>
            <a:r>
              <a:rPr lang="en-US" altLang="zh-CN" sz="2400" dirty="0"/>
              <a:t>)</a:t>
            </a:r>
          </a:p>
        </p:txBody>
      </p:sp>
      <p:sp>
        <p:nvSpPr>
          <p:cNvPr id="20" name="Text Box 10"/>
          <p:cNvSpPr txBox="1"/>
          <p:nvPr/>
        </p:nvSpPr>
        <p:spPr>
          <a:xfrm>
            <a:off x="2856508" y="4676943"/>
            <a:ext cx="4703532"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t>
            </a:r>
            <a:r>
              <a:rPr lang="en-US" altLang="zh-CN" sz="2400" dirty="0">
                <a:solidFill>
                  <a:srgbClr val="FF0000"/>
                </a:solidFill>
              </a:rPr>
              <a:t>e</a:t>
            </a:r>
            <a:r>
              <a:rPr lang="en-US" altLang="zh-CN" sz="2400" dirty="0"/>
              <a:t>, </a:t>
            </a:r>
            <a:r>
              <a:rPr lang="en-US" altLang="zh-CN" sz="2400" dirty="0" err="1"/>
              <a:t>a</a:t>
            </a:r>
            <a:r>
              <a:rPr lang="en-US" altLang="zh-CN" sz="2400" baseline="-25000" dirty="0" err="1"/>
              <a:t>i</a:t>
            </a:r>
            <a:r>
              <a:rPr lang="en-US" altLang="zh-CN" sz="2400" dirty="0"/>
              <a:t>, a</a:t>
            </a:r>
            <a:r>
              <a:rPr lang="en-US" altLang="zh-CN" sz="2400" baseline="-25000" dirty="0"/>
              <a:t>i+1</a:t>
            </a:r>
            <a:r>
              <a:rPr lang="en-US" altLang="zh-CN" sz="2400" dirty="0"/>
              <a:t>, ..., a</a:t>
            </a:r>
            <a:r>
              <a:rPr lang="en-US" altLang="zh-CN" sz="2400" baseline="-25000" dirty="0"/>
              <a:t>n</a:t>
            </a:r>
            <a:r>
              <a:rPr lang="en-US" altLang="zh-CN" sz="2400" dirty="0"/>
              <a:t>)</a:t>
            </a:r>
          </a:p>
        </p:txBody>
      </p:sp>
      <p:sp>
        <p:nvSpPr>
          <p:cNvPr id="22" name="Text Box 7"/>
          <p:cNvSpPr txBox="1"/>
          <p:nvPr/>
        </p:nvSpPr>
        <p:spPr>
          <a:xfrm>
            <a:off x="1043608" y="1243335"/>
            <a:ext cx="6624736"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ListInsert</a:t>
            </a:r>
            <a:r>
              <a:rPr lang="en-US" altLang="zh-CN" sz="2400" b="1" dirty="0">
                <a:latin typeface="楷体_GB2312" pitchFamily="49" charset="-122"/>
                <a:ea typeface="楷体_GB2312" pitchFamily="49" charset="-122"/>
              </a:rPr>
              <a:t>(&amp;L,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e)  // </a:t>
            </a:r>
            <a:r>
              <a:rPr lang="zh-CN" altLang="en-US" sz="2400" b="1" dirty="0">
                <a:latin typeface="楷体_GB2312" pitchFamily="49" charset="-122"/>
                <a:ea typeface="楷体_GB2312" pitchFamily="49" charset="-122"/>
              </a:rPr>
              <a:t>插入</a:t>
            </a:r>
            <a:endParaRPr lang="en-US" altLang="zh-CN" sz="2400" b="1" dirty="0">
              <a:latin typeface="楷体_GB2312" pitchFamily="49" charset="-122"/>
              <a:ea typeface="楷体_GB2312" pitchFamily="49" charset="-122"/>
            </a:endParaRPr>
          </a:p>
        </p:txBody>
      </p:sp>
      <p:sp>
        <p:nvSpPr>
          <p:cNvPr id="23" name="Text Box 8"/>
          <p:cNvSpPr txBox="1"/>
          <p:nvPr/>
        </p:nvSpPr>
        <p:spPr>
          <a:xfrm>
            <a:off x="1483028" y="1671191"/>
            <a:ext cx="3232150" cy="138499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en-US" altLang="zh-CN" sz="2400" b="1" dirty="0">
              <a:latin typeface="楷体_GB2312" pitchFamily="49" charset="-122"/>
              <a:ea typeface="楷体_GB2312" pitchFamily="49" charset="-122"/>
            </a:endParaRPr>
          </a:p>
          <a:p>
            <a:pPr marL="0" lvl="0" indent="0">
              <a:spcBef>
                <a:spcPct val="0"/>
              </a:spcBef>
              <a:buClrTx/>
              <a:buNone/>
            </a:pPr>
            <a:endParaRPr lang="zh-CN" altLang="en-US" sz="12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24" name="Text Box 9"/>
          <p:cNvSpPr txBox="1"/>
          <p:nvPr/>
        </p:nvSpPr>
        <p:spPr>
          <a:xfrm>
            <a:off x="3359453" y="1695004"/>
            <a:ext cx="4065537"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且</a:t>
            </a:r>
            <a:r>
              <a:rPr lang="en-US" altLang="zh-CN" sz="2400" b="1" dirty="0">
                <a:latin typeface="楷体_GB2312" pitchFamily="49" charset="-122"/>
                <a:ea typeface="楷体_GB2312" pitchFamily="49" charset="-122"/>
              </a:rPr>
              <a:t>1</a:t>
            </a:r>
            <a:r>
              <a:rPr lang="en-US" altLang="zh-CN" sz="2400" b="1" dirty="0">
                <a:latin typeface="宋体" panose="02010600030101010101" pitchFamily="2" charset="-122"/>
                <a:ea typeface="宋体" panose="02010600030101010101" pitchFamily="2" charset="-122"/>
              </a:rPr>
              <a:t>≤i≤ListLength(L)+1</a:t>
            </a:r>
            <a:r>
              <a:rPr lang="zh-CN" altLang="en-US" sz="2400" b="1" dirty="0">
                <a:latin typeface="楷体_GB2312" pitchFamily="49" charset="-122"/>
                <a:ea typeface="楷体_GB2312" pitchFamily="49" charset="-122"/>
              </a:rPr>
              <a:t>。</a:t>
            </a:r>
          </a:p>
        </p:txBody>
      </p:sp>
      <p:sp>
        <p:nvSpPr>
          <p:cNvPr id="25" name="Text Box 10"/>
          <p:cNvSpPr txBox="1"/>
          <p:nvPr/>
        </p:nvSpPr>
        <p:spPr>
          <a:xfrm>
            <a:off x="3372153" y="2607295"/>
            <a:ext cx="5137945"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中第</a:t>
            </a:r>
            <a:r>
              <a:rPr lang="en-US" altLang="zh-CN" sz="2400" b="1" dirty="0" err="1">
                <a:latin typeface="楷体_GB2312" pitchFamily="49" charset="-122"/>
                <a:ea typeface="楷体_GB2312" pitchFamily="49" charset="-122"/>
              </a:rPr>
              <a:t>i</a:t>
            </a:r>
            <a:r>
              <a:rPr lang="zh-CN" altLang="en-US" sz="2400" b="1" dirty="0">
                <a:latin typeface="楷体_GB2312" pitchFamily="49" charset="-122"/>
                <a:ea typeface="楷体_GB2312" pitchFamily="49" charset="-122"/>
              </a:rPr>
              <a:t>个位置之前插入新的数据</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元素，</a:t>
            </a:r>
            <a:r>
              <a:rPr lang="en-US" altLang="zh-CN" sz="2400" b="1" dirty="0">
                <a:latin typeface="楷体_GB2312" pitchFamily="49" charset="-122"/>
                <a:ea typeface="楷体_GB2312" pitchFamily="49" charset="-122"/>
              </a:rPr>
              <a:t>L</a:t>
            </a:r>
            <a:r>
              <a:rPr lang="zh-CN" altLang="en-US" sz="2400" b="1" dirty="0">
                <a:latin typeface="楷体_GB2312" pitchFamily="49" charset="-122"/>
                <a:ea typeface="楷体_GB2312" pitchFamily="49" charset="-122"/>
              </a:rPr>
              <a:t>的长度加</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a:t>
            </a:r>
          </a:p>
        </p:txBody>
      </p:sp>
      <p:sp>
        <p:nvSpPr>
          <p:cNvPr id="3" name="矩形 2"/>
          <p:cNvSpPr/>
          <p:nvPr/>
        </p:nvSpPr>
        <p:spPr bwMode="auto">
          <a:xfrm>
            <a:off x="4283968" y="3055040"/>
            <a:ext cx="1872208" cy="349206"/>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solidFill>
                <a:srgbClr val="FF0000"/>
              </a:solidFill>
              <a:effectLst/>
              <a:latin typeface="Arial" panose="020B0604020202020204" pitchFamily="34" charset="0"/>
              <a:ea typeface="华文细黑" panose="02010600040101010101" pitchFamily="2" charset="-122"/>
            </a:endParaRP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5780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线性表的基本操作 </a:t>
            </a:r>
            <a:r>
              <a:rPr lang="en-US" altLang="zh-CN" dirty="0"/>
              <a:t>- 7</a:t>
            </a:r>
            <a:endParaRPr lang="zh-CN" altLang="en-US" dirty="0"/>
          </a:p>
        </p:txBody>
      </p:sp>
      <p:sp>
        <p:nvSpPr>
          <p:cNvPr id="22" name="Text Box 7"/>
          <p:cNvSpPr txBox="1"/>
          <p:nvPr/>
        </p:nvSpPr>
        <p:spPr>
          <a:xfrm>
            <a:off x="1043608" y="1243335"/>
            <a:ext cx="6840760"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err="1">
                <a:latin typeface="楷体_GB2312" pitchFamily="49" charset="-122"/>
                <a:ea typeface="楷体_GB2312" pitchFamily="49" charset="-122"/>
              </a:rPr>
              <a:t>ListDelete</a:t>
            </a:r>
            <a:r>
              <a:rPr lang="en-US" altLang="zh-CN" sz="2400" b="1" dirty="0">
                <a:latin typeface="楷体_GB2312" pitchFamily="49" charset="-122"/>
                <a:ea typeface="楷体_GB2312" pitchFamily="49" charset="-122"/>
              </a:rPr>
              <a:t>(&amp;L, </a:t>
            </a:r>
            <a:r>
              <a:rPr lang="en-US" altLang="zh-CN" sz="2400" b="1" dirty="0" err="1">
                <a:latin typeface="楷体_GB2312" pitchFamily="49" charset="-122"/>
                <a:ea typeface="楷体_GB2312" pitchFamily="49" charset="-122"/>
              </a:rPr>
              <a:t>i</a:t>
            </a:r>
            <a:r>
              <a:rPr lang="en-US" altLang="zh-CN" sz="2400" b="1" dirty="0">
                <a:latin typeface="楷体_GB2312" pitchFamily="49" charset="-122"/>
                <a:ea typeface="楷体_GB2312" pitchFamily="49" charset="-122"/>
              </a:rPr>
              <a:t>)  // </a:t>
            </a:r>
            <a:r>
              <a:rPr lang="zh-CN" altLang="en-US" sz="2400" b="1" dirty="0">
                <a:latin typeface="楷体_GB2312" pitchFamily="49" charset="-122"/>
                <a:ea typeface="楷体_GB2312" pitchFamily="49" charset="-122"/>
              </a:rPr>
              <a:t>删除</a:t>
            </a:r>
            <a:endParaRPr lang="en-US" altLang="zh-CN" sz="2400" b="1" dirty="0">
              <a:latin typeface="楷体_GB2312" pitchFamily="49" charset="-122"/>
              <a:ea typeface="楷体_GB2312" pitchFamily="49" charset="-122"/>
            </a:endParaRPr>
          </a:p>
        </p:txBody>
      </p:sp>
      <p:sp>
        <p:nvSpPr>
          <p:cNvPr id="23" name="Text Box 8"/>
          <p:cNvSpPr txBox="1"/>
          <p:nvPr/>
        </p:nvSpPr>
        <p:spPr>
          <a:xfrm>
            <a:off x="1483028" y="1671191"/>
            <a:ext cx="3232150" cy="138499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初始条件：</a:t>
            </a:r>
          </a:p>
          <a:p>
            <a:pPr marL="0" lvl="0" indent="0">
              <a:spcBef>
                <a:spcPct val="0"/>
              </a:spcBef>
              <a:buClrTx/>
              <a:buNone/>
            </a:pPr>
            <a:endParaRPr lang="en-US" altLang="zh-CN" sz="2400" b="1" dirty="0">
              <a:latin typeface="楷体_GB2312" pitchFamily="49" charset="-122"/>
              <a:ea typeface="楷体_GB2312" pitchFamily="49" charset="-122"/>
            </a:endParaRPr>
          </a:p>
          <a:p>
            <a:pPr marL="0" lvl="0" indent="0">
              <a:spcBef>
                <a:spcPct val="0"/>
              </a:spcBef>
              <a:buClrTx/>
              <a:buNone/>
            </a:pPr>
            <a:endParaRPr lang="zh-CN" altLang="en-US" sz="12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操作结果：</a:t>
            </a:r>
          </a:p>
        </p:txBody>
      </p:sp>
      <p:sp>
        <p:nvSpPr>
          <p:cNvPr id="24" name="Text Box 9"/>
          <p:cNvSpPr txBox="1"/>
          <p:nvPr/>
        </p:nvSpPr>
        <p:spPr>
          <a:xfrm>
            <a:off x="3359453" y="1695004"/>
            <a:ext cx="3754554" cy="83099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线性表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已存在且非空，</a:t>
            </a:r>
            <a:endParaRPr lang="en-US" altLang="zh-CN"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且</a:t>
            </a:r>
            <a:r>
              <a:rPr lang="en-US" altLang="zh-CN" sz="2400" b="1" dirty="0">
                <a:latin typeface="楷体_GB2312" pitchFamily="49" charset="-122"/>
                <a:ea typeface="楷体_GB2312" pitchFamily="49" charset="-122"/>
              </a:rPr>
              <a:t>1</a:t>
            </a:r>
            <a:r>
              <a:rPr lang="en-US" altLang="zh-CN" sz="2400" b="1" dirty="0">
                <a:latin typeface="宋体" panose="02010600030101010101" pitchFamily="2" charset="-122"/>
                <a:ea typeface="宋体" panose="02010600030101010101" pitchFamily="2" charset="-122"/>
              </a:rPr>
              <a:t>≤i≤ListLength(L)</a:t>
            </a:r>
            <a:r>
              <a:rPr lang="zh-CN" altLang="en-US" sz="2400" b="1" dirty="0">
                <a:latin typeface="楷体_GB2312" pitchFamily="49" charset="-122"/>
                <a:ea typeface="楷体_GB2312" pitchFamily="49" charset="-122"/>
              </a:rPr>
              <a:t>。</a:t>
            </a:r>
          </a:p>
        </p:txBody>
      </p:sp>
      <p:sp>
        <p:nvSpPr>
          <p:cNvPr id="25" name="Text Box 10"/>
          <p:cNvSpPr txBox="1"/>
          <p:nvPr/>
        </p:nvSpPr>
        <p:spPr>
          <a:xfrm>
            <a:off x="3372153" y="2607295"/>
            <a:ext cx="5295039"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删除 </a:t>
            </a:r>
            <a:r>
              <a:rPr lang="en-US" altLang="zh-CN" sz="2400" b="1" dirty="0">
                <a:latin typeface="楷体_GB2312" pitchFamily="49" charset="-122"/>
                <a:ea typeface="楷体_GB2312" pitchFamily="49" charset="-122"/>
              </a:rPr>
              <a:t>L </a:t>
            </a:r>
            <a:r>
              <a:rPr lang="zh-CN" altLang="en-US" sz="2400" b="1" dirty="0">
                <a:latin typeface="楷体_GB2312" pitchFamily="49" charset="-122"/>
                <a:ea typeface="楷体_GB2312" pitchFamily="49" charset="-122"/>
              </a:rPr>
              <a:t>中第</a:t>
            </a:r>
            <a:r>
              <a:rPr lang="en-US" altLang="zh-CN" sz="2400" b="1" dirty="0" err="1">
                <a:latin typeface="楷体_GB2312" pitchFamily="49" charset="-122"/>
                <a:ea typeface="楷体_GB2312" pitchFamily="49" charset="-122"/>
              </a:rPr>
              <a:t>i</a:t>
            </a:r>
            <a:r>
              <a:rPr lang="zh-CN" altLang="en-US" sz="2400" b="1" dirty="0">
                <a:latin typeface="楷体_GB2312" pitchFamily="49" charset="-122"/>
                <a:ea typeface="楷体_GB2312" pitchFamily="49" charset="-122"/>
              </a:rPr>
              <a:t>个元素，</a:t>
            </a:r>
            <a:r>
              <a:rPr lang="en-US" altLang="zh-CN" sz="2400" b="1" dirty="0">
                <a:latin typeface="楷体_GB2312" pitchFamily="49" charset="-122"/>
                <a:ea typeface="楷体_GB2312" pitchFamily="49" charset="-122"/>
              </a:rPr>
              <a:t>L</a:t>
            </a:r>
            <a:r>
              <a:rPr lang="zh-CN" altLang="en-US" sz="2400" b="1" dirty="0">
                <a:latin typeface="楷体_GB2312" pitchFamily="49" charset="-122"/>
                <a:ea typeface="楷体_GB2312" pitchFamily="49" charset="-122"/>
              </a:rPr>
              <a:t>的长度减</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a:t>
            </a:r>
          </a:p>
        </p:txBody>
      </p:sp>
      <p:sp>
        <p:nvSpPr>
          <p:cNvPr id="13" name="Text Box 8"/>
          <p:cNvSpPr txBox="1"/>
          <p:nvPr/>
        </p:nvSpPr>
        <p:spPr>
          <a:xfrm>
            <a:off x="1187624" y="3885034"/>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删除前：</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删除后：</a:t>
            </a:r>
          </a:p>
        </p:txBody>
      </p:sp>
      <p:sp>
        <p:nvSpPr>
          <p:cNvPr id="14" name="Text Box 9"/>
          <p:cNvSpPr txBox="1"/>
          <p:nvPr/>
        </p:nvSpPr>
        <p:spPr>
          <a:xfrm>
            <a:off x="2542779" y="3908847"/>
            <a:ext cx="5085046"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t>
            </a:r>
            <a:r>
              <a:rPr lang="en-US" altLang="zh-CN" sz="2400" dirty="0" err="1"/>
              <a:t>a</a:t>
            </a:r>
            <a:r>
              <a:rPr lang="en-US" altLang="zh-CN" sz="2400" baseline="-25000" dirty="0" err="1"/>
              <a:t>i</a:t>
            </a:r>
            <a:r>
              <a:rPr lang="en-US" altLang="zh-CN" sz="2400" dirty="0"/>
              <a:t>, a</a:t>
            </a:r>
            <a:r>
              <a:rPr lang="en-US" altLang="zh-CN" sz="2400" baseline="-25000" dirty="0"/>
              <a:t>i+1</a:t>
            </a:r>
            <a:r>
              <a:rPr lang="en-US" altLang="zh-CN" sz="2400" dirty="0"/>
              <a:t>, ..., a</a:t>
            </a:r>
            <a:r>
              <a:rPr lang="en-US" altLang="zh-CN" sz="2400" baseline="-25000" dirty="0"/>
              <a:t>n-1</a:t>
            </a:r>
            <a:r>
              <a:rPr lang="en-US" altLang="zh-CN" sz="2400" dirty="0"/>
              <a:t>, a</a:t>
            </a:r>
            <a:r>
              <a:rPr lang="en-US" altLang="zh-CN" sz="2400" baseline="-25000" dirty="0"/>
              <a:t>n</a:t>
            </a:r>
            <a:r>
              <a:rPr lang="en-US" altLang="zh-CN" sz="2400" dirty="0"/>
              <a:t>)</a:t>
            </a:r>
          </a:p>
        </p:txBody>
      </p:sp>
      <p:sp>
        <p:nvSpPr>
          <p:cNvPr id="15" name="Text Box 10"/>
          <p:cNvSpPr txBox="1"/>
          <p:nvPr/>
        </p:nvSpPr>
        <p:spPr>
          <a:xfrm>
            <a:off x="2555479" y="4594647"/>
            <a:ext cx="4613764"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a:t>
            </a:r>
            <a:r>
              <a:rPr lang="en-US" altLang="zh-CN" sz="2400" baseline="-25000" dirty="0"/>
              <a:t>i+1</a:t>
            </a:r>
            <a:r>
              <a:rPr lang="en-US" altLang="zh-CN" sz="2400" dirty="0"/>
              <a:t>, ..., a</a:t>
            </a:r>
            <a:r>
              <a:rPr lang="en-US" altLang="zh-CN" sz="2400" baseline="-25000" dirty="0"/>
              <a:t>n-1</a:t>
            </a:r>
            <a:r>
              <a:rPr lang="en-US" altLang="zh-CN" sz="2400" dirty="0"/>
              <a:t>, a</a:t>
            </a:r>
            <a:r>
              <a:rPr lang="en-US" altLang="zh-CN" sz="2400" baseline="-25000" dirty="0"/>
              <a:t>n</a:t>
            </a:r>
            <a:r>
              <a:rPr lang="en-US" altLang="zh-CN" sz="2400" dirty="0"/>
              <a:t>)</a:t>
            </a:r>
          </a:p>
        </p:txBody>
      </p:sp>
      <p:sp>
        <p:nvSpPr>
          <p:cNvPr id="10" name="矩形 9"/>
          <p:cNvSpPr/>
          <p:nvPr/>
        </p:nvSpPr>
        <p:spPr bwMode="auto">
          <a:xfrm>
            <a:off x="4300626" y="4005620"/>
            <a:ext cx="1639526" cy="349206"/>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solidFill>
                <a:srgbClr val="FF0000"/>
              </a:solidFill>
              <a:effectLst/>
              <a:latin typeface="Arial" panose="020B0604020202020204" pitchFamily="34" charset="0"/>
              <a:ea typeface="华文细黑" panose="02010600040101010101" pitchFamily="2" charset="-122"/>
            </a:endParaRPr>
          </a:p>
        </p:txBody>
      </p:sp>
      <p:sp>
        <p:nvSpPr>
          <p:cNvPr id="11" name="矩形 10"/>
          <p:cNvSpPr/>
          <p:nvPr/>
        </p:nvSpPr>
        <p:spPr bwMode="auto">
          <a:xfrm>
            <a:off x="4300625" y="4707106"/>
            <a:ext cx="1316403" cy="349206"/>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solidFill>
                <a:srgbClr val="FF0000"/>
              </a:solidFill>
              <a:effectLst/>
              <a:latin typeface="Arial" panose="020B0604020202020204" pitchFamily="34" charset="0"/>
              <a:ea typeface="华文细黑" panose="02010600040101010101" pitchFamily="2" charset="-122"/>
            </a:endParaRPr>
          </a:p>
        </p:txBody>
      </p:sp>
      <p:sp>
        <p:nvSpPr>
          <p:cNvPr id="12" name="矩形 11"/>
          <p:cNvSpPr/>
          <p:nvPr/>
        </p:nvSpPr>
        <p:spPr bwMode="auto">
          <a:xfrm>
            <a:off x="6444208" y="2689127"/>
            <a:ext cx="1872208" cy="349206"/>
          </a:xfrm>
          <a:prstGeom prst="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1" u="none" strike="noStrike" cap="none" normalizeH="0" baseline="0">
              <a:ln>
                <a:noFill/>
              </a:ln>
              <a:solidFill>
                <a:srgbClr val="FF0000"/>
              </a:solidFill>
              <a:effectLst/>
              <a:latin typeface="Arial" panose="020B0604020202020204" pitchFamily="34" charset="0"/>
              <a:ea typeface="华文细黑" panose="02010600040101010101" pitchFamily="2" charset="-122"/>
            </a:endParaRP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51542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0" grpId="0"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eaLnBrk="1" hangingPunct="1">
              <a:defRPr/>
            </a:pPr>
            <a:r>
              <a:rPr lang="en-US" altLang="zh-CN" dirty="0"/>
              <a:t>Ch2 </a:t>
            </a:r>
            <a:r>
              <a:rPr lang="zh-CN" altLang="en-US" dirty="0"/>
              <a:t>练习</a:t>
            </a:r>
            <a:r>
              <a:rPr lang="en-US" altLang="zh-CN" dirty="0"/>
              <a:t>1</a:t>
            </a:r>
            <a:endParaRPr lang="en-US" dirty="0"/>
          </a:p>
        </p:txBody>
      </p:sp>
    </p:spTree>
    <p:extLst>
      <p:ext uri="{BB962C8B-B14F-4D97-AF65-F5344CB8AC3E}">
        <p14:creationId xmlns:p14="http://schemas.microsoft.com/office/powerpoint/2010/main" val="38451871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prstGeom prst="rect">
            <a:avLst/>
          </a:prstGeo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6" name="文本框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线性表中的每个元素是否都有一个前驱和一个后继？</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否</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5"/>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2" name="椭圆 11"/>
          <p:cNvSpPr>
            <a:spLocks noChangeAspect="1"/>
          </p:cNvSpPr>
          <p:nvPr>
            <p:custDataLst>
              <p:tags r:id="rId6"/>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0" name="组合 19"/>
          <p:cNvGrpSpPr/>
          <p:nvPr>
            <p:custDataLst>
              <p:tags r:id="rId8"/>
            </p:custDataLst>
          </p:nvPr>
        </p:nvGrpSpPr>
        <p:grpSpPr>
          <a:xfrm>
            <a:off x="0" y="0"/>
            <a:ext cx="9144000" cy="635000"/>
            <a:chOff x="0" y="0"/>
            <a:chExt cx="9144000" cy="635000"/>
          </a:xfrm>
        </p:grpSpPr>
        <p:sp>
          <p:nvSpPr>
            <p:cNvPr id="16"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7"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8"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1" name="文本框 20"/>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3494439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4" name="文本框 3"/>
          <p:cNvSpPr txBox="1"/>
          <p:nvPr>
            <p:custDataLst>
              <p:tags r:id="rId2"/>
            </p:custDataLst>
          </p:nvPr>
        </p:nvSpPr>
        <p:spPr>
          <a:xfrm>
            <a:off x="395536" y="1206500"/>
            <a:ext cx="8280152" cy="4985068"/>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给出对线性表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1 2 3 4 5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）进行下列操作的结果</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注意：</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每次操作后，线性表会复原的原始状态。</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表元素之间用空格分隔。</a:t>
            </a: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ListLength</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的返回值为：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LocateElem</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的返回值为：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LocateElem</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8)</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的返回值为：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ListInsert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3, 999)</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运行结束后，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ListInsert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0, 999)</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运行结束后，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ListDelete</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运行结束后，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 =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6]</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圆角矩形 4"/>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3.0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kumimoji="0" 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p:cNvSpPr txBox="1"/>
          <p:nvPr>
            <p:custDataLst>
              <p:tags r:id="rId5"/>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6"/>
            </p:custDataLst>
          </p:nvPr>
        </p:nvGrpSpPr>
        <p:grpSpPr>
          <a:xfrm>
            <a:off x="0" y="0"/>
            <a:ext cx="9144000" cy="635000"/>
            <a:chOff x="0" y="0"/>
            <a:chExt cx="9144000" cy="635000"/>
          </a:xfrm>
        </p:grpSpPr>
        <p:sp>
          <p:nvSpPr>
            <p:cNvPr id="6" name="TitleBackground"/>
            <p:cNvSpPr/>
            <p:nvPr>
              <p:custDataLst>
                <p:tags r:id="rId8"/>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7" name="ColorBlock"/>
            <p:cNvSpPr/>
            <p:nvPr>
              <p:custDataLst>
                <p:tags r:id="rId9"/>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8"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6</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7"/>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611292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线性表的顺序存储</a:t>
            </a:r>
          </a:p>
        </p:txBody>
      </p:sp>
      <p:sp>
        <p:nvSpPr>
          <p:cNvPr id="13316" name="内容占位符 2"/>
          <p:cNvSpPr>
            <a:spLocks noGrp="1"/>
          </p:cNvSpPr>
          <p:nvPr>
            <p:ph idx="1"/>
          </p:nvPr>
        </p:nvSpPr>
        <p:spPr>
          <a:xfrm>
            <a:off x="468313" y="1125538"/>
            <a:ext cx="8280400" cy="4895850"/>
          </a:xfrm>
        </p:spPr>
        <p:txBody>
          <a:bodyPr vert="horz" wrap="square" lIns="91440" tIns="45720" rIns="91440" bIns="45720" anchor="t"/>
          <a:lstStyle/>
          <a:p>
            <a:r>
              <a:rPr lang="zh-CN" altLang="en-US" dirty="0">
                <a:latin typeface="宋体" panose="02010600030101010101" pitchFamily="2" charset="-122"/>
                <a:ea typeface="+mn-ea"/>
                <a:cs typeface="+mn-cs"/>
              </a:rPr>
              <a:t>线性表的</a:t>
            </a:r>
            <a:r>
              <a:rPr lang="zh-CN" altLang="en-US" dirty="0">
                <a:solidFill>
                  <a:srgbClr val="FF0000"/>
                </a:solidFill>
                <a:latin typeface="宋体" panose="02010600030101010101" pitchFamily="2" charset="-122"/>
                <a:ea typeface="+mn-ea"/>
                <a:cs typeface="+mn-cs"/>
              </a:rPr>
              <a:t>顺序存储</a:t>
            </a:r>
            <a:r>
              <a:rPr lang="zh-CN" altLang="en-US" dirty="0">
                <a:latin typeface="宋体" panose="02010600030101010101" pitchFamily="2" charset="-122"/>
                <a:ea typeface="+mn-ea"/>
                <a:cs typeface="+mn-cs"/>
              </a:rPr>
              <a:t>是指用一组</a:t>
            </a:r>
            <a:r>
              <a:rPr lang="zh-CN" altLang="en-US" dirty="0">
                <a:solidFill>
                  <a:srgbClr val="00B050"/>
                </a:solidFill>
                <a:latin typeface="宋体" panose="02010600030101010101" pitchFamily="2" charset="-122"/>
                <a:ea typeface="+mn-ea"/>
                <a:cs typeface="+mn-cs"/>
              </a:rPr>
              <a:t>地址连续</a:t>
            </a:r>
            <a:r>
              <a:rPr lang="zh-CN" altLang="en-US" dirty="0">
                <a:latin typeface="宋体" panose="02010600030101010101" pitchFamily="2" charset="-122"/>
                <a:ea typeface="+mn-ea"/>
                <a:cs typeface="+mn-cs"/>
              </a:rPr>
              <a:t>的存储单元</a:t>
            </a:r>
            <a:r>
              <a:rPr lang="zh-CN" altLang="en-US" dirty="0">
                <a:solidFill>
                  <a:srgbClr val="00B050"/>
                </a:solidFill>
                <a:latin typeface="宋体" panose="02010600030101010101" pitchFamily="2" charset="-122"/>
                <a:ea typeface="+mn-ea"/>
                <a:cs typeface="+mn-cs"/>
              </a:rPr>
              <a:t>依次存放</a:t>
            </a:r>
            <a:r>
              <a:rPr lang="zh-CN" altLang="en-US" dirty="0">
                <a:latin typeface="宋体" panose="02010600030101010101" pitchFamily="2" charset="-122"/>
                <a:ea typeface="+mn-ea"/>
                <a:cs typeface="+mn-cs"/>
              </a:rPr>
              <a:t>线性表的数据元素</a:t>
            </a:r>
            <a:endParaRPr lang="en-US" altLang="zh-CN" dirty="0">
              <a:latin typeface="宋体" panose="02010600030101010101" pitchFamily="2" charset="-122"/>
              <a:ea typeface="+mn-ea"/>
              <a:cs typeface="+mn-cs"/>
            </a:endParaRPr>
          </a:p>
          <a:p>
            <a:pPr lvl="1"/>
            <a:r>
              <a:rPr lang="zh-CN" altLang="en-US" dirty="0">
                <a:latin typeface="宋体" panose="02010600030101010101" pitchFamily="2" charset="-122"/>
                <a:ea typeface="+mn-ea"/>
                <a:cs typeface="+mn-cs"/>
              </a:rPr>
              <a:t>用这种存储形式存储的线性表称为</a:t>
            </a:r>
            <a:r>
              <a:rPr lang="zh-CN" altLang="en-US" dirty="0">
                <a:solidFill>
                  <a:srgbClr val="FF0000"/>
                </a:solidFill>
                <a:latin typeface="宋体" panose="02010600030101010101" pitchFamily="2" charset="-122"/>
                <a:ea typeface="+mn-ea"/>
                <a:cs typeface="+mn-cs"/>
              </a:rPr>
              <a:t>顺序表</a:t>
            </a:r>
            <a:endParaRPr lang="en-US" altLang="zh-CN" dirty="0">
              <a:solidFill>
                <a:srgbClr val="FF0000"/>
              </a:solidFill>
              <a:latin typeface="宋体" panose="02010600030101010101" pitchFamily="2" charset="-122"/>
              <a:ea typeface="+mn-ea"/>
              <a:cs typeface="+mn-cs"/>
            </a:endParaRPr>
          </a:p>
          <a:p>
            <a:endParaRPr lang="en-US" altLang="zh-CN" dirty="0"/>
          </a:p>
          <a:p>
            <a:r>
              <a:rPr lang="zh-CN" altLang="en-US" dirty="0"/>
              <a:t>利用数据元素的存储位置表示线性表中相邻数据元素之间的前后关系</a:t>
            </a:r>
            <a:endParaRPr lang="en-US" altLang="zh-CN" dirty="0"/>
          </a:p>
          <a:p>
            <a:pPr lvl="1"/>
            <a:r>
              <a:rPr lang="zh-CN" altLang="en-US" dirty="0">
                <a:solidFill>
                  <a:srgbClr val="4C34FE"/>
                </a:solidFill>
              </a:rPr>
              <a:t>逻辑上相邻，物理上也相邻</a:t>
            </a:r>
            <a:endParaRPr lang="en-US" altLang="zh-CN" dirty="0"/>
          </a:p>
          <a:p>
            <a:endParaRPr lang="zh-CN" altLang="en-US" dirty="0"/>
          </a:p>
          <a:p>
            <a:endParaRPr lang="zh-CN" altLang="en-US" dirty="0">
              <a:solidFill>
                <a:srgbClr val="4C34FE"/>
              </a:solidFill>
            </a:endParaRPr>
          </a:p>
          <a:p>
            <a:endParaRPr lang="en-US" altLang="zh-CN" dirty="0">
              <a:solidFill>
                <a:srgbClr val="FF0000"/>
              </a:solidFill>
              <a:latin typeface="宋体" panose="02010600030101010101" pitchFamily="2" charset="-122"/>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线性表的顺序存储</a:t>
            </a:r>
          </a:p>
        </p:txBody>
      </p:sp>
      <p:sp>
        <p:nvSpPr>
          <p:cNvPr id="3" name="内容占位符 2"/>
          <p:cNvSpPr>
            <a:spLocks noGrp="1"/>
          </p:cNvSpPr>
          <p:nvPr>
            <p:ph idx="1"/>
          </p:nvPr>
        </p:nvSpPr>
        <p:spPr>
          <a:xfrm>
            <a:off x="5148064" y="1125538"/>
            <a:ext cx="3508895" cy="5162550"/>
          </a:xfrm>
        </p:spPr>
        <p:txBody>
          <a:bodyPr/>
          <a:lstStyle/>
          <a:p>
            <a:pPr lvl="0"/>
            <a:r>
              <a:rPr lang="zh-CN" altLang="en-US" dirty="0">
                <a:solidFill>
                  <a:srgbClr val="FF0000"/>
                </a:solidFill>
              </a:rPr>
              <a:t>随机访问</a:t>
            </a:r>
            <a:endParaRPr lang="en-US" altLang="zh-CN" dirty="0">
              <a:solidFill>
                <a:srgbClr val="FF0000"/>
              </a:solidFill>
            </a:endParaRPr>
          </a:p>
          <a:p>
            <a:r>
              <a:rPr lang="zh-CN" altLang="en-US" dirty="0"/>
              <a:t>可以利用数学公式，快速地计算出任何一个数据元素的存储地址</a:t>
            </a:r>
            <a:endParaRPr lang="en-US" altLang="zh-CN" dirty="0"/>
          </a:p>
          <a:p>
            <a:pPr lvl="1"/>
            <a:r>
              <a:rPr lang="zh-CN" altLang="en-US" dirty="0"/>
              <a:t>假设每个数据元素占据</a:t>
            </a:r>
            <a:r>
              <a:rPr lang="en-US" altLang="zh-CN" dirty="0"/>
              <a:t>m</a:t>
            </a:r>
            <a:r>
              <a:rPr lang="zh-CN" altLang="en-US" dirty="0"/>
              <a:t>个字节</a:t>
            </a:r>
          </a:p>
          <a:p>
            <a:endParaRPr lang="zh-CN" altLang="en-US" dirty="0"/>
          </a:p>
        </p:txBody>
      </p:sp>
      <p:sp>
        <p:nvSpPr>
          <p:cNvPr id="5" name="Rectangle 22"/>
          <p:cNvSpPr>
            <a:spLocks noChangeArrowheads="1"/>
          </p:cNvSpPr>
          <p:nvPr/>
        </p:nvSpPr>
        <p:spPr bwMode="auto">
          <a:xfrm>
            <a:off x="3086100" y="4992912"/>
            <a:ext cx="1295400" cy="677863"/>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sz="2400" b="1">
                <a:latin typeface="楷体_GB2312"/>
                <a:ea typeface="楷体_GB2312"/>
                <a:cs typeface="楷体_GB2312"/>
              </a:rPr>
              <a:t>元素</a:t>
            </a:r>
            <a:r>
              <a:rPr lang="en-US" altLang="zh-CN" sz="2400" b="1">
                <a:latin typeface="楷体_GB2312"/>
                <a:ea typeface="楷体_GB2312"/>
                <a:cs typeface="楷体_GB2312"/>
              </a:rPr>
              <a:t>n</a:t>
            </a:r>
          </a:p>
        </p:txBody>
      </p:sp>
      <p:sp>
        <p:nvSpPr>
          <p:cNvPr id="6" name="Rectangle 23"/>
          <p:cNvSpPr>
            <a:spLocks noChangeArrowheads="1"/>
          </p:cNvSpPr>
          <p:nvPr/>
        </p:nvSpPr>
        <p:spPr bwMode="auto">
          <a:xfrm>
            <a:off x="3086100" y="4316637"/>
            <a:ext cx="1295400" cy="676275"/>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b="1"/>
              <a:t>……..</a:t>
            </a:r>
          </a:p>
        </p:txBody>
      </p:sp>
      <p:sp>
        <p:nvSpPr>
          <p:cNvPr id="7" name="Rectangle 24"/>
          <p:cNvSpPr>
            <a:spLocks noChangeArrowheads="1"/>
          </p:cNvSpPr>
          <p:nvPr/>
        </p:nvSpPr>
        <p:spPr bwMode="auto">
          <a:xfrm>
            <a:off x="3086100" y="3638774"/>
            <a:ext cx="1295400" cy="677863"/>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sz="2400" b="1">
                <a:latin typeface="楷体_GB2312"/>
                <a:ea typeface="楷体_GB2312"/>
                <a:cs typeface="楷体_GB2312"/>
              </a:rPr>
              <a:t>元素</a:t>
            </a:r>
            <a:r>
              <a:rPr lang="en-US" altLang="zh-CN" sz="2400" b="1">
                <a:latin typeface="楷体_GB2312"/>
                <a:ea typeface="楷体_GB2312"/>
                <a:cs typeface="楷体_GB2312"/>
              </a:rPr>
              <a:t>i</a:t>
            </a:r>
          </a:p>
        </p:txBody>
      </p:sp>
      <p:sp>
        <p:nvSpPr>
          <p:cNvPr id="8" name="Rectangle 25"/>
          <p:cNvSpPr>
            <a:spLocks noChangeArrowheads="1"/>
          </p:cNvSpPr>
          <p:nvPr/>
        </p:nvSpPr>
        <p:spPr bwMode="auto">
          <a:xfrm>
            <a:off x="3086100" y="2960912"/>
            <a:ext cx="1295400" cy="677863"/>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b="1" dirty="0"/>
              <a:t>……..</a:t>
            </a:r>
          </a:p>
        </p:txBody>
      </p:sp>
      <p:sp>
        <p:nvSpPr>
          <p:cNvPr id="9" name="Rectangle 26"/>
          <p:cNvSpPr>
            <a:spLocks noChangeArrowheads="1"/>
          </p:cNvSpPr>
          <p:nvPr/>
        </p:nvSpPr>
        <p:spPr bwMode="auto">
          <a:xfrm>
            <a:off x="3086100" y="2284637"/>
            <a:ext cx="1295400" cy="676275"/>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sz="2400" b="1" dirty="0">
                <a:latin typeface="楷体_GB2312"/>
                <a:ea typeface="楷体_GB2312"/>
                <a:cs typeface="楷体_GB2312"/>
              </a:rPr>
              <a:t>元素</a:t>
            </a:r>
            <a:r>
              <a:rPr lang="en-US" altLang="zh-CN" sz="2400" b="1" dirty="0">
                <a:latin typeface="楷体_GB2312"/>
                <a:ea typeface="楷体_GB2312"/>
                <a:cs typeface="楷体_GB2312"/>
              </a:rPr>
              <a:t>2</a:t>
            </a:r>
          </a:p>
        </p:txBody>
      </p:sp>
      <p:sp>
        <p:nvSpPr>
          <p:cNvPr id="10" name="Rectangle 27"/>
          <p:cNvSpPr>
            <a:spLocks noChangeArrowheads="1"/>
          </p:cNvSpPr>
          <p:nvPr/>
        </p:nvSpPr>
        <p:spPr bwMode="auto">
          <a:xfrm>
            <a:off x="3086100" y="1606774"/>
            <a:ext cx="1295400" cy="677863"/>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sz="2400" b="1">
                <a:latin typeface="楷体_GB2312"/>
                <a:ea typeface="楷体_GB2312"/>
                <a:cs typeface="楷体_GB2312"/>
              </a:rPr>
              <a:t>元素</a:t>
            </a:r>
            <a:r>
              <a:rPr lang="en-US" altLang="zh-CN" sz="2400" b="1">
                <a:latin typeface="楷体_GB2312"/>
                <a:ea typeface="楷体_GB2312"/>
                <a:cs typeface="楷体_GB2312"/>
              </a:rPr>
              <a:t>1</a:t>
            </a:r>
          </a:p>
        </p:txBody>
      </p:sp>
      <p:sp>
        <p:nvSpPr>
          <p:cNvPr id="11" name="Line 28"/>
          <p:cNvSpPr>
            <a:spLocks noChangeShapeType="1"/>
          </p:cNvSpPr>
          <p:nvPr/>
        </p:nvSpPr>
        <p:spPr bwMode="auto">
          <a:xfrm>
            <a:off x="3086100" y="1606774"/>
            <a:ext cx="12954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29"/>
          <p:cNvSpPr>
            <a:spLocks noChangeShapeType="1"/>
          </p:cNvSpPr>
          <p:nvPr/>
        </p:nvSpPr>
        <p:spPr bwMode="auto">
          <a:xfrm>
            <a:off x="3086100" y="2284637"/>
            <a:ext cx="1295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30"/>
          <p:cNvSpPr>
            <a:spLocks noChangeShapeType="1"/>
          </p:cNvSpPr>
          <p:nvPr/>
        </p:nvSpPr>
        <p:spPr bwMode="auto">
          <a:xfrm>
            <a:off x="3086100" y="2960912"/>
            <a:ext cx="1295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31"/>
          <p:cNvSpPr>
            <a:spLocks noChangeShapeType="1"/>
          </p:cNvSpPr>
          <p:nvPr/>
        </p:nvSpPr>
        <p:spPr bwMode="auto">
          <a:xfrm>
            <a:off x="3086100" y="3638774"/>
            <a:ext cx="1295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32"/>
          <p:cNvSpPr>
            <a:spLocks noChangeShapeType="1"/>
          </p:cNvSpPr>
          <p:nvPr/>
        </p:nvSpPr>
        <p:spPr bwMode="auto">
          <a:xfrm>
            <a:off x="3086100" y="4316637"/>
            <a:ext cx="1295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33"/>
          <p:cNvSpPr>
            <a:spLocks noChangeShapeType="1"/>
          </p:cNvSpPr>
          <p:nvPr/>
        </p:nvSpPr>
        <p:spPr bwMode="auto">
          <a:xfrm>
            <a:off x="3086100" y="4992912"/>
            <a:ext cx="12954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34"/>
          <p:cNvSpPr>
            <a:spLocks noChangeShapeType="1"/>
          </p:cNvSpPr>
          <p:nvPr/>
        </p:nvSpPr>
        <p:spPr bwMode="auto">
          <a:xfrm>
            <a:off x="3086100" y="5670774"/>
            <a:ext cx="12954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35"/>
          <p:cNvSpPr>
            <a:spLocks noChangeShapeType="1"/>
          </p:cNvSpPr>
          <p:nvPr/>
        </p:nvSpPr>
        <p:spPr bwMode="auto">
          <a:xfrm>
            <a:off x="3086100" y="1606774"/>
            <a:ext cx="0" cy="406400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36"/>
          <p:cNvSpPr>
            <a:spLocks noChangeShapeType="1"/>
          </p:cNvSpPr>
          <p:nvPr/>
        </p:nvSpPr>
        <p:spPr bwMode="auto">
          <a:xfrm>
            <a:off x="4381500" y="1606774"/>
            <a:ext cx="0" cy="406400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Text Box 37"/>
          <p:cNvSpPr txBox="1">
            <a:spLocks noChangeArrowheads="1"/>
          </p:cNvSpPr>
          <p:nvPr/>
        </p:nvSpPr>
        <p:spPr bwMode="auto">
          <a:xfrm>
            <a:off x="2247900" y="1759174"/>
            <a:ext cx="762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en-US" altLang="zh-CN" sz="2400" b="1" dirty="0">
                <a:ea typeface="宋体" panose="02010600030101010101" pitchFamily="2" charset="-122"/>
              </a:rPr>
              <a:t>L</a:t>
            </a:r>
            <a:r>
              <a:rPr lang="en-US" altLang="zh-CN" sz="2400" b="1" baseline="-25000" dirty="0">
                <a:ea typeface="宋体" panose="02010600030101010101" pitchFamily="2" charset="-122"/>
              </a:rPr>
              <a:t>0</a:t>
            </a:r>
          </a:p>
        </p:txBody>
      </p:sp>
      <p:sp>
        <p:nvSpPr>
          <p:cNvPr id="21" name="Text Box 38"/>
          <p:cNvSpPr txBox="1">
            <a:spLocks noChangeArrowheads="1"/>
          </p:cNvSpPr>
          <p:nvPr/>
        </p:nvSpPr>
        <p:spPr bwMode="auto">
          <a:xfrm>
            <a:off x="1943100" y="2348880"/>
            <a:ext cx="1066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en-US" altLang="zh-CN" sz="2400" b="1" dirty="0">
                <a:ea typeface="宋体" panose="02010600030101010101" pitchFamily="2" charset="-122"/>
              </a:rPr>
              <a:t>L</a:t>
            </a:r>
            <a:r>
              <a:rPr lang="en-US" altLang="zh-CN" sz="2400" b="1" baseline="-25000" dirty="0">
                <a:ea typeface="宋体" panose="02010600030101010101" pitchFamily="2" charset="-122"/>
                <a:sym typeface="+mn-ea"/>
              </a:rPr>
              <a:t>0</a:t>
            </a:r>
            <a:r>
              <a:rPr lang="en-US" altLang="zh-CN" sz="2400" b="1" dirty="0">
                <a:ea typeface="宋体" panose="02010600030101010101" pitchFamily="2" charset="-122"/>
              </a:rPr>
              <a:t>+m</a:t>
            </a:r>
          </a:p>
        </p:txBody>
      </p:sp>
      <p:sp>
        <p:nvSpPr>
          <p:cNvPr id="22" name="Text Box 39"/>
          <p:cNvSpPr txBox="1">
            <a:spLocks noChangeArrowheads="1"/>
          </p:cNvSpPr>
          <p:nvPr/>
        </p:nvSpPr>
        <p:spPr bwMode="auto">
          <a:xfrm>
            <a:off x="1371600" y="3717032"/>
            <a:ext cx="1943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en-US" altLang="zh-CN" sz="2400" b="1" dirty="0">
                <a:ea typeface="宋体" panose="02010600030101010101" pitchFamily="2" charset="-122"/>
              </a:rPr>
              <a:t>L</a:t>
            </a:r>
            <a:r>
              <a:rPr lang="en-US" altLang="zh-CN" sz="2400" b="1" baseline="-25000" dirty="0">
                <a:ea typeface="宋体" panose="02010600030101010101" pitchFamily="2" charset="-122"/>
                <a:sym typeface="+mn-ea"/>
              </a:rPr>
              <a:t>0</a:t>
            </a:r>
            <a:r>
              <a:rPr lang="en-US" altLang="zh-CN" sz="2400" b="1" dirty="0">
                <a:ea typeface="宋体" panose="02010600030101010101" pitchFamily="2" charset="-122"/>
              </a:rPr>
              <a:t>+(i-1)*m</a:t>
            </a:r>
          </a:p>
        </p:txBody>
      </p:sp>
      <p:sp>
        <p:nvSpPr>
          <p:cNvPr id="23" name="Text Box 40"/>
          <p:cNvSpPr txBox="1">
            <a:spLocks noChangeArrowheads="1"/>
          </p:cNvSpPr>
          <p:nvPr/>
        </p:nvSpPr>
        <p:spPr bwMode="auto">
          <a:xfrm>
            <a:off x="1219200" y="5157192"/>
            <a:ext cx="1905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en-US" altLang="zh-CN" sz="2400" b="1" dirty="0">
                <a:ea typeface="宋体" panose="02010600030101010101" pitchFamily="2" charset="-122"/>
              </a:rPr>
              <a:t>L</a:t>
            </a:r>
            <a:r>
              <a:rPr lang="en-US" altLang="zh-CN" sz="2400" b="1" baseline="-25000" dirty="0">
                <a:ea typeface="宋体" panose="02010600030101010101" pitchFamily="2" charset="-122"/>
                <a:sym typeface="+mn-ea"/>
              </a:rPr>
              <a:t>0</a:t>
            </a:r>
            <a:r>
              <a:rPr lang="en-US" altLang="zh-CN" sz="2400" b="1" dirty="0">
                <a:ea typeface="宋体" panose="02010600030101010101" pitchFamily="2" charset="-122"/>
              </a:rPr>
              <a:t>+</a:t>
            </a:r>
            <a:r>
              <a:rPr lang="zh-CN" altLang="en-US" sz="2400" b="1" dirty="0">
                <a:ea typeface="宋体" panose="02010600030101010101" pitchFamily="2" charset="-122"/>
              </a:rPr>
              <a:t>（</a:t>
            </a:r>
            <a:r>
              <a:rPr lang="en-US" altLang="zh-CN" sz="2400" b="1" dirty="0">
                <a:ea typeface="宋体" panose="02010600030101010101" pitchFamily="2" charset="-122"/>
              </a:rPr>
              <a:t>n-1)*m</a:t>
            </a:r>
          </a:p>
        </p:txBody>
      </p:sp>
      <p:sp>
        <p:nvSpPr>
          <p:cNvPr id="24" name="Text Box 41"/>
          <p:cNvSpPr txBox="1">
            <a:spLocks noChangeArrowheads="1"/>
          </p:cNvSpPr>
          <p:nvPr/>
        </p:nvSpPr>
        <p:spPr bwMode="auto">
          <a:xfrm>
            <a:off x="1447800" y="1149574"/>
            <a:ext cx="1562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zh-CN" altLang="en-US" sz="2400" b="1" dirty="0">
                <a:ea typeface="楷体_GB2312"/>
                <a:cs typeface="楷体_GB2312"/>
              </a:rPr>
              <a:t>存储地址</a:t>
            </a:r>
          </a:p>
        </p:txBody>
      </p:sp>
      <p:sp>
        <p:nvSpPr>
          <p:cNvPr id="25" name="Text Box 42"/>
          <p:cNvSpPr txBox="1">
            <a:spLocks noChangeArrowheads="1"/>
          </p:cNvSpPr>
          <p:nvPr/>
        </p:nvSpPr>
        <p:spPr bwMode="auto">
          <a:xfrm>
            <a:off x="2971800" y="1149574"/>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zh-CN" altLang="en-US" sz="2400" b="1" dirty="0">
                <a:ea typeface="楷体_GB2312"/>
                <a:cs typeface="楷体_GB2312"/>
              </a:rPr>
              <a:t>存储内容</a:t>
            </a:r>
          </a:p>
        </p:txBody>
      </p:sp>
      <p:sp>
        <p:nvSpPr>
          <p:cNvPr id="30" name="Text Box 47"/>
          <p:cNvSpPr txBox="1">
            <a:spLocks noChangeArrowheads="1"/>
          </p:cNvSpPr>
          <p:nvPr/>
        </p:nvSpPr>
        <p:spPr bwMode="auto">
          <a:xfrm>
            <a:off x="2915816" y="5898590"/>
            <a:ext cx="4191000" cy="4603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en-US" altLang="zh-CN" sz="2400" b="1" dirty="0">
                <a:ea typeface="宋体" panose="02010600030101010101" pitchFamily="2" charset="-122"/>
              </a:rPr>
              <a:t>LOC(</a:t>
            </a:r>
            <a:r>
              <a:rPr lang="zh-CN" altLang="zh-CN" sz="2400" b="1" dirty="0">
                <a:ea typeface="宋体" panose="02010600030101010101" pitchFamily="2" charset="-122"/>
              </a:rPr>
              <a:t>元素</a:t>
            </a:r>
            <a:r>
              <a:rPr lang="en-US" altLang="zh-CN" sz="2400" b="1" dirty="0" err="1">
                <a:ea typeface="宋体" panose="02010600030101010101" pitchFamily="2" charset="-122"/>
              </a:rPr>
              <a:t>i</a:t>
            </a:r>
            <a:r>
              <a:rPr lang="en-US" altLang="zh-CN" sz="2400" b="1" dirty="0">
                <a:ea typeface="宋体" panose="02010600030101010101" pitchFamily="2" charset="-122"/>
              </a:rPr>
              <a:t>)=L</a:t>
            </a:r>
            <a:r>
              <a:rPr lang="en-US" altLang="zh-CN" sz="2400" b="1" baseline="-25000" dirty="0">
                <a:ea typeface="宋体" panose="02010600030101010101" pitchFamily="2" charset="-122"/>
              </a:rPr>
              <a:t>0</a:t>
            </a:r>
            <a:r>
              <a:rPr lang="en-US" altLang="zh-CN" sz="2400" b="1" dirty="0">
                <a:ea typeface="宋体" panose="02010600030101010101" pitchFamily="2" charset="-122"/>
              </a:rPr>
              <a:t>+</a:t>
            </a:r>
            <a:r>
              <a:rPr lang="zh-CN" altLang="en-US" sz="2400" b="1" dirty="0">
                <a:ea typeface="宋体" panose="02010600030101010101" pitchFamily="2" charset="-122"/>
              </a:rPr>
              <a:t>（</a:t>
            </a:r>
            <a:r>
              <a:rPr lang="en-US" altLang="zh-CN" sz="2400" b="1" dirty="0">
                <a:ea typeface="宋体" panose="02010600030101010101" pitchFamily="2" charset="-122"/>
              </a:rPr>
              <a:t>i-1)*m</a:t>
            </a: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4" dur="500"/>
                                        <p:tgtEl>
                                          <p:spTgt spid="3">
                                            <p:txEl>
                                              <p:pRg st="0" end="0"/>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vert="horz" wrap="square" lIns="91440" tIns="45720" rIns="91440" bIns="45720" anchor="ctr"/>
          <a:lstStyle/>
          <a:p>
            <a:r>
              <a:rPr lang="zh-CN" altLang="en-US" dirty="0">
                <a:latin typeface="+mn-ea"/>
                <a:ea typeface="+mn-ea"/>
                <a:cs typeface="+mj-cs"/>
              </a:rPr>
              <a:t>顺序存储结构的类型定义</a:t>
            </a:r>
          </a:p>
        </p:txBody>
      </p:sp>
      <p:sp>
        <p:nvSpPr>
          <p:cNvPr id="19459" name="内容占位符 2"/>
          <p:cNvSpPr>
            <a:spLocks noGrp="1"/>
          </p:cNvSpPr>
          <p:nvPr>
            <p:ph idx="1"/>
          </p:nvPr>
        </p:nvSpPr>
        <p:spPr>
          <a:xfrm>
            <a:off x="468313" y="1125538"/>
            <a:ext cx="8207375" cy="1154112"/>
          </a:xfrm>
        </p:spPr>
        <p:txBody>
          <a:bodyPr vert="horz" wrap="square" lIns="91440" tIns="45720" rIns="91440" bIns="45720" anchor="t"/>
          <a:lstStyle/>
          <a:p>
            <a:r>
              <a:rPr lang="zh-CN" altLang="en-US" dirty="0">
                <a:latin typeface="+mn-ea"/>
                <a:cs typeface="+mn-cs"/>
              </a:rPr>
              <a:t>在</a:t>
            </a:r>
            <a:r>
              <a:rPr lang="en-US" altLang="zh-CN" dirty="0">
                <a:latin typeface="+mn-ea"/>
                <a:cs typeface="+mn-cs"/>
              </a:rPr>
              <a:t>C</a:t>
            </a:r>
            <a:r>
              <a:rPr lang="zh-CN" altLang="en-US" dirty="0">
                <a:latin typeface="+mn-ea"/>
                <a:cs typeface="+mn-cs"/>
              </a:rPr>
              <a:t>语言中，实现线性表的顺序存储结构的类型定义如下</a:t>
            </a:r>
          </a:p>
          <a:p>
            <a:endParaRPr lang="zh-CN" altLang="en-US" dirty="0">
              <a:latin typeface="+mn-ea"/>
              <a:cs typeface="+mn-cs"/>
            </a:endParaRPr>
          </a:p>
        </p:txBody>
      </p:sp>
      <p:sp>
        <p:nvSpPr>
          <p:cNvPr id="10" name="Rectangle 3"/>
          <p:cNvSpPr/>
          <p:nvPr/>
        </p:nvSpPr>
        <p:spPr>
          <a:xfrm>
            <a:off x="1244600" y="3212976"/>
            <a:ext cx="5199063"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typedef</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lv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lvl="0" indent="0">
              <a:lnSpc>
                <a:spcPct val="120000"/>
              </a:lnSpc>
              <a:spcBef>
                <a:spcPct val="0"/>
              </a:spcBef>
              <a:buClrTx/>
              <a:buNone/>
            </a:pP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SqList</a:t>
            </a: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zh-CN" altLang="en-US" sz="2400" dirty="0">
                <a:latin typeface="Cambria Math" panose="02040503050406030204" pitchFamily="18" charset="0"/>
                <a:ea typeface="Arial Unicode MS" panose="020B0604020202020204" charset="-122"/>
                <a:cs typeface="Arial Unicode MS" panose="020B0604020202020204" charset="-122"/>
              </a:rPr>
              <a:t>顺序表</a:t>
            </a:r>
          </a:p>
        </p:txBody>
      </p:sp>
      <p:sp>
        <p:nvSpPr>
          <p:cNvPr id="11" name="Rectangle 4"/>
          <p:cNvSpPr/>
          <p:nvPr/>
        </p:nvSpPr>
        <p:spPr>
          <a:xfrm>
            <a:off x="1187450" y="2397125"/>
            <a:ext cx="4968875"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typedef</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12" name="Rectangle 5"/>
          <p:cNvSpPr/>
          <p:nvPr/>
        </p:nvSpPr>
        <p:spPr>
          <a:xfrm>
            <a:off x="2136775" y="3909888"/>
            <a:ext cx="6209264"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zh-CN" altLang="en-US" sz="2400" dirty="0">
                <a:latin typeface="Cambria Math" panose="02040503050406030204" pitchFamily="18" charset="0"/>
                <a:ea typeface="Arial Unicode MS" panose="020B0604020202020204" charset="-122"/>
                <a:cs typeface="Arial Unicode MS" panose="020B0604020202020204" charset="-122"/>
              </a:rPr>
              <a:t>指向数据元素的基地址</a:t>
            </a:r>
          </a:p>
        </p:txBody>
      </p:sp>
      <p:sp>
        <p:nvSpPr>
          <p:cNvPr id="13" name="Rectangle 6"/>
          <p:cNvSpPr/>
          <p:nvPr/>
        </p:nvSpPr>
        <p:spPr>
          <a:xfrm>
            <a:off x="2136775" y="4302001"/>
            <a:ext cx="3799438"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length;     // </a:t>
            </a:r>
            <a:r>
              <a:rPr lang="zh-CN" altLang="en-US" sz="2400" dirty="0">
                <a:latin typeface="Cambria Math" panose="02040503050406030204" pitchFamily="18" charset="0"/>
                <a:ea typeface="Arial Unicode MS" panose="020B0604020202020204" charset="-122"/>
                <a:cs typeface="Arial Unicode MS" panose="020B0604020202020204" charset="-122"/>
              </a:rPr>
              <a:t>当前长度</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heckerboard(across)">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vert="horz" wrap="square" lIns="91440" tIns="45720" rIns="91440" bIns="45720" anchor="ctr"/>
          <a:lstStyle/>
          <a:p>
            <a:r>
              <a:rPr lang="zh-CN" altLang="en-US" dirty="0"/>
              <a:t>初始化顺序表</a:t>
            </a:r>
            <a:r>
              <a:rPr lang="en-US" altLang="zh-CN" dirty="0"/>
              <a:t>L</a:t>
            </a:r>
            <a:endParaRPr lang="zh-CN" altLang="en-US" dirty="0">
              <a:latin typeface="+mj-lt"/>
              <a:ea typeface="+mj-ea"/>
              <a:cs typeface="+mj-cs"/>
            </a:endParaRPr>
          </a:p>
        </p:txBody>
      </p:sp>
      <p:sp>
        <p:nvSpPr>
          <p:cNvPr id="5" name="Text Box 2"/>
          <p:cNvSpPr txBox="1"/>
          <p:nvPr/>
        </p:nvSpPr>
        <p:spPr>
          <a:xfrm>
            <a:off x="683568" y="1231241"/>
            <a:ext cx="7993063" cy="36360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Status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InitList_S</a:t>
            </a: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SqList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&amp;L){    </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构造一个空的顺序表</a:t>
            </a:r>
            <a:r>
              <a:rPr lang="en-US" altLang="zh-CN" sz="2400" dirty="0">
                <a:latin typeface="Cambria Math" panose="02040503050406030204" pitchFamily="18" charset="0"/>
                <a:ea typeface="Cambria Math" panose="02040503050406030204" pitchFamily="18" charset="0"/>
                <a:cs typeface="Arial Unicode MS" panose="020B0604020202020204" charset="-122"/>
              </a:rPr>
              <a:t>L</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en-US" altLang="zh-CN" sz="2400"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6" name="Text Box 3"/>
          <p:cNvSpPr txBox="1"/>
          <p:nvPr/>
        </p:nvSpPr>
        <p:spPr>
          <a:xfrm>
            <a:off x="2051720" y="5620792"/>
            <a:ext cx="30654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800" dirty="0">
                <a:ea typeface="隶书" panose="02010509060101010101" pitchFamily="49" charset="-122"/>
              </a:rPr>
              <a:t>算法</a:t>
            </a:r>
            <a:r>
              <a:rPr lang="zh-CN" altLang="en-US" sz="2800" b="1" dirty="0">
                <a:ea typeface="隶书" panose="02010509060101010101" pitchFamily="49" charset="-122"/>
              </a:rPr>
              <a:t>时间复杂度</a:t>
            </a:r>
            <a:r>
              <a:rPr lang="zh-CN" altLang="en-US" sz="2800" dirty="0">
                <a:ea typeface="隶书" panose="02010509060101010101" pitchFamily="49" charset="-122"/>
              </a:rPr>
              <a:t>：</a:t>
            </a:r>
            <a:endParaRPr lang="zh-CN" altLang="en-US" sz="2800" dirty="0">
              <a:ea typeface="宋体" panose="02010600030101010101" pitchFamily="2" charset="-122"/>
            </a:endParaRPr>
          </a:p>
        </p:txBody>
      </p:sp>
      <p:sp>
        <p:nvSpPr>
          <p:cNvPr id="7" name="Text Box 4"/>
          <p:cNvSpPr txBox="1"/>
          <p:nvPr/>
        </p:nvSpPr>
        <p:spPr>
          <a:xfrm>
            <a:off x="5114008" y="5643017"/>
            <a:ext cx="904875"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800" b="1" dirty="0">
                <a:ea typeface="宋体" panose="02010600030101010101" pitchFamily="2" charset="-122"/>
              </a:rPr>
              <a:t>O(1)</a:t>
            </a:r>
            <a:endParaRPr lang="en-US" altLang="zh-CN" sz="2800" dirty="0">
              <a:ea typeface="宋体" panose="02010600030101010101" pitchFamily="2" charset="-122"/>
            </a:endParaRPr>
          </a:p>
        </p:txBody>
      </p:sp>
      <p:sp>
        <p:nvSpPr>
          <p:cNvPr id="8" name="Rectangle 5"/>
          <p:cNvSpPr/>
          <p:nvPr/>
        </p:nvSpPr>
        <p:spPr>
          <a:xfrm>
            <a:off x="1547664" y="1844824"/>
            <a:ext cx="6985149" cy="49141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为顺序表分配空间</a:t>
            </a:r>
          </a:p>
        </p:txBody>
      </p:sp>
      <p:sp>
        <p:nvSpPr>
          <p:cNvPr id="9" name="Rectangle 6"/>
          <p:cNvSpPr/>
          <p:nvPr/>
        </p:nvSpPr>
        <p:spPr>
          <a:xfrm>
            <a:off x="1547664" y="3268811"/>
            <a:ext cx="1887055" cy="97872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 0;</a:t>
            </a:r>
          </a:p>
          <a:p>
            <a:pPr marL="0" lv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return</a:t>
            </a:r>
            <a:r>
              <a:rPr lang="en-US" altLang="zh-CN" sz="2400" dirty="0">
                <a:latin typeface="Cambria Math" panose="02040503050406030204" pitchFamily="18" charset="0"/>
                <a:ea typeface="Cambria Math" panose="02040503050406030204" pitchFamily="18" charset="0"/>
                <a:cs typeface="Arial Unicode MS" panose="020B0604020202020204" charset="-122"/>
              </a:rPr>
              <a:t> OK;</a:t>
            </a:r>
          </a:p>
        </p:txBody>
      </p:sp>
      <p:sp>
        <p:nvSpPr>
          <p:cNvPr id="11" name="文本框 10"/>
          <p:cNvSpPr txBox="1"/>
          <p:nvPr/>
        </p:nvSpPr>
        <p:spPr>
          <a:xfrm>
            <a:off x="5542781" y="3508876"/>
            <a:ext cx="2595582" cy="1477328"/>
          </a:xfrm>
          <a:prstGeom prst="rect">
            <a:avLst/>
          </a:prstGeom>
          <a:noFill/>
          <a:ln>
            <a:solidFill>
              <a:schemeClr val="tx1"/>
            </a:solidFill>
          </a:ln>
        </p:spPr>
        <p:txBody>
          <a:bodyPr wrap="none" rtlCol="0">
            <a:spAutoFit/>
          </a:bodyPr>
          <a:lstStyle/>
          <a:p>
            <a:r>
              <a:rPr lang="en-US" altLang="zh-CN" dirty="0"/>
              <a:t>#define OK 1</a:t>
            </a:r>
          </a:p>
          <a:p>
            <a:r>
              <a:rPr lang="en-US" altLang="zh-CN" dirty="0"/>
              <a:t>#define ERROR 0</a:t>
            </a:r>
          </a:p>
          <a:p>
            <a:r>
              <a:rPr lang="en-US" altLang="zh-CN" dirty="0"/>
              <a:t>#define OVERFLOW -2</a:t>
            </a:r>
          </a:p>
          <a:p>
            <a:endParaRPr lang="en-US" altLang="zh-CN" dirty="0"/>
          </a:p>
          <a:p>
            <a:r>
              <a:rPr lang="en-US" altLang="zh-CN" dirty="0" err="1"/>
              <a:t>typedef</a:t>
            </a:r>
            <a:r>
              <a:rPr lang="en-US" altLang="zh-CN" dirty="0"/>
              <a:t> </a:t>
            </a:r>
            <a:r>
              <a:rPr lang="en-US" altLang="zh-CN" dirty="0" err="1"/>
              <a:t>int</a:t>
            </a:r>
            <a:r>
              <a:rPr lang="en-US" altLang="zh-CN" dirty="0"/>
              <a:t> Status</a:t>
            </a:r>
          </a:p>
        </p:txBody>
      </p:sp>
      <p:sp>
        <p:nvSpPr>
          <p:cNvPr id="10" name="Rectangle 5"/>
          <p:cNvSpPr/>
          <p:nvPr/>
        </p:nvSpPr>
        <p:spPr>
          <a:xfrm>
            <a:off x="1547664" y="2367112"/>
            <a:ext cx="7344816" cy="90486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 = new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rPr>
              <a:t>[MAXSIZE];   </a:t>
            </a:r>
          </a:p>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if</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==NULL) </a:t>
            </a:r>
            <a:r>
              <a:rPr lang="en-US" altLang="zh-CN" sz="2400" b="1" dirty="0">
                <a:latin typeface="Cambria Math" panose="02040503050406030204" pitchFamily="18" charset="0"/>
                <a:ea typeface="Cambria Math" panose="02040503050406030204" pitchFamily="18" charset="0"/>
                <a:cs typeface="Arial Unicode MS" panose="020B0604020202020204" charset="-122"/>
              </a:rPr>
              <a:t>exit</a:t>
            </a:r>
            <a:r>
              <a:rPr lang="en-US" altLang="zh-CN" sz="2400" dirty="0">
                <a:latin typeface="Cambria Math" panose="02040503050406030204" pitchFamily="18" charset="0"/>
                <a:ea typeface="Cambria Math" panose="02040503050406030204" pitchFamily="18" charset="0"/>
                <a:cs typeface="Arial Unicode MS" panose="020B0604020202020204" charset="-122"/>
              </a:rPr>
              <a:t>(OVERFLOW);       //</a:t>
            </a:r>
            <a:r>
              <a:rPr lang="zh-CN" altLang="en-US" sz="2400" dirty="0">
                <a:latin typeface="Cambria Math" panose="02040503050406030204" pitchFamily="18" charset="0"/>
                <a:ea typeface="Cambria Math" panose="02040503050406030204" pitchFamily="18" charset="0"/>
                <a:cs typeface="Arial Unicode MS" panose="020B0604020202020204" charset="-122"/>
              </a:rPr>
              <a:t>分配失败</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销毁顺序表</a:t>
            </a:r>
            <a:r>
              <a:rPr lang="en-US" altLang="zh-CN" dirty="0"/>
              <a:t>L</a:t>
            </a:r>
            <a:endParaRPr lang="zh-CN" altLang="en-US" dirty="0"/>
          </a:p>
        </p:txBody>
      </p:sp>
      <p:sp>
        <p:nvSpPr>
          <p:cNvPr id="5" name="Text Box 3"/>
          <p:cNvSpPr txBox="1"/>
          <p:nvPr/>
        </p:nvSpPr>
        <p:spPr>
          <a:xfrm>
            <a:off x="2051720" y="5260752"/>
            <a:ext cx="30654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800" dirty="0">
                <a:ea typeface="隶书" panose="02010509060101010101" pitchFamily="49" charset="-122"/>
              </a:rPr>
              <a:t>算法</a:t>
            </a:r>
            <a:r>
              <a:rPr lang="zh-CN" altLang="en-US" sz="2800" b="1" dirty="0">
                <a:ea typeface="隶书" panose="02010509060101010101" pitchFamily="49" charset="-122"/>
              </a:rPr>
              <a:t>时间复杂度</a:t>
            </a:r>
            <a:r>
              <a:rPr lang="zh-CN" altLang="en-US" sz="2800" dirty="0">
                <a:ea typeface="隶书" panose="02010509060101010101" pitchFamily="49" charset="-122"/>
              </a:rPr>
              <a:t>：</a:t>
            </a:r>
            <a:endParaRPr lang="zh-CN" altLang="en-US" sz="2800" dirty="0">
              <a:ea typeface="宋体" panose="02010600030101010101" pitchFamily="2" charset="-122"/>
            </a:endParaRPr>
          </a:p>
        </p:txBody>
      </p:sp>
      <p:sp>
        <p:nvSpPr>
          <p:cNvPr id="6" name="Text Box 4"/>
          <p:cNvSpPr txBox="1"/>
          <p:nvPr/>
        </p:nvSpPr>
        <p:spPr>
          <a:xfrm>
            <a:off x="5114008" y="5282977"/>
            <a:ext cx="904875"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800" b="1" dirty="0">
                <a:ea typeface="宋体" panose="02010600030101010101" pitchFamily="2" charset="-122"/>
              </a:rPr>
              <a:t>O(1)</a:t>
            </a:r>
            <a:endParaRPr lang="en-US" altLang="zh-CN" sz="2800" dirty="0">
              <a:ea typeface="宋体" panose="02010600030101010101" pitchFamily="2" charset="-122"/>
            </a:endParaRPr>
          </a:p>
        </p:txBody>
      </p:sp>
      <p:sp>
        <p:nvSpPr>
          <p:cNvPr id="12" name="Text Box 2"/>
          <p:cNvSpPr txBox="1"/>
          <p:nvPr/>
        </p:nvSpPr>
        <p:spPr>
          <a:xfrm>
            <a:off x="683568" y="1484784"/>
            <a:ext cx="7993063" cy="319472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Status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DestroyList</a:t>
            </a:r>
            <a:r>
              <a:rPr lang="en-US" altLang="zh-CN" sz="2400" b="1" dirty="0" err="1">
                <a:latin typeface="Cambria Math" panose="02040503050406030204" pitchFamily="18" charset="0"/>
                <a:ea typeface="Cambria Math" panose="02040503050406030204" pitchFamily="18" charset="0"/>
                <a:cs typeface="Arial Unicode MS" panose="020B0604020202020204" charset="-122"/>
                <a:sym typeface="+mn-ea"/>
              </a:rPr>
              <a:t>_S</a:t>
            </a: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SqList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&amp;L){</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销毁顺序表</a:t>
            </a:r>
            <a:r>
              <a:rPr lang="en-US" altLang="zh-CN" sz="2400" dirty="0">
                <a:latin typeface="Cambria Math" panose="02040503050406030204" pitchFamily="18" charset="0"/>
                <a:ea typeface="Cambria Math" panose="02040503050406030204" pitchFamily="18" charset="0"/>
                <a:cs typeface="Arial Unicode MS" panose="020B0604020202020204" charset="-122"/>
              </a:rPr>
              <a:t>L</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13" name="Rectangle 5"/>
          <p:cNvSpPr/>
          <p:nvPr/>
        </p:nvSpPr>
        <p:spPr>
          <a:xfrm>
            <a:off x="1547664" y="2098367"/>
            <a:ext cx="6985149" cy="223445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if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 != NULL){ //</a:t>
            </a:r>
            <a:r>
              <a:rPr lang="zh-CN" altLang="en-US" sz="2400" dirty="0">
                <a:latin typeface="Cambria Math" panose="02040503050406030204" pitchFamily="18" charset="0"/>
                <a:ea typeface="Cambria Math" panose="02040503050406030204" pitchFamily="18" charset="0"/>
                <a:cs typeface="Arial Unicode MS" panose="020B0604020202020204" charset="-122"/>
              </a:rPr>
              <a:t>释放存储空间</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delete[]</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return OK;</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return ERROR;</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6"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1+#ppt_w/2"/>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vert="horz" wrap="square" lIns="91440" tIns="45720" rIns="91440" bIns="45720" anchor="ctr"/>
          <a:lstStyle/>
          <a:p>
            <a:r>
              <a:rPr lang="zh-CN" altLang="en-US" dirty="0"/>
              <a:t>顺序表取值</a:t>
            </a:r>
            <a:endParaRPr lang="zh-CN" altLang="en-US" dirty="0">
              <a:latin typeface="+mj-lt"/>
              <a:ea typeface="+mj-ea"/>
              <a:cs typeface="+mj-cs"/>
            </a:endParaRPr>
          </a:p>
        </p:txBody>
      </p:sp>
      <p:sp>
        <p:nvSpPr>
          <p:cNvPr id="5" name="Text Box 2"/>
          <p:cNvSpPr txBox="1"/>
          <p:nvPr/>
        </p:nvSpPr>
        <p:spPr>
          <a:xfrm>
            <a:off x="683568" y="1231241"/>
            <a:ext cx="7993063" cy="36360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获取线性表</a:t>
            </a:r>
            <a:r>
              <a:rPr lang="en-US" altLang="zh-CN" sz="2400" dirty="0">
                <a:latin typeface="Cambria Math" panose="02040503050406030204" pitchFamily="18" charset="0"/>
                <a:ea typeface="Cambria Math" panose="02040503050406030204" pitchFamily="18" charset="0"/>
                <a:cs typeface="Arial Unicode MS" panose="020B0604020202020204" charset="-122"/>
              </a:rPr>
              <a:t>L</a:t>
            </a:r>
            <a:r>
              <a:rPr lang="zh-CN" altLang="en-US" sz="2400" dirty="0">
                <a:latin typeface="Cambria Math" panose="02040503050406030204" pitchFamily="18" charset="0"/>
                <a:ea typeface="Cambria Math" panose="02040503050406030204" pitchFamily="18" charset="0"/>
                <a:cs typeface="Arial Unicode MS" panose="020B0604020202020204" charset="-122"/>
              </a:rPr>
              <a:t>中第</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个数据元素的内容，</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从</a:t>
            </a:r>
            <a:r>
              <a:rPr lang="en-US" altLang="zh-CN" sz="2400" dirty="0">
                <a:latin typeface="Cambria Math" panose="02040503050406030204" pitchFamily="18" charset="0"/>
                <a:ea typeface="Cambria Math" panose="02040503050406030204" pitchFamily="18" charset="0"/>
                <a:cs typeface="Arial Unicode MS" panose="020B0604020202020204" charset="-122"/>
              </a:rPr>
              <a:t>1</a:t>
            </a:r>
            <a:r>
              <a:rPr lang="zh-CN" altLang="en-US" sz="2400" dirty="0">
                <a:latin typeface="Cambria Math" panose="02040503050406030204" pitchFamily="18" charset="0"/>
                <a:ea typeface="Cambria Math" panose="02040503050406030204" pitchFamily="18" charset="0"/>
                <a:cs typeface="Arial Unicode MS" panose="020B0604020202020204" charset="-122"/>
              </a:rPr>
              <a:t>开始</a:t>
            </a:r>
          </a:p>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Status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GetElem</a:t>
            </a:r>
            <a:r>
              <a:rPr lang="en-US" altLang="zh-CN" sz="2400" b="1" dirty="0" err="1">
                <a:latin typeface="Cambria Math" panose="02040503050406030204" pitchFamily="18" charset="0"/>
                <a:ea typeface="Cambria Math" panose="02040503050406030204" pitchFamily="18" charset="0"/>
                <a:cs typeface="Arial Unicode MS" panose="020B0604020202020204" charset="-122"/>
                <a:sym typeface="+mn-ea"/>
              </a:rPr>
              <a:t>_S</a:t>
            </a: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SqList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L,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&amp;e){    </a:t>
            </a:r>
          </a:p>
          <a:p>
            <a:pPr marL="0" lvl="0" indent="0">
              <a:lnSpc>
                <a:spcPct val="120000"/>
              </a:lnSpc>
              <a:spcBef>
                <a:spcPct val="0"/>
              </a:spcBef>
              <a:buClrTx/>
              <a:buNone/>
            </a:pPr>
            <a:endParaRPr lang="en-US" altLang="zh-CN" sz="2400" b="1"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r>
              <a:rPr lang="en-US" altLang="zh-CN" sz="2400" b="1" dirty="0">
                <a:latin typeface="Cambria Math" panose="02040503050406030204" pitchFamily="18" charset="0"/>
                <a:ea typeface="Arial Unicode MS" panose="020B0604020202020204" charset="-122"/>
                <a:cs typeface="Arial Unicode MS" panose="020B0604020202020204" charset="-122"/>
              </a:rPr>
              <a:t>	</a:t>
            </a: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6" name="Text Box 3"/>
          <p:cNvSpPr txBox="1"/>
          <p:nvPr/>
        </p:nvSpPr>
        <p:spPr>
          <a:xfrm>
            <a:off x="2051720" y="5260752"/>
            <a:ext cx="30654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800" dirty="0">
                <a:ea typeface="隶书" panose="02010509060101010101" pitchFamily="49" charset="-122"/>
              </a:rPr>
              <a:t>算法</a:t>
            </a:r>
            <a:r>
              <a:rPr lang="zh-CN" altLang="en-US" sz="2800" b="1" dirty="0">
                <a:ea typeface="隶书" panose="02010509060101010101" pitchFamily="49" charset="-122"/>
              </a:rPr>
              <a:t>时间复杂度</a:t>
            </a:r>
            <a:r>
              <a:rPr lang="zh-CN" altLang="en-US" sz="2800" dirty="0">
                <a:ea typeface="隶书" panose="02010509060101010101" pitchFamily="49" charset="-122"/>
              </a:rPr>
              <a:t>：</a:t>
            </a:r>
            <a:endParaRPr lang="zh-CN" altLang="en-US" sz="2800" dirty="0">
              <a:ea typeface="宋体" panose="02010600030101010101" pitchFamily="2" charset="-122"/>
            </a:endParaRPr>
          </a:p>
        </p:txBody>
      </p:sp>
      <p:sp>
        <p:nvSpPr>
          <p:cNvPr id="7" name="Text Box 4"/>
          <p:cNvSpPr txBox="1"/>
          <p:nvPr/>
        </p:nvSpPr>
        <p:spPr>
          <a:xfrm>
            <a:off x="5114008" y="5282977"/>
            <a:ext cx="904875"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800" b="1" dirty="0">
                <a:ea typeface="宋体" panose="02010600030101010101" pitchFamily="2" charset="-122"/>
              </a:rPr>
              <a:t>O(1)</a:t>
            </a:r>
            <a:endParaRPr lang="en-US" altLang="zh-CN" sz="2800" dirty="0">
              <a:ea typeface="宋体" panose="02010600030101010101" pitchFamily="2" charset="-122"/>
            </a:endParaRPr>
          </a:p>
        </p:txBody>
      </p:sp>
      <p:sp>
        <p:nvSpPr>
          <p:cNvPr id="8" name="Rectangle 5"/>
          <p:cNvSpPr/>
          <p:nvPr/>
        </p:nvSpPr>
        <p:spPr>
          <a:xfrm>
            <a:off x="1547664" y="2308113"/>
            <a:ext cx="6985149" cy="90486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判断</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值是否合理，若不合理，返回</a:t>
            </a:r>
            <a:r>
              <a:rPr lang="en-US" altLang="zh-CN" sz="2400" dirty="0">
                <a:latin typeface="Cambria Math" panose="02040503050406030204" pitchFamily="18" charset="0"/>
                <a:ea typeface="Cambria Math" panose="02040503050406030204" pitchFamily="18" charset="0"/>
                <a:cs typeface="Arial Unicode MS" panose="020B0604020202020204" charset="-122"/>
              </a:rPr>
              <a:t>ERROR</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if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&lt;1||</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&gt;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return ERROR;</a:t>
            </a:r>
          </a:p>
        </p:txBody>
      </p:sp>
      <p:sp>
        <p:nvSpPr>
          <p:cNvPr id="9" name="Rectangle 6"/>
          <p:cNvSpPr/>
          <p:nvPr/>
        </p:nvSpPr>
        <p:spPr>
          <a:xfrm>
            <a:off x="1547664" y="3284984"/>
            <a:ext cx="6110968" cy="97872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e=</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[i-1];   //</a:t>
            </a:r>
            <a:r>
              <a:rPr lang="zh-CN" altLang="en-US" sz="2400" dirty="0">
                <a:latin typeface="Cambria Math" panose="02040503050406030204" pitchFamily="18" charset="0"/>
                <a:ea typeface="Cambria Math" panose="02040503050406030204" pitchFamily="18" charset="0"/>
                <a:cs typeface="Arial Unicode MS" panose="020B0604020202020204" charset="-122"/>
              </a:rPr>
              <a:t>第</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个数据存在第</a:t>
            </a:r>
            <a:r>
              <a:rPr lang="en-US" altLang="zh-CN" sz="2400" dirty="0">
                <a:latin typeface="Cambria Math" panose="02040503050406030204" pitchFamily="18" charset="0"/>
                <a:ea typeface="Cambria Math" panose="02040503050406030204" pitchFamily="18" charset="0"/>
                <a:cs typeface="Arial Unicode MS" panose="020B0604020202020204" charset="-122"/>
              </a:rPr>
              <a:t>i-1</a:t>
            </a:r>
            <a:r>
              <a:rPr lang="zh-CN" altLang="en-US" sz="2400" dirty="0">
                <a:latin typeface="Cambria Math" panose="02040503050406030204" pitchFamily="18" charset="0"/>
                <a:ea typeface="Cambria Math" panose="02040503050406030204" pitchFamily="18" charset="0"/>
                <a:cs typeface="Arial Unicode MS" panose="020B0604020202020204" charset="-122"/>
              </a:rPr>
              <a:t>的单元</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return</a:t>
            </a:r>
            <a:r>
              <a:rPr lang="en-US" altLang="zh-CN" sz="2400" dirty="0">
                <a:latin typeface="Cambria Math" panose="02040503050406030204" pitchFamily="18" charset="0"/>
                <a:ea typeface="Cambria Math" panose="02040503050406030204" pitchFamily="18" charset="0"/>
                <a:cs typeface="Arial Unicode MS" panose="020B0604020202020204" charset="-122"/>
              </a:rPr>
              <a:t> OK;</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vert="horz" wrap="square" lIns="91440" tIns="45720" rIns="91440" bIns="45720" anchor="ctr"/>
          <a:lstStyle/>
          <a:p>
            <a:r>
              <a:rPr lang="zh-CN" altLang="en-US" dirty="0"/>
              <a:t>顺序表查找</a:t>
            </a:r>
            <a:endParaRPr lang="zh-CN" altLang="en-US" dirty="0">
              <a:latin typeface="+mj-lt"/>
              <a:ea typeface="+mj-ea"/>
              <a:cs typeface="+mj-cs"/>
            </a:endParaRPr>
          </a:p>
        </p:txBody>
      </p:sp>
      <p:sp>
        <p:nvSpPr>
          <p:cNvPr id="5" name="Text Box 2"/>
          <p:cNvSpPr txBox="1"/>
          <p:nvPr/>
        </p:nvSpPr>
        <p:spPr>
          <a:xfrm>
            <a:off x="683568" y="1231241"/>
            <a:ext cx="7993063" cy="36360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在线性表</a:t>
            </a:r>
            <a:r>
              <a:rPr lang="en-US" altLang="zh-CN" sz="2400" dirty="0">
                <a:latin typeface="Cambria Math" panose="02040503050406030204" pitchFamily="18" charset="0"/>
                <a:ea typeface="Cambria Math" panose="02040503050406030204" pitchFamily="18" charset="0"/>
                <a:cs typeface="Arial Unicode MS" panose="020B0604020202020204" charset="-122"/>
              </a:rPr>
              <a:t>L</a:t>
            </a:r>
            <a:r>
              <a:rPr lang="zh-CN" altLang="en-US" sz="2400" dirty="0">
                <a:latin typeface="Cambria Math" panose="02040503050406030204" pitchFamily="18" charset="0"/>
                <a:ea typeface="Cambria Math" panose="02040503050406030204" pitchFamily="18" charset="0"/>
                <a:cs typeface="Arial Unicode MS" panose="020B0604020202020204" charset="-122"/>
              </a:rPr>
              <a:t>中查找值为</a:t>
            </a:r>
            <a:r>
              <a:rPr lang="en-US" altLang="zh-CN" sz="2400" dirty="0">
                <a:latin typeface="Cambria Math" panose="02040503050406030204" pitchFamily="18" charset="0"/>
                <a:ea typeface="Cambria Math" panose="02040503050406030204" pitchFamily="18" charset="0"/>
                <a:cs typeface="Arial Unicode MS" panose="020B0604020202020204" charset="-122"/>
              </a:rPr>
              <a:t>e</a:t>
            </a:r>
            <a:r>
              <a:rPr lang="zh-CN" altLang="en-US" sz="2400" dirty="0">
                <a:latin typeface="Cambria Math" panose="02040503050406030204" pitchFamily="18" charset="0"/>
                <a:ea typeface="Cambria Math" panose="02040503050406030204" pitchFamily="18" charset="0"/>
                <a:cs typeface="Arial Unicode MS" panose="020B0604020202020204" charset="-122"/>
              </a:rPr>
              <a:t>的数据，返回序号</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从</a:t>
            </a:r>
            <a:r>
              <a:rPr lang="en-US" altLang="zh-CN" sz="2400" dirty="0">
                <a:latin typeface="Cambria Math" panose="02040503050406030204" pitchFamily="18" charset="0"/>
                <a:ea typeface="Cambria Math" panose="02040503050406030204" pitchFamily="18" charset="0"/>
                <a:cs typeface="Arial Unicode MS" panose="020B0604020202020204" charset="-122"/>
              </a:rPr>
              <a:t>1</a:t>
            </a:r>
            <a:r>
              <a:rPr lang="zh-CN" altLang="en-US" sz="2400" dirty="0">
                <a:latin typeface="Cambria Math" panose="02040503050406030204" pitchFamily="18" charset="0"/>
                <a:ea typeface="Cambria Math" panose="02040503050406030204" pitchFamily="18" charset="0"/>
                <a:cs typeface="Arial Unicode MS" panose="020B0604020202020204" charset="-122"/>
              </a:rPr>
              <a:t>开始</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20000"/>
              </a:lnSpc>
              <a:spcBef>
                <a:spcPct val="0"/>
              </a:spcBef>
              <a:buClrTx/>
              <a:buNone/>
            </a:pP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LocateElem</a:t>
            </a:r>
            <a:r>
              <a:rPr lang="en-US" altLang="zh-CN" sz="2400" b="1" dirty="0" err="1">
                <a:latin typeface="Cambria Math" panose="02040503050406030204" pitchFamily="18" charset="0"/>
                <a:ea typeface="Cambria Math" panose="02040503050406030204" pitchFamily="18" charset="0"/>
                <a:cs typeface="Arial Unicode MS" panose="020B0604020202020204" charset="-122"/>
                <a:sym typeface="+mn-ea"/>
              </a:rPr>
              <a:t>_S</a:t>
            </a: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SqList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L</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 ElemType</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e){    </a:t>
            </a:r>
          </a:p>
          <a:p>
            <a:pPr marL="0" lvl="0" indent="0">
              <a:lnSpc>
                <a:spcPct val="120000"/>
              </a:lnSpc>
              <a:spcBef>
                <a:spcPct val="0"/>
              </a:spcBef>
              <a:buClrTx/>
              <a:buNone/>
            </a:pPr>
            <a:endParaRPr lang="en-US" altLang="zh-CN" sz="2400" b="1"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6" name="Text Box 3"/>
          <p:cNvSpPr txBox="1"/>
          <p:nvPr/>
        </p:nvSpPr>
        <p:spPr>
          <a:xfrm>
            <a:off x="2051720" y="5691867"/>
            <a:ext cx="30654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800" dirty="0">
                <a:ea typeface="隶书" panose="02010509060101010101" pitchFamily="49" charset="-122"/>
              </a:rPr>
              <a:t>算法</a:t>
            </a:r>
            <a:r>
              <a:rPr lang="zh-CN" altLang="en-US" sz="2800" b="1" dirty="0">
                <a:ea typeface="隶书" panose="02010509060101010101" pitchFamily="49" charset="-122"/>
              </a:rPr>
              <a:t>时间复杂度</a:t>
            </a:r>
            <a:r>
              <a:rPr lang="zh-CN" altLang="en-US" sz="2800" dirty="0">
                <a:ea typeface="隶书" panose="02010509060101010101" pitchFamily="49" charset="-122"/>
              </a:rPr>
              <a:t>：</a:t>
            </a:r>
            <a:endParaRPr lang="zh-CN" altLang="en-US" sz="2800" dirty="0">
              <a:ea typeface="宋体" panose="02010600030101010101" pitchFamily="2" charset="-122"/>
            </a:endParaRPr>
          </a:p>
        </p:txBody>
      </p:sp>
      <p:sp>
        <p:nvSpPr>
          <p:cNvPr id="7" name="Text Box 4"/>
          <p:cNvSpPr txBox="1"/>
          <p:nvPr/>
        </p:nvSpPr>
        <p:spPr>
          <a:xfrm>
            <a:off x="5114008" y="5714092"/>
            <a:ext cx="923651" cy="52322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800" b="1" dirty="0">
                <a:ea typeface="宋体" panose="02010600030101010101" pitchFamily="2" charset="-122"/>
              </a:rPr>
              <a:t>O(n)</a:t>
            </a:r>
            <a:endParaRPr lang="en-US" altLang="zh-CN" sz="2800" dirty="0">
              <a:ea typeface="宋体" panose="02010600030101010101" pitchFamily="2" charset="-122"/>
            </a:endParaRPr>
          </a:p>
        </p:txBody>
      </p:sp>
      <p:sp>
        <p:nvSpPr>
          <p:cNvPr id="8" name="Rectangle 5"/>
          <p:cNvSpPr/>
          <p:nvPr/>
        </p:nvSpPr>
        <p:spPr>
          <a:xfrm>
            <a:off x="1547664" y="2308113"/>
            <a:ext cx="6985149" cy="1348061"/>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for(</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=0;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&lt;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if(</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]==e)  return i+1;</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p:txBody>
      </p:sp>
      <p:sp>
        <p:nvSpPr>
          <p:cNvPr id="9" name="Rectangle 6"/>
          <p:cNvSpPr/>
          <p:nvPr/>
        </p:nvSpPr>
        <p:spPr>
          <a:xfrm>
            <a:off x="1547664" y="3602399"/>
            <a:ext cx="4657044" cy="5355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return</a:t>
            </a:r>
            <a:r>
              <a:rPr lang="en-US" altLang="zh-CN" sz="2400" dirty="0">
                <a:latin typeface="Cambria Math" panose="02040503050406030204" pitchFamily="18" charset="0"/>
                <a:ea typeface="Cambria Math" panose="02040503050406030204" pitchFamily="18" charset="0"/>
                <a:cs typeface="Arial Unicode MS" panose="020B0604020202020204" charset="-122"/>
              </a:rPr>
              <a:t> 0;  	//</a:t>
            </a:r>
            <a:r>
              <a:rPr lang="zh-CN" altLang="en-US" sz="2400" dirty="0">
                <a:latin typeface="Cambria Math" panose="02040503050406030204" pitchFamily="18" charset="0"/>
                <a:ea typeface="Cambria Math" panose="02040503050406030204" pitchFamily="18" charset="0"/>
                <a:cs typeface="Arial Unicode MS" panose="020B0604020202020204" charset="-122"/>
              </a:rPr>
              <a:t>查找失败，返回</a:t>
            </a:r>
            <a:r>
              <a:rPr lang="en-US" altLang="zh-CN" sz="2400" dirty="0">
                <a:latin typeface="Cambria Math" panose="02040503050406030204" pitchFamily="18" charset="0"/>
                <a:ea typeface="Cambria Math" panose="02040503050406030204" pitchFamily="18" charset="0"/>
                <a:cs typeface="Arial Unicode MS" panose="020B0604020202020204" charset="-122"/>
              </a:rPr>
              <a:t>0</a:t>
            </a:r>
          </a:p>
        </p:txBody>
      </p:sp>
      <p:sp>
        <p:nvSpPr>
          <p:cNvPr id="2" name="文本框 1"/>
          <p:cNvSpPr txBox="1"/>
          <p:nvPr/>
        </p:nvSpPr>
        <p:spPr>
          <a:xfrm>
            <a:off x="827583" y="4829960"/>
            <a:ext cx="7705229" cy="461665"/>
          </a:xfrm>
          <a:prstGeom prst="rect">
            <a:avLst/>
          </a:prstGeom>
          <a:noFill/>
        </p:spPr>
        <p:txBody>
          <a:bodyPr wrap="square" rtlCol="0">
            <a:spAutoFit/>
          </a:bodyPr>
          <a:lstStyle/>
          <a:p>
            <a:r>
              <a:rPr lang="zh-CN" altLang="en-US" sz="2400" dirty="0"/>
              <a:t>最坏情况下，</a:t>
            </a:r>
            <a:r>
              <a:rPr lang="en-US" altLang="zh-CN" sz="2400" dirty="0"/>
              <a:t>if</a:t>
            </a:r>
            <a:r>
              <a:rPr lang="zh-CN" altLang="en-US" sz="2400" dirty="0"/>
              <a:t>语句执行多少次？</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wd">
                                    <p:tmPct val="0"/>
                                  </p:iterate>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 calcmode="lin" valueType="num">
                                      <p:cBhvr additive="base">
                                        <p:cTn id="2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顺序表的插入</a:t>
            </a:r>
          </a:p>
        </p:txBody>
      </p:sp>
      <p:grpSp>
        <p:nvGrpSpPr>
          <p:cNvPr id="51" name="Group 49"/>
          <p:cNvGrpSpPr/>
          <p:nvPr/>
        </p:nvGrpSpPr>
        <p:grpSpPr>
          <a:xfrm>
            <a:off x="4761717" y="4941172"/>
            <a:ext cx="1774347" cy="549198"/>
            <a:chOff x="3521" y="3696"/>
            <a:chExt cx="1759" cy="432"/>
          </a:xfrm>
        </p:grpSpPr>
        <p:sp>
          <p:nvSpPr>
            <p:cNvPr id="21522" name="Text Box 50"/>
            <p:cNvSpPr txBox="1"/>
            <p:nvPr/>
          </p:nvSpPr>
          <p:spPr>
            <a:xfrm>
              <a:off x="3521" y="3828"/>
              <a:ext cx="145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1800" dirty="0">
                  <a:ea typeface="隶书" panose="02010509060101010101" pitchFamily="49" charset="-122"/>
                </a:rPr>
                <a:t>表的长度加</a:t>
              </a:r>
              <a:r>
                <a:rPr lang="en-US" altLang="zh-CN" sz="1800" dirty="0">
                  <a:ea typeface="隶书" panose="02010509060101010101" pitchFamily="49" charset="-122"/>
                </a:rPr>
                <a:t>1</a:t>
              </a:r>
              <a:endParaRPr lang="zh-CN" altLang="en-US" sz="1800" dirty="0">
                <a:ea typeface="宋体" panose="02010600030101010101" pitchFamily="2" charset="-122"/>
              </a:endParaRPr>
            </a:p>
          </p:txBody>
        </p:sp>
        <p:sp>
          <p:nvSpPr>
            <p:cNvPr id="21523" name="AutoShape 51"/>
            <p:cNvSpPr/>
            <p:nvPr/>
          </p:nvSpPr>
          <p:spPr>
            <a:xfrm>
              <a:off x="5184" y="3696"/>
              <a:ext cx="96" cy="432"/>
            </a:xfrm>
            <a:prstGeom prst="upArrow">
              <a:avLst>
                <a:gd name="adj1" fmla="val 50000"/>
                <a:gd name="adj2" fmla="val 112500"/>
              </a:avLst>
            </a:prstGeom>
            <a:solidFill>
              <a:srgbClr val="9900FF"/>
            </a:solidFill>
            <a:ln w="9525" cap="flat" cmpd="sng">
              <a:solidFill>
                <a:schemeClr val="tx1"/>
              </a:solidFill>
              <a:prstDash val="solid"/>
              <a:miter/>
              <a:headEnd type="none" w="med" len="med"/>
              <a:tailEnd type="none" w="med" len="med"/>
            </a:ln>
          </p:spPr>
          <p:txBody>
            <a:bodyPr vert="eaVert"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grpSp>
      <p:sp>
        <p:nvSpPr>
          <p:cNvPr id="54" name="Text Box 52"/>
          <p:cNvSpPr txBox="1"/>
          <p:nvPr/>
        </p:nvSpPr>
        <p:spPr>
          <a:xfrm>
            <a:off x="692467" y="1194594"/>
            <a:ext cx="7479933" cy="707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25000"/>
              </a:lnSpc>
              <a:spcBef>
                <a:spcPct val="0"/>
              </a:spcBef>
              <a:buClrTx/>
              <a:buNone/>
            </a:pPr>
            <a:r>
              <a:rPr lang="zh-CN" altLang="en-US" dirty="0">
                <a:ea typeface="宋体" panose="02010600030101010101" pitchFamily="2" charset="-122"/>
              </a:rPr>
              <a:t>在表的第</a:t>
            </a:r>
            <a:r>
              <a:rPr lang="en-US" altLang="zh-CN" dirty="0" err="1">
                <a:ea typeface="宋体" panose="02010600030101010101" pitchFamily="2" charset="-122"/>
              </a:rPr>
              <a:t>i</a:t>
            </a:r>
            <a:r>
              <a:rPr lang="zh-CN" altLang="en-US" dirty="0">
                <a:ea typeface="宋体" panose="02010600030101010101" pitchFamily="2" charset="-122"/>
              </a:rPr>
              <a:t>个位置插入一个新的数据元素</a:t>
            </a:r>
            <a:r>
              <a:rPr lang="en-US" altLang="zh-CN" dirty="0">
                <a:ea typeface="宋体" panose="02010600030101010101" pitchFamily="2" charset="-122"/>
              </a:rPr>
              <a:t>e</a:t>
            </a:r>
            <a:endParaRPr lang="zh-CN" altLang="en-US" dirty="0">
              <a:ea typeface="宋体" panose="02010600030101010101" pitchFamily="2" charset="-122"/>
            </a:endParaRPr>
          </a:p>
        </p:txBody>
      </p:sp>
      <p:sp>
        <p:nvSpPr>
          <p:cNvPr id="87" name="Text Box 52"/>
          <p:cNvSpPr txBox="1"/>
          <p:nvPr/>
        </p:nvSpPr>
        <p:spPr>
          <a:xfrm>
            <a:off x="1350977" y="5157192"/>
            <a:ext cx="1980029" cy="57419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25000"/>
              </a:lnSpc>
              <a:spcBef>
                <a:spcPct val="0"/>
              </a:spcBef>
              <a:buClrTx/>
              <a:buNone/>
            </a:pPr>
            <a:r>
              <a:rPr lang="zh-CN" altLang="en-US" sz="2800" dirty="0">
                <a:solidFill>
                  <a:srgbClr val="FF0000"/>
                </a:solidFill>
                <a:ea typeface="宋体" panose="02010600030101010101" pitchFamily="2" charset="-122"/>
              </a:rPr>
              <a:t>怎样实现？</a:t>
            </a:r>
          </a:p>
        </p:txBody>
      </p:sp>
      <p:sp>
        <p:nvSpPr>
          <p:cNvPr id="36" name="Text Box 8"/>
          <p:cNvSpPr txBox="1"/>
          <p:nvPr/>
        </p:nvSpPr>
        <p:spPr>
          <a:xfrm>
            <a:off x="1187624" y="1868810"/>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插入前：</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插入后：</a:t>
            </a:r>
          </a:p>
        </p:txBody>
      </p:sp>
      <p:sp>
        <p:nvSpPr>
          <p:cNvPr id="37" name="Text Box 9"/>
          <p:cNvSpPr txBox="1"/>
          <p:nvPr/>
        </p:nvSpPr>
        <p:spPr>
          <a:xfrm>
            <a:off x="2542779" y="1892623"/>
            <a:ext cx="4362092"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t>
            </a:r>
            <a:r>
              <a:rPr lang="en-US" altLang="zh-CN" sz="2400" dirty="0" err="1"/>
              <a:t>a</a:t>
            </a:r>
            <a:r>
              <a:rPr lang="en-US" altLang="zh-CN" sz="2400" baseline="-25000" dirty="0" err="1"/>
              <a:t>i</a:t>
            </a:r>
            <a:r>
              <a:rPr lang="en-US" altLang="zh-CN" sz="2400" dirty="0"/>
              <a:t>, a</a:t>
            </a:r>
            <a:r>
              <a:rPr lang="en-US" altLang="zh-CN" sz="2400" baseline="-25000" dirty="0"/>
              <a:t>i+1</a:t>
            </a:r>
            <a:r>
              <a:rPr lang="en-US" altLang="zh-CN" sz="2400" dirty="0"/>
              <a:t>, ..., a</a:t>
            </a:r>
            <a:r>
              <a:rPr lang="en-US" altLang="zh-CN" sz="2400" baseline="-25000" dirty="0"/>
              <a:t>n</a:t>
            </a:r>
            <a:r>
              <a:rPr lang="en-US" altLang="zh-CN" sz="2400" dirty="0"/>
              <a:t>)</a:t>
            </a:r>
          </a:p>
        </p:txBody>
      </p:sp>
      <p:sp>
        <p:nvSpPr>
          <p:cNvPr id="38" name="Text Box 10"/>
          <p:cNvSpPr txBox="1"/>
          <p:nvPr/>
        </p:nvSpPr>
        <p:spPr>
          <a:xfrm>
            <a:off x="2555479" y="2578423"/>
            <a:ext cx="4703532"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t>
            </a:r>
            <a:r>
              <a:rPr lang="en-US" altLang="zh-CN" sz="2400" dirty="0">
                <a:solidFill>
                  <a:srgbClr val="FF0000"/>
                </a:solidFill>
              </a:rPr>
              <a:t>e</a:t>
            </a:r>
            <a:r>
              <a:rPr lang="en-US" altLang="zh-CN" sz="2400" dirty="0"/>
              <a:t>, </a:t>
            </a:r>
            <a:r>
              <a:rPr lang="en-US" altLang="zh-CN" sz="2400" dirty="0" err="1"/>
              <a:t>a</a:t>
            </a:r>
            <a:r>
              <a:rPr lang="en-US" altLang="zh-CN" sz="2400" baseline="-25000" dirty="0" err="1"/>
              <a:t>i</a:t>
            </a:r>
            <a:r>
              <a:rPr lang="en-US" altLang="zh-CN" sz="2400" dirty="0"/>
              <a:t>, a</a:t>
            </a:r>
            <a:r>
              <a:rPr lang="en-US" altLang="zh-CN" sz="2400" baseline="-25000" dirty="0"/>
              <a:t>i+1</a:t>
            </a:r>
            <a:r>
              <a:rPr lang="en-US" altLang="zh-CN" sz="2400" dirty="0"/>
              <a:t>, ..., a</a:t>
            </a:r>
            <a:r>
              <a:rPr lang="en-US" altLang="zh-CN" sz="2400" baseline="-25000" dirty="0"/>
              <a:t>n</a:t>
            </a:r>
            <a:r>
              <a:rPr lang="en-US" altLang="zh-CN" sz="2400" dirty="0"/>
              <a:t>)</a:t>
            </a:r>
          </a:p>
        </p:txBody>
      </p:sp>
      <p:graphicFrame>
        <p:nvGraphicFramePr>
          <p:cNvPr id="8" name="表格 7"/>
          <p:cNvGraphicFramePr>
            <a:graphicFrameLocks noGrp="1"/>
          </p:cNvGraphicFramePr>
          <p:nvPr>
            <p:extLst>
              <p:ext uri="{D42A27DB-BD31-4B8C-83A1-F6EECF244321}">
                <p14:modId xmlns:p14="http://schemas.microsoft.com/office/powerpoint/2010/main" val="2193071796"/>
              </p:ext>
            </p:extLst>
          </p:nvPr>
        </p:nvGraphicFramePr>
        <p:xfrm>
          <a:off x="1317958" y="3838126"/>
          <a:ext cx="6096000" cy="39624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139040">
                <a:tc>
                  <a:txBody>
                    <a:bodyPr/>
                    <a:lstStyle/>
                    <a:p>
                      <a:pPr algn="ctr"/>
                      <a:r>
                        <a:rPr lang="en-US" altLang="zh-CN" sz="2000" dirty="0"/>
                        <a:t>a</a:t>
                      </a:r>
                      <a:r>
                        <a:rPr lang="en-US" altLang="zh-CN" sz="2000" baseline="-25000" dirty="0"/>
                        <a:t>1</a:t>
                      </a:r>
                      <a:endParaRPr lang="zh-CN" alt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2</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4C34FE"/>
                          </a:solidFill>
                        </a:rPr>
                        <a:t>a</a:t>
                      </a:r>
                      <a:r>
                        <a:rPr lang="en-US" altLang="zh-CN" sz="2000" baseline="-25000" dirty="0">
                          <a:solidFill>
                            <a:srgbClr val="4C34FE"/>
                          </a:solidFill>
                        </a:rPr>
                        <a:t>i-1</a:t>
                      </a:r>
                      <a:endParaRPr lang="zh-CN" altLang="en-US" sz="2000" baseline="-25000" dirty="0">
                        <a:solidFill>
                          <a:srgbClr val="4C34FE"/>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err="1">
                          <a:solidFill>
                            <a:srgbClr val="008000"/>
                          </a:solidFill>
                        </a:rPr>
                        <a:t>ai</a:t>
                      </a:r>
                      <a:endParaRPr lang="zh-CN" altLang="en-US" sz="2000" baseline="-25000" dirty="0">
                        <a:solidFill>
                          <a:srgbClr val="008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i+1</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n</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52" name="表格 51"/>
          <p:cNvGraphicFramePr>
            <a:graphicFrameLocks noGrp="1"/>
          </p:cNvGraphicFramePr>
          <p:nvPr>
            <p:extLst>
              <p:ext uri="{D42A27DB-BD31-4B8C-83A1-F6EECF244321}">
                <p14:modId xmlns:p14="http://schemas.microsoft.com/office/powerpoint/2010/main" val="470704831"/>
              </p:ext>
            </p:extLst>
          </p:nvPr>
        </p:nvGraphicFramePr>
        <p:xfrm>
          <a:off x="1284312" y="4431392"/>
          <a:ext cx="6096000" cy="39624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139040">
                <a:tc>
                  <a:txBody>
                    <a:bodyPr/>
                    <a:lstStyle/>
                    <a:p>
                      <a:pPr algn="ctr"/>
                      <a:r>
                        <a:rPr lang="en-US" altLang="zh-CN" sz="2000" dirty="0"/>
                        <a:t>a</a:t>
                      </a:r>
                      <a:r>
                        <a:rPr lang="en-US" altLang="zh-CN" sz="2000" baseline="-25000" dirty="0"/>
                        <a:t>1</a:t>
                      </a:r>
                      <a:endParaRPr lang="zh-CN" alt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2</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4C34FE"/>
                          </a:solidFill>
                        </a:rPr>
                        <a:t>a</a:t>
                      </a:r>
                      <a:r>
                        <a:rPr lang="en-US" altLang="zh-CN" sz="2000" baseline="-25000" dirty="0">
                          <a:solidFill>
                            <a:srgbClr val="4C34FE"/>
                          </a:solidFill>
                        </a:rPr>
                        <a:t>i-1</a:t>
                      </a:r>
                      <a:endParaRPr lang="zh-CN" altLang="en-US" sz="2000" baseline="-25000" dirty="0">
                        <a:solidFill>
                          <a:srgbClr val="4C34FE"/>
                        </a:solidFill>
                      </a:endParaRPr>
                    </a:p>
                  </a:txBody>
                  <a:tcPr/>
                </a:tc>
                <a:tc>
                  <a:txBody>
                    <a:bodyPr/>
                    <a:lstStyle/>
                    <a:p>
                      <a:pPr algn="ctr"/>
                      <a:r>
                        <a:rPr lang="en-US" altLang="zh-CN" sz="2000" kern="1200" dirty="0">
                          <a:solidFill>
                            <a:srgbClr val="FF0000"/>
                          </a:solidFill>
                          <a:latin typeface="+mn-lt"/>
                          <a:ea typeface="+mn-ea"/>
                          <a:cs typeface="+mn-cs"/>
                        </a:rPr>
                        <a:t>e</a:t>
                      </a:r>
                      <a:endParaRPr lang="zh-CN" altLang="en-US" sz="2000" kern="1200" dirty="0">
                        <a:solidFill>
                          <a:srgbClr val="FF0000"/>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err="1">
                          <a:solidFill>
                            <a:srgbClr val="008000"/>
                          </a:solidFill>
                        </a:rPr>
                        <a:t>ai</a:t>
                      </a:r>
                      <a:endParaRPr lang="zh-CN" altLang="en-US" sz="2000" baseline="-25000" dirty="0">
                        <a:solidFill>
                          <a:srgbClr val="008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i+1</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n</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53" name="表格 52"/>
          <p:cNvGraphicFramePr>
            <a:graphicFrameLocks noGrp="1"/>
          </p:cNvGraphicFramePr>
          <p:nvPr>
            <p:extLst>
              <p:ext uri="{D42A27DB-BD31-4B8C-83A1-F6EECF244321}">
                <p14:modId xmlns:p14="http://schemas.microsoft.com/office/powerpoint/2010/main" val="1205967858"/>
              </p:ext>
            </p:extLst>
          </p:nvPr>
        </p:nvGraphicFramePr>
        <p:xfrm>
          <a:off x="1331640" y="3429000"/>
          <a:ext cx="6096000" cy="27432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139040">
                <a:tc>
                  <a:txBody>
                    <a:bodyPr/>
                    <a:lstStyle/>
                    <a:p>
                      <a:pPr marL="0" algn="l" defTabSz="914400" rtl="0" eaLnBrk="1" latinLnBrk="0" hangingPunct="1"/>
                      <a:r>
                        <a:rPr lang="en-US" altLang="zh-CN" sz="1200" b="0" i="0" u="none" kern="1200" baseline="0" dirty="0">
                          <a:solidFill>
                            <a:schemeClr val="tx1"/>
                          </a:solidFill>
                          <a:latin typeface="+mn-lt"/>
                          <a:ea typeface="+mn-ea"/>
                          <a:cs typeface="+mn-cs"/>
                        </a:rPr>
                        <a:t>p</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l" defTabSz="914400" rtl="0" eaLnBrk="1" latinLnBrk="0" hangingPunct="1"/>
                      <a:r>
                        <a:rPr lang="en-US" altLang="zh-CN" sz="1200" b="0" i="0" u="none" kern="1200" baseline="0" dirty="0">
                          <a:solidFill>
                            <a:schemeClr val="tx1"/>
                          </a:solidFill>
                          <a:latin typeface="+mn-lt"/>
                          <a:ea typeface="+mn-ea"/>
                          <a:cs typeface="+mn-cs"/>
                        </a:rPr>
                        <a:t>p+1</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l" defTabSz="914400" rtl="0" eaLnBrk="1" latinLnBrk="0" hangingPunct="1"/>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a:solidFill>
                            <a:schemeClr val="tx1"/>
                          </a:solidFill>
                          <a:latin typeface="+mn-lt"/>
                          <a:ea typeface="+mn-ea"/>
                          <a:cs typeface="+mn-cs"/>
                        </a:rPr>
                        <a:t>p+i-2</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a:solidFill>
                            <a:schemeClr val="tx1"/>
                          </a:solidFill>
                          <a:latin typeface="+mn-lt"/>
                          <a:ea typeface="+mn-ea"/>
                          <a:cs typeface="+mn-cs"/>
                        </a:rPr>
                        <a:t>p+i-1</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err="1">
                          <a:solidFill>
                            <a:schemeClr val="tx1"/>
                          </a:solidFill>
                          <a:latin typeface="+mn-lt"/>
                          <a:ea typeface="+mn-ea"/>
                          <a:cs typeface="+mn-cs"/>
                        </a:rPr>
                        <a:t>p+i</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a:solidFill>
                            <a:schemeClr val="tx1"/>
                          </a:solidFill>
                          <a:latin typeface="+mn-lt"/>
                          <a:ea typeface="+mn-ea"/>
                          <a:cs typeface="+mn-cs"/>
                        </a:rPr>
                        <a:t>p+n-1</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err="1">
                          <a:solidFill>
                            <a:schemeClr val="tx1"/>
                          </a:solidFill>
                          <a:latin typeface="+mn-lt"/>
                          <a:ea typeface="+mn-ea"/>
                          <a:cs typeface="+mn-cs"/>
                        </a:rPr>
                        <a:t>p+n</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29</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wipe(left)">
                                      <p:cBhvr>
                                        <p:cTn id="20" dur="500"/>
                                        <p:tgtEl>
                                          <p:spTgt spid="53"/>
                                        </p:tgtEl>
                                      </p:cBhvr>
                                    </p:animEffect>
                                  </p:childTnLst>
                                </p:cTn>
                              </p:par>
                              <p:par>
                                <p:cTn id="21" presetID="2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2" presetClass="entr" presetSubtype="8" fill="hold" nodeType="with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ipe(left)">
                                      <p:cBhvr>
                                        <p:cTn id="26" dur="500"/>
                                        <p:tgtEl>
                                          <p:spTgt spid="52"/>
                                        </p:tgtEl>
                                      </p:cBhvr>
                                    </p:animEffect>
                                  </p:childTnLst>
                                </p:cTn>
                              </p:par>
                              <p:par>
                                <p:cTn id="27" presetID="42"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1000"/>
                                        <p:tgtEl>
                                          <p:spTgt spid="51"/>
                                        </p:tgtEl>
                                      </p:cBhvr>
                                    </p:animEffect>
                                    <p:anim calcmode="lin" valueType="num">
                                      <p:cBhvr>
                                        <p:cTn id="30" dur="1000" fill="hold"/>
                                        <p:tgtEl>
                                          <p:spTgt spid="51"/>
                                        </p:tgtEl>
                                        <p:attrNameLst>
                                          <p:attrName>ppt_x</p:attrName>
                                        </p:attrNameLst>
                                      </p:cBhvr>
                                      <p:tavLst>
                                        <p:tav tm="0">
                                          <p:val>
                                            <p:strVal val="#ppt_x"/>
                                          </p:val>
                                        </p:tav>
                                        <p:tav tm="100000">
                                          <p:val>
                                            <p:strVal val="#ppt_x"/>
                                          </p:val>
                                        </p:tav>
                                      </p:tavLst>
                                    </p:anim>
                                    <p:anim calcmode="lin" valueType="num">
                                      <p:cBhvr>
                                        <p:cTn id="31"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7"/>
                                        </p:tgtEl>
                                        <p:attrNameLst>
                                          <p:attrName>style.visibility</p:attrName>
                                        </p:attrNameLst>
                                      </p:cBhvr>
                                      <p:to>
                                        <p:strVal val="visible"/>
                                      </p:to>
                                    </p:set>
                                    <p:anim calcmode="lin" valueType="num">
                                      <p:cBhvr>
                                        <p:cTn id="36" dur="500" fill="hold"/>
                                        <p:tgtEl>
                                          <p:spTgt spid="87"/>
                                        </p:tgtEl>
                                        <p:attrNameLst>
                                          <p:attrName>ppt_w</p:attrName>
                                        </p:attrNameLst>
                                      </p:cBhvr>
                                      <p:tavLst>
                                        <p:tav tm="0">
                                          <p:val>
                                            <p:fltVal val="0"/>
                                          </p:val>
                                        </p:tav>
                                        <p:tav tm="100000">
                                          <p:val>
                                            <p:strVal val="#ppt_w"/>
                                          </p:val>
                                        </p:tav>
                                      </p:tavLst>
                                    </p:anim>
                                    <p:anim calcmode="lin" valueType="num">
                                      <p:cBhvr>
                                        <p:cTn id="37" dur="500" fill="hold"/>
                                        <p:tgtEl>
                                          <p:spTgt spid="87"/>
                                        </p:tgtEl>
                                        <p:attrNameLst>
                                          <p:attrName>ppt_h</p:attrName>
                                        </p:attrNameLst>
                                      </p:cBhvr>
                                      <p:tavLst>
                                        <p:tav tm="0">
                                          <p:val>
                                            <p:fltVal val="0"/>
                                          </p:val>
                                        </p:tav>
                                        <p:tav tm="100000">
                                          <p:val>
                                            <p:strVal val="#ppt_h"/>
                                          </p:val>
                                        </p:tav>
                                      </p:tavLst>
                                    </p:anim>
                                    <p:animEffect transition="in" filter="fade">
                                      <p:cBhvr>
                                        <p:cTn id="38"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87" grpId="0"/>
      <p:bldP spid="36" grpId="0"/>
      <p:bldP spid="37" grpId="0"/>
      <p:bldP spid="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顺序表的插入</a:t>
            </a:r>
          </a:p>
        </p:txBody>
      </p:sp>
      <p:sp>
        <p:nvSpPr>
          <p:cNvPr id="3" name="内容占位符 2"/>
          <p:cNvSpPr>
            <a:spLocks noGrp="1"/>
          </p:cNvSpPr>
          <p:nvPr>
            <p:ph idx="1"/>
          </p:nvPr>
        </p:nvSpPr>
        <p:spPr/>
        <p:txBody>
          <a:bodyPr/>
          <a:lstStyle/>
          <a:p>
            <a:r>
              <a:rPr lang="zh-CN" altLang="en-US" dirty="0"/>
              <a:t>算法步骤</a:t>
            </a:r>
            <a:endParaRPr lang="en-US" altLang="zh-CN" dirty="0"/>
          </a:p>
          <a:p>
            <a:pPr marL="971550" lvl="1" indent="-514350">
              <a:buFont typeface="+mj-lt"/>
              <a:buAutoNum type="arabicPeriod"/>
            </a:pPr>
            <a:r>
              <a:rPr lang="zh-CN" altLang="en-US" dirty="0"/>
              <a:t>判断插入位置</a:t>
            </a:r>
            <a:r>
              <a:rPr lang="en-US" altLang="zh-CN" dirty="0" err="1"/>
              <a:t>i</a:t>
            </a:r>
            <a:r>
              <a:rPr lang="en-US" altLang="zh-CN" dirty="0"/>
              <a:t> </a:t>
            </a:r>
            <a:r>
              <a:rPr lang="zh-CN" altLang="en-US" dirty="0"/>
              <a:t>是否合法</a:t>
            </a:r>
          </a:p>
          <a:p>
            <a:pPr marL="971550" lvl="1" indent="-514350">
              <a:buFont typeface="+mj-lt"/>
              <a:buAutoNum type="arabicPeriod"/>
            </a:pPr>
            <a:r>
              <a:rPr lang="zh-CN" altLang="en-US" dirty="0"/>
              <a:t>判断顺序表的存储空间是否已满。     </a:t>
            </a:r>
          </a:p>
          <a:p>
            <a:pPr marL="971550" lvl="1" indent="-514350" hangingPunct="1">
              <a:buFont typeface="+mj-lt"/>
              <a:buAutoNum type="arabicPeriod"/>
            </a:pPr>
            <a:r>
              <a:rPr lang="zh-CN" altLang="en-US" dirty="0"/>
              <a:t>将第</a:t>
            </a:r>
            <a:r>
              <a:rPr lang="en-US" altLang="zh-CN" dirty="0"/>
              <a:t>n</a:t>
            </a:r>
            <a:r>
              <a:rPr lang="zh-CN" altLang="en-US" dirty="0"/>
              <a:t>至第</a:t>
            </a:r>
            <a:r>
              <a:rPr lang="en-US" altLang="zh-CN" dirty="0" err="1"/>
              <a:t>i</a:t>
            </a:r>
            <a:r>
              <a:rPr lang="en-US" altLang="zh-CN" dirty="0"/>
              <a:t> </a:t>
            </a:r>
            <a:r>
              <a:rPr lang="zh-CN" altLang="en-US" dirty="0"/>
              <a:t>位的元素依次向后移动一个位置，空出第</a:t>
            </a:r>
            <a:r>
              <a:rPr lang="en-US" altLang="zh-CN" dirty="0" err="1"/>
              <a:t>i</a:t>
            </a:r>
            <a:r>
              <a:rPr lang="zh-CN" altLang="en-US" dirty="0"/>
              <a:t>个位置</a:t>
            </a:r>
          </a:p>
          <a:p>
            <a:pPr marL="971550" lvl="1" indent="-514350">
              <a:buFont typeface="+mj-lt"/>
              <a:buAutoNum type="arabicPeriod"/>
            </a:pPr>
            <a:r>
              <a:rPr lang="zh-CN" altLang="en-US" dirty="0"/>
              <a:t>将要插入的新元素</a:t>
            </a:r>
            <a:r>
              <a:rPr lang="en-US" altLang="zh-CN" dirty="0"/>
              <a:t>e</a:t>
            </a:r>
            <a:r>
              <a:rPr lang="zh-CN" altLang="en-US" dirty="0"/>
              <a:t>放入第</a:t>
            </a:r>
            <a:r>
              <a:rPr lang="en-US" altLang="zh-CN" dirty="0" err="1"/>
              <a:t>i</a:t>
            </a:r>
            <a:r>
              <a:rPr lang="zh-CN" altLang="en-US" dirty="0"/>
              <a:t>个位置</a:t>
            </a:r>
          </a:p>
          <a:p>
            <a:pPr marL="971550" lvl="1" indent="-514350">
              <a:buFont typeface="+mj-lt"/>
              <a:buAutoNum type="arabicPeriod"/>
            </a:pPr>
            <a:r>
              <a:rPr lang="zh-CN" altLang="en-US" dirty="0"/>
              <a:t>表长加</a:t>
            </a:r>
            <a:r>
              <a:rPr lang="en-US" altLang="zh-CN" dirty="0"/>
              <a:t>1</a:t>
            </a:r>
            <a:r>
              <a:rPr lang="zh-CN" altLang="en-US" dirty="0"/>
              <a:t>，插入成功返回</a:t>
            </a:r>
            <a:r>
              <a:rPr lang="en-US" altLang="zh-CN" dirty="0"/>
              <a:t>OK</a:t>
            </a:r>
            <a:endParaRPr lang="zh-CN" altLang="en-US" dirty="0"/>
          </a:p>
          <a:p>
            <a:endParaRPr lang="zh-CN" altLang="en-US" dirty="0"/>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顺序表的插入</a:t>
            </a:r>
          </a:p>
        </p:txBody>
      </p:sp>
      <p:sp>
        <p:nvSpPr>
          <p:cNvPr id="5" name="Text Box 3"/>
          <p:cNvSpPr txBox="1"/>
          <p:nvPr/>
        </p:nvSpPr>
        <p:spPr>
          <a:xfrm>
            <a:off x="2411758" y="5949281"/>
            <a:ext cx="2840352" cy="46196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隶书" panose="02010509060101010101" pitchFamily="49" charset="-122"/>
                <a:ea typeface="隶书" panose="02010509060101010101" pitchFamily="49" charset="-122"/>
              </a:rPr>
              <a:t>算法时间复杂度为</a:t>
            </a:r>
            <a:r>
              <a:rPr lang="en-US" altLang="zh-CN" sz="2400" b="1" dirty="0">
                <a:latin typeface="隶书" panose="02010509060101010101" pitchFamily="49" charset="-122"/>
                <a:ea typeface="隶书" panose="02010509060101010101" pitchFamily="49" charset="-122"/>
              </a:rPr>
              <a:t>:</a:t>
            </a:r>
            <a:endParaRPr lang="en-US" altLang="zh-CN" sz="2400" b="1" dirty="0">
              <a:ea typeface="宋体" panose="02010600030101010101" pitchFamily="2" charset="-122"/>
            </a:endParaRPr>
          </a:p>
        </p:txBody>
      </p:sp>
      <p:sp>
        <p:nvSpPr>
          <p:cNvPr id="9" name="Text Box 2"/>
          <p:cNvSpPr txBox="1"/>
          <p:nvPr/>
        </p:nvSpPr>
        <p:spPr>
          <a:xfrm>
            <a:off x="683568" y="1231241"/>
            <a:ext cx="7993063" cy="49650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在线性表</a:t>
            </a:r>
            <a:r>
              <a:rPr lang="en-US" altLang="zh-CN" sz="2400" dirty="0">
                <a:latin typeface="Cambria Math" panose="02040503050406030204" pitchFamily="18" charset="0"/>
                <a:ea typeface="Cambria Math" panose="02040503050406030204" pitchFamily="18" charset="0"/>
                <a:cs typeface="Arial Unicode MS" panose="020B0604020202020204" charset="-122"/>
              </a:rPr>
              <a:t>L</a:t>
            </a:r>
            <a:r>
              <a:rPr lang="zh-CN" altLang="en-US" sz="2400" dirty="0">
                <a:latin typeface="Cambria Math" panose="02040503050406030204" pitchFamily="18" charset="0"/>
                <a:ea typeface="Cambria Math" panose="02040503050406030204" pitchFamily="18" charset="0"/>
                <a:cs typeface="Arial Unicode MS" panose="020B0604020202020204" charset="-122"/>
              </a:rPr>
              <a:t>中第</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个数据元素之前插入数据元素</a:t>
            </a:r>
            <a:r>
              <a:rPr lang="en-US" altLang="zh-CN" sz="2400" dirty="0">
                <a:latin typeface="Cambria Math" panose="02040503050406030204" pitchFamily="18" charset="0"/>
                <a:ea typeface="Cambria Math" panose="02040503050406030204" pitchFamily="18" charset="0"/>
                <a:cs typeface="Arial Unicode MS" panose="020B0604020202020204" charset="-122"/>
              </a:rPr>
              <a:t>e</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Status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ListInsert</a:t>
            </a:r>
            <a:r>
              <a:rPr lang="en-US" altLang="zh-CN" sz="2400" b="1" dirty="0" err="1">
                <a:latin typeface="Cambria Math" panose="02040503050406030204" pitchFamily="18" charset="0"/>
                <a:ea typeface="Cambria Math" panose="02040503050406030204" pitchFamily="18" charset="0"/>
                <a:cs typeface="Arial Unicode MS" panose="020B0604020202020204" charset="-122"/>
                <a:sym typeface="+mn-ea"/>
              </a:rPr>
              <a:t>_S</a:t>
            </a: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SqList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&amp;L,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e){    </a:t>
            </a:r>
          </a:p>
          <a:p>
            <a:pPr marL="0" lvl="0" indent="0">
              <a:lnSpc>
                <a:spcPct val="120000"/>
              </a:lnSpc>
              <a:spcBef>
                <a:spcPct val="0"/>
              </a:spcBef>
              <a:buClrTx/>
              <a:buNone/>
            </a:pPr>
            <a:endParaRPr lang="en-US" altLang="zh-CN" sz="2400" b="1"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10" name="Rectangle 5"/>
          <p:cNvSpPr/>
          <p:nvPr/>
        </p:nvSpPr>
        <p:spPr>
          <a:xfrm>
            <a:off x="1547664" y="2132856"/>
            <a:ext cx="6985149"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if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&lt;1||</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&gt;L.length+1) return ERROR;</a:t>
            </a:r>
          </a:p>
        </p:txBody>
      </p:sp>
      <p:sp>
        <p:nvSpPr>
          <p:cNvPr id="11" name="Rectangle 6"/>
          <p:cNvSpPr/>
          <p:nvPr/>
        </p:nvSpPr>
        <p:spPr>
          <a:xfrm>
            <a:off x="1547664" y="2996952"/>
            <a:ext cx="5275227" cy="14219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zh-CN" altLang="en-US" sz="2400" dirty="0">
                <a:latin typeface="Cambria Math" panose="02040503050406030204" pitchFamily="18" charset="0"/>
                <a:ea typeface="Cambria Math" panose="02040503050406030204" pitchFamily="18" charset="0"/>
                <a:cs typeface="Arial Unicode MS" panose="020B0604020202020204" charset="-122"/>
              </a:rPr>
              <a:t>使</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与数组下标一致</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for(j=L.length-1; j&gt;=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 j--) //</a:t>
            </a:r>
            <a:r>
              <a:rPr lang="zh-CN" altLang="en-US" sz="2400" dirty="0">
                <a:latin typeface="Cambria Math" panose="02040503050406030204" pitchFamily="18" charset="0"/>
                <a:ea typeface="Cambria Math" panose="02040503050406030204" pitchFamily="18" charset="0"/>
                <a:cs typeface="Arial Unicode MS" panose="020B0604020202020204" charset="-122"/>
              </a:rPr>
              <a:t>元素后移</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[j+1]=</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[j];   </a:t>
            </a:r>
          </a:p>
        </p:txBody>
      </p:sp>
      <p:sp>
        <p:nvSpPr>
          <p:cNvPr id="12" name="Rectangle 5"/>
          <p:cNvSpPr/>
          <p:nvPr/>
        </p:nvSpPr>
        <p:spPr>
          <a:xfrm>
            <a:off x="1547664" y="2564904"/>
            <a:ext cx="6985149"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if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&gt;=MAXSIZE) return ERROR;</a:t>
            </a:r>
          </a:p>
        </p:txBody>
      </p:sp>
      <p:sp>
        <p:nvSpPr>
          <p:cNvPr id="13" name="Rectangle 6"/>
          <p:cNvSpPr/>
          <p:nvPr/>
        </p:nvSpPr>
        <p:spPr>
          <a:xfrm>
            <a:off x="1547664" y="5310577"/>
            <a:ext cx="1558760" cy="494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return</a:t>
            </a:r>
            <a:r>
              <a:rPr lang="en-US" altLang="zh-CN" sz="2400" dirty="0">
                <a:latin typeface="Cambria Math" panose="02040503050406030204" pitchFamily="18" charset="0"/>
                <a:ea typeface="Cambria Math" panose="02040503050406030204" pitchFamily="18" charset="0"/>
                <a:cs typeface="Arial Unicode MS" panose="020B0604020202020204" charset="-122"/>
              </a:rPr>
              <a:t> OK;</a:t>
            </a:r>
          </a:p>
        </p:txBody>
      </p:sp>
      <p:sp>
        <p:nvSpPr>
          <p:cNvPr id="14" name="Rectangle 6"/>
          <p:cNvSpPr/>
          <p:nvPr/>
        </p:nvSpPr>
        <p:spPr>
          <a:xfrm>
            <a:off x="1547663" y="4377743"/>
            <a:ext cx="4089581" cy="5355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 = e;		// </a:t>
            </a:r>
            <a:r>
              <a:rPr lang="zh-CN" altLang="en-US" sz="2400" dirty="0">
                <a:latin typeface="Cambria Math" panose="02040503050406030204" pitchFamily="18" charset="0"/>
                <a:ea typeface="Cambria Math" panose="02040503050406030204" pitchFamily="18" charset="0"/>
                <a:cs typeface="Arial Unicode MS" panose="020B0604020202020204" charset="-122"/>
              </a:rPr>
              <a:t>插入</a:t>
            </a:r>
            <a:r>
              <a:rPr lang="en-US" altLang="zh-CN" sz="2400" dirty="0">
                <a:latin typeface="Cambria Math" panose="02040503050406030204" pitchFamily="18" charset="0"/>
                <a:ea typeface="Cambria Math" panose="02040503050406030204" pitchFamily="18" charset="0"/>
                <a:cs typeface="Arial Unicode MS" panose="020B0604020202020204" charset="-122"/>
              </a:rPr>
              <a:t>e</a:t>
            </a:r>
          </a:p>
        </p:txBody>
      </p:sp>
      <p:sp>
        <p:nvSpPr>
          <p:cNvPr id="15" name="Rectangle 6"/>
          <p:cNvSpPr/>
          <p:nvPr/>
        </p:nvSpPr>
        <p:spPr>
          <a:xfrm>
            <a:off x="1155867" y="4839181"/>
            <a:ext cx="5438775" cy="5340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400050" lvl="1"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	</a:t>
            </a:r>
            <a:r>
              <a:rPr lang="en-US" altLang="zh-CN" sz="2000" dirty="0">
                <a:latin typeface="Cambria Math" panose="02040503050406030204" pitchFamily="18" charset="0"/>
                <a:ea typeface="Cambria Math" panose="02040503050406030204" pitchFamily="18" charset="0"/>
                <a:cs typeface="Arial Unicode MS" panose="020B0604020202020204" charset="-122"/>
              </a:rPr>
              <a:t>	       // </a:t>
            </a:r>
            <a:r>
              <a:rPr lang="zh-CN" altLang="en-US" sz="2000" dirty="0">
                <a:latin typeface="Cambria Math" panose="02040503050406030204" pitchFamily="18" charset="0"/>
                <a:ea typeface="Cambria Math" panose="02040503050406030204" pitchFamily="18" charset="0"/>
                <a:cs typeface="Arial Unicode MS" panose="020B0604020202020204" charset="-122"/>
              </a:rPr>
              <a:t>表长增</a:t>
            </a:r>
            <a:r>
              <a:rPr lang="en-US" altLang="zh-CN" sz="2000" dirty="0">
                <a:latin typeface="Cambria Math" panose="02040503050406030204" pitchFamily="18" charset="0"/>
                <a:ea typeface="Cambria Math" panose="02040503050406030204" pitchFamily="18" charset="0"/>
                <a:cs typeface="Arial Unicode MS" panose="020B0604020202020204" charset="-122"/>
              </a:rPr>
              <a:t>1</a:t>
            </a:r>
          </a:p>
        </p:txBody>
      </p:sp>
      <p:sp>
        <p:nvSpPr>
          <p:cNvPr id="16" name="Text Box 3"/>
          <p:cNvSpPr txBox="1"/>
          <p:nvPr/>
        </p:nvSpPr>
        <p:spPr>
          <a:xfrm>
            <a:off x="5252110" y="5949280"/>
            <a:ext cx="1120090" cy="46196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O(n)</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2" grpId="0"/>
      <p:bldP spid="13" grpId="0"/>
      <p:bldP spid="14" grpId="0"/>
      <p:bldP spid="15" grpId="0"/>
      <p:bldP spid="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顺序表的删除</a:t>
            </a:r>
          </a:p>
        </p:txBody>
      </p:sp>
      <p:sp>
        <p:nvSpPr>
          <p:cNvPr id="35" name="Text Box 52"/>
          <p:cNvSpPr txBox="1"/>
          <p:nvPr/>
        </p:nvSpPr>
        <p:spPr>
          <a:xfrm>
            <a:off x="827584" y="1124744"/>
            <a:ext cx="3558988" cy="70788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25000"/>
              </a:lnSpc>
              <a:spcBef>
                <a:spcPct val="0"/>
              </a:spcBef>
              <a:buClrTx/>
              <a:buNone/>
            </a:pPr>
            <a:r>
              <a:rPr lang="zh-CN" altLang="en-US" dirty="0">
                <a:ea typeface="宋体" panose="02010600030101010101" pitchFamily="2" charset="-122"/>
              </a:rPr>
              <a:t>删除表中第</a:t>
            </a:r>
            <a:r>
              <a:rPr lang="en-US" altLang="zh-CN" dirty="0" err="1">
                <a:ea typeface="宋体" panose="02010600030101010101" pitchFamily="2" charset="-122"/>
              </a:rPr>
              <a:t>i</a:t>
            </a:r>
            <a:r>
              <a:rPr lang="zh-CN" altLang="en-US" dirty="0">
                <a:ea typeface="宋体" panose="02010600030101010101" pitchFamily="2" charset="-122"/>
              </a:rPr>
              <a:t>个元素</a:t>
            </a:r>
          </a:p>
        </p:txBody>
      </p:sp>
      <p:sp>
        <p:nvSpPr>
          <p:cNvPr id="65" name="Text Box 52"/>
          <p:cNvSpPr txBox="1"/>
          <p:nvPr/>
        </p:nvSpPr>
        <p:spPr>
          <a:xfrm>
            <a:off x="1350977" y="5157192"/>
            <a:ext cx="1980029" cy="574196"/>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25000"/>
              </a:lnSpc>
              <a:spcBef>
                <a:spcPct val="0"/>
              </a:spcBef>
              <a:buClrTx/>
              <a:buNone/>
            </a:pPr>
            <a:r>
              <a:rPr lang="zh-CN" altLang="en-US" sz="2800" dirty="0">
                <a:solidFill>
                  <a:srgbClr val="FF0000"/>
                </a:solidFill>
                <a:ea typeface="宋体" panose="02010600030101010101" pitchFamily="2" charset="-122"/>
              </a:rPr>
              <a:t>怎样实现？</a:t>
            </a:r>
          </a:p>
        </p:txBody>
      </p:sp>
      <p:sp>
        <p:nvSpPr>
          <p:cNvPr id="66" name="Text Box 8"/>
          <p:cNvSpPr txBox="1"/>
          <p:nvPr/>
        </p:nvSpPr>
        <p:spPr>
          <a:xfrm>
            <a:off x="1187624" y="1868810"/>
            <a:ext cx="32321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楷体_GB2312" pitchFamily="49" charset="-122"/>
                <a:ea typeface="楷体_GB2312" pitchFamily="49" charset="-122"/>
              </a:rPr>
              <a:t>删除前：</a:t>
            </a:r>
          </a:p>
          <a:p>
            <a:pPr marL="0" lvl="0" indent="0">
              <a:spcBef>
                <a:spcPct val="0"/>
              </a:spcBef>
              <a:buClrTx/>
              <a:buNone/>
            </a:pPr>
            <a:endParaRPr lang="zh-CN" altLang="en-US" sz="2400" b="1" dirty="0">
              <a:latin typeface="楷体_GB2312" pitchFamily="49" charset="-122"/>
              <a:ea typeface="楷体_GB2312" pitchFamily="49" charset="-122"/>
            </a:endParaRPr>
          </a:p>
          <a:p>
            <a:pPr marL="0" lvl="0" indent="0">
              <a:spcBef>
                <a:spcPct val="0"/>
              </a:spcBef>
              <a:buClrTx/>
              <a:buNone/>
            </a:pPr>
            <a:r>
              <a:rPr lang="zh-CN" altLang="en-US" sz="2400" b="1" dirty="0">
                <a:latin typeface="楷体_GB2312" pitchFamily="49" charset="-122"/>
                <a:ea typeface="楷体_GB2312" pitchFamily="49" charset="-122"/>
              </a:rPr>
              <a:t>删除后：</a:t>
            </a:r>
          </a:p>
        </p:txBody>
      </p:sp>
      <p:sp>
        <p:nvSpPr>
          <p:cNvPr id="67" name="Text Box 9"/>
          <p:cNvSpPr txBox="1"/>
          <p:nvPr/>
        </p:nvSpPr>
        <p:spPr>
          <a:xfrm>
            <a:off x="2542779" y="1892623"/>
            <a:ext cx="5085046"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t>
            </a:r>
            <a:r>
              <a:rPr lang="en-US" altLang="zh-CN" sz="2400" dirty="0" err="1"/>
              <a:t>a</a:t>
            </a:r>
            <a:r>
              <a:rPr lang="en-US" altLang="zh-CN" sz="2400" baseline="-25000" dirty="0" err="1"/>
              <a:t>i</a:t>
            </a:r>
            <a:r>
              <a:rPr lang="en-US" altLang="zh-CN" sz="2400" dirty="0"/>
              <a:t>, a</a:t>
            </a:r>
            <a:r>
              <a:rPr lang="en-US" altLang="zh-CN" sz="2400" baseline="-25000" dirty="0"/>
              <a:t>i+1</a:t>
            </a:r>
            <a:r>
              <a:rPr lang="en-US" altLang="zh-CN" sz="2400" dirty="0"/>
              <a:t>, ..., a</a:t>
            </a:r>
            <a:r>
              <a:rPr lang="en-US" altLang="zh-CN" sz="2400" baseline="-25000" dirty="0"/>
              <a:t>n-1</a:t>
            </a:r>
            <a:r>
              <a:rPr lang="en-US" altLang="zh-CN" sz="2400" dirty="0"/>
              <a:t>, a</a:t>
            </a:r>
            <a:r>
              <a:rPr lang="en-US" altLang="zh-CN" sz="2400" baseline="-25000" dirty="0"/>
              <a:t>n</a:t>
            </a:r>
            <a:r>
              <a:rPr lang="en-US" altLang="zh-CN" sz="2400" dirty="0"/>
              <a:t>)</a:t>
            </a:r>
          </a:p>
        </p:txBody>
      </p:sp>
      <p:sp>
        <p:nvSpPr>
          <p:cNvPr id="68" name="Text Box 10"/>
          <p:cNvSpPr txBox="1"/>
          <p:nvPr/>
        </p:nvSpPr>
        <p:spPr>
          <a:xfrm>
            <a:off x="2555479" y="2578423"/>
            <a:ext cx="4613764" cy="4616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spcBef>
                <a:spcPct val="0"/>
              </a:spcBef>
              <a:buClrTx/>
              <a:buNone/>
            </a:pPr>
            <a:r>
              <a:rPr lang="en-US" altLang="zh-CN" sz="2400" dirty="0"/>
              <a:t>L=( a</a:t>
            </a:r>
            <a:r>
              <a:rPr lang="en-US" altLang="zh-CN" sz="2400" baseline="-25000" dirty="0"/>
              <a:t>1</a:t>
            </a:r>
            <a:r>
              <a:rPr lang="en-US" altLang="zh-CN" sz="2400" dirty="0"/>
              <a:t>, a</a:t>
            </a:r>
            <a:r>
              <a:rPr lang="en-US" altLang="zh-CN" sz="2400" baseline="-25000" dirty="0"/>
              <a:t>2</a:t>
            </a:r>
            <a:r>
              <a:rPr lang="en-US" altLang="zh-CN" sz="2400" dirty="0"/>
              <a:t>,..., a</a:t>
            </a:r>
            <a:r>
              <a:rPr lang="en-US" altLang="zh-CN" sz="2400" baseline="-25000" dirty="0"/>
              <a:t>i-1</a:t>
            </a:r>
            <a:r>
              <a:rPr lang="en-US" altLang="zh-CN" sz="2400" dirty="0"/>
              <a:t>, a</a:t>
            </a:r>
            <a:r>
              <a:rPr lang="en-US" altLang="zh-CN" sz="2400" baseline="-25000" dirty="0"/>
              <a:t>i+1</a:t>
            </a:r>
            <a:r>
              <a:rPr lang="en-US" altLang="zh-CN" sz="2400" dirty="0"/>
              <a:t>, ..., a</a:t>
            </a:r>
            <a:r>
              <a:rPr lang="en-US" altLang="zh-CN" sz="2400" baseline="-25000" dirty="0"/>
              <a:t>n-1</a:t>
            </a:r>
            <a:r>
              <a:rPr lang="en-US" altLang="zh-CN" sz="2400" dirty="0"/>
              <a:t>, a</a:t>
            </a:r>
            <a:r>
              <a:rPr lang="en-US" altLang="zh-CN" sz="2400" baseline="-25000" dirty="0"/>
              <a:t>n</a:t>
            </a:r>
            <a:r>
              <a:rPr lang="en-US" altLang="zh-CN" sz="2400" dirty="0"/>
              <a:t>)</a:t>
            </a:r>
          </a:p>
        </p:txBody>
      </p:sp>
      <p:graphicFrame>
        <p:nvGraphicFramePr>
          <p:cNvPr id="69" name="表格 68"/>
          <p:cNvGraphicFramePr>
            <a:graphicFrameLocks noGrp="1"/>
          </p:cNvGraphicFramePr>
          <p:nvPr>
            <p:extLst>
              <p:ext uri="{D42A27DB-BD31-4B8C-83A1-F6EECF244321}">
                <p14:modId xmlns:p14="http://schemas.microsoft.com/office/powerpoint/2010/main" val="980869972"/>
              </p:ext>
            </p:extLst>
          </p:nvPr>
        </p:nvGraphicFramePr>
        <p:xfrm>
          <a:off x="1317958" y="3838126"/>
          <a:ext cx="6096000" cy="39624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139040">
                <a:tc>
                  <a:txBody>
                    <a:bodyPr/>
                    <a:lstStyle/>
                    <a:p>
                      <a:pPr algn="ctr"/>
                      <a:r>
                        <a:rPr lang="en-US" altLang="zh-CN" sz="2000" dirty="0"/>
                        <a:t>a</a:t>
                      </a:r>
                      <a:r>
                        <a:rPr lang="en-US" altLang="zh-CN" sz="2000" baseline="-25000" dirty="0"/>
                        <a:t>1</a:t>
                      </a:r>
                      <a:endParaRPr lang="zh-CN" alt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2</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4C34FE"/>
                          </a:solidFill>
                        </a:rPr>
                        <a:t>a</a:t>
                      </a:r>
                      <a:r>
                        <a:rPr lang="en-US" altLang="zh-CN" sz="2000" baseline="-25000" dirty="0">
                          <a:solidFill>
                            <a:srgbClr val="4C34FE"/>
                          </a:solidFill>
                        </a:rPr>
                        <a:t>i-1</a:t>
                      </a:r>
                      <a:endParaRPr lang="zh-CN" altLang="en-US" sz="2000" baseline="-25000" dirty="0">
                        <a:solidFill>
                          <a:srgbClr val="4C34FE"/>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err="1">
                          <a:solidFill>
                            <a:srgbClr val="FF0000"/>
                          </a:solidFill>
                        </a:rPr>
                        <a:t>ai</a:t>
                      </a:r>
                      <a:endParaRPr lang="zh-CN" altLang="en-US" sz="2000" baseline="-250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008000"/>
                          </a:solidFill>
                        </a:rPr>
                        <a:t>a</a:t>
                      </a:r>
                      <a:r>
                        <a:rPr lang="en-US" altLang="zh-CN" sz="2000" baseline="-25000" dirty="0">
                          <a:solidFill>
                            <a:srgbClr val="008000"/>
                          </a:solidFill>
                        </a:rPr>
                        <a:t>i+1</a:t>
                      </a:r>
                      <a:endParaRPr lang="zh-CN" altLang="en-US" sz="2000" baseline="-25000" dirty="0">
                        <a:solidFill>
                          <a:srgbClr val="008000"/>
                        </a:solidFill>
                      </a:endParaRPr>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n-1</a:t>
                      </a:r>
                      <a:endParaRPr lang="zh-CN" alt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n</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70" name="表格 69"/>
          <p:cNvGraphicFramePr>
            <a:graphicFrameLocks noGrp="1"/>
          </p:cNvGraphicFramePr>
          <p:nvPr>
            <p:extLst>
              <p:ext uri="{D42A27DB-BD31-4B8C-83A1-F6EECF244321}">
                <p14:modId xmlns:p14="http://schemas.microsoft.com/office/powerpoint/2010/main" val="1282770928"/>
              </p:ext>
            </p:extLst>
          </p:nvPr>
        </p:nvGraphicFramePr>
        <p:xfrm>
          <a:off x="1284312" y="4431392"/>
          <a:ext cx="6096000" cy="39624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139040">
                <a:tc>
                  <a:txBody>
                    <a:bodyPr/>
                    <a:lstStyle/>
                    <a:p>
                      <a:pPr algn="ctr"/>
                      <a:r>
                        <a:rPr lang="en-US" altLang="zh-CN" sz="2000" dirty="0"/>
                        <a:t>a</a:t>
                      </a:r>
                      <a:r>
                        <a:rPr lang="en-US" altLang="zh-CN" sz="2000" baseline="-25000" dirty="0"/>
                        <a:t>1</a:t>
                      </a:r>
                      <a:endParaRPr lang="zh-CN" alt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2</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4C34FE"/>
                          </a:solidFill>
                        </a:rPr>
                        <a:t>a</a:t>
                      </a:r>
                      <a:r>
                        <a:rPr lang="en-US" altLang="zh-CN" sz="2000" baseline="-25000" dirty="0">
                          <a:solidFill>
                            <a:srgbClr val="4C34FE"/>
                          </a:solidFill>
                        </a:rPr>
                        <a:t>i-1</a:t>
                      </a:r>
                      <a:endParaRPr lang="zh-CN" altLang="en-US" sz="2000" baseline="-25000" dirty="0">
                        <a:solidFill>
                          <a:srgbClr val="4C34FE"/>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rgbClr val="008000"/>
                          </a:solidFill>
                        </a:rPr>
                        <a:t>a</a:t>
                      </a:r>
                      <a:r>
                        <a:rPr lang="en-US" altLang="zh-CN" sz="2000" baseline="-25000" dirty="0">
                          <a:solidFill>
                            <a:srgbClr val="008000"/>
                          </a:solidFill>
                        </a:rPr>
                        <a:t>i+1</a:t>
                      </a:r>
                      <a:endParaRPr lang="zh-CN" altLang="en-US" sz="2000" baseline="-25000" dirty="0">
                        <a:solidFill>
                          <a:srgbClr val="008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t>
                      </a:r>
                      <a:endParaRPr lang="zh-CN" altLang="en-US" sz="2000" b="0" i="0" u="none" kern="1200" baseline="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i+1</a:t>
                      </a:r>
                      <a:endParaRPr lang="zh-CN" alt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r>
                        <a:rPr lang="en-US" altLang="zh-CN" sz="2000" baseline="-25000" dirty="0"/>
                        <a:t>n</a:t>
                      </a:r>
                      <a:endParaRPr lang="zh-CN" altLang="en-US" sz="2000" baseline="-25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a:t>
                      </a:r>
                      <a:endParaRPr lang="zh-CN" altLang="en-US" sz="2000" baseline="-25000" dirty="0"/>
                    </a:p>
                  </a:txBody>
                  <a:tcPr/>
                </a:tc>
                <a:tc>
                  <a:txBody>
                    <a:bodyPr/>
                    <a:lstStyle/>
                    <a:p>
                      <a:pPr algn="ctr"/>
                      <a:r>
                        <a:rPr lang="en-US" altLang="zh-CN" sz="2000" dirty="0"/>
                        <a:t>…</a:t>
                      </a:r>
                      <a:endParaRPr lang="zh-CN" altLang="en-US" sz="2000" b="0" i="0" u="none" kern="1200" baseline="0" dirty="0">
                        <a:solidFill>
                          <a:schemeClr val="tx1"/>
                        </a:solidFill>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71" name="表格 70"/>
          <p:cNvGraphicFramePr>
            <a:graphicFrameLocks noGrp="1"/>
          </p:cNvGraphicFramePr>
          <p:nvPr>
            <p:extLst>
              <p:ext uri="{D42A27DB-BD31-4B8C-83A1-F6EECF244321}">
                <p14:modId xmlns:p14="http://schemas.microsoft.com/office/powerpoint/2010/main" val="627488952"/>
              </p:ext>
            </p:extLst>
          </p:nvPr>
        </p:nvGraphicFramePr>
        <p:xfrm>
          <a:off x="1331640" y="3429000"/>
          <a:ext cx="6096000" cy="27432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139040">
                <a:tc>
                  <a:txBody>
                    <a:bodyPr/>
                    <a:lstStyle/>
                    <a:p>
                      <a:pPr marL="0" algn="l" defTabSz="914400" rtl="0" eaLnBrk="1" latinLnBrk="0" hangingPunct="1"/>
                      <a:r>
                        <a:rPr lang="en-US" altLang="zh-CN" sz="1200" b="0" i="0" u="none" kern="1200" baseline="0" dirty="0">
                          <a:solidFill>
                            <a:schemeClr val="tx1"/>
                          </a:solidFill>
                          <a:latin typeface="+mn-lt"/>
                          <a:ea typeface="+mn-ea"/>
                          <a:cs typeface="+mn-cs"/>
                        </a:rPr>
                        <a:t>p</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l" defTabSz="914400" rtl="0" eaLnBrk="1" latinLnBrk="0" hangingPunct="1"/>
                      <a:r>
                        <a:rPr lang="en-US" altLang="zh-CN" sz="1200" b="0" i="0" u="none" kern="1200" baseline="0" dirty="0">
                          <a:solidFill>
                            <a:schemeClr val="tx1"/>
                          </a:solidFill>
                          <a:latin typeface="+mn-lt"/>
                          <a:ea typeface="+mn-ea"/>
                          <a:cs typeface="+mn-cs"/>
                        </a:rPr>
                        <a:t>p+1</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l" defTabSz="914400" rtl="0" eaLnBrk="1" latinLnBrk="0" hangingPunct="1"/>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a:solidFill>
                            <a:schemeClr val="tx1"/>
                          </a:solidFill>
                          <a:latin typeface="+mn-lt"/>
                          <a:ea typeface="+mn-ea"/>
                          <a:cs typeface="+mn-cs"/>
                        </a:rPr>
                        <a:t>p+i-2</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a:solidFill>
                            <a:schemeClr val="tx1"/>
                          </a:solidFill>
                          <a:latin typeface="+mn-lt"/>
                          <a:ea typeface="+mn-ea"/>
                          <a:cs typeface="+mn-cs"/>
                        </a:rPr>
                        <a:t>p+i-1</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err="1">
                          <a:solidFill>
                            <a:schemeClr val="tx1"/>
                          </a:solidFill>
                          <a:latin typeface="+mn-lt"/>
                          <a:ea typeface="+mn-ea"/>
                          <a:cs typeface="+mn-cs"/>
                        </a:rPr>
                        <a:t>p+i</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a:solidFill>
                            <a:schemeClr val="tx1"/>
                          </a:solidFill>
                          <a:latin typeface="+mn-lt"/>
                          <a:ea typeface="+mn-ea"/>
                          <a:cs typeface="+mn-cs"/>
                        </a:rPr>
                        <a:t>p+n-2</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sz="1200" b="0" i="0" u="none" kern="1200" baseline="0" dirty="0">
                          <a:solidFill>
                            <a:schemeClr val="tx1"/>
                          </a:solidFill>
                          <a:latin typeface="+mn-lt"/>
                          <a:ea typeface="+mn-ea"/>
                          <a:cs typeface="+mn-cs"/>
                        </a:rPr>
                        <a:t>p+n-1</a:t>
                      </a:r>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zh-CN" altLang="en-US" sz="1200" b="0" i="0" u="none" kern="1200" baseline="0" dirty="0">
                        <a:solidFill>
                          <a:schemeClr val="tx1"/>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pSp>
        <p:nvGrpSpPr>
          <p:cNvPr id="72" name="Group 49"/>
          <p:cNvGrpSpPr/>
          <p:nvPr/>
        </p:nvGrpSpPr>
        <p:grpSpPr>
          <a:xfrm>
            <a:off x="4139952" y="4941172"/>
            <a:ext cx="1774347" cy="549198"/>
            <a:chOff x="3521" y="3696"/>
            <a:chExt cx="1759" cy="432"/>
          </a:xfrm>
        </p:grpSpPr>
        <p:sp>
          <p:nvSpPr>
            <p:cNvPr id="73" name="Text Box 50"/>
            <p:cNvSpPr txBox="1"/>
            <p:nvPr/>
          </p:nvSpPr>
          <p:spPr>
            <a:xfrm>
              <a:off x="3521" y="3828"/>
              <a:ext cx="1454" cy="29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1800" dirty="0">
                  <a:ea typeface="隶书" panose="02010509060101010101" pitchFamily="49" charset="-122"/>
                </a:rPr>
                <a:t>表的长度减</a:t>
              </a:r>
              <a:r>
                <a:rPr lang="en-US" altLang="zh-CN" sz="1800" dirty="0">
                  <a:ea typeface="隶书" panose="02010509060101010101" pitchFamily="49" charset="-122"/>
                </a:rPr>
                <a:t>1</a:t>
              </a:r>
              <a:endParaRPr lang="zh-CN" altLang="en-US" sz="1800" dirty="0">
                <a:ea typeface="宋体" panose="02010600030101010101" pitchFamily="2" charset="-122"/>
              </a:endParaRPr>
            </a:p>
          </p:txBody>
        </p:sp>
        <p:sp>
          <p:nvSpPr>
            <p:cNvPr id="74" name="AutoShape 51"/>
            <p:cNvSpPr/>
            <p:nvPr/>
          </p:nvSpPr>
          <p:spPr>
            <a:xfrm>
              <a:off x="5184" y="3696"/>
              <a:ext cx="96" cy="432"/>
            </a:xfrm>
            <a:prstGeom prst="upArrow">
              <a:avLst>
                <a:gd name="adj1" fmla="val 50000"/>
                <a:gd name="adj2" fmla="val 112500"/>
              </a:avLst>
            </a:prstGeom>
            <a:solidFill>
              <a:srgbClr val="9900FF"/>
            </a:solidFill>
            <a:ln w="9525" cap="flat" cmpd="sng">
              <a:solidFill>
                <a:schemeClr val="tx1"/>
              </a:solidFill>
              <a:prstDash val="solid"/>
              <a:miter/>
              <a:headEnd type="none" w="med" len="med"/>
              <a:tailEnd type="none" w="med" len="med"/>
            </a:ln>
          </p:spPr>
          <p:txBody>
            <a:bodyPr vert="eaVert"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gr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1"/>
                                        </p:tgtEl>
                                        <p:attrNameLst>
                                          <p:attrName>style.visibility</p:attrName>
                                        </p:attrNameLst>
                                      </p:cBhvr>
                                      <p:to>
                                        <p:strVal val="visible"/>
                                      </p:to>
                                    </p:set>
                                    <p:animEffect transition="in" filter="wipe(left)">
                                      <p:cBhvr>
                                        <p:cTn id="20" dur="500"/>
                                        <p:tgtEl>
                                          <p:spTgt spid="71"/>
                                        </p:tgtEl>
                                      </p:cBhvr>
                                    </p:animEffect>
                                  </p:childTnLst>
                                </p:cTn>
                              </p:par>
                              <p:par>
                                <p:cTn id="21" presetID="22" presetClass="entr" presetSubtype="8" fill="hold" nodeType="with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left)">
                                      <p:cBhvr>
                                        <p:cTn id="23" dur="500"/>
                                        <p:tgtEl>
                                          <p:spTgt spid="69"/>
                                        </p:tgtEl>
                                      </p:cBhvr>
                                    </p:animEffect>
                                  </p:childTnLst>
                                </p:cTn>
                              </p:par>
                              <p:par>
                                <p:cTn id="24" presetID="22" presetClass="entr" presetSubtype="8" fill="hold" nodeType="withEffect">
                                  <p:stCondLst>
                                    <p:cond delay="0"/>
                                  </p:stCondLst>
                                  <p:childTnLst>
                                    <p:set>
                                      <p:cBhvr>
                                        <p:cTn id="25" dur="1" fill="hold">
                                          <p:stCondLst>
                                            <p:cond delay="0"/>
                                          </p:stCondLst>
                                        </p:cTn>
                                        <p:tgtEl>
                                          <p:spTgt spid="70"/>
                                        </p:tgtEl>
                                        <p:attrNameLst>
                                          <p:attrName>style.visibility</p:attrName>
                                        </p:attrNameLst>
                                      </p:cBhvr>
                                      <p:to>
                                        <p:strVal val="visible"/>
                                      </p:to>
                                    </p:set>
                                    <p:animEffect transition="in" filter="wipe(left)">
                                      <p:cBhvr>
                                        <p:cTn id="26" dur="500"/>
                                        <p:tgtEl>
                                          <p:spTgt spid="70"/>
                                        </p:tgtEl>
                                      </p:cBhvr>
                                    </p:animEffect>
                                  </p:childTnLst>
                                </p:cTn>
                              </p:par>
                              <p:par>
                                <p:cTn id="27" presetID="42" presetClass="entr" presetSubtype="0" fill="hold" nodeType="withEffect">
                                  <p:stCondLst>
                                    <p:cond delay="0"/>
                                  </p:stCondLst>
                                  <p:childTnLst>
                                    <p:set>
                                      <p:cBhvr>
                                        <p:cTn id="28" dur="1" fill="hold">
                                          <p:stCondLst>
                                            <p:cond delay="0"/>
                                          </p:stCondLst>
                                        </p:cTn>
                                        <p:tgtEl>
                                          <p:spTgt spid="72"/>
                                        </p:tgtEl>
                                        <p:attrNameLst>
                                          <p:attrName>style.visibility</p:attrName>
                                        </p:attrNameLst>
                                      </p:cBhvr>
                                      <p:to>
                                        <p:strVal val="visible"/>
                                      </p:to>
                                    </p:set>
                                    <p:animEffect transition="in" filter="fade">
                                      <p:cBhvr>
                                        <p:cTn id="29" dur="1000"/>
                                        <p:tgtEl>
                                          <p:spTgt spid="72"/>
                                        </p:tgtEl>
                                      </p:cBhvr>
                                    </p:animEffect>
                                    <p:anim calcmode="lin" valueType="num">
                                      <p:cBhvr>
                                        <p:cTn id="30" dur="1000" fill="hold"/>
                                        <p:tgtEl>
                                          <p:spTgt spid="72"/>
                                        </p:tgtEl>
                                        <p:attrNameLst>
                                          <p:attrName>ppt_x</p:attrName>
                                        </p:attrNameLst>
                                      </p:cBhvr>
                                      <p:tavLst>
                                        <p:tav tm="0">
                                          <p:val>
                                            <p:strVal val="#ppt_x"/>
                                          </p:val>
                                        </p:tav>
                                        <p:tav tm="100000">
                                          <p:val>
                                            <p:strVal val="#ppt_x"/>
                                          </p:val>
                                        </p:tav>
                                      </p:tavLst>
                                    </p:anim>
                                    <p:anim calcmode="lin" valueType="num">
                                      <p:cBhvr>
                                        <p:cTn id="31"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65"/>
                                        </p:tgtEl>
                                        <p:attrNameLst>
                                          <p:attrName>style.visibility</p:attrName>
                                        </p:attrNameLst>
                                      </p:cBhvr>
                                      <p:to>
                                        <p:strVal val="visible"/>
                                      </p:to>
                                    </p:set>
                                    <p:anim calcmode="lin" valueType="num">
                                      <p:cBhvr>
                                        <p:cTn id="36" dur="500" fill="hold"/>
                                        <p:tgtEl>
                                          <p:spTgt spid="65"/>
                                        </p:tgtEl>
                                        <p:attrNameLst>
                                          <p:attrName>ppt_w</p:attrName>
                                        </p:attrNameLst>
                                      </p:cBhvr>
                                      <p:tavLst>
                                        <p:tav tm="0">
                                          <p:val>
                                            <p:fltVal val="0"/>
                                          </p:val>
                                        </p:tav>
                                        <p:tav tm="100000">
                                          <p:val>
                                            <p:strVal val="#ppt_w"/>
                                          </p:val>
                                        </p:tav>
                                      </p:tavLst>
                                    </p:anim>
                                    <p:anim calcmode="lin" valueType="num">
                                      <p:cBhvr>
                                        <p:cTn id="37" dur="500" fill="hold"/>
                                        <p:tgtEl>
                                          <p:spTgt spid="65"/>
                                        </p:tgtEl>
                                        <p:attrNameLst>
                                          <p:attrName>ppt_h</p:attrName>
                                        </p:attrNameLst>
                                      </p:cBhvr>
                                      <p:tavLst>
                                        <p:tav tm="0">
                                          <p:val>
                                            <p:fltVal val="0"/>
                                          </p:val>
                                        </p:tav>
                                        <p:tav tm="100000">
                                          <p:val>
                                            <p:strVal val="#ppt_h"/>
                                          </p:val>
                                        </p:tav>
                                      </p:tavLst>
                                    </p:anim>
                                    <p:animEffect transition="in" filter="fade">
                                      <p:cBhvr>
                                        <p:cTn id="38"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65" grpId="0"/>
      <p:bldP spid="66" grpId="0"/>
      <p:bldP spid="67" grpId="0"/>
      <p:bldP spid="6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顺序表的删除</a:t>
            </a:r>
          </a:p>
        </p:txBody>
      </p:sp>
      <p:sp>
        <p:nvSpPr>
          <p:cNvPr id="3" name="内容占位符 2"/>
          <p:cNvSpPr>
            <a:spLocks noGrp="1"/>
          </p:cNvSpPr>
          <p:nvPr>
            <p:ph idx="1"/>
          </p:nvPr>
        </p:nvSpPr>
        <p:spPr/>
        <p:txBody>
          <a:bodyPr/>
          <a:lstStyle/>
          <a:p>
            <a:r>
              <a:rPr lang="zh-CN" altLang="en-US" dirty="0"/>
              <a:t>算法步骤</a:t>
            </a:r>
            <a:endParaRPr lang="en-US" altLang="zh-CN" dirty="0"/>
          </a:p>
          <a:p>
            <a:pPr marL="971550" lvl="1" indent="-514350">
              <a:buFont typeface="+mj-lt"/>
              <a:buAutoNum type="arabicPeriod"/>
            </a:pPr>
            <a:r>
              <a:rPr lang="zh-CN" altLang="en-US" dirty="0"/>
              <a:t>判断删除位置</a:t>
            </a:r>
            <a:r>
              <a:rPr lang="en-US" altLang="zh-CN" dirty="0" err="1"/>
              <a:t>i</a:t>
            </a:r>
            <a:r>
              <a:rPr lang="en-US" altLang="zh-CN" dirty="0"/>
              <a:t> </a:t>
            </a:r>
            <a:r>
              <a:rPr lang="zh-CN" altLang="en-US" dirty="0"/>
              <a:t>是否合法（合法值为</a:t>
            </a:r>
            <a:r>
              <a:rPr lang="en-US" altLang="zh-CN" dirty="0"/>
              <a:t>1≤i≤n</a:t>
            </a:r>
            <a:r>
              <a:rPr lang="zh-CN" altLang="en-US" dirty="0"/>
              <a:t>）</a:t>
            </a:r>
            <a:endParaRPr lang="en-US" altLang="zh-CN" dirty="0"/>
          </a:p>
          <a:p>
            <a:pPr marL="971550" lvl="1" indent="-514350">
              <a:buFont typeface="+mj-lt"/>
              <a:buAutoNum type="arabicPeriod"/>
            </a:pPr>
            <a:r>
              <a:rPr lang="zh-CN" altLang="en-US" dirty="0"/>
              <a:t>将第</a:t>
            </a:r>
            <a:r>
              <a:rPr lang="en-US" altLang="zh-CN" dirty="0"/>
              <a:t>i+1</a:t>
            </a:r>
            <a:r>
              <a:rPr lang="zh-CN" altLang="en-US" dirty="0"/>
              <a:t>至第</a:t>
            </a:r>
            <a:r>
              <a:rPr lang="en-US" altLang="zh-CN" dirty="0"/>
              <a:t>n </a:t>
            </a:r>
            <a:r>
              <a:rPr lang="zh-CN" altLang="en-US" dirty="0"/>
              <a:t>位的元素依次向前移动一个位置</a:t>
            </a:r>
          </a:p>
          <a:p>
            <a:pPr marL="971550" lvl="1" indent="-514350">
              <a:buFont typeface="+mj-lt"/>
              <a:buAutoNum type="arabicPeriod"/>
            </a:pPr>
            <a:r>
              <a:rPr lang="zh-CN" altLang="en-US" dirty="0"/>
              <a:t>表长减</a:t>
            </a:r>
            <a:r>
              <a:rPr lang="en-US" altLang="zh-CN" dirty="0"/>
              <a:t>1</a:t>
            </a:r>
            <a:r>
              <a:rPr lang="zh-CN" altLang="en-US" dirty="0"/>
              <a:t>，删除成功返回</a:t>
            </a:r>
            <a:r>
              <a:rPr lang="en-US" altLang="zh-CN" dirty="0"/>
              <a:t>OK</a:t>
            </a:r>
            <a:endParaRPr lang="zh-CN" altLang="en-US" dirty="0"/>
          </a:p>
          <a:p>
            <a:endParaRPr lang="zh-CN" altLang="en-US" dirty="0"/>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顺序表的删除</a:t>
            </a:r>
          </a:p>
        </p:txBody>
      </p:sp>
      <p:sp>
        <p:nvSpPr>
          <p:cNvPr id="5" name="Text Box 3"/>
          <p:cNvSpPr txBox="1"/>
          <p:nvPr/>
        </p:nvSpPr>
        <p:spPr>
          <a:xfrm>
            <a:off x="2411758" y="5589241"/>
            <a:ext cx="2840352" cy="46196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400" b="1" dirty="0">
                <a:latin typeface="隶书" panose="02010509060101010101" pitchFamily="49" charset="-122"/>
                <a:ea typeface="隶书" panose="02010509060101010101" pitchFamily="49" charset="-122"/>
              </a:rPr>
              <a:t>算法时间复杂度为</a:t>
            </a:r>
            <a:r>
              <a:rPr lang="en-US" altLang="zh-CN" sz="2400" b="1" dirty="0">
                <a:latin typeface="隶书" panose="02010509060101010101" pitchFamily="49" charset="-122"/>
                <a:ea typeface="隶书" panose="02010509060101010101" pitchFamily="49" charset="-122"/>
              </a:rPr>
              <a:t>:</a:t>
            </a:r>
            <a:endParaRPr lang="en-US" altLang="zh-CN" sz="2400" b="1" dirty="0">
              <a:ea typeface="宋体" panose="02010600030101010101" pitchFamily="2" charset="-122"/>
            </a:endParaRPr>
          </a:p>
        </p:txBody>
      </p:sp>
      <p:sp>
        <p:nvSpPr>
          <p:cNvPr id="9" name="Text Box 2"/>
          <p:cNvSpPr txBox="1"/>
          <p:nvPr/>
        </p:nvSpPr>
        <p:spPr>
          <a:xfrm>
            <a:off x="683568" y="1231241"/>
            <a:ext cx="7993063" cy="452183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zh-CN" altLang="en-US" sz="2400" dirty="0">
                <a:latin typeface="Cambria Math" panose="02040503050406030204" pitchFamily="18" charset="0"/>
                <a:ea typeface="Cambria Math" panose="02040503050406030204" pitchFamily="18" charset="0"/>
                <a:cs typeface="Arial Unicode MS" panose="020B0604020202020204" charset="-122"/>
              </a:rPr>
              <a:t>将线性表</a:t>
            </a:r>
            <a:r>
              <a:rPr lang="en-US" altLang="zh-CN" sz="2400" dirty="0">
                <a:latin typeface="Cambria Math" panose="02040503050406030204" pitchFamily="18" charset="0"/>
                <a:ea typeface="Cambria Math" panose="02040503050406030204" pitchFamily="18" charset="0"/>
                <a:cs typeface="Arial Unicode MS" panose="020B0604020202020204" charset="-122"/>
              </a:rPr>
              <a:t>L</a:t>
            </a:r>
            <a:r>
              <a:rPr lang="zh-CN" altLang="en-US" sz="2400" dirty="0">
                <a:latin typeface="Cambria Math" panose="02040503050406030204" pitchFamily="18" charset="0"/>
                <a:ea typeface="Cambria Math" panose="02040503050406030204" pitchFamily="18" charset="0"/>
                <a:cs typeface="Arial Unicode MS" panose="020B0604020202020204" charset="-122"/>
              </a:rPr>
              <a:t>中第</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zh-CN" altLang="en-US" sz="2400" dirty="0">
                <a:latin typeface="Cambria Math" panose="02040503050406030204" pitchFamily="18" charset="0"/>
                <a:ea typeface="Cambria Math" panose="02040503050406030204" pitchFamily="18" charset="0"/>
                <a:cs typeface="Arial Unicode MS" panose="020B0604020202020204" charset="-122"/>
              </a:rPr>
              <a:t>个数据元素删除</a:t>
            </a:r>
          </a:p>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Status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ListDelete</a:t>
            </a:r>
            <a:r>
              <a:rPr lang="en-US" altLang="zh-CN" sz="2400" b="1" dirty="0" err="1">
                <a:latin typeface="Cambria Math" panose="02040503050406030204" pitchFamily="18" charset="0"/>
                <a:ea typeface="Cambria Math" panose="02040503050406030204" pitchFamily="18" charset="0"/>
                <a:cs typeface="Arial Unicode MS" panose="020B0604020202020204" charset="-122"/>
                <a:sym typeface="+mn-ea"/>
              </a:rPr>
              <a:t>_S</a:t>
            </a: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SqList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&amp;L,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r>
              <a:rPr lang="en-US" altLang="zh-CN" sz="2400" b="1"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b="1" dirty="0">
                <a:latin typeface="Cambria Math" panose="02040503050406030204" pitchFamily="18" charset="0"/>
                <a:ea typeface="Cambria Math" panose="02040503050406030204" pitchFamily="18" charset="0"/>
                <a:cs typeface="Arial Unicode MS" panose="020B0604020202020204" charset="-122"/>
              </a:rPr>
              <a:t>){    </a:t>
            </a:r>
          </a:p>
          <a:p>
            <a:pPr marL="0" lvl="0" indent="0">
              <a:lnSpc>
                <a:spcPct val="120000"/>
              </a:lnSpc>
              <a:spcBef>
                <a:spcPct val="0"/>
              </a:spcBef>
              <a:buClrTx/>
              <a:buNone/>
            </a:pPr>
            <a:endParaRPr lang="en-US" altLang="zh-CN" sz="2400" b="1" dirty="0">
              <a:latin typeface="Cambria Math" panose="02040503050406030204" pitchFamily="18" charset="0"/>
              <a:ea typeface="Cambria Math" panose="02040503050406030204" pitchFamily="18" charset="0"/>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en-US" altLang="zh-CN"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endParaRPr lang="zh-CN" altLang="en-US" sz="2400" b="1" dirty="0">
              <a:latin typeface="Cambria Math" panose="02040503050406030204" pitchFamily="18" charset="0"/>
              <a:ea typeface="Arial Unicode MS" panose="020B0604020202020204" charset="-122"/>
              <a:cs typeface="Arial Unicode MS" panose="020B0604020202020204" charset="-122"/>
            </a:endParaRPr>
          </a:p>
          <a:p>
            <a:pPr marL="0" lv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10" name="Rectangle 5"/>
          <p:cNvSpPr/>
          <p:nvPr/>
        </p:nvSpPr>
        <p:spPr>
          <a:xfrm>
            <a:off x="1547664" y="2204864"/>
            <a:ext cx="6985149"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if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&lt;1||</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&gt;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return ERROR;</a:t>
            </a:r>
          </a:p>
        </p:txBody>
      </p:sp>
      <p:sp>
        <p:nvSpPr>
          <p:cNvPr id="11" name="Rectangle 6"/>
          <p:cNvSpPr/>
          <p:nvPr/>
        </p:nvSpPr>
        <p:spPr>
          <a:xfrm>
            <a:off x="1547664" y="2708920"/>
            <a:ext cx="5493235" cy="142192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for(j=i+1; j&lt;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j++</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zh-CN" altLang="en-US" sz="2400" dirty="0">
                <a:latin typeface="Cambria Math" panose="02040503050406030204" pitchFamily="18" charset="0"/>
                <a:ea typeface="Cambria Math" panose="02040503050406030204" pitchFamily="18" charset="0"/>
                <a:cs typeface="Arial Unicode MS" panose="020B0604020202020204" charset="-122"/>
              </a:rPr>
              <a:t>元素前移</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indent="0">
              <a:lnSpc>
                <a:spcPct val="120000"/>
              </a:lnSpc>
              <a:spcBef>
                <a:spcPct val="0"/>
              </a:spcBef>
              <a:buClrTx/>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[j-1]=</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[j];   </a:t>
            </a:r>
          </a:p>
        </p:txBody>
      </p:sp>
      <p:sp>
        <p:nvSpPr>
          <p:cNvPr id="13" name="Rectangle 6"/>
          <p:cNvSpPr/>
          <p:nvPr/>
        </p:nvSpPr>
        <p:spPr>
          <a:xfrm>
            <a:off x="1547664" y="4581128"/>
            <a:ext cx="1558760" cy="494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b="1" dirty="0">
                <a:latin typeface="Cambria Math" panose="02040503050406030204" pitchFamily="18" charset="0"/>
                <a:ea typeface="Cambria Math" panose="02040503050406030204" pitchFamily="18" charset="0"/>
                <a:cs typeface="Arial Unicode MS" panose="020B0604020202020204" charset="-122"/>
              </a:rPr>
              <a:t>return</a:t>
            </a:r>
            <a:r>
              <a:rPr lang="en-US" altLang="zh-CN" sz="2400" dirty="0">
                <a:latin typeface="Cambria Math" panose="02040503050406030204" pitchFamily="18" charset="0"/>
                <a:ea typeface="Cambria Math" panose="02040503050406030204" pitchFamily="18" charset="0"/>
                <a:cs typeface="Arial Unicode MS" panose="020B0604020202020204" charset="-122"/>
              </a:rPr>
              <a:t> OK;</a:t>
            </a:r>
          </a:p>
        </p:txBody>
      </p:sp>
      <p:sp>
        <p:nvSpPr>
          <p:cNvPr id="15" name="Rectangle 6"/>
          <p:cNvSpPr/>
          <p:nvPr/>
        </p:nvSpPr>
        <p:spPr>
          <a:xfrm>
            <a:off x="1547662" y="4117605"/>
            <a:ext cx="5339923" cy="5355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20000"/>
              </a:lnSpc>
              <a:spcBef>
                <a:spcPct val="0"/>
              </a:spcBef>
              <a:buClrTx/>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L.length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zh-CN" altLang="en-US" sz="2400" dirty="0">
                <a:latin typeface="Cambria Math" panose="02040503050406030204" pitchFamily="18" charset="0"/>
                <a:ea typeface="Cambria Math" panose="02040503050406030204" pitchFamily="18" charset="0"/>
                <a:cs typeface="Arial Unicode MS" panose="020B0604020202020204" charset="-122"/>
              </a:rPr>
              <a:t>表长减</a:t>
            </a:r>
            <a:r>
              <a:rPr lang="en-US" altLang="zh-CN" sz="2400" dirty="0">
                <a:latin typeface="Cambria Math" panose="02040503050406030204" pitchFamily="18" charset="0"/>
                <a:ea typeface="Cambria Math" panose="02040503050406030204" pitchFamily="18" charset="0"/>
                <a:cs typeface="Arial Unicode MS" panose="020B0604020202020204" charset="-122"/>
              </a:rPr>
              <a:t>1</a:t>
            </a:r>
          </a:p>
        </p:txBody>
      </p:sp>
      <p:sp>
        <p:nvSpPr>
          <p:cNvPr id="16" name="Text Box 3"/>
          <p:cNvSpPr txBox="1"/>
          <p:nvPr/>
        </p:nvSpPr>
        <p:spPr>
          <a:xfrm>
            <a:off x="5252110" y="5589240"/>
            <a:ext cx="1120090" cy="46196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O(n)</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3" grpId="0"/>
      <p:bldP spid="15" grpId="0"/>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顺序表的其他操作</a:t>
            </a:r>
          </a:p>
        </p:txBody>
      </p:sp>
      <p:sp>
        <p:nvSpPr>
          <p:cNvPr id="3" name="内容占位符 2"/>
          <p:cNvSpPr>
            <a:spLocks noGrp="1"/>
          </p:cNvSpPr>
          <p:nvPr>
            <p:ph idx="1"/>
          </p:nvPr>
        </p:nvSpPr>
        <p:spPr/>
        <p:txBody>
          <a:bodyPr/>
          <a:lstStyle/>
          <a:p>
            <a:r>
              <a:rPr lang="zh-CN" altLang="en-US" dirty="0">
                <a:sym typeface="+mn-ea"/>
              </a:rPr>
              <a:t>判空：</a:t>
            </a:r>
            <a:r>
              <a:rPr lang="en-US" altLang="zh-CN" dirty="0">
                <a:sym typeface="+mn-ea"/>
              </a:rPr>
              <a:t>return (</a:t>
            </a:r>
            <a:r>
              <a:rPr lang="en-US" altLang="zh-CN" dirty="0" err="1">
                <a:sym typeface="+mn-ea"/>
              </a:rPr>
              <a:t>L.length</a:t>
            </a:r>
            <a:r>
              <a:rPr lang="en-US" altLang="zh-CN" dirty="0">
                <a:sym typeface="+mn-ea"/>
              </a:rPr>
              <a:t>==0); </a:t>
            </a:r>
            <a:endParaRPr lang="zh-CN" altLang="en-US" dirty="0">
              <a:sym typeface="+mn-ea"/>
            </a:endParaRPr>
          </a:p>
          <a:p>
            <a:r>
              <a:rPr lang="zh-CN" altLang="en-US" dirty="0"/>
              <a:t>求表长：</a:t>
            </a:r>
            <a:r>
              <a:rPr lang="en-US" altLang="zh-CN" dirty="0"/>
              <a:t>return (</a:t>
            </a:r>
            <a:r>
              <a:rPr lang="en-US" altLang="zh-CN" dirty="0" err="1"/>
              <a:t>L.length</a:t>
            </a:r>
            <a:r>
              <a:rPr lang="en-US" altLang="zh-CN" dirty="0"/>
              <a:t>); </a:t>
            </a:r>
            <a:endParaRPr lang="zh-CN" altLang="en-US" dirty="0"/>
          </a:p>
          <a:p>
            <a:r>
              <a:rPr lang="zh-CN" altLang="en-US" dirty="0"/>
              <a:t>遍历：</a:t>
            </a:r>
            <a:r>
              <a:rPr lang="en-US" altLang="zh-CN" dirty="0"/>
              <a:t>for (</a:t>
            </a:r>
            <a:r>
              <a:rPr lang="en-US" altLang="zh-CN" dirty="0" err="1"/>
              <a:t>i</a:t>
            </a:r>
            <a:r>
              <a:rPr lang="en-US" altLang="zh-CN" dirty="0"/>
              <a:t>=0;i&lt; </a:t>
            </a:r>
            <a:r>
              <a:rPr lang="en-US" altLang="zh-CN" dirty="0" err="1"/>
              <a:t>L.length;i</a:t>
            </a:r>
            <a:r>
              <a:rPr lang="en-US" altLang="zh-CN" dirty="0"/>
              <a:t>++) …</a:t>
            </a:r>
            <a:endParaRPr lang="zh-CN" altLang="en-US" dirty="0"/>
          </a:p>
          <a:p>
            <a:r>
              <a:rPr lang="zh-CN" altLang="en-US" dirty="0"/>
              <a:t>清空：</a:t>
            </a:r>
            <a:r>
              <a:rPr lang="en-US" altLang="zh-CN" dirty="0" err="1"/>
              <a:t>L.length</a:t>
            </a:r>
            <a:r>
              <a:rPr lang="en-US" altLang="zh-CN" dirty="0"/>
              <a:t>=0;</a:t>
            </a:r>
            <a:endParaRPr lang="zh-CN" altLang="en-US" dirty="0"/>
          </a:p>
          <a:p>
            <a:endParaRPr lang="zh-CN" altLang="en-US" dirty="0"/>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顺序表的优缺点</a:t>
            </a:r>
          </a:p>
        </p:txBody>
      </p:sp>
      <p:sp>
        <p:nvSpPr>
          <p:cNvPr id="3" name="内容占位符 2"/>
          <p:cNvSpPr>
            <a:spLocks noGrp="1"/>
          </p:cNvSpPr>
          <p:nvPr>
            <p:ph idx="1"/>
          </p:nvPr>
        </p:nvSpPr>
        <p:spPr/>
        <p:txBody>
          <a:bodyPr vert="horz" wrap="square" lIns="91440" tIns="45720" rIns="91440" bIns="45720" anchor="t"/>
          <a:lstStyle/>
          <a:p>
            <a:r>
              <a:rPr lang="zh-CN" altLang="en-US" dirty="0">
                <a:latin typeface="+mn-lt"/>
                <a:ea typeface="+mn-ea"/>
                <a:cs typeface="+mn-cs"/>
              </a:rPr>
              <a:t>优点</a:t>
            </a:r>
          </a:p>
          <a:p>
            <a:pPr lvl="1"/>
            <a:r>
              <a:rPr lang="zh-CN" altLang="en-US" dirty="0">
                <a:latin typeface="+mn-lt"/>
                <a:ea typeface="+mn-ea"/>
              </a:rPr>
              <a:t>可随机</a:t>
            </a:r>
            <a:r>
              <a:rPr lang="zh-CN" altLang="en-US" dirty="0"/>
              <a:t>访问</a:t>
            </a:r>
            <a:r>
              <a:rPr lang="zh-CN" altLang="en-US" dirty="0">
                <a:latin typeface="+mn-lt"/>
                <a:ea typeface="+mn-ea"/>
              </a:rPr>
              <a:t>任一元素</a:t>
            </a:r>
          </a:p>
          <a:p>
            <a:pPr lvl="1"/>
            <a:r>
              <a:rPr lang="zh-CN" altLang="en-US" dirty="0">
                <a:latin typeface="+mn-lt"/>
                <a:ea typeface="+mn-ea"/>
              </a:rPr>
              <a:t>存储空间使用紧凑</a:t>
            </a:r>
          </a:p>
          <a:p>
            <a:r>
              <a:rPr lang="zh-CN" altLang="en-US" dirty="0">
                <a:latin typeface="+mn-lt"/>
                <a:ea typeface="+mn-ea"/>
                <a:cs typeface="+mn-cs"/>
              </a:rPr>
              <a:t>缺点</a:t>
            </a:r>
          </a:p>
          <a:p>
            <a:pPr lvl="1"/>
            <a:r>
              <a:rPr lang="zh-CN" altLang="en-US" dirty="0">
                <a:latin typeface="+mn-lt"/>
                <a:ea typeface="+mn-ea"/>
              </a:rPr>
              <a:t>插入、删除操作需要移动大量的元素</a:t>
            </a:r>
          </a:p>
          <a:p>
            <a:pPr lvl="1"/>
            <a:r>
              <a:rPr lang="zh-CN" altLang="en-US" dirty="0">
                <a:latin typeface="+mn-lt"/>
                <a:ea typeface="+mn-ea"/>
              </a:rPr>
              <a:t>预先分配空间需按最大空间分配</a:t>
            </a:r>
            <a:endParaRPr lang="en-US" altLang="zh-CN" dirty="0"/>
          </a:p>
          <a:p>
            <a:pPr lvl="2"/>
            <a:r>
              <a:rPr lang="zh-CN" altLang="en-US" dirty="0">
                <a:latin typeface="+mn-lt"/>
                <a:ea typeface="+mn-ea"/>
              </a:rPr>
              <a:t>可能造成空间的浪费</a:t>
            </a:r>
            <a:endParaRPr lang="en-US" altLang="zh-CN" dirty="0">
              <a:latin typeface="+mn-lt"/>
              <a:ea typeface="+mn-ea"/>
            </a:endParaRPr>
          </a:p>
          <a:p>
            <a:pPr lvl="2"/>
            <a:r>
              <a:rPr lang="zh-CN" altLang="en-US" dirty="0">
                <a:latin typeface="+mn-lt"/>
                <a:ea typeface="+mn-ea"/>
              </a:rPr>
              <a:t>表容量难以扩充</a:t>
            </a:r>
            <a:endParaRPr lang="zh-CN" altLang="en-US" dirty="0">
              <a:latin typeface="+mn-lt"/>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eaLnBrk="1" hangingPunct="1">
              <a:defRPr/>
            </a:pPr>
            <a:r>
              <a:rPr lang="en-US" altLang="zh-CN" dirty="0"/>
              <a:t>Ch2 </a:t>
            </a:r>
            <a:r>
              <a:rPr lang="zh-CN" altLang="en-US" dirty="0"/>
              <a:t>练习</a:t>
            </a:r>
            <a:r>
              <a:rPr lang="en-US" altLang="zh-CN" dirty="0"/>
              <a:t>2</a:t>
            </a:r>
            <a:endParaRPr lang="en-US" dirty="0"/>
          </a:p>
        </p:txBody>
      </p:sp>
    </p:spTree>
    <p:extLst>
      <p:ext uri="{BB962C8B-B14F-4D97-AF65-F5344CB8AC3E}">
        <p14:creationId xmlns:p14="http://schemas.microsoft.com/office/powerpoint/2010/main" val="22905163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prstGeom prst="rect">
            <a:avLst/>
          </a:prstGeo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38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6" name="文本框 5"/>
          <p:cNvSpPr txBox="1"/>
          <p:nvPr>
            <p:custDataLst>
              <p:tags r:id="rId2"/>
            </p:custDataLst>
          </p:nvPr>
        </p:nvSpPr>
        <p:spPr>
          <a:xfrm>
            <a:off x="914400" y="1429891"/>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顺序表中第一个元素的地址是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，每个元素占用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个存储空间（字节），则第</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个元素的地址是多少？</a:t>
            </a:r>
          </a:p>
        </p:txBody>
      </p:sp>
      <p:sp>
        <p:nvSpPr>
          <p:cNvPr id="7" name="文本框 6"/>
          <p:cNvSpPr txBox="1"/>
          <p:nvPr>
            <p:custDataLst>
              <p:tags r:id="rId3"/>
            </p:custDataLst>
          </p:nvPr>
        </p:nvSpPr>
        <p:spPr>
          <a:xfrm>
            <a:off x="1828800" y="3871317"/>
            <a:ext cx="2599184"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108</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5623460" y="3858741"/>
            <a:ext cx="2599184"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110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5"/>
            </p:custDataLst>
          </p:nvPr>
        </p:nvSpPr>
        <p:spPr>
          <a:xfrm>
            <a:off x="1828800" y="4946302"/>
            <a:ext cx="27432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118</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6"/>
            </p:custDataLst>
          </p:nvPr>
        </p:nvSpPr>
        <p:spPr>
          <a:xfrm>
            <a:off x="5623460" y="4882007"/>
            <a:ext cx="2599184"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7"/>
            </p:custDataLst>
          </p:nvPr>
        </p:nvSpPr>
        <p:spPr bwMode="auto">
          <a:xfrm>
            <a:off x="1114425" y="393561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2" name="椭圆 11"/>
          <p:cNvSpPr>
            <a:spLocks noChangeAspect="1"/>
          </p:cNvSpPr>
          <p:nvPr>
            <p:custDataLst>
              <p:tags r:id="rId8"/>
            </p:custDataLst>
          </p:nvPr>
        </p:nvSpPr>
        <p:spPr bwMode="auto">
          <a:xfrm>
            <a:off x="4909085" y="3923034"/>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3" name="椭圆 12"/>
          <p:cNvSpPr>
            <a:spLocks noChangeAspect="1"/>
          </p:cNvSpPr>
          <p:nvPr>
            <p:custDataLst>
              <p:tags r:id="rId9"/>
            </p:custDataLst>
          </p:nvPr>
        </p:nvSpPr>
        <p:spPr bwMode="auto">
          <a:xfrm>
            <a:off x="1114425" y="5010595"/>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dirty="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4" name="椭圆 13"/>
          <p:cNvSpPr>
            <a:spLocks noChangeAspect="1"/>
          </p:cNvSpPr>
          <p:nvPr>
            <p:custDataLst>
              <p:tags r:id="rId10"/>
            </p:custDataLst>
          </p:nvPr>
        </p:nvSpPr>
        <p:spPr bwMode="auto">
          <a:xfrm>
            <a:off x="4909085" y="4946300"/>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5" name="圆角矩形 14"/>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7"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8"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1" name="文本框 20"/>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577489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27584" y="635000"/>
            <a:ext cx="7632848" cy="3658096"/>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顺序表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L={1 2 3 4 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存储在如下图所示的内存中，画出</a:t>
            </a:r>
            <a:r>
              <a:rPr lang="en-US" altLang="zh-CN" sz="2800" b="1" dirty="0" err="1">
                <a:latin typeface="Cambria Math" panose="02040503050406030204" pitchFamily="18" charset="0"/>
                <a:ea typeface="Cambria Math" panose="02040503050406030204" pitchFamily="18" charset="0"/>
                <a:cs typeface="Arial Unicode MS" panose="020B0604020202020204" charset="-122"/>
              </a:rPr>
              <a:t>ListInsert</a:t>
            </a:r>
            <a:r>
              <a:rPr lang="en-US" altLang="zh-CN" sz="2800" b="1" dirty="0" err="1">
                <a:latin typeface="Cambria Math" panose="02040503050406030204" pitchFamily="18" charset="0"/>
                <a:ea typeface="Cambria Math" panose="02040503050406030204" pitchFamily="18" charset="0"/>
                <a:cs typeface="Arial Unicode MS" panose="020B0604020202020204" charset="-122"/>
                <a:sym typeface="+mn-ea"/>
              </a:rPr>
              <a:t>_S</a:t>
            </a:r>
            <a:r>
              <a:rPr lang="en-US" altLang="zh-CN" sz="2800" b="1" dirty="0">
                <a:latin typeface="Cambria Math" panose="02040503050406030204" pitchFamily="18" charset="0"/>
                <a:ea typeface="Cambria Math" panose="02040503050406030204" pitchFamily="18" charset="0"/>
                <a:cs typeface="Arial Unicode MS" panose="020B0604020202020204" charset="-122"/>
              </a:rPr>
              <a:t> (L, 4, 999)</a:t>
            </a:r>
            <a:r>
              <a:rPr lang="zh-CN" altLang="en-US" sz="2600" dirty="0">
                <a:solidFill>
                  <a:srgbClr val="000000"/>
                </a:solidFill>
                <a:latin typeface="Microsoft Yahei" panose="020B0503020204020204" pitchFamily="34" charset="-122"/>
                <a:ea typeface="Microsoft Yahei" panose="020B0503020204020204" pitchFamily="34" charset="-122"/>
              </a:rPr>
              <a:t>执行后，内存变化结果的示意图（</a:t>
            </a:r>
            <a:r>
              <a:rPr lang="en-US" altLang="zh-CN" sz="2600" dirty="0">
                <a:solidFill>
                  <a:srgbClr val="000000"/>
                </a:solidFill>
                <a:latin typeface="Microsoft Yahei" panose="020B0503020204020204" pitchFamily="34" charset="-122"/>
                <a:ea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rPr>
              <a:t>代表未知的值）</a:t>
            </a:r>
            <a:endParaRPr lang="en-US" altLang="zh-CN" sz="2600" dirty="0">
              <a:solidFill>
                <a:srgbClr val="000000"/>
              </a:solidFill>
              <a:latin typeface="Microsoft Yahei" panose="020B0503020204020204" pitchFamily="34" charset="-122"/>
              <a:ea typeface="Microsoft Yahei" panose="020B0503020204020204" pitchFamily="34" charset="-122"/>
            </a:endParaRPr>
          </a:p>
          <a:p>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圆角矩形 3"/>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kumimoji="0" 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12" name="表格 11"/>
          <p:cNvGraphicFramePr>
            <a:graphicFrameLocks noGrp="1"/>
          </p:cNvGraphicFramePr>
          <p:nvPr/>
        </p:nvGraphicFramePr>
        <p:xfrm>
          <a:off x="1498601" y="2996952"/>
          <a:ext cx="6095997" cy="741680"/>
        </p:xfrm>
        <a:graphic>
          <a:graphicData uri="http://schemas.openxmlformats.org/drawingml/2006/table">
            <a:tbl>
              <a:tblPr firstRow="1" bandRow="1">
                <a:tableStyleId>{2D5ABB26-0587-4C30-8999-92F81FD0307C}</a:tableStyleId>
              </a:tblPr>
              <a:tblGrid>
                <a:gridCol w="677333">
                  <a:extLst>
                    <a:ext uri="{9D8B030D-6E8A-4147-A177-3AD203B41FA5}">
                      <a16:colId xmlns:a16="http://schemas.microsoft.com/office/drawing/2014/main" val="20000"/>
                    </a:ext>
                  </a:extLst>
                </a:gridCol>
                <a:gridCol w="677333">
                  <a:extLst>
                    <a:ext uri="{9D8B030D-6E8A-4147-A177-3AD203B41FA5}">
                      <a16:colId xmlns:a16="http://schemas.microsoft.com/office/drawing/2014/main" val="20001"/>
                    </a:ext>
                  </a:extLst>
                </a:gridCol>
                <a:gridCol w="677333">
                  <a:extLst>
                    <a:ext uri="{9D8B030D-6E8A-4147-A177-3AD203B41FA5}">
                      <a16:colId xmlns:a16="http://schemas.microsoft.com/office/drawing/2014/main" val="20002"/>
                    </a:ext>
                  </a:extLst>
                </a:gridCol>
                <a:gridCol w="677333">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gridCol w="677333">
                  <a:extLst>
                    <a:ext uri="{9D8B030D-6E8A-4147-A177-3AD203B41FA5}">
                      <a16:colId xmlns:a16="http://schemas.microsoft.com/office/drawing/2014/main" val="20005"/>
                    </a:ext>
                  </a:extLst>
                </a:gridCol>
                <a:gridCol w="677333">
                  <a:extLst>
                    <a:ext uri="{9D8B030D-6E8A-4147-A177-3AD203B41FA5}">
                      <a16:colId xmlns:a16="http://schemas.microsoft.com/office/drawing/2014/main" val="20006"/>
                    </a:ext>
                  </a:extLst>
                </a:gridCol>
                <a:gridCol w="677333">
                  <a:extLst>
                    <a:ext uri="{9D8B030D-6E8A-4147-A177-3AD203B41FA5}">
                      <a16:colId xmlns:a16="http://schemas.microsoft.com/office/drawing/2014/main" val="20007"/>
                    </a:ext>
                  </a:extLst>
                </a:gridCol>
                <a:gridCol w="677333">
                  <a:extLst>
                    <a:ext uri="{9D8B030D-6E8A-4147-A177-3AD203B41FA5}">
                      <a16:colId xmlns:a16="http://schemas.microsoft.com/office/drawing/2014/main" val="20008"/>
                    </a:ext>
                  </a:extLst>
                </a:gridCol>
              </a:tblGrid>
              <a:tr h="370840">
                <a:tc>
                  <a:txBody>
                    <a:bodyPr/>
                    <a:lstStyle/>
                    <a:p>
                      <a:pPr algn="ctr"/>
                      <a:r>
                        <a:rPr lang="zh-CN" altLang="en-US" dirty="0"/>
                        <a:t>地址</a:t>
                      </a:r>
                      <a:endParaRPr lang="en-US" dirty="0"/>
                    </a:p>
                  </a:txBody>
                  <a:tcPr/>
                </a:tc>
                <a:tc>
                  <a:txBody>
                    <a:bodyPr/>
                    <a:lstStyle/>
                    <a:p>
                      <a:pPr algn="ctr"/>
                      <a:r>
                        <a:rPr lang="en-US" dirty="0"/>
                        <a:t>0</a:t>
                      </a:r>
                    </a:p>
                  </a:txBody>
                  <a:tcPr>
                    <a:lnB w="12700" cap="flat" cmpd="sng" algn="ctr">
                      <a:solidFill>
                        <a:schemeClr val="tx1"/>
                      </a:solidFill>
                      <a:prstDash val="solid"/>
                      <a:round/>
                      <a:headEnd type="none" w="med" len="med"/>
                      <a:tailEnd type="none" w="med" len="med"/>
                    </a:lnB>
                  </a:tcPr>
                </a:tc>
                <a:tc>
                  <a:txBody>
                    <a:bodyPr/>
                    <a:lstStyle/>
                    <a:p>
                      <a:pPr algn="ctr"/>
                      <a:r>
                        <a:rPr lang="en-US" dirty="0"/>
                        <a:t>1</a:t>
                      </a:r>
                    </a:p>
                  </a:txBody>
                  <a:tcPr>
                    <a:lnB w="12700" cap="flat" cmpd="sng" algn="ctr">
                      <a:solidFill>
                        <a:schemeClr val="tx1"/>
                      </a:solidFill>
                      <a:prstDash val="solid"/>
                      <a:round/>
                      <a:headEnd type="none" w="med" len="med"/>
                      <a:tailEnd type="none" w="med" len="med"/>
                    </a:lnB>
                  </a:tcPr>
                </a:tc>
                <a:tc>
                  <a:txBody>
                    <a:bodyPr/>
                    <a:lstStyle/>
                    <a:p>
                      <a:pPr algn="ctr"/>
                      <a:r>
                        <a:rPr lang="en-US" dirty="0"/>
                        <a:t>2</a:t>
                      </a:r>
                    </a:p>
                  </a:txBody>
                  <a:tcPr>
                    <a:lnB w="12700" cap="flat" cmpd="sng" algn="ctr">
                      <a:solidFill>
                        <a:schemeClr val="tx1"/>
                      </a:solidFill>
                      <a:prstDash val="solid"/>
                      <a:round/>
                      <a:headEnd type="none" w="med" len="med"/>
                      <a:tailEnd type="none" w="med" len="med"/>
                    </a:lnB>
                  </a:tcPr>
                </a:tc>
                <a:tc>
                  <a:txBody>
                    <a:bodyPr/>
                    <a:lstStyle/>
                    <a:p>
                      <a:pPr algn="ctr"/>
                      <a:r>
                        <a:rPr lang="en-US" dirty="0"/>
                        <a:t>3</a:t>
                      </a:r>
                    </a:p>
                  </a:txBody>
                  <a:tcPr>
                    <a:lnB w="12700" cap="flat" cmpd="sng" algn="ctr">
                      <a:solidFill>
                        <a:schemeClr val="tx1"/>
                      </a:solidFill>
                      <a:prstDash val="solid"/>
                      <a:round/>
                      <a:headEnd type="none" w="med" len="med"/>
                      <a:tailEnd type="none" w="med" len="med"/>
                    </a:lnB>
                  </a:tcPr>
                </a:tc>
                <a:tc>
                  <a:txBody>
                    <a:bodyPr/>
                    <a:lstStyle/>
                    <a:p>
                      <a:pPr algn="ctr"/>
                      <a:r>
                        <a:rPr lang="en-US" dirty="0"/>
                        <a:t>4</a:t>
                      </a:r>
                    </a:p>
                  </a:txBody>
                  <a:tcPr>
                    <a:lnB w="12700" cap="flat" cmpd="sng" algn="ctr">
                      <a:solidFill>
                        <a:schemeClr val="tx1"/>
                      </a:solidFill>
                      <a:prstDash val="solid"/>
                      <a:round/>
                      <a:headEnd type="none" w="med" len="med"/>
                      <a:tailEnd type="none" w="med" len="med"/>
                    </a:lnB>
                  </a:tcPr>
                </a:tc>
                <a:tc>
                  <a:txBody>
                    <a:bodyPr/>
                    <a:lstStyle/>
                    <a:p>
                      <a:pPr algn="ctr"/>
                      <a:r>
                        <a:rPr lang="en-US" dirty="0"/>
                        <a:t>5</a:t>
                      </a:r>
                    </a:p>
                  </a:txBody>
                  <a:tcPr>
                    <a:lnB w="12700" cap="flat" cmpd="sng" algn="ctr">
                      <a:solidFill>
                        <a:schemeClr val="tx1"/>
                      </a:solidFill>
                      <a:prstDash val="solid"/>
                      <a:round/>
                      <a:headEnd type="none" w="med" len="med"/>
                      <a:tailEnd type="none" w="med" len="med"/>
                    </a:lnB>
                  </a:tcPr>
                </a:tc>
                <a:tc>
                  <a:txBody>
                    <a:bodyPr/>
                    <a:lstStyle/>
                    <a:p>
                      <a:pPr algn="ctr"/>
                      <a:r>
                        <a:rPr lang="en-US" dirty="0"/>
                        <a:t>6</a:t>
                      </a:r>
                    </a:p>
                  </a:txBody>
                  <a:tcPr>
                    <a:lnB w="12700" cap="flat" cmpd="sng" algn="ctr">
                      <a:solidFill>
                        <a:schemeClr val="tx1"/>
                      </a:solidFill>
                      <a:prstDash val="solid"/>
                      <a:round/>
                      <a:headEnd type="none" w="med" len="med"/>
                      <a:tailEnd type="none" w="med" len="med"/>
                    </a:lnB>
                  </a:tcPr>
                </a:tc>
                <a:tc>
                  <a:txBody>
                    <a:bodyPr/>
                    <a:lstStyle/>
                    <a:p>
                      <a:pPr algn="ctr"/>
                      <a:r>
                        <a:rPr lang="en-US" dirty="0"/>
                        <a: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zh-CN" altLang="en-US" dirty="0"/>
                        <a:t>值</a:t>
                      </a:r>
                      <a:endParaRPr lang="en-US"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9" name="组合 8"/>
          <p:cNvGrpSpPr/>
          <p:nvPr>
            <p:custDataLst>
              <p:tags r:id="rId5"/>
            </p:custDataLst>
          </p:nvPr>
        </p:nvGrpSpPr>
        <p:grpSpPr>
          <a:xfrm>
            <a:off x="0" y="0"/>
            <a:ext cx="9144000" cy="635000"/>
            <a:chOff x="0" y="0"/>
            <a:chExt cx="9144000" cy="635000"/>
          </a:xfrm>
        </p:grpSpPr>
        <p:sp>
          <p:nvSpPr>
            <p:cNvPr id="5"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6"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96259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27584" y="635000"/>
            <a:ext cx="7632848" cy="3658096"/>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顺序表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L={1 2 3 4 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存储在如下图所示的内存中，画出</a:t>
            </a:r>
            <a:r>
              <a:rPr lang="en-US" altLang="zh-CN" sz="2800" b="1" dirty="0" err="1">
                <a:latin typeface="Cambria Math" panose="02040503050406030204" pitchFamily="18" charset="0"/>
                <a:ea typeface="Cambria Math" panose="02040503050406030204" pitchFamily="18" charset="0"/>
                <a:cs typeface="Arial Unicode MS" panose="020B0604020202020204" charset="-122"/>
              </a:rPr>
              <a:t>ListDelete</a:t>
            </a:r>
            <a:r>
              <a:rPr lang="en-US" altLang="zh-CN" sz="2800" b="1" dirty="0" err="1">
                <a:latin typeface="Cambria Math" panose="02040503050406030204" pitchFamily="18" charset="0"/>
                <a:ea typeface="Cambria Math" panose="02040503050406030204" pitchFamily="18" charset="0"/>
                <a:cs typeface="Arial Unicode MS" panose="020B0604020202020204" charset="-122"/>
                <a:sym typeface="+mn-ea"/>
              </a:rPr>
              <a:t>_S</a:t>
            </a:r>
            <a:r>
              <a:rPr lang="en-US" altLang="zh-CN" sz="2800" b="1" dirty="0">
                <a:latin typeface="Cambria Math" panose="02040503050406030204" pitchFamily="18" charset="0"/>
                <a:ea typeface="Cambria Math" panose="02040503050406030204" pitchFamily="18" charset="0"/>
                <a:cs typeface="Arial Unicode MS" panose="020B0604020202020204" charset="-122"/>
              </a:rPr>
              <a:t> (L, 3)</a:t>
            </a:r>
            <a:r>
              <a:rPr lang="zh-CN" altLang="en-US" sz="2600" dirty="0">
                <a:solidFill>
                  <a:srgbClr val="000000"/>
                </a:solidFill>
                <a:latin typeface="Microsoft Yahei" panose="020B0503020204020204" pitchFamily="34" charset="-122"/>
                <a:ea typeface="Microsoft Yahei" panose="020B0503020204020204" pitchFamily="34" charset="-122"/>
              </a:rPr>
              <a:t>执行后，内存变化结果的示意图（</a:t>
            </a:r>
            <a:r>
              <a:rPr lang="en-US" altLang="zh-CN" sz="2600" dirty="0">
                <a:solidFill>
                  <a:srgbClr val="000000"/>
                </a:solidFill>
                <a:latin typeface="Microsoft Yahei" panose="020B0503020204020204" pitchFamily="34" charset="-122"/>
                <a:ea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rPr>
              <a:t>代表未知的值）</a:t>
            </a:r>
            <a:endParaRPr lang="en-US" altLang="zh-CN" sz="2600" dirty="0">
              <a:solidFill>
                <a:srgbClr val="000000"/>
              </a:solidFill>
              <a:latin typeface="Microsoft Yahei" panose="020B0503020204020204" pitchFamily="34" charset="-122"/>
              <a:ea typeface="Microsoft Yahei" panose="020B0503020204020204" pitchFamily="34" charset="-122"/>
            </a:endParaRPr>
          </a:p>
          <a:p>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圆角矩形 3"/>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kumimoji="0" 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12" name="表格 11"/>
          <p:cNvGraphicFramePr>
            <a:graphicFrameLocks noGrp="1"/>
          </p:cNvGraphicFramePr>
          <p:nvPr/>
        </p:nvGraphicFramePr>
        <p:xfrm>
          <a:off x="1498601" y="2996952"/>
          <a:ext cx="6095997" cy="741680"/>
        </p:xfrm>
        <a:graphic>
          <a:graphicData uri="http://schemas.openxmlformats.org/drawingml/2006/table">
            <a:tbl>
              <a:tblPr firstRow="1" bandRow="1">
                <a:tableStyleId>{2D5ABB26-0587-4C30-8999-92F81FD0307C}</a:tableStyleId>
              </a:tblPr>
              <a:tblGrid>
                <a:gridCol w="677333">
                  <a:extLst>
                    <a:ext uri="{9D8B030D-6E8A-4147-A177-3AD203B41FA5}">
                      <a16:colId xmlns:a16="http://schemas.microsoft.com/office/drawing/2014/main" val="20000"/>
                    </a:ext>
                  </a:extLst>
                </a:gridCol>
                <a:gridCol w="677333">
                  <a:extLst>
                    <a:ext uri="{9D8B030D-6E8A-4147-A177-3AD203B41FA5}">
                      <a16:colId xmlns:a16="http://schemas.microsoft.com/office/drawing/2014/main" val="20001"/>
                    </a:ext>
                  </a:extLst>
                </a:gridCol>
                <a:gridCol w="677333">
                  <a:extLst>
                    <a:ext uri="{9D8B030D-6E8A-4147-A177-3AD203B41FA5}">
                      <a16:colId xmlns:a16="http://schemas.microsoft.com/office/drawing/2014/main" val="20002"/>
                    </a:ext>
                  </a:extLst>
                </a:gridCol>
                <a:gridCol w="677333">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gridCol w="677333">
                  <a:extLst>
                    <a:ext uri="{9D8B030D-6E8A-4147-A177-3AD203B41FA5}">
                      <a16:colId xmlns:a16="http://schemas.microsoft.com/office/drawing/2014/main" val="20005"/>
                    </a:ext>
                  </a:extLst>
                </a:gridCol>
                <a:gridCol w="677333">
                  <a:extLst>
                    <a:ext uri="{9D8B030D-6E8A-4147-A177-3AD203B41FA5}">
                      <a16:colId xmlns:a16="http://schemas.microsoft.com/office/drawing/2014/main" val="20006"/>
                    </a:ext>
                  </a:extLst>
                </a:gridCol>
                <a:gridCol w="677333">
                  <a:extLst>
                    <a:ext uri="{9D8B030D-6E8A-4147-A177-3AD203B41FA5}">
                      <a16:colId xmlns:a16="http://schemas.microsoft.com/office/drawing/2014/main" val="20007"/>
                    </a:ext>
                  </a:extLst>
                </a:gridCol>
                <a:gridCol w="677333">
                  <a:extLst>
                    <a:ext uri="{9D8B030D-6E8A-4147-A177-3AD203B41FA5}">
                      <a16:colId xmlns:a16="http://schemas.microsoft.com/office/drawing/2014/main" val="20008"/>
                    </a:ext>
                  </a:extLst>
                </a:gridCol>
              </a:tblGrid>
              <a:tr h="370840">
                <a:tc>
                  <a:txBody>
                    <a:bodyPr/>
                    <a:lstStyle/>
                    <a:p>
                      <a:pPr algn="ctr"/>
                      <a:r>
                        <a:rPr lang="zh-CN" altLang="en-US" dirty="0"/>
                        <a:t>地址</a:t>
                      </a:r>
                      <a:endParaRPr lang="en-US" dirty="0"/>
                    </a:p>
                  </a:txBody>
                  <a:tcPr/>
                </a:tc>
                <a:tc>
                  <a:txBody>
                    <a:bodyPr/>
                    <a:lstStyle/>
                    <a:p>
                      <a:pPr algn="ctr"/>
                      <a:r>
                        <a:rPr lang="en-US" dirty="0"/>
                        <a:t>0</a:t>
                      </a:r>
                    </a:p>
                  </a:txBody>
                  <a:tcPr>
                    <a:lnB w="12700" cap="flat" cmpd="sng" algn="ctr">
                      <a:solidFill>
                        <a:schemeClr val="tx1"/>
                      </a:solidFill>
                      <a:prstDash val="solid"/>
                      <a:round/>
                      <a:headEnd type="none" w="med" len="med"/>
                      <a:tailEnd type="none" w="med" len="med"/>
                    </a:lnB>
                  </a:tcPr>
                </a:tc>
                <a:tc>
                  <a:txBody>
                    <a:bodyPr/>
                    <a:lstStyle/>
                    <a:p>
                      <a:pPr algn="ctr"/>
                      <a:r>
                        <a:rPr lang="en-US" dirty="0"/>
                        <a:t>1</a:t>
                      </a:r>
                    </a:p>
                  </a:txBody>
                  <a:tcPr>
                    <a:lnB w="12700" cap="flat" cmpd="sng" algn="ctr">
                      <a:solidFill>
                        <a:schemeClr val="tx1"/>
                      </a:solidFill>
                      <a:prstDash val="solid"/>
                      <a:round/>
                      <a:headEnd type="none" w="med" len="med"/>
                      <a:tailEnd type="none" w="med" len="med"/>
                    </a:lnB>
                  </a:tcPr>
                </a:tc>
                <a:tc>
                  <a:txBody>
                    <a:bodyPr/>
                    <a:lstStyle/>
                    <a:p>
                      <a:pPr algn="ctr"/>
                      <a:r>
                        <a:rPr lang="en-US" dirty="0"/>
                        <a:t>2</a:t>
                      </a:r>
                    </a:p>
                  </a:txBody>
                  <a:tcPr>
                    <a:lnB w="12700" cap="flat" cmpd="sng" algn="ctr">
                      <a:solidFill>
                        <a:schemeClr val="tx1"/>
                      </a:solidFill>
                      <a:prstDash val="solid"/>
                      <a:round/>
                      <a:headEnd type="none" w="med" len="med"/>
                      <a:tailEnd type="none" w="med" len="med"/>
                    </a:lnB>
                  </a:tcPr>
                </a:tc>
                <a:tc>
                  <a:txBody>
                    <a:bodyPr/>
                    <a:lstStyle/>
                    <a:p>
                      <a:pPr algn="ctr"/>
                      <a:r>
                        <a:rPr lang="en-US" dirty="0"/>
                        <a:t>3</a:t>
                      </a:r>
                    </a:p>
                  </a:txBody>
                  <a:tcPr>
                    <a:lnB w="12700" cap="flat" cmpd="sng" algn="ctr">
                      <a:solidFill>
                        <a:schemeClr val="tx1"/>
                      </a:solidFill>
                      <a:prstDash val="solid"/>
                      <a:round/>
                      <a:headEnd type="none" w="med" len="med"/>
                      <a:tailEnd type="none" w="med" len="med"/>
                    </a:lnB>
                  </a:tcPr>
                </a:tc>
                <a:tc>
                  <a:txBody>
                    <a:bodyPr/>
                    <a:lstStyle/>
                    <a:p>
                      <a:pPr algn="ctr"/>
                      <a:r>
                        <a:rPr lang="en-US" dirty="0"/>
                        <a:t>4</a:t>
                      </a:r>
                    </a:p>
                  </a:txBody>
                  <a:tcPr>
                    <a:lnB w="12700" cap="flat" cmpd="sng" algn="ctr">
                      <a:solidFill>
                        <a:schemeClr val="tx1"/>
                      </a:solidFill>
                      <a:prstDash val="solid"/>
                      <a:round/>
                      <a:headEnd type="none" w="med" len="med"/>
                      <a:tailEnd type="none" w="med" len="med"/>
                    </a:lnB>
                  </a:tcPr>
                </a:tc>
                <a:tc>
                  <a:txBody>
                    <a:bodyPr/>
                    <a:lstStyle/>
                    <a:p>
                      <a:pPr algn="ctr"/>
                      <a:r>
                        <a:rPr lang="en-US" dirty="0"/>
                        <a:t>5</a:t>
                      </a:r>
                    </a:p>
                  </a:txBody>
                  <a:tcPr>
                    <a:lnB w="12700" cap="flat" cmpd="sng" algn="ctr">
                      <a:solidFill>
                        <a:schemeClr val="tx1"/>
                      </a:solidFill>
                      <a:prstDash val="solid"/>
                      <a:round/>
                      <a:headEnd type="none" w="med" len="med"/>
                      <a:tailEnd type="none" w="med" len="med"/>
                    </a:lnB>
                  </a:tcPr>
                </a:tc>
                <a:tc>
                  <a:txBody>
                    <a:bodyPr/>
                    <a:lstStyle/>
                    <a:p>
                      <a:pPr algn="ctr"/>
                      <a:r>
                        <a:rPr lang="en-US" dirty="0"/>
                        <a:t>6</a:t>
                      </a:r>
                    </a:p>
                  </a:txBody>
                  <a:tcPr>
                    <a:lnB w="12700" cap="flat" cmpd="sng" algn="ctr">
                      <a:solidFill>
                        <a:schemeClr val="tx1"/>
                      </a:solidFill>
                      <a:prstDash val="solid"/>
                      <a:round/>
                      <a:headEnd type="none" w="med" len="med"/>
                      <a:tailEnd type="none" w="med" len="med"/>
                    </a:lnB>
                  </a:tcPr>
                </a:tc>
                <a:tc>
                  <a:txBody>
                    <a:bodyPr/>
                    <a:lstStyle/>
                    <a:p>
                      <a:pPr algn="ctr"/>
                      <a:r>
                        <a:rPr lang="en-US" dirty="0"/>
                        <a: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zh-CN" altLang="en-US" dirty="0"/>
                        <a:t>值</a:t>
                      </a:r>
                      <a:endParaRPr lang="en-US" dirty="0"/>
                    </a:p>
                  </a:txBody>
                  <a:tcPr>
                    <a:lnR w="12700" cap="flat" cmpd="sng" algn="ctr">
                      <a:solidFill>
                        <a:schemeClr val="tx1"/>
                      </a:solidFill>
                      <a:prstDash val="solid"/>
                      <a:round/>
                      <a:headEnd type="none" w="med" len="med"/>
                      <a:tailEnd type="none" w="med" len="med"/>
                    </a:lnR>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9" name="组合 8"/>
          <p:cNvGrpSpPr/>
          <p:nvPr>
            <p:custDataLst>
              <p:tags r:id="rId5"/>
            </p:custDataLst>
          </p:nvPr>
        </p:nvGrpSpPr>
        <p:grpSpPr>
          <a:xfrm>
            <a:off x="0" y="0"/>
            <a:ext cx="9144000" cy="635000"/>
            <a:chOff x="0" y="0"/>
            <a:chExt cx="9144000" cy="635000"/>
          </a:xfrm>
        </p:grpSpPr>
        <p:sp>
          <p:nvSpPr>
            <p:cNvPr id="5"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6"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932474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线性表的链式存储</a:t>
            </a:r>
          </a:p>
        </p:txBody>
      </p:sp>
      <p:sp>
        <p:nvSpPr>
          <p:cNvPr id="33795" name="内容占位符 2"/>
          <p:cNvSpPr>
            <a:spLocks noGrp="1"/>
          </p:cNvSpPr>
          <p:nvPr>
            <p:ph idx="1"/>
          </p:nvPr>
        </p:nvSpPr>
        <p:spPr>
          <a:xfrm>
            <a:off x="468313" y="1125538"/>
            <a:ext cx="8207375" cy="3736975"/>
          </a:xfrm>
        </p:spPr>
        <p:txBody>
          <a:bodyPr vert="horz" wrap="square" lIns="91440" tIns="45720" rIns="91440" bIns="45720" anchor="t"/>
          <a:lstStyle/>
          <a:p>
            <a:r>
              <a:rPr lang="zh-CN" altLang="en-US" dirty="0">
                <a:latin typeface="+mn-lt"/>
                <a:ea typeface="+mn-ea"/>
                <a:cs typeface="+mn-cs"/>
              </a:rPr>
              <a:t>用一组任意的存储单元存储线性表的数据元素</a:t>
            </a:r>
            <a:endParaRPr lang="en-US" altLang="zh-CN" dirty="0">
              <a:latin typeface="+mn-lt"/>
              <a:ea typeface="+mn-ea"/>
              <a:cs typeface="+mn-cs"/>
            </a:endParaRPr>
          </a:p>
          <a:p>
            <a:pPr lvl="1"/>
            <a:r>
              <a:rPr lang="zh-CN" altLang="en-US" dirty="0">
                <a:cs typeface="+mn-cs"/>
              </a:rPr>
              <a:t>可以是连续的，也可以是不连续的</a:t>
            </a:r>
            <a:endParaRPr lang="en-US" altLang="zh-CN" dirty="0">
              <a:cs typeface="+mn-cs"/>
            </a:endParaRPr>
          </a:p>
          <a:p>
            <a:r>
              <a:rPr lang="zh-CN" altLang="en-US" dirty="0">
                <a:latin typeface="+mn-lt"/>
                <a:ea typeface="+mn-ea"/>
                <a:cs typeface="+mn-cs"/>
              </a:rPr>
              <a:t>逻辑上相邻的元素之间的物理位置是通过指针的指向来实现的</a:t>
            </a:r>
            <a:endParaRPr lang="en-US" altLang="zh-CN" dirty="0">
              <a:latin typeface="+mn-lt"/>
              <a:ea typeface="+mn-ea"/>
              <a:cs typeface="+mn-cs"/>
            </a:endParaRPr>
          </a:p>
          <a:p>
            <a:r>
              <a:rPr lang="zh-CN" altLang="en-US" dirty="0">
                <a:latin typeface="+mn-lt"/>
                <a:ea typeface="+mn-ea"/>
                <a:cs typeface="+mn-cs"/>
              </a:rPr>
              <a:t>每个数据元素不仅要表示它的</a:t>
            </a:r>
            <a:r>
              <a:rPr lang="zh-CN" altLang="en-US" dirty="0">
                <a:solidFill>
                  <a:srgbClr val="4C34FE"/>
                </a:solidFill>
                <a:latin typeface="+mn-lt"/>
                <a:ea typeface="+mn-ea"/>
                <a:cs typeface="+mn-cs"/>
              </a:rPr>
              <a:t>具体内容</a:t>
            </a:r>
            <a:r>
              <a:rPr lang="zh-CN" altLang="en-US" dirty="0">
                <a:latin typeface="+mn-lt"/>
                <a:ea typeface="+mn-ea"/>
                <a:cs typeface="+mn-cs"/>
              </a:rPr>
              <a:t>，还要附加一个表示它的</a:t>
            </a:r>
            <a:r>
              <a:rPr lang="zh-CN" altLang="en-US" dirty="0">
                <a:solidFill>
                  <a:srgbClr val="4C34FE"/>
                </a:solidFill>
                <a:latin typeface="+mn-lt"/>
                <a:ea typeface="+mn-ea"/>
                <a:cs typeface="+mn-cs"/>
              </a:rPr>
              <a:t>直接后继元素存储位置的信息</a:t>
            </a:r>
          </a:p>
          <a:p>
            <a:endParaRPr lang="zh-CN" altLang="en-US" dirty="0">
              <a:latin typeface="+mn-lt"/>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grpSp>
        <p:nvGrpSpPr>
          <p:cNvPr id="26" name="组合 25"/>
          <p:cNvGrpSpPr/>
          <p:nvPr/>
        </p:nvGrpSpPr>
        <p:grpSpPr>
          <a:xfrm>
            <a:off x="1835696" y="5589240"/>
            <a:ext cx="5616305" cy="703146"/>
            <a:chOff x="2060157" y="2878766"/>
            <a:chExt cx="5616305" cy="703146"/>
          </a:xfrm>
        </p:grpSpPr>
        <p:grpSp>
          <p:nvGrpSpPr>
            <p:cNvPr id="27" name="Group 5"/>
            <p:cNvGrpSpPr/>
            <p:nvPr/>
          </p:nvGrpSpPr>
          <p:grpSpPr>
            <a:xfrm>
              <a:off x="2060157" y="2879427"/>
              <a:ext cx="5616305" cy="693894"/>
              <a:chOff x="1451" y="-47"/>
              <a:chExt cx="3516" cy="525"/>
            </a:xfrm>
          </p:grpSpPr>
          <p:sp>
            <p:nvSpPr>
              <p:cNvPr id="31" name="Text Box 10"/>
              <p:cNvSpPr txBox="1"/>
              <p:nvPr/>
            </p:nvSpPr>
            <p:spPr>
              <a:xfrm>
                <a:off x="1806" y="-47"/>
                <a:ext cx="377" cy="525"/>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zh-CN" altLang="zh-CN" sz="4000" dirty="0">
                    <a:latin typeface="Times New Roman" panose="02020603050405020304" pitchFamily="18" charset="0"/>
                    <a:ea typeface="宋体" panose="02010600030101010101" pitchFamily="2" charset="-122"/>
                  </a:rPr>
                  <a:t>a</a:t>
                </a:r>
                <a:r>
                  <a:rPr lang="en-US" altLang="zh-CN" sz="4000" baseline="-25000" dirty="0">
                    <a:latin typeface="Times New Roman" panose="02020603050405020304" pitchFamily="18" charset="0"/>
                    <a:ea typeface="宋体" panose="02010600030101010101" pitchFamily="2" charset="-122"/>
                  </a:rPr>
                  <a:t>1</a:t>
                </a:r>
                <a:endParaRPr lang="zh-CN" altLang="zh-CN" sz="1000" baseline="-25000" dirty="0">
                  <a:latin typeface="Times New Roman" panose="02020603050405020304" pitchFamily="18" charset="0"/>
                  <a:ea typeface="宋体" panose="02010600030101010101" pitchFamily="2" charset="-122"/>
                </a:endParaRPr>
              </a:p>
            </p:txBody>
          </p:sp>
          <p:grpSp>
            <p:nvGrpSpPr>
              <p:cNvPr id="32" name="Group 11"/>
              <p:cNvGrpSpPr/>
              <p:nvPr/>
            </p:nvGrpSpPr>
            <p:grpSpPr>
              <a:xfrm>
                <a:off x="1835" y="94"/>
                <a:ext cx="522" cy="350"/>
                <a:chOff x="0" y="0"/>
                <a:chExt cx="840" cy="312"/>
              </a:xfrm>
            </p:grpSpPr>
            <p:sp>
              <p:nvSpPr>
                <p:cNvPr id="52" name="Rectangle 12"/>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53" name="Line 13"/>
                <p:cNvSpPr/>
                <p:nvPr/>
              </p:nvSpPr>
              <p:spPr>
                <a:xfrm>
                  <a:off x="420" y="0"/>
                  <a:ext cx="0" cy="312"/>
                </a:xfrm>
                <a:prstGeom prst="line">
                  <a:avLst/>
                </a:prstGeom>
                <a:ln w="9525" cap="flat" cmpd="sng">
                  <a:solidFill>
                    <a:schemeClr val="tx1"/>
                  </a:solidFill>
                  <a:prstDash val="solid"/>
                  <a:headEnd type="none" w="med" len="med"/>
                  <a:tailEnd type="none" w="med" len="med"/>
                </a:ln>
              </p:spPr>
            </p:sp>
          </p:grpSp>
          <p:grpSp>
            <p:nvGrpSpPr>
              <p:cNvPr id="33" name="Group 14"/>
              <p:cNvGrpSpPr/>
              <p:nvPr/>
            </p:nvGrpSpPr>
            <p:grpSpPr>
              <a:xfrm>
                <a:off x="3575" y="94"/>
                <a:ext cx="522" cy="350"/>
                <a:chOff x="0" y="0"/>
                <a:chExt cx="840" cy="312"/>
              </a:xfrm>
            </p:grpSpPr>
            <p:sp>
              <p:nvSpPr>
                <p:cNvPr id="50" name="Rectangle 15"/>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51" name="Line 16"/>
                <p:cNvSpPr/>
                <p:nvPr/>
              </p:nvSpPr>
              <p:spPr>
                <a:xfrm>
                  <a:off x="420" y="0"/>
                  <a:ext cx="0" cy="312"/>
                </a:xfrm>
                <a:prstGeom prst="line">
                  <a:avLst/>
                </a:prstGeom>
                <a:ln w="9525" cap="flat" cmpd="sng">
                  <a:solidFill>
                    <a:schemeClr val="tx1"/>
                  </a:solidFill>
                  <a:prstDash val="solid"/>
                  <a:headEnd type="none" w="med" len="med"/>
                  <a:tailEnd type="none" w="med" len="med"/>
                </a:ln>
              </p:spPr>
            </p:sp>
          </p:grpSp>
          <p:grpSp>
            <p:nvGrpSpPr>
              <p:cNvPr id="34" name="Group 17"/>
              <p:cNvGrpSpPr/>
              <p:nvPr/>
            </p:nvGrpSpPr>
            <p:grpSpPr>
              <a:xfrm>
                <a:off x="2704" y="94"/>
                <a:ext cx="523" cy="350"/>
                <a:chOff x="0" y="0"/>
                <a:chExt cx="840" cy="312"/>
              </a:xfrm>
            </p:grpSpPr>
            <p:sp>
              <p:nvSpPr>
                <p:cNvPr id="48" name="Rectangle 18"/>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9" name="Line 19"/>
                <p:cNvSpPr/>
                <p:nvPr/>
              </p:nvSpPr>
              <p:spPr>
                <a:xfrm>
                  <a:off x="420" y="0"/>
                  <a:ext cx="0" cy="312"/>
                </a:xfrm>
                <a:prstGeom prst="line">
                  <a:avLst/>
                </a:prstGeom>
                <a:ln w="9525" cap="flat" cmpd="sng">
                  <a:solidFill>
                    <a:schemeClr val="tx1"/>
                  </a:solidFill>
                  <a:prstDash val="solid"/>
                  <a:headEnd type="none" w="med" len="med"/>
                  <a:tailEnd type="none" w="med" len="med"/>
                </a:ln>
              </p:spPr>
            </p:sp>
          </p:grpSp>
          <p:grpSp>
            <p:nvGrpSpPr>
              <p:cNvPr id="35" name="Group 20"/>
              <p:cNvGrpSpPr/>
              <p:nvPr/>
            </p:nvGrpSpPr>
            <p:grpSpPr>
              <a:xfrm>
                <a:off x="4445" y="94"/>
                <a:ext cx="522" cy="350"/>
                <a:chOff x="0" y="0"/>
                <a:chExt cx="840" cy="312"/>
              </a:xfrm>
            </p:grpSpPr>
            <p:sp>
              <p:nvSpPr>
                <p:cNvPr id="46" name="Rectangle 21"/>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7" name="Line 22"/>
                <p:cNvSpPr/>
                <p:nvPr/>
              </p:nvSpPr>
              <p:spPr>
                <a:xfrm>
                  <a:off x="420" y="0"/>
                  <a:ext cx="0" cy="312"/>
                </a:xfrm>
                <a:prstGeom prst="line">
                  <a:avLst/>
                </a:prstGeom>
                <a:ln w="9525" cap="flat" cmpd="sng">
                  <a:solidFill>
                    <a:schemeClr val="tx1"/>
                  </a:solidFill>
                  <a:prstDash val="solid"/>
                  <a:headEnd type="none" w="med" len="med"/>
                  <a:tailEnd type="none" w="med" len="med"/>
                </a:ln>
              </p:spPr>
            </p:sp>
          </p:grpSp>
          <p:sp>
            <p:nvSpPr>
              <p:cNvPr id="36" name="Line 23"/>
              <p:cNvSpPr/>
              <p:nvPr/>
            </p:nvSpPr>
            <p:spPr>
              <a:xfrm>
                <a:off x="1451" y="175"/>
                <a:ext cx="388" cy="94"/>
              </a:xfrm>
              <a:prstGeom prst="line">
                <a:avLst/>
              </a:prstGeom>
              <a:ln w="9525" cap="flat" cmpd="sng">
                <a:solidFill>
                  <a:schemeClr val="tx1"/>
                </a:solidFill>
                <a:prstDash val="solid"/>
                <a:headEnd type="none" w="med" len="med"/>
                <a:tailEnd type="triangle" w="med" len="med"/>
              </a:ln>
            </p:spPr>
          </p:sp>
          <p:sp>
            <p:nvSpPr>
              <p:cNvPr id="37" name="Line 24"/>
              <p:cNvSpPr/>
              <p:nvPr/>
            </p:nvSpPr>
            <p:spPr>
              <a:xfrm>
                <a:off x="2226" y="269"/>
                <a:ext cx="457" cy="0"/>
              </a:xfrm>
              <a:prstGeom prst="line">
                <a:avLst/>
              </a:prstGeom>
              <a:ln w="9525" cap="flat" cmpd="sng">
                <a:solidFill>
                  <a:schemeClr val="tx1"/>
                </a:solidFill>
                <a:prstDash val="solid"/>
                <a:headEnd type="none" w="med" len="med"/>
                <a:tailEnd type="triangle" w="med" len="med"/>
              </a:ln>
            </p:spPr>
          </p:sp>
          <p:sp>
            <p:nvSpPr>
              <p:cNvPr id="38" name="Line 25"/>
              <p:cNvSpPr/>
              <p:nvPr/>
            </p:nvSpPr>
            <p:spPr>
              <a:xfrm>
                <a:off x="3140" y="269"/>
                <a:ext cx="431" cy="0"/>
              </a:xfrm>
              <a:prstGeom prst="line">
                <a:avLst/>
              </a:prstGeom>
              <a:ln w="9525" cap="flat" cmpd="sng">
                <a:solidFill>
                  <a:schemeClr val="tx1"/>
                </a:solidFill>
                <a:prstDash val="solid"/>
                <a:headEnd type="none" w="med" len="med"/>
                <a:tailEnd type="triangle" w="med" len="med"/>
              </a:ln>
            </p:spPr>
          </p:sp>
          <p:sp>
            <p:nvSpPr>
              <p:cNvPr id="39" name="Line 26"/>
              <p:cNvSpPr/>
              <p:nvPr/>
            </p:nvSpPr>
            <p:spPr>
              <a:xfrm>
                <a:off x="3988" y="269"/>
                <a:ext cx="457" cy="0"/>
              </a:xfrm>
              <a:prstGeom prst="line">
                <a:avLst/>
              </a:prstGeom>
              <a:ln w="9525" cap="flat" cmpd="sng">
                <a:solidFill>
                  <a:schemeClr val="tx1"/>
                </a:solidFill>
                <a:prstDash val="solid"/>
                <a:headEnd type="none" w="med" len="med"/>
                <a:tailEnd type="triangle" w="med" len="med"/>
              </a:ln>
            </p:spPr>
          </p:sp>
        </p:grpSp>
        <p:sp>
          <p:nvSpPr>
            <p:cNvPr id="28" name="Text Box 10"/>
            <p:cNvSpPr txBox="1"/>
            <p:nvPr/>
          </p:nvSpPr>
          <p:spPr>
            <a:xfrm>
              <a:off x="3995936" y="2888018"/>
              <a:ext cx="602203" cy="693894"/>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zh-CN" altLang="zh-CN" sz="4000" dirty="0">
                  <a:latin typeface="Times New Roman" panose="02020603050405020304" pitchFamily="18" charset="0"/>
                  <a:ea typeface="宋体" panose="02010600030101010101" pitchFamily="2" charset="-122"/>
                </a:rPr>
                <a:t>a</a:t>
              </a:r>
              <a:r>
                <a:rPr lang="en-US" altLang="zh-CN" sz="4000" baseline="-25000" dirty="0">
                  <a:latin typeface="Times New Roman" panose="02020603050405020304" pitchFamily="18" charset="0"/>
                  <a:ea typeface="宋体" panose="02010600030101010101" pitchFamily="2" charset="-122"/>
                </a:rPr>
                <a:t>2</a:t>
              </a:r>
              <a:endParaRPr lang="zh-CN" altLang="zh-CN" sz="1000" baseline="-25000" dirty="0">
                <a:latin typeface="Times New Roman" panose="02020603050405020304" pitchFamily="18" charset="0"/>
                <a:ea typeface="宋体" panose="02010600030101010101" pitchFamily="2" charset="-122"/>
              </a:endParaRPr>
            </a:p>
          </p:txBody>
        </p:sp>
        <p:sp>
          <p:nvSpPr>
            <p:cNvPr id="29" name="Text Box 10"/>
            <p:cNvSpPr txBox="1"/>
            <p:nvPr/>
          </p:nvSpPr>
          <p:spPr>
            <a:xfrm>
              <a:off x="6784337" y="2878766"/>
              <a:ext cx="602203" cy="693894"/>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zh-CN" altLang="zh-CN" sz="4000" dirty="0">
                  <a:latin typeface="Times New Roman" panose="02020603050405020304" pitchFamily="18" charset="0"/>
                  <a:ea typeface="宋体" panose="02010600030101010101" pitchFamily="2" charset="-122"/>
                </a:rPr>
                <a:t>a</a:t>
              </a:r>
              <a:r>
                <a:rPr lang="en-US" altLang="zh-CN" sz="4000" baseline="-25000" dirty="0">
                  <a:latin typeface="Times New Roman" panose="02020603050405020304" pitchFamily="18" charset="0"/>
                  <a:ea typeface="宋体" panose="02010600030101010101" pitchFamily="2" charset="-122"/>
                </a:rPr>
                <a:t>n</a:t>
              </a:r>
              <a:endParaRPr lang="zh-CN" altLang="zh-CN" sz="1000" baseline="-25000" dirty="0">
                <a:latin typeface="Times New Roman" panose="02020603050405020304" pitchFamily="18" charset="0"/>
                <a:ea typeface="宋体" panose="02010600030101010101" pitchFamily="2" charset="-122"/>
              </a:endParaRPr>
            </a:p>
          </p:txBody>
        </p:sp>
        <p:sp>
          <p:nvSpPr>
            <p:cNvPr id="30" name="Text Box 10"/>
            <p:cNvSpPr txBox="1"/>
            <p:nvPr/>
          </p:nvSpPr>
          <p:spPr>
            <a:xfrm>
              <a:off x="5334397" y="2888018"/>
              <a:ext cx="602203" cy="693894"/>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en-US" altLang="zh-CN" sz="4000" dirty="0">
                  <a:latin typeface="Times New Roman" panose="02020603050405020304" pitchFamily="18" charset="0"/>
                  <a:ea typeface="宋体" panose="02010600030101010101" pitchFamily="2" charset="-122"/>
                </a:rPr>
                <a:t>…</a:t>
              </a:r>
              <a:endParaRPr lang="zh-CN" altLang="zh-CN" sz="1000" baseline="-2500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randombar(horizontal)">
                                      <p:cBhvr>
                                        <p:cTn id="7" dur="500"/>
                                        <p:tgtEl>
                                          <p:spTgt spid="33795">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3795">
                                            <p:txEl>
                                              <p:pRg st="1" end="1"/>
                                            </p:txEl>
                                          </p:spTgt>
                                        </p:tgtEl>
                                        <p:attrNameLst>
                                          <p:attrName>style.visibility</p:attrName>
                                        </p:attrNameLst>
                                      </p:cBhvr>
                                      <p:to>
                                        <p:strVal val="visible"/>
                                      </p:to>
                                    </p:set>
                                    <p:animEffect transition="in" filter="randombar(horizontal)">
                                      <p:cBhvr>
                                        <p:cTn id="10" dur="500"/>
                                        <p:tgtEl>
                                          <p:spTgt spid="3379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animEffect transition="in" filter="randombar(horizontal)">
                                      <p:cBhvr>
                                        <p:cTn id="15" dur="500"/>
                                        <p:tgtEl>
                                          <p:spTgt spid="3379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3795">
                                            <p:txEl>
                                              <p:pRg st="3" end="3"/>
                                            </p:txEl>
                                          </p:spTgt>
                                        </p:tgtEl>
                                        <p:attrNameLst>
                                          <p:attrName>style.visibility</p:attrName>
                                        </p:attrNameLst>
                                      </p:cBhvr>
                                      <p:to>
                                        <p:strVal val="visible"/>
                                      </p:to>
                                    </p:set>
                                    <p:animEffect transition="in" filter="randombar(horizontal)">
                                      <p:cBhvr>
                                        <p:cTn id="20" dur="500"/>
                                        <p:tgtEl>
                                          <p:spTgt spid="33795">
                                            <p:txEl>
                                              <p:pRg st="3" end="3"/>
                                            </p:txEl>
                                          </p:spTgt>
                                        </p:tgtEl>
                                      </p:cBhvr>
                                    </p:animEffec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线性表的链式存储</a:t>
            </a:r>
          </a:p>
        </p:txBody>
      </p:sp>
      <p:sp>
        <p:nvSpPr>
          <p:cNvPr id="34819" name="内容占位符 2"/>
          <p:cNvSpPr>
            <a:spLocks noGrp="1"/>
          </p:cNvSpPr>
          <p:nvPr>
            <p:ph idx="1"/>
          </p:nvPr>
        </p:nvSpPr>
        <p:spPr>
          <a:xfrm>
            <a:off x="468313" y="1125538"/>
            <a:ext cx="8207375" cy="5183782"/>
          </a:xfrm>
        </p:spPr>
        <p:txBody>
          <a:bodyPr vert="horz" wrap="square" lIns="91440" tIns="45720" rIns="91440" bIns="45720" anchor="t"/>
          <a:lstStyle/>
          <a:p>
            <a:r>
              <a:rPr lang="zh-CN" altLang="en-US" dirty="0">
                <a:latin typeface="+mn-lt"/>
                <a:ea typeface="+mn-ea"/>
                <a:cs typeface="+mn-cs"/>
              </a:rPr>
              <a:t>表示每个数据元素的两部分信息组合在一起被称为</a:t>
            </a:r>
            <a:r>
              <a:rPr lang="zh-CN" altLang="en-US" dirty="0">
                <a:solidFill>
                  <a:srgbClr val="FF0000"/>
                </a:solidFill>
                <a:latin typeface="+mn-lt"/>
                <a:ea typeface="+mn-ea"/>
                <a:cs typeface="+mn-cs"/>
              </a:rPr>
              <a:t>结点</a:t>
            </a:r>
            <a:endParaRPr lang="en-US" altLang="zh-CN" dirty="0">
              <a:latin typeface="+mn-lt"/>
              <a:ea typeface="+mn-ea"/>
              <a:cs typeface="+mn-cs"/>
            </a:endParaRPr>
          </a:p>
          <a:p>
            <a:pPr lvl="1"/>
            <a:r>
              <a:rPr lang="zh-CN" altLang="en-US" dirty="0">
                <a:latin typeface="+mn-lt"/>
                <a:ea typeface="+mn-ea"/>
              </a:rPr>
              <a:t>其中表示数据元素内容的部分被称为</a:t>
            </a:r>
            <a:r>
              <a:rPr lang="zh-CN" altLang="en-US" dirty="0">
                <a:solidFill>
                  <a:srgbClr val="FF0000"/>
                </a:solidFill>
                <a:latin typeface="+mn-lt"/>
                <a:ea typeface="+mn-ea"/>
              </a:rPr>
              <a:t>数据域</a:t>
            </a:r>
            <a:endParaRPr lang="en-US" altLang="zh-CN" dirty="0">
              <a:latin typeface="+mn-lt"/>
              <a:ea typeface="+mn-ea"/>
            </a:endParaRPr>
          </a:p>
          <a:p>
            <a:pPr lvl="1"/>
            <a:r>
              <a:rPr lang="zh-CN" altLang="en-US" dirty="0">
                <a:latin typeface="+mn-lt"/>
                <a:ea typeface="+mn-ea"/>
              </a:rPr>
              <a:t>表示直接后继元素存储地址的部分被称为指针或</a:t>
            </a:r>
            <a:r>
              <a:rPr lang="zh-CN" altLang="en-US" dirty="0">
                <a:solidFill>
                  <a:srgbClr val="FF0000"/>
                </a:solidFill>
                <a:latin typeface="+mn-lt"/>
                <a:ea typeface="+mn-ea"/>
              </a:rPr>
              <a:t>指针域</a:t>
            </a:r>
            <a:endParaRPr lang="en-US" altLang="zh-CN" dirty="0">
              <a:latin typeface="+mn-lt"/>
              <a:ea typeface="+mn-ea"/>
            </a:endParaRPr>
          </a:p>
          <a:p>
            <a:endParaRPr lang="en-US" altLang="zh-CN" dirty="0">
              <a:latin typeface="+mn-lt"/>
              <a:ea typeface="+mn-ea"/>
              <a:cs typeface="+mn-cs"/>
            </a:endParaRPr>
          </a:p>
          <a:p>
            <a:endParaRPr lang="en-US" altLang="zh-CN" dirty="0"/>
          </a:p>
          <a:p>
            <a:r>
              <a:rPr lang="zh-CN" altLang="en-US" dirty="0">
                <a:latin typeface="+mn-lt"/>
                <a:ea typeface="+mn-ea"/>
                <a:cs typeface="+mn-cs"/>
              </a:rPr>
              <a:t>单链表中最后一个结点没有直接后继，它的指针域放入一个特殊的值</a:t>
            </a:r>
            <a:r>
              <a:rPr lang="en-US" altLang="zh-CN" dirty="0">
                <a:latin typeface="+mn-lt"/>
                <a:ea typeface="+mn-ea"/>
                <a:cs typeface="+mn-cs"/>
              </a:rPr>
              <a:t>NULL</a:t>
            </a:r>
          </a:p>
        </p:txBody>
      </p:sp>
      <p:grpSp>
        <p:nvGrpSpPr>
          <p:cNvPr id="31749" name="组合 1"/>
          <p:cNvGrpSpPr/>
          <p:nvPr/>
        </p:nvGrpSpPr>
        <p:grpSpPr>
          <a:xfrm>
            <a:off x="3347864" y="3861048"/>
            <a:ext cx="1728788" cy="792163"/>
            <a:chOff x="2987675" y="4437112"/>
            <a:chExt cx="1728788" cy="792163"/>
          </a:xfrm>
        </p:grpSpPr>
        <p:sp>
          <p:nvSpPr>
            <p:cNvPr id="31751" name="TextBox 92"/>
            <p:cNvSpPr txBox="1"/>
            <p:nvPr/>
          </p:nvSpPr>
          <p:spPr>
            <a:xfrm>
              <a:off x="2987675" y="4437112"/>
              <a:ext cx="1728788"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eaLnBrk="1" hangingPunct="1">
                <a:spcBef>
                  <a:spcPct val="0"/>
                </a:spcBef>
                <a:buClrTx/>
                <a:buNone/>
              </a:pPr>
              <a:r>
                <a:rPr lang="en-US" altLang="zh-CN" sz="1800" dirty="0">
                  <a:ea typeface="宋体" panose="02010600030101010101" pitchFamily="2" charset="-122"/>
                </a:rPr>
                <a:t>data    next</a:t>
              </a:r>
              <a:endParaRPr lang="zh-CN" altLang="en-US" sz="1800" dirty="0">
                <a:ea typeface="宋体" panose="02010600030101010101" pitchFamily="2" charset="-122"/>
              </a:endParaRPr>
            </a:p>
          </p:txBody>
        </p:sp>
        <p:sp>
          <p:nvSpPr>
            <p:cNvPr id="31752" name="矩形 119"/>
            <p:cNvSpPr/>
            <p:nvPr/>
          </p:nvSpPr>
          <p:spPr>
            <a:xfrm>
              <a:off x="3132138" y="4797475"/>
              <a:ext cx="576262" cy="431800"/>
            </a:xfrm>
            <a:prstGeom prst="rect">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eaLnBrk="1" hangingPunct="1">
                <a:spcBef>
                  <a:spcPct val="0"/>
                </a:spcBef>
                <a:buClrTx/>
                <a:buNone/>
              </a:pPr>
              <a:endParaRPr lang="zh-CN" altLang="en-US" sz="1800" i="1" dirty="0"/>
            </a:p>
          </p:txBody>
        </p:sp>
        <p:sp>
          <p:nvSpPr>
            <p:cNvPr id="31753" name="矩形 120"/>
            <p:cNvSpPr/>
            <p:nvPr/>
          </p:nvSpPr>
          <p:spPr>
            <a:xfrm>
              <a:off x="3708400" y="4797475"/>
              <a:ext cx="574675" cy="431800"/>
            </a:xfrm>
            <a:prstGeom prst="rect">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eaLnBrk="1" hangingPunct="1">
                <a:spcBef>
                  <a:spcPct val="0"/>
                </a:spcBef>
                <a:buClrTx/>
                <a:buNone/>
              </a:pPr>
              <a:endParaRPr lang="zh-CN" altLang="en-US" sz="1800" i="1" dirty="0"/>
            </a:p>
          </p:txBody>
        </p:sp>
        <p:cxnSp>
          <p:nvCxnSpPr>
            <p:cNvPr id="31754" name="直接箭头连接符 140"/>
            <p:cNvCxnSpPr/>
            <p:nvPr/>
          </p:nvCxnSpPr>
          <p:spPr>
            <a:xfrm>
              <a:off x="4140200" y="5013375"/>
              <a:ext cx="503238" cy="0"/>
            </a:xfrm>
            <a:prstGeom prst="straightConnector1">
              <a:avLst/>
            </a:prstGeom>
            <a:ln w="9525" cap="flat" cmpd="sng">
              <a:solidFill>
                <a:schemeClr val="tx1"/>
              </a:solidFill>
              <a:prstDash val="solid"/>
              <a:headEnd type="none" w="med" len="med"/>
              <a:tailEnd type="arrow" w="med" len="med"/>
            </a:ln>
          </p:spPr>
        </p:cxnSp>
      </p:gr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8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线性表的链式存储</a:t>
            </a:r>
          </a:p>
        </p:txBody>
      </p:sp>
      <p:sp>
        <p:nvSpPr>
          <p:cNvPr id="32771" name="内容占位符 2"/>
          <p:cNvSpPr>
            <a:spLocks noGrp="1"/>
          </p:cNvSpPr>
          <p:nvPr>
            <p:ph idx="1"/>
          </p:nvPr>
        </p:nvSpPr>
        <p:spPr/>
        <p:txBody>
          <a:bodyPr vert="horz" wrap="square" lIns="91440" tIns="45720" rIns="91440" bIns="45720" anchor="t"/>
          <a:lstStyle/>
          <a:p>
            <a:r>
              <a:rPr lang="zh-CN" altLang="en-US" dirty="0">
                <a:latin typeface="+mn-lt"/>
                <a:ea typeface="+mn-ea"/>
                <a:cs typeface="+mn-cs"/>
              </a:rPr>
              <a:t>为了简化对链表的操作，人们经常在链表的第一个数据结点之前附加一个结点，并称为</a:t>
            </a:r>
            <a:r>
              <a:rPr lang="zh-CN" altLang="en-US" dirty="0">
                <a:solidFill>
                  <a:srgbClr val="4C34FE"/>
                </a:solidFill>
                <a:latin typeface="+mn-lt"/>
                <a:ea typeface="+mn-ea"/>
                <a:cs typeface="+mn-cs"/>
              </a:rPr>
              <a:t>头结点</a:t>
            </a:r>
          </a:p>
          <a:p>
            <a:endParaRPr lang="zh-CN" altLang="en-US" dirty="0">
              <a:latin typeface="+mn-lt"/>
              <a:ea typeface="+mn-ea"/>
              <a:cs typeface="+mn-cs"/>
            </a:endParaRPr>
          </a:p>
        </p:txBody>
      </p:sp>
      <p:grpSp>
        <p:nvGrpSpPr>
          <p:cNvPr id="3" name="组合 2"/>
          <p:cNvGrpSpPr/>
          <p:nvPr/>
        </p:nvGrpSpPr>
        <p:grpSpPr>
          <a:xfrm>
            <a:off x="971550" y="2676425"/>
            <a:ext cx="7092262" cy="703146"/>
            <a:chOff x="584200" y="2878766"/>
            <a:chExt cx="7092262" cy="703146"/>
          </a:xfrm>
        </p:grpSpPr>
        <p:grpSp>
          <p:nvGrpSpPr>
            <p:cNvPr id="32774" name="Group 5"/>
            <p:cNvGrpSpPr/>
            <p:nvPr/>
          </p:nvGrpSpPr>
          <p:grpSpPr>
            <a:xfrm>
              <a:off x="584200" y="2879427"/>
              <a:ext cx="7092262" cy="693894"/>
              <a:chOff x="527" y="-47"/>
              <a:chExt cx="4440" cy="525"/>
            </a:xfrm>
          </p:grpSpPr>
          <p:sp>
            <p:nvSpPr>
              <p:cNvPr id="32779" name="Text Box 10"/>
              <p:cNvSpPr txBox="1"/>
              <p:nvPr/>
            </p:nvSpPr>
            <p:spPr>
              <a:xfrm>
                <a:off x="1806" y="-47"/>
                <a:ext cx="377" cy="525"/>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zh-CN" altLang="zh-CN" sz="4000" dirty="0">
                    <a:latin typeface="Times New Roman" panose="02020603050405020304" pitchFamily="18" charset="0"/>
                    <a:ea typeface="宋体" panose="02010600030101010101" pitchFamily="2" charset="-122"/>
                  </a:rPr>
                  <a:t>a</a:t>
                </a:r>
                <a:r>
                  <a:rPr lang="en-US" altLang="zh-CN" sz="4000" baseline="-25000" dirty="0">
                    <a:latin typeface="Times New Roman" panose="02020603050405020304" pitchFamily="18" charset="0"/>
                    <a:ea typeface="宋体" panose="02010600030101010101" pitchFamily="2" charset="-122"/>
                  </a:rPr>
                  <a:t>1</a:t>
                </a:r>
                <a:endParaRPr lang="zh-CN" altLang="zh-CN" sz="1000" baseline="-25000" dirty="0">
                  <a:latin typeface="Times New Roman" panose="02020603050405020304" pitchFamily="18" charset="0"/>
                  <a:ea typeface="宋体" panose="02010600030101010101" pitchFamily="2" charset="-122"/>
                </a:endParaRPr>
              </a:p>
            </p:txBody>
          </p:sp>
          <p:grpSp>
            <p:nvGrpSpPr>
              <p:cNvPr id="32780" name="Group 11"/>
              <p:cNvGrpSpPr/>
              <p:nvPr/>
            </p:nvGrpSpPr>
            <p:grpSpPr>
              <a:xfrm>
                <a:off x="1835" y="94"/>
                <a:ext cx="522" cy="350"/>
                <a:chOff x="0" y="0"/>
                <a:chExt cx="840" cy="312"/>
              </a:xfrm>
            </p:grpSpPr>
            <p:sp>
              <p:nvSpPr>
                <p:cNvPr id="32800" name="Rectangle 12"/>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32801" name="Line 13"/>
                <p:cNvSpPr/>
                <p:nvPr/>
              </p:nvSpPr>
              <p:spPr>
                <a:xfrm>
                  <a:off x="420" y="0"/>
                  <a:ext cx="0" cy="312"/>
                </a:xfrm>
                <a:prstGeom prst="line">
                  <a:avLst/>
                </a:prstGeom>
                <a:ln w="9525" cap="flat" cmpd="sng">
                  <a:solidFill>
                    <a:schemeClr val="tx1"/>
                  </a:solidFill>
                  <a:prstDash val="solid"/>
                  <a:headEnd type="none" w="med" len="med"/>
                  <a:tailEnd type="none" w="med" len="med"/>
                </a:ln>
              </p:spPr>
            </p:sp>
          </p:grpSp>
          <p:grpSp>
            <p:nvGrpSpPr>
              <p:cNvPr id="32781" name="Group 14"/>
              <p:cNvGrpSpPr/>
              <p:nvPr/>
            </p:nvGrpSpPr>
            <p:grpSpPr>
              <a:xfrm>
                <a:off x="3575" y="94"/>
                <a:ext cx="522" cy="350"/>
                <a:chOff x="0" y="0"/>
                <a:chExt cx="840" cy="312"/>
              </a:xfrm>
            </p:grpSpPr>
            <p:sp>
              <p:nvSpPr>
                <p:cNvPr id="32798" name="Rectangle 15"/>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32799" name="Line 16"/>
                <p:cNvSpPr/>
                <p:nvPr/>
              </p:nvSpPr>
              <p:spPr>
                <a:xfrm>
                  <a:off x="420" y="0"/>
                  <a:ext cx="0" cy="312"/>
                </a:xfrm>
                <a:prstGeom prst="line">
                  <a:avLst/>
                </a:prstGeom>
                <a:ln w="9525" cap="flat" cmpd="sng">
                  <a:solidFill>
                    <a:schemeClr val="tx1"/>
                  </a:solidFill>
                  <a:prstDash val="solid"/>
                  <a:headEnd type="none" w="med" len="med"/>
                  <a:tailEnd type="none" w="med" len="med"/>
                </a:ln>
              </p:spPr>
            </p:sp>
          </p:grpSp>
          <p:grpSp>
            <p:nvGrpSpPr>
              <p:cNvPr id="32782" name="Group 17"/>
              <p:cNvGrpSpPr/>
              <p:nvPr/>
            </p:nvGrpSpPr>
            <p:grpSpPr>
              <a:xfrm>
                <a:off x="2704" y="94"/>
                <a:ext cx="523" cy="350"/>
                <a:chOff x="0" y="0"/>
                <a:chExt cx="840" cy="312"/>
              </a:xfrm>
            </p:grpSpPr>
            <p:sp>
              <p:nvSpPr>
                <p:cNvPr id="32796" name="Rectangle 18"/>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32797" name="Line 19"/>
                <p:cNvSpPr/>
                <p:nvPr/>
              </p:nvSpPr>
              <p:spPr>
                <a:xfrm>
                  <a:off x="420" y="0"/>
                  <a:ext cx="0" cy="312"/>
                </a:xfrm>
                <a:prstGeom prst="line">
                  <a:avLst/>
                </a:prstGeom>
                <a:ln w="9525" cap="flat" cmpd="sng">
                  <a:solidFill>
                    <a:schemeClr val="tx1"/>
                  </a:solidFill>
                  <a:prstDash val="solid"/>
                  <a:headEnd type="none" w="med" len="med"/>
                  <a:tailEnd type="none" w="med" len="med"/>
                </a:ln>
              </p:spPr>
            </p:sp>
          </p:grpSp>
          <p:grpSp>
            <p:nvGrpSpPr>
              <p:cNvPr id="32783" name="Group 20"/>
              <p:cNvGrpSpPr/>
              <p:nvPr/>
            </p:nvGrpSpPr>
            <p:grpSpPr>
              <a:xfrm>
                <a:off x="4445" y="94"/>
                <a:ext cx="522" cy="350"/>
                <a:chOff x="0" y="0"/>
                <a:chExt cx="840" cy="312"/>
              </a:xfrm>
            </p:grpSpPr>
            <p:sp>
              <p:nvSpPr>
                <p:cNvPr id="32794" name="Rectangle 21"/>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32795" name="Line 22"/>
                <p:cNvSpPr/>
                <p:nvPr/>
              </p:nvSpPr>
              <p:spPr>
                <a:xfrm>
                  <a:off x="420" y="0"/>
                  <a:ext cx="0" cy="312"/>
                </a:xfrm>
                <a:prstGeom prst="line">
                  <a:avLst/>
                </a:prstGeom>
                <a:ln w="9525" cap="flat" cmpd="sng">
                  <a:solidFill>
                    <a:schemeClr val="tx1"/>
                  </a:solidFill>
                  <a:prstDash val="solid"/>
                  <a:headEnd type="none" w="med" len="med"/>
                  <a:tailEnd type="none" w="med" len="med"/>
                </a:ln>
              </p:spPr>
            </p:sp>
          </p:grpSp>
          <p:sp>
            <p:nvSpPr>
              <p:cNvPr id="32784" name="Line 23"/>
              <p:cNvSpPr/>
              <p:nvPr/>
            </p:nvSpPr>
            <p:spPr>
              <a:xfrm>
                <a:off x="527" y="175"/>
                <a:ext cx="388" cy="94"/>
              </a:xfrm>
              <a:prstGeom prst="line">
                <a:avLst/>
              </a:prstGeom>
              <a:ln w="9525" cap="flat" cmpd="sng">
                <a:solidFill>
                  <a:schemeClr val="tx1"/>
                </a:solidFill>
                <a:prstDash val="solid"/>
                <a:headEnd type="none" w="med" len="med"/>
                <a:tailEnd type="triangle" w="med" len="med"/>
              </a:ln>
            </p:spPr>
          </p:sp>
          <p:sp>
            <p:nvSpPr>
              <p:cNvPr id="32785" name="Line 24"/>
              <p:cNvSpPr/>
              <p:nvPr/>
            </p:nvSpPr>
            <p:spPr>
              <a:xfrm>
                <a:off x="2226" y="269"/>
                <a:ext cx="457" cy="0"/>
              </a:xfrm>
              <a:prstGeom prst="line">
                <a:avLst/>
              </a:prstGeom>
              <a:ln w="9525" cap="flat" cmpd="sng">
                <a:solidFill>
                  <a:schemeClr val="tx1"/>
                </a:solidFill>
                <a:prstDash val="solid"/>
                <a:headEnd type="none" w="med" len="med"/>
                <a:tailEnd type="triangle" w="med" len="med"/>
              </a:ln>
            </p:spPr>
          </p:sp>
          <p:sp>
            <p:nvSpPr>
              <p:cNvPr id="32786" name="Line 25"/>
              <p:cNvSpPr/>
              <p:nvPr/>
            </p:nvSpPr>
            <p:spPr>
              <a:xfrm>
                <a:off x="3140" y="269"/>
                <a:ext cx="435" cy="0"/>
              </a:xfrm>
              <a:prstGeom prst="line">
                <a:avLst/>
              </a:prstGeom>
              <a:ln w="9525" cap="flat" cmpd="sng">
                <a:solidFill>
                  <a:schemeClr val="tx1"/>
                </a:solidFill>
                <a:prstDash val="solid"/>
                <a:headEnd type="none" w="med" len="med"/>
                <a:tailEnd type="triangle" w="med" len="med"/>
              </a:ln>
            </p:spPr>
          </p:sp>
          <p:sp>
            <p:nvSpPr>
              <p:cNvPr id="32787" name="Line 26"/>
              <p:cNvSpPr/>
              <p:nvPr/>
            </p:nvSpPr>
            <p:spPr>
              <a:xfrm>
                <a:off x="3988" y="269"/>
                <a:ext cx="457" cy="0"/>
              </a:xfrm>
              <a:prstGeom prst="line">
                <a:avLst/>
              </a:prstGeom>
              <a:ln w="9525" cap="flat" cmpd="sng">
                <a:solidFill>
                  <a:schemeClr val="tx1"/>
                </a:solidFill>
                <a:prstDash val="solid"/>
                <a:headEnd type="none" w="med" len="med"/>
                <a:tailEnd type="triangle" w="med" len="med"/>
              </a:ln>
            </p:spPr>
          </p:sp>
          <p:grpSp>
            <p:nvGrpSpPr>
              <p:cNvPr id="32788" name="Group 27"/>
              <p:cNvGrpSpPr/>
              <p:nvPr/>
            </p:nvGrpSpPr>
            <p:grpSpPr>
              <a:xfrm>
                <a:off x="930" y="94"/>
                <a:ext cx="522" cy="350"/>
                <a:chOff x="0" y="0"/>
                <a:chExt cx="840" cy="312"/>
              </a:xfrm>
            </p:grpSpPr>
            <p:sp>
              <p:nvSpPr>
                <p:cNvPr id="32792" name="Rectangle 28"/>
                <p:cNvSpPr/>
                <p:nvPr/>
              </p:nvSpPr>
              <p:spPr>
                <a:xfrm>
                  <a:off x="0" y="0"/>
                  <a:ext cx="840" cy="3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32793" name="Line 29"/>
                <p:cNvSpPr/>
                <p:nvPr/>
              </p:nvSpPr>
              <p:spPr>
                <a:xfrm>
                  <a:off x="420" y="0"/>
                  <a:ext cx="0" cy="312"/>
                </a:xfrm>
                <a:prstGeom prst="line">
                  <a:avLst/>
                </a:prstGeom>
                <a:ln w="9525" cap="flat" cmpd="sng">
                  <a:solidFill>
                    <a:schemeClr val="tx1"/>
                  </a:solidFill>
                  <a:prstDash val="solid"/>
                  <a:headEnd type="none" w="med" len="med"/>
                  <a:tailEnd type="none" w="med" len="med"/>
                </a:ln>
              </p:spPr>
            </p:sp>
          </p:grpSp>
          <p:sp>
            <p:nvSpPr>
              <p:cNvPr id="32789" name="Line 30"/>
              <p:cNvSpPr/>
              <p:nvPr/>
            </p:nvSpPr>
            <p:spPr>
              <a:xfrm>
                <a:off x="1387" y="269"/>
                <a:ext cx="457" cy="0"/>
              </a:xfrm>
              <a:prstGeom prst="line">
                <a:avLst/>
              </a:prstGeom>
              <a:ln w="9525" cap="flat" cmpd="sng">
                <a:solidFill>
                  <a:schemeClr val="tx1"/>
                </a:solidFill>
                <a:prstDash val="solid"/>
                <a:headEnd type="none" w="med" len="med"/>
                <a:tailEnd type="triangle" w="med" len="med"/>
              </a:ln>
            </p:spPr>
          </p:sp>
          <p:sp>
            <p:nvSpPr>
              <p:cNvPr id="32790" name="Line 31"/>
              <p:cNvSpPr/>
              <p:nvPr/>
            </p:nvSpPr>
            <p:spPr>
              <a:xfrm flipH="1">
                <a:off x="995" y="175"/>
                <a:ext cx="66" cy="175"/>
              </a:xfrm>
              <a:prstGeom prst="line">
                <a:avLst/>
              </a:prstGeom>
              <a:ln w="9525" cap="flat" cmpd="sng">
                <a:solidFill>
                  <a:schemeClr val="tx1"/>
                </a:solidFill>
                <a:prstDash val="solid"/>
                <a:headEnd type="none" w="med" len="med"/>
                <a:tailEnd type="none" w="med" len="med"/>
              </a:ln>
            </p:spPr>
          </p:sp>
          <p:sp>
            <p:nvSpPr>
              <p:cNvPr id="32791" name="Line 32"/>
              <p:cNvSpPr/>
              <p:nvPr/>
            </p:nvSpPr>
            <p:spPr>
              <a:xfrm flipH="1">
                <a:off x="1070" y="215"/>
                <a:ext cx="65" cy="175"/>
              </a:xfrm>
              <a:prstGeom prst="line">
                <a:avLst/>
              </a:prstGeom>
              <a:ln w="9525" cap="flat" cmpd="sng">
                <a:solidFill>
                  <a:schemeClr val="tx1"/>
                </a:solidFill>
                <a:prstDash val="solid"/>
                <a:headEnd type="none" w="med" len="med"/>
                <a:tailEnd type="none" w="med" len="med"/>
              </a:ln>
            </p:spPr>
          </p:sp>
        </p:grpSp>
        <p:sp>
          <p:nvSpPr>
            <p:cNvPr id="34" name="Text Box 10"/>
            <p:cNvSpPr txBox="1"/>
            <p:nvPr/>
          </p:nvSpPr>
          <p:spPr>
            <a:xfrm>
              <a:off x="3995936" y="2888018"/>
              <a:ext cx="602203" cy="693894"/>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zh-CN" altLang="zh-CN" sz="4000" dirty="0">
                  <a:latin typeface="Times New Roman" panose="02020603050405020304" pitchFamily="18" charset="0"/>
                  <a:ea typeface="宋体" panose="02010600030101010101" pitchFamily="2" charset="-122"/>
                </a:rPr>
                <a:t>a</a:t>
              </a:r>
              <a:r>
                <a:rPr lang="en-US" altLang="zh-CN" sz="4000" baseline="-25000" dirty="0">
                  <a:latin typeface="Times New Roman" panose="02020603050405020304" pitchFamily="18" charset="0"/>
                  <a:ea typeface="宋体" panose="02010600030101010101" pitchFamily="2" charset="-122"/>
                </a:rPr>
                <a:t>2</a:t>
              </a:r>
              <a:endParaRPr lang="zh-CN" altLang="zh-CN" sz="1000" baseline="-25000" dirty="0">
                <a:latin typeface="Times New Roman" panose="02020603050405020304" pitchFamily="18" charset="0"/>
                <a:ea typeface="宋体" panose="02010600030101010101" pitchFamily="2" charset="-122"/>
              </a:endParaRPr>
            </a:p>
          </p:txBody>
        </p:sp>
        <p:sp>
          <p:nvSpPr>
            <p:cNvPr id="35" name="Text Box 10"/>
            <p:cNvSpPr txBox="1"/>
            <p:nvPr/>
          </p:nvSpPr>
          <p:spPr>
            <a:xfrm>
              <a:off x="6784337" y="2878766"/>
              <a:ext cx="602203" cy="693894"/>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zh-CN" altLang="zh-CN" sz="4000" dirty="0">
                  <a:latin typeface="Times New Roman" panose="02020603050405020304" pitchFamily="18" charset="0"/>
                  <a:ea typeface="宋体" panose="02010600030101010101" pitchFamily="2" charset="-122"/>
                </a:rPr>
                <a:t>a</a:t>
              </a:r>
              <a:r>
                <a:rPr lang="en-US" altLang="zh-CN" sz="4000" baseline="-25000" dirty="0">
                  <a:latin typeface="Times New Roman" panose="02020603050405020304" pitchFamily="18" charset="0"/>
                  <a:ea typeface="宋体" panose="02010600030101010101" pitchFamily="2" charset="-122"/>
                </a:rPr>
                <a:t>n</a:t>
              </a:r>
              <a:endParaRPr lang="zh-CN" altLang="zh-CN" sz="1000" baseline="-25000" dirty="0">
                <a:latin typeface="Times New Roman" panose="02020603050405020304" pitchFamily="18" charset="0"/>
                <a:ea typeface="宋体" panose="02010600030101010101" pitchFamily="2" charset="-122"/>
              </a:endParaRPr>
            </a:p>
          </p:txBody>
        </p:sp>
        <p:sp>
          <p:nvSpPr>
            <p:cNvPr id="36" name="Text Box 10"/>
            <p:cNvSpPr txBox="1"/>
            <p:nvPr/>
          </p:nvSpPr>
          <p:spPr>
            <a:xfrm>
              <a:off x="5334397" y="2888018"/>
              <a:ext cx="602203" cy="693894"/>
            </a:xfrm>
            <a:prstGeom prst="rect">
              <a:avLst/>
            </a:prstGeom>
            <a:noFill/>
            <a:ln w="9525">
              <a:noFill/>
            </a:ln>
          </p:spPr>
          <p:txBody>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just">
                <a:lnSpc>
                  <a:spcPct val="96000"/>
                </a:lnSpc>
                <a:spcBef>
                  <a:spcPct val="0"/>
                </a:spcBef>
                <a:buClrTx/>
                <a:buNone/>
              </a:pPr>
              <a:r>
                <a:rPr lang="en-US" altLang="zh-CN" sz="4000" dirty="0">
                  <a:latin typeface="Times New Roman" panose="02020603050405020304" pitchFamily="18" charset="0"/>
                  <a:ea typeface="宋体" panose="02010600030101010101" pitchFamily="2" charset="-122"/>
                </a:rPr>
                <a:t>…</a:t>
              </a:r>
              <a:endParaRPr lang="zh-CN" altLang="zh-CN" sz="1000" baseline="-25000" dirty="0">
                <a:latin typeface="Times New Roman" panose="02020603050405020304" pitchFamily="18" charset="0"/>
                <a:ea typeface="宋体" panose="02010600030101010101" pitchFamily="2" charset="-122"/>
              </a:endParaRPr>
            </a:p>
          </p:txBody>
        </p:sp>
      </p:grpSp>
      <p:sp>
        <p:nvSpPr>
          <p:cNvPr id="37" name="Rectangle 50"/>
          <p:cNvSpPr>
            <a:spLocks noChangeArrowheads="1"/>
          </p:cNvSpPr>
          <p:nvPr/>
        </p:nvSpPr>
        <p:spPr bwMode="auto">
          <a:xfrm>
            <a:off x="7633667" y="2852936"/>
            <a:ext cx="466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t>^</a:t>
            </a:r>
          </a:p>
        </p:txBody>
      </p:sp>
      <p:sp>
        <p:nvSpPr>
          <p:cNvPr id="39" name="Text Box 57"/>
          <p:cNvSpPr txBox="1">
            <a:spLocks noChangeArrowheads="1"/>
          </p:cNvSpPr>
          <p:nvPr/>
        </p:nvSpPr>
        <p:spPr bwMode="auto">
          <a:xfrm>
            <a:off x="365918" y="3576104"/>
            <a:ext cx="8412163" cy="304609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50000"/>
              </a:spcBef>
            </a:pPr>
            <a:r>
              <a:rPr lang="zh-CN" altLang="en-US" sz="3200" b="1" u="sng" dirty="0">
                <a:solidFill>
                  <a:srgbClr val="FF0000"/>
                </a:solidFill>
                <a:latin typeface="楷体_GB2312"/>
                <a:ea typeface="楷体_GB2312"/>
                <a:cs typeface="楷体_GB2312"/>
              </a:rPr>
              <a:t>头指针</a:t>
            </a:r>
            <a:r>
              <a:rPr lang="zh-CN" altLang="en-US" sz="3200" b="1" dirty="0">
                <a:latin typeface="楷体_GB2312"/>
                <a:ea typeface="楷体_GB2312"/>
                <a:cs typeface="楷体_GB2312"/>
              </a:rPr>
              <a:t>是指向链表中第一个结点的指针</a:t>
            </a:r>
          </a:p>
          <a:p>
            <a:pPr eaLnBrk="1" hangingPunct="1">
              <a:spcBef>
                <a:spcPct val="50000"/>
              </a:spcBef>
            </a:pPr>
            <a:r>
              <a:rPr lang="zh-CN" altLang="en-US" sz="3200" b="1" u="sng" dirty="0">
                <a:solidFill>
                  <a:srgbClr val="FF0000"/>
                </a:solidFill>
                <a:latin typeface="楷体_GB2312"/>
                <a:ea typeface="楷体_GB2312"/>
                <a:cs typeface="楷体_GB2312"/>
              </a:rPr>
              <a:t>首元结点</a:t>
            </a:r>
            <a:r>
              <a:rPr lang="zh-CN" altLang="en-US" sz="3200" b="1" dirty="0">
                <a:latin typeface="楷体_GB2312"/>
                <a:ea typeface="楷体_GB2312"/>
                <a:cs typeface="楷体_GB2312"/>
              </a:rPr>
              <a:t>是指链表中存储第一个数据元素</a:t>
            </a:r>
            <a:r>
              <a:rPr lang="en-US" altLang="zh-CN" sz="3200" b="1" dirty="0">
                <a:latin typeface="楷体_GB2312"/>
                <a:ea typeface="楷体_GB2312"/>
                <a:cs typeface="楷体_GB2312"/>
              </a:rPr>
              <a:t>a</a:t>
            </a:r>
            <a:r>
              <a:rPr lang="en-US" altLang="zh-CN" sz="3200" b="1" baseline="-30000" dirty="0">
                <a:latin typeface="楷体_GB2312"/>
                <a:ea typeface="楷体_GB2312"/>
                <a:cs typeface="楷体_GB2312"/>
              </a:rPr>
              <a:t>1</a:t>
            </a:r>
            <a:r>
              <a:rPr lang="zh-CN" altLang="en-US" sz="3200" b="1" dirty="0">
                <a:latin typeface="楷体_GB2312"/>
                <a:ea typeface="楷体_GB2312"/>
                <a:cs typeface="楷体_GB2312"/>
              </a:rPr>
              <a:t>的结点（</a:t>
            </a:r>
            <a:r>
              <a:rPr lang="zh-CN" altLang="en-US" sz="3200" b="1" dirty="0">
                <a:solidFill>
                  <a:srgbClr val="FF0000"/>
                </a:solidFill>
                <a:latin typeface="楷体_GB2312"/>
                <a:ea typeface="楷体_GB2312"/>
                <a:cs typeface="楷体_GB2312"/>
              </a:rPr>
              <a:t>第一个数据元素结点</a:t>
            </a:r>
            <a:r>
              <a:rPr lang="zh-CN" altLang="en-US" sz="3200" b="1" dirty="0">
                <a:latin typeface="楷体_GB2312"/>
                <a:ea typeface="楷体_GB2312"/>
                <a:cs typeface="楷体_GB2312"/>
              </a:rPr>
              <a:t>）</a:t>
            </a:r>
          </a:p>
          <a:p>
            <a:pPr eaLnBrk="1" hangingPunct="1">
              <a:spcBef>
                <a:spcPct val="50000"/>
              </a:spcBef>
            </a:pPr>
            <a:r>
              <a:rPr lang="zh-CN" altLang="en-US" sz="3200" b="1" u="sng" dirty="0">
                <a:solidFill>
                  <a:srgbClr val="FF0000"/>
                </a:solidFill>
                <a:latin typeface="楷体_GB2312"/>
                <a:ea typeface="楷体_GB2312"/>
                <a:cs typeface="楷体_GB2312"/>
              </a:rPr>
              <a:t>头结点</a:t>
            </a:r>
            <a:r>
              <a:rPr lang="zh-CN" altLang="en-US" sz="3200" b="1" dirty="0">
                <a:latin typeface="楷体_GB2312"/>
                <a:ea typeface="楷体_GB2312"/>
                <a:cs typeface="楷体_GB2312"/>
              </a:rPr>
              <a:t>是在链表的首元结点之前附设的一个结点；数据域内可放空表标志和表长等信息</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strips(downRight)">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9">
                                            <p:txEl>
                                              <p:pRg st="1" end="1"/>
                                            </p:txEl>
                                          </p:spTgt>
                                        </p:tgtEl>
                                        <p:attrNameLst>
                                          <p:attrName>style.visibility</p:attrName>
                                        </p:attrNameLst>
                                      </p:cBhvr>
                                      <p:to>
                                        <p:strVal val="visible"/>
                                      </p:to>
                                    </p:set>
                                    <p:animEffect transition="in" filter="strips(downRight)">
                                      <p:cBhvr>
                                        <p:cTn id="12" dur="500"/>
                                        <p:tgtEl>
                                          <p:spTgt spid="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39">
                                            <p:txEl>
                                              <p:pRg st="2" end="2"/>
                                            </p:txEl>
                                          </p:spTgt>
                                        </p:tgtEl>
                                        <p:attrNameLst>
                                          <p:attrName>style.visibility</p:attrName>
                                        </p:attrNameLst>
                                      </p:cBhvr>
                                      <p:to>
                                        <p:strVal val="visible"/>
                                      </p:to>
                                    </p:set>
                                    <p:animEffect transition="in" filter="strips(downRight)">
                                      <p:cBhvr>
                                        <p:cTn id="17" dur="500"/>
                                        <p:tgtEl>
                                          <p:spTgt spid="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为何要设置头结点？</a:t>
            </a:r>
          </a:p>
        </p:txBody>
      </p:sp>
      <p:sp>
        <p:nvSpPr>
          <p:cNvPr id="3" name="内容占位符 2"/>
          <p:cNvSpPr>
            <a:spLocks noGrp="1"/>
          </p:cNvSpPr>
          <p:nvPr>
            <p:ph idx="1"/>
          </p:nvPr>
        </p:nvSpPr>
        <p:spPr>
          <a:xfrm>
            <a:off x="468313" y="1125538"/>
            <a:ext cx="8207375" cy="4103662"/>
          </a:xfrm>
        </p:spPr>
        <p:txBody>
          <a:bodyPr/>
          <a:lstStyle/>
          <a:p>
            <a:r>
              <a:rPr lang="zh-CN" altLang="en-US" dirty="0"/>
              <a:t>便于首元结点的处理</a:t>
            </a:r>
            <a:endParaRPr lang="en-US" altLang="zh-CN" dirty="0"/>
          </a:p>
          <a:p>
            <a:pPr lvl="1"/>
            <a:r>
              <a:rPr lang="zh-CN" altLang="en-US" dirty="0"/>
              <a:t>首元结点的地址保存在头结点的指针域中</a:t>
            </a:r>
            <a:r>
              <a:rPr lang="en-US" altLang="zh-CN" dirty="0"/>
              <a:t>,</a:t>
            </a:r>
            <a:r>
              <a:rPr lang="zh-CN" altLang="en-US" dirty="0"/>
              <a:t>所以在链表的第一个位置上的操作和其它位置一致，无须进行特殊处理</a:t>
            </a:r>
            <a:r>
              <a:rPr lang="en-US" altLang="zh-CN" dirty="0"/>
              <a:t>;</a:t>
            </a:r>
            <a:endParaRPr lang="zh-CN" altLang="en-US" dirty="0"/>
          </a:p>
          <a:p>
            <a:r>
              <a:rPr lang="zh-CN" altLang="en-US" dirty="0"/>
              <a:t>便于空表和非空表的统一处理</a:t>
            </a:r>
            <a:endParaRPr lang="en-US" altLang="zh-CN" dirty="0"/>
          </a:p>
          <a:p>
            <a:pPr lvl="1"/>
            <a:r>
              <a:rPr lang="zh-CN" altLang="en-US" dirty="0"/>
              <a:t>无论链表是否为空，头指针都是指向头结点的非空指针，因此空表和非空表的处理也就统一了</a:t>
            </a: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pic>
        <p:nvPicPr>
          <p:cNvPr id="27" name="图片 26"/>
          <p:cNvPicPr>
            <a:picLocks noChangeAspect="1"/>
          </p:cNvPicPr>
          <p:nvPr/>
        </p:nvPicPr>
        <p:blipFill>
          <a:blip r:embed="rId2"/>
          <a:stretch>
            <a:fillRect/>
          </a:stretch>
        </p:blipFill>
        <p:spPr>
          <a:xfrm>
            <a:off x="1835696" y="5479905"/>
            <a:ext cx="5433134" cy="829415"/>
          </a:xfrm>
          <a:prstGeom prst="rect">
            <a:avLst/>
          </a:prstGeom>
        </p:spPr>
      </p:pic>
      <p:pic>
        <p:nvPicPr>
          <p:cNvPr id="28" name="图片 27"/>
          <p:cNvPicPr>
            <a:picLocks noChangeAspect="1"/>
          </p:cNvPicPr>
          <p:nvPr/>
        </p:nvPicPr>
        <p:blipFill>
          <a:blip r:embed="rId3"/>
          <a:stretch>
            <a:fillRect/>
          </a:stretch>
        </p:blipFill>
        <p:spPr>
          <a:xfrm>
            <a:off x="2987824" y="4679460"/>
            <a:ext cx="4320480" cy="82852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链式存储结构的特点</a:t>
            </a:r>
          </a:p>
        </p:txBody>
      </p:sp>
      <p:sp>
        <p:nvSpPr>
          <p:cNvPr id="37891" name="内容占位符 2"/>
          <p:cNvSpPr>
            <a:spLocks noGrp="1"/>
          </p:cNvSpPr>
          <p:nvPr>
            <p:ph idx="1"/>
          </p:nvPr>
        </p:nvSpPr>
        <p:spPr/>
        <p:txBody>
          <a:bodyPr vert="horz" wrap="square" lIns="91440" tIns="45720" rIns="91440" bIns="45720" anchor="t"/>
          <a:lstStyle/>
          <a:p>
            <a:r>
              <a:rPr lang="zh-CN" altLang="en-US" dirty="0">
                <a:latin typeface="+mn-lt"/>
                <a:ea typeface="+mn-ea"/>
                <a:cs typeface="+mn-cs"/>
              </a:rPr>
              <a:t>线性表中的数据元素在存储单元中的存放顺序与逻辑顺序</a:t>
            </a:r>
            <a:r>
              <a:rPr lang="zh-CN" altLang="en-US" dirty="0">
                <a:solidFill>
                  <a:srgbClr val="FF0000"/>
                </a:solidFill>
                <a:latin typeface="+mn-lt"/>
                <a:ea typeface="+mn-ea"/>
                <a:cs typeface="+mn-cs"/>
              </a:rPr>
              <a:t>不一定</a:t>
            </a:r>
            <a:r>
              <a:rPr lang="zh-CN" altLang="en-US" dirty="0">
                <a:latin typeface="+mn-lt"/>
                <a:ea typeface="+mn-ea"/>
                <a:cs typeface="+mn-cs"/>
              </a:rPr>
              <a:t>一致</a:t>
            </a:r>
          </a:p>
          <a:p>
            <a:r>
              <a:rPr lang="zh-CN" altLang="en-US" dirty="0"/>
              <a:t>单链表是由表头唯一确定，因此单链表可以用</a:t>
            </a:r>
            <a:r>
              <a:rPr lang="zh-CN" altLang="en-US" dirty="0">
                <a:solidFill>
                  <a:srgbClr val="FF0000"/>
                </a:solidFill>
              </a:rPr>
              <a:t>头指针的名字来命名</a:t>
            </a:r>
            <a:endParaRPr lang="en-US" altLang="zh-CN" dirty="0">
              <a:solidFill>
                <a:srgbClr val="FF0000"/>
              </a:solidFill>
            </a:endParaRPr>
          </a:p>
          <a:p>
            <a:pPr lvl="1"/>
            <a:r>
              <a:rPr lang="zh-CN" altLang="en-US" b="1" dirty="0">
                <a:ea typeface="楷体_GB2312"/>
                <a:cs typeface="楷体_GB2312"/>
              </a:rPr>
              <a:t>若头指针名是</a:t>
            </a:r>
            <a:r>
              <a:rPr lang="en-US" altLang="zh-CN" b="1" dirty="0">
                <a:ea typeface="楷体_GB2312"/>
                <a:cs typeface="楷体_GB2312"/>
              </a:rPr>
              <a:t>L</a:t>
            </a:r>
            <a:r>
              <a:rPr lang="zh-CN" altLang="en-US" b="1" dirty="0">
                <a:ea typeface="楷体_GB2312"/>
                <a:cs typeface="楷体_GB2312"/>
              </a:rPr>
              <a:t>，则把链表称为表</a:t>
            </a:r>
            <a:r>
              <a:rPr lang="en-US" altLang="zh-CN" b="1" dirty="0"/>
              <a:t>L</a:t>
            </a:r>
            <a:endParaRPr lang="zh-CN" altLang="en-US" dirty="0"/>
          </a:p>
          <a:p>
            <a:r>
              <a:rPr lang="zh-CN" altLang="en-US" dirty="0">
                <a:latin typeface="+mn-lt"/>
                <a:ea typeface="+mn-ea"/>
                <a:cs typeface="+mn-cs"/>
              </a:rPr>
              <a:t>通过结点的指针域访问后继结点</a:t>
            </a:r>
            <a:endParaRPr lang="en-US" altLang="zh-CN" dirty="0">
              <a:latin typeface="+mn-lt"/>
              <a:ea typeface="+mn-ea"/>
              <a:cs typeface="+mn-cs"/>
            </a:endParaRPr>
          </a:p>
          <a:p>
            <a:r>
              <a:rPr lang="zh-CN" altLang="en-US" dirty="0">
                <a:latin typeface="+mn-lt"/>
                <a:ea typeface="+mn-ea"/>
                <a:cs typeface="+mn-cs"/>
              </a:rPr>
              <a:t>寻找第一个结点和寻找最后一个结点所花费的时间不等</a:t>
            </a:r>
            <a:endParaRPr lang="en-US" altLang="zh-CN" dirty="0">
              <a:latin typeface="+mn-lt"/>
              <a:ea typeface="+mn-ea"/>
              <a:cs typeface="+mn-cs"/>
            </a:endParaRPr>
          </a:p>
          <a:p>
            <a:pPr lvl="1"/>
            <a:r>
              <a:rPr lang="zh-CN" altLang="en-US" b="1" dirty="0">
                <a:solidFill>
                  <a:srgbClr val="FF0000"/>
                </a:solidFill>
                <a:cs typeface="+mn-cs"/>
              </a:rPr>
              <a:t>顺序访问</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89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链式存储的几种形式</a:t>
            </a:r>
          </a:p>
        </p:txBody>
      </p:sp>
      <p:sp>
        <p:nvSpPr>
          <p:cNvPr id="34819" name="内容占位符 2"/>
          <p:cNvSpPr>
            <a:spLocks noGrp="1"/>
          </p:cNvSpPr>
          <p:nvPr>
            <p:ph idx="1"/>
          </p:nvPr>
        </p:nvSpPr>
        <p:spPr/>
        <p:txBody>
          <a:bodyPr vert="horz" wrap="square" lIns="91440" tIns="45720" rIns="91440" bIns="45720" anchor="t"/>
          <a:lstStyle/>
          <a:p>
            <a:r>
              <a:rPr lang="zh-CN" altLang="en-US" dirty="0">
                <a:latin typeface="+mn-lt"/>
                <a:ea typeface="+mn-ea"/>
                <a:cs typeface="+mn-cs"/>
              </a:rPr>
              <a:t>单链表</a:t>
            </a:r>
          </a:p>
          <a:p>
            <a:r>
              <a:rPr lang="zh-CN" altLang="en-US" dirty="0">
                <a:latin typeface="+mn-lt"/>
                <a:ea typeface="+mn-ea"/>
                <a:cs typeface="+mn-cs"/>
              </a:rPr>
              <a:t>循环链表</a:t>
            </a:r>
          </a:p>
          <a:p>
            <a:r>
              <a:rPr lang="zh-CN" altLang="en-US" dirty="0">
                <a:latin typeface="+mn-lt"/>
                <a:ea typeface="+mn-ea"/>
                <a:cs typeface="+mn-cs"/>
              </a:rPr>
              <a:t>双向链表</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单链表的存储结构定义</a:t>
            </a:r>
          </a:p>
        </p:txBody>
      </p:sp>
      <p:sp>
        <p:nvSpPr>
          <p:cNvPr id="35843" name="内容占位符 2"/>
          <p:cNvSpPr>
            <a:spLocks noGrp="1"/>
          </p:cNvSpPr>
          <p:nvPr>
            <p:ph idx="1"/>
          </p:nvPr>
        </p:nvSpPr>
        <p:spPr>
          <a:xfrm>
            <a:off x="468313" y="1125538"/>
            <a:ext cx="8207375" cy="790575"/>
          </a:xfrm>
        </p:spPr>
        <p:txBody>
          <a:bodyPr vert="horz" wrap="square" lIns="91440" tIns="45720" rIns="91440" bIns="45720" anchor="t"/>
          <a:lstStyle/>
          <a:p>
            <a:r>
              <a:rPr lang="zh-CN" altLang="en-US" dirty="0">
                <a:latin typeface="+mn-lt"/>
                <a:ea typeface="+mn-ea"/>
                <a:cs typeface="+mn-cs"/>
              </a:rPr>
              <a:t>链表的每个元素构成一个结点，定义如下</a:t>
            </a:r>
          </a:p>
        </p:txBody>
      </p:sp>
      <p:sp>
        <p:nvSpPr>
          <p:cNvPr id="35845" name="文本框 4"/>
          <p:cNvSpPr txBox="1"/>
          <p:nvPr/>
        </p:nvSpPr>
        <p:spPr>
          <a:xfrm>
            <a:off x="1692275" y="2133600"/>
            <a:ext cx="5903913" cy="223445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typedef</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rPr>
              <a:t>   data;       //</a:t>
            </a:r>
            <a:r>
              <a:rPr lang="zh-CN" altLang="en-US" sz="2400" dirty="0">
                <a:latin typeface="Cambria Math" panose="02040503050406030204" pitchFamily="18" charset="0"/>
                <a:ea typeface="Cambria Math" panose="02040503050406030204" pitchFamily="18" charset="0"/>
                <a:cs typeface="Arial Unicode MS" panose="020B0604020202020204" charset="-122"/>
              </a:rPr>
              <a:t>数据域</a:t>
            </a:r>
          </a:p>
          <a:p>
            <a:pPr marL="0" lvl="0" indent="0">
              <a:buNone/>
            </a:pPr>
            <a:r>
              <a:rPr lang="zh-CN" altLang="en-US"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*next;   //</a:t>
            </a:r>
            <a:r>
              <a:rPr lang="zh-CN" altLang="en-US" sz="2400" dirty="0">
                <a:latin typeface="Cambria Math" panose="02040503050406030204" pitchFamily="18" charset="0"/>
                <a:ea typeface="Cambria Math" panose="02040503050406030204" pitchFamily="18" charset="0"/>
                <a:cs typeface="Arial Unicode MS" panose="020B0604020202020204" charset="-122"/>
              </a:rPr>
              <a:t>指针域</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LinkList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LinkList</a:t>
            </a:r>
            <a:r>
              <a:rPr lang="zh-CN" altLang="en-US" sz="2400" dirty="0">
                <a:latin typeface="Cambria Math" panose="02040503050406030204" pitchFamily="18" charset="0"/>
                <a:ea typeface="Cambria Math" panose="02040503050406030204" pitchFamily="18" charset="0"/>
                <a:cs typeface="Arial Unicode MS" panose="020B0604020202020204" charset="-122"/>
              </a:rPr>
              <a:t>为</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zh-CN" altLang="en-US" sz="2400" dirty="0">
                <a:latin typeface="Cambria Math" panose="02040503050406030204" pitchFamily="18" charset="0"/>
                <a:ea typeface="Cambria Math" panose="02040503050406030204" pitchFamily="18" charset="0"/>
                <a:cs typeface="Arial Unicode MS" panose="020B0604020202020204" charset="-122"/>
              </a:rPr>
              <a:t>类型的指针</a:t>
            </a:r>
          </a:p>
        </p:txBody>
      </p:sp>
      <p:grpSp>
        <p:nvGrpSpPr>
          <p:cNvPr id="8" name="Group 10"/>
          <p:cNvGrpSpPr/>
          <p:nvPr/>
        </p:nvGrpSpPr>
        <p:grpSpPr bwMode="auto">
          <a:xfrm>
            <a:off x="1558131" y="4757222"/>
            <a:ext cx="6172200" cy="701675"/>
            <a:chOff x="521" y="2841"/>
            <a:chExt cx="3888" cy="442"/>
          </a:xfrm>
        </p:grpSpPr>
        <p:sp>
          <p:nvSpPr>
            <p:cNvPr id="9" name="Rectangle 7"/>
            <p:cNvSpPr>
              <a:spLocks noChangeArrowheads="1"/>
            </p:cNvSpPr>
            <p:nvPr/>
          </p:nvSpPr>
          <p:spPr bwMode="auto">
            <a:xfrm>
              <a:off x="521" y="2841"/>
              <a:ext cx="1458" cy="44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4000" b="1">
                  <a:solidFill>
                    <a:srgbClr val="FF0000"/>
                  </a:solidFill>
                </a:rPr>
                <a:t>LNode *p</a:t>
              </a:r>
            </a:p>
          </p:txBody>
        </p:sp>
        <p:sp>
          <p:nvSpPr>
            <p:cNvPr id="10" name="Rectangle 8"/>
            <p:cNvSpPr>
              <a:spLocks noChangeArrowheads="1"/>
            </p:cNvSpPr>
            <p:nvPr/>
          </p:nvSpPr>
          <p:spPr bwMode="auto">
            <a:xfrm>
              <a:off x="2843" y="2841"/>
              <a:ext cx="1566" cy="44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4000" b="1" dirty="0" err="1">
                  <a:solidFill>
                    <a:srgbClr val="FF0000"/>
                  </a:solidFill>
                </a:rPr>
                <a:t>LinkList</a:t>
              </a:r>
              <a:r>
                <a:rPr lang="en-US" altLang="zh-CN" sz="4000" b="1" dirty="0"/>
                <a:t> </a:t>
              </a:r>
              <a:r>
                <a:rPr lang="en-US" altLang="zh-CN" sz="4000" b="1" dirty="0">
                  <a:solidFill>
                    <a:srgbClr val="FF0000"/>
                  </a:solidFill>
                </a:rPr>
                <a:t>p</a:t>
              </a:r>
            </a:p>
          </p:txBody>
        </p:sp>
        <p:sp>
          <p:nvSpPr>
            <p:cNvPr id="11" name="AutoShape 9"/>
            <p:cNvSpPr>
              <a:spLocks noChangeArrowheads="1"/>
            </p:cNvSpPr>
            <p:nvPr/>
          </p:nvSpPr>
          <p:spPr bwMode="auto">
            <a:xfrm>
              <a:off x="2154" y="2976"/>
              <a:ext cx="499" cy="182"/>
            </a:xfrm>
            <a:prstGeom prst="leftRightArrow">
              <a:avLst>
                <a:gd name="adj1" fmla="val 50000"/>
                <a:gd name="adj2" fmla="val 54835"/>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gr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47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eaLnBrk="1" hangingPunct="1">
              <a:defRPr/>
            </a:pPr>
            <a:r>
              <a:rPr lang="en-US" altLang="zh-CN" dirty="0"/>
              <a:t>Ch2 </a:t>
            </a:r>
            <a:r>
              <a:rPr lang="zh-CN" altLang="en-US" dirty="0"/>
              <a:t>练习</a:t>
            </a:r>
            <a:r>
              <a:rPr lang="en-US" altLang="zh-CN" dirty="0"/>
              <a:t>3</a:t>
            </a:r>
            <a:endParaRPr lang="en-US" dirty="0"/>
          </a:p>
        </p:txBody>
      </p:sp>
    </p:spTree>
    <p:extLst>
      <p:ext uri="{BB962C8B-B14F-4D97-AF65-F5344CB8AC3E}">
        <p14:creationId xmlns:p14="http://schemas.microsoft.com/office/powerpoint/2010/main" val="13161522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头结点指的是下面哪个结点？</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链表中的第一个结点</a:t>
            </a:r>
            <a:endParaRPr 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链表中的第一个数据结点</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都不正确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p:cNvSpPr>
            <a:spLocks noChangeAspect="1"/>
          </p:cNvSpPr>
          <p:nvPr>
            <p:custDataLst>
              <p:tags r:id="rId10"/>
            </p:custDataLst>
          </p:nvPr>
        </p:nvSpPr>
        <p:spPr bwMode="auto">
          <a:xfrm>
            <a:off x="1114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圆角矩形 12"/>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5"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19" name="文本框 18"/>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9089428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首元结点指的是下面哪个结点？</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链表中的第一个结点</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链表中的第一个数据结点</a:t>
            </a:r>
            <a:endParaRPr 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都不正确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p:cNvSpPr>
            <a:spLocks noChangeAspect="1"/>
          </p:cNvSpPr>
          <p:nvPr>
            <p:custDataLst>
              <p:tags r:id="rId10"/>
            </p:custDataLst>
          </p:nvPr>
        </p:nvSpPr>
        <p:spPr bwMode="auto">
          <a:xfrm>
            <a:off x="1114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圆角矩形 12"/>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5"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19" name="文本框 18"/>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323898791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头指针存储的是下面哪个结点的地址？</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链表中的第一个结点</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链表中的第一个数据结点</a:t>
            </a:r>
            <a:endParaRPr 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都不正确</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p:cNvSpPr>
            <a:spLocks noChangeAspect="1"/>
          </p:cNvSpPr>
          <p:nvPr>
            <p:custDataLst>
              <p:tags r:id="rId10"/>
            </p:custDataLst>
          </p:nvPr>
        </p:nvSpPr>
        <p:spPr bwMode="auto">
          <a:xfrm>
            <a:off x="1114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圆角矩形 12"/>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5"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19" name="文本框 18"/>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139530334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关于链表，下面那些说法是错误的。</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325935" y="2564904"/>
            <a:ext cx="6990481" cy="642938"/>
          </a:xfrm>
          <a:prstGeom prst="rect">
            <a:avLst/>
          </a:prstGeom>
          <a:noFill/>
        </p:spPr>
        <p:txBody>
          <a:bodyPr vert="horz" rtlCol="0" anchor="ctr" anchorCtr="0">
            <a:noAutofit/>
          </a:bodyPr>
          <a:lstStyle/>
          <a:p>
            <a:r>
              <a:rPr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已知第一个元素的地址，我们就可以通过公式计算出表中所有元素的地址</a:t>
            </a:r>
            <a:endParaRPr 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325935" y="3356992"/>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链表通常使用头指针来命名</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325935" y="4279404"/>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某结点的指针域存储的是后继元素的地址</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6"/>
            </p:custDataLst>
          </p:nvPr>
        </p:nvSpPr>
        <p:spPr>
          <a:xfrm>
            <a:off x="1325934" y="5136654"/>
            <a:ext cx="7206505" cy="642938"/>
          </a:xfrm>
          <a:prstGeom prst="rect">
            <a:avLst/>
          </a:prstGeom>
          <a:noFill/>
        </p:spPr>
        <p:txBody>
          <a:bodyPr vert="horz" rtlCol="0" anchor="ctr" anchorCtr="0">
            <a:noAutofit/>
          </a:bodyPr>
          <a:lstStyle/>
          <a:p>
            <a:r>
              <a:rPr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元素的存储顺序和其在内存中的顺序是一致的</a:t>
            </a:r>
            <a:endParaRPr 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7"/>
            </p:custDataLst>
          </p:nvPr>
        </p:nvSpPr>
        <p:spPr bwMode="auto">
          <a:xfrm>
            <a:off x="611560" y="2629197"/>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矩形 9"/>
          <p:cNvSpPr>
            <a:spLocks noChangeAspect="1"/>
          </p:cNvSpPr>
          <p:nvPr>
            <p:custDataLst>
              <p:tags r:id="rId8"/>
            </p:custDataLst>
          </p:nvPr>
        </p:nvSpPr>
        <p:spPr bwMode="auto">
          <a:xfrm>
            <a:off x="611560" y="3486447"/>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矩形 10"/>
          <p:cNvSpPr>
            <a:spLocks noChangeAspect="1"/>
          </p:cNvSpPr>
          <p:nvPr>
            <p:custDataLst>
              <p:tags r:id="rId9"/>
            </p:custDataLst>
          </p:nvPr>
        </p:nvSpPr>
        <p:spPr bwMode="auto">
          <a:xfrm>
            <a:off x="611560" y="4343697"/>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矩形 11"/>
          <p:cNvSpPr>
            <a:spLocks noChangeAspect="1"/>
          </p:cNvSpPr>
          <p:nvPr>
            <p:custDataLst>
              <p:tags r:id="rId10"/>
            </p:custDataLst>
          </p:nvPr>
        </p:nvSpPr>
        <p:spPr bwMode="auto">
          <a:xfrm>
            <a:off x="611560" y="5200947"/>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圆角矩形 12"/>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5"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6"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19" name="文本框 18"/>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endParaRPr 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33777902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0BC7115F-1BBD-4858-A0E7-4F8BA627626A}"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4" name="文本框 3"/>
          <p:cNvSpPr txBox="1"/>
          <p:nvPr>
            <p:custDataLst>
              <p:tags r:id="rId3"/>
            </p:custDataLst>
          </p:nvPr>
        </p:nvSpPr>
        <p:spPr>
          <a:xfrm>
            <a:off x="914400" y="635000"/>
            <a:ext cx="7315200" cy="2143125"/>
          </a:xfrm>
          <a:prstGeom prst="rect">
            <a:avLst/>
          </a:prstGeom>
          <a:noFill/>
        </p:spPr>
        <p:txBody>
          <a:bodyPr vert="horz" wrap="square" rtlCol="0" anchor="ctr" anchorCtr="0">
            <a:noAutofit/>
          </a:bodyPr>
          <a:lstStyle/>
          <a:p>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圆角矩形 4"/>
          <p:cNvSpPr/>
          <p:nvPr>
            <p:custDataLst>
              <p:tags r:id="rId4"/>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p:nvPr>
            <p:custDataLst>
              <p:tags r:id="rId5"/>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kumimoji="0" 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p:cNvSpPr txBox="1"/>
          <p:nvPr>
            <p:custDataLst>
              <p:tags r:id="rId6"/>
            </p:custDataLst>
          </p:nvPr>
        </p:nvSpPr>
        <p:spPr>
          <a:xfrm>
            <a:off x="1193264" y="3163673"/>
            <a:ext cx="7315200" cy="262213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链表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如上图所示。</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如果已知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是指向某个元素结点的指针，通过变量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可知：</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这个元素的值为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P-&gt;data   )</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其后继元素的地址为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p-&gt;next    )</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如果其后续元素存在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其后继元素的值为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p-&gt;next-&gt;data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13" name="Object 11"/>
          <p:cNvGraphicFramePr>
            <a:graphicFrameLocks noChangeAspect="1"/>
          </p:cNvGraphicFramePr>
          <p:nvPr/>
        </p:nvGraphicFramePr>
        <p:xfrm>
          <a:off x="1259632" y="1575533"/>
          <a:ext cx="6632575" cy="750888"/>
        </p:xfrm>
        <a:graphic>
          <a:graphicData uri="http://schemas.openxmlformats.org/presentationml/2006/ole">
            <mc:AlternateContent xmlns:mc="http://schemas.openxmlformats.org/markup-compatibility/2006">
              <mc:Choice xmlns:v="urn:schemas-microsoft-com:vml" Requires="v">
                <p:oleObj spid="_x0000_s94221" name="VISIO" r:id="rId14" imgW="5256360" imgH="560160" progId="">
                  <p:embed/>
                </p:oleObj>
              </mc:Choice>
              <mc:Fallback>
                <p:oleObj name="VISIO" r:id="rId14" imgW="5256360" imgH="560160"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59632" y="1575533"/>
                        <a:ext cx="6632575" cy="750888"/>
                      </a:xfrm>
                      <a:prstGeom prst="rect">
                        <a:avLst/>
                      </a:prstGeom>
                      <a:solidFill>
                        <a:srgbClr val="00CC99"/>
                      </a:solidFill>
                      <a:ln>
                        <a:noFill/>
                      </a:ln>
                      <a:effectLst/>
                    </p:spPr>
                  </p:pic>
                </p:oleObj>
              </mc:Fallback>
            </mc:AlternateContent>
          </a:graphicData>
        </a:graphic>
      </p:graphicFrame>
      <p:grpSp>
        <p:nvGrpSpPr>
          <p:cNvPr id="14" name="Group 39"/>
          <p:cNvGrpSpPr/>
          <p:nvPr/>
        </p:nvGrpSpPr>
        <p:grpSpPr>
          <a:xfrm>
            <a:off x="3494659" y="2113383"/>
            <a:ext cx="438150" cy="990600"/>
            <a:chOff x="1212" y="2880"/>
            <a:chExt cx="276" cy="624"/>
          </a:xfrm>
        </p:grpSpPr>
        <p:sp>
          <p:nvSpPr>
            <p:cNvPr id="15" name="Line 40"/>
            <p:cNvSpPr/>
            <p:nvPr/>
          </p:nvSpPr>
          <p:spPr>
            <a:xfrm>
              <a:off x="1248" y="2880"/>
              <a:ext cx="0" cy="624"/>
            </a:xfrm>
            <a:prstGeom prst="line">
              <a:avLst/>
            </a:prstGeom>
            <a:ln w="31750" cap="flat" cmpd="sng">
              <a:solidFill>
                <a:srgbClr val="990000"/>
              </a:solidFill>
              <a:prstDash val="solid"/>
              <a:headEnd type="triangle" w="med" len="lg"/>
              <a:tailEnd type="none" w="med" len="med"/>
            </a:ln>
          </p:spPr>
        </p:sp>
        <p:sp>
          <p:nvSpPr>
            <p:cNvPr id="16" name="Text Box 41"/>
            <p:cNvSpPr txBox="1"/>
            <p:nvPr/>
          </p:nvSpPr>
          <p:spPr>
            <a:xfrm>
              <a:off x="1212" y="305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p</a:t>
              </a:r>
              <a:endParaRPr lang="en-US" altLang="zh-CN" sz="3600" dirty="0">
                <a:ea typeface="宋体" panose="02010600030101010101" pitchFamily="2" charset="-122"/>
              </a:endParaRPr>
            </a:p>
          </p:txBody>
        </p:sp>
      </p:grpSp>
      <p:sp>
        <p:nvSpPr>
          <p:cNvPr id="17" name="矩形 16"/>
          <p:cNvSpPr/>
          <p:nvPr/>
        </p:nvSpPr>
        <p:spPr bwMode="auto">
          <a:xfrm>
            <a:off x="3419872" y="1772816"/>
            <a:ext cx="288032" cy="275371"/>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8" name="矩形 17"/>
          <p:cNvSpPr/>
          <p:nvPr/>
        </p:nvSpPr>
        <p:spPr bwMode="auto">
          <a:xfrm>
            <a:off x="4788024" y="1761651"/>
            <a:ext cx="288032" cy="275371"/>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9" name="矩形 18"/>
          <p:cNvSpPr/>
          <p:nvPr/>
        </p:nvSpPr>
        <p:spPr bwMode="auto">
          <a:xfrm>
            <a:off x="7020272" y="1761651"/>
            <a:ext cx="288032" cy="275371"/>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grpSp>
        <p:nvGrpSpPr>
          <p:cNvPr id="10" name="组合 9"/>
          <p:cNvGrpSpPr/>
          <p:nvPr>
            <p:custDataLst>
              <p:tags r:id="rId7"/>
            </p:custDataLst>
          </p:nvPr>
        </p:nvGrpSpPr>
        <p:grpSpPr>
          <a:xfrm>
            <a:off x="0" y="0"/>
            <a:ext cx="9144000" cy="635000"/>
            <a:chOff x="0" y="0"/>
            <a:chExt cx="9144000" cy="635000"/>
          </a:xfrm>
        </p:grpSpPr>
        <p:sp>
          <p:nvSpPr>
            <p:cNvPr id="6" name="TitleBackground"/>
            <p:cNvSpPr/>
            <p:nvPr>
              <p:custDataLst>
                <p:tags r:id="rId9"/>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7" name="ColorBlock"/>
            <p:cNvSpPr/>
            <p:nvPr>
              <p:custDataLst>
                <p:tags r:id="rId10"/>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8" name="TypeText"/>
            <p:cNvSpPr txBox="1"/>
            <p:nvPr>
              <p:custDataLst>
                <p:tags r:id="rId11"/>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12"/>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8"/>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2"/>
    </p:custDataLst>
    <p:extLst>
      <p:ext uri="{BB962C8B-B14F-4D97-AF65-F5344CB8AC3E}">
        <p14:creationId xmlns:p14="http://schemas.microsoft.com/office/powerpoint/2010/main" val="1188984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初始化链表</a:t>
            </a:r>
          </a:p>
        </p:txBody>
      </p:sp>
      <p:sp>
        <p:nvSpPr>
          <p:cNvPr id="3" name="内容占位符 2"/>
          <p:cNvSpPr>
            <a:spLocks noGrp="1"/>
          </p:cNvSpPr>
          <p:nvPr>
            <p:ph idx="1"/>
          </p:nvPr>
        </p:nvSpPr>
        <p:spPr>
          <a:xfrm>
            <a:off x="468313" y="1125538"/>
            <a:ext cx="8207375" cy="791294"/>
          </a:xfrm>
        </p:spPr>
        <p:txBody>
          <a:bodyPr/>
          <a:lstStyle/>
          <a:p>
            <a:r>
              <a:rPr lang="zh-CN" altLang="en-US" dirty="0"/>
              <a:t>构造一个空链表</a:t>
            </a:r>
          </a:p>
        </p:txBody>
      </p:sp>
      <p:graphicFrame>
        <p:nvGraphicFramePr>
          <p:cNvPr id="4" name="Object 5"/>
          <p:cNvGraphicFramePr>
            <a:graphicFrameLocks noChangeAspect="1"/>
          </p:cNvGraphicFramePr>
          <p:nvPr/>
        </p:nvGraphicFramePr>
        <p:xfrm>
          <a:off x="4572000" y="1155243"/>
          <a:ext cx="1752600" cy="533400"/>
        </p:xfrm>
        <a:graphic>
          <a:graphicData uri="http://schemas.openxmlformats.org/presentationml/2006/ole">
            <mc:AlternateContent xmlns:mc="http://schemas.openxmlformats.org/markup-compatibility/2006">
              <mc:Choice xmlns:v="urn:schemas-microsoft-com:vml" Requires="v">
                <p:oleObj spid="_x0000_s6222" name="VISIO" r:id="rId3" imgW="1296360" imgH="396360" progId="">
                  <p:embed/>
                </p:oleObj>
              </mc:Choice>
              <mc:Fallback>
                <p:oleObj name="VISIO" r:id="rId3" imgW="1296360" imgH="396360" progId="">
                  <p:embed/>
                  <p:pic>
                    <p:nvPicPr>
                      <p:cNvPr id="0" name="Picture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155243"/>
                        <a:ext cx="1752600" cy="533400"/>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文本框 4"/>
          <p:cNvSpPr txBox="1"/>
          <p:nvPr/>
        </p:nvSpPr>
        <p:spPr>
          <a:xfrm>
            <a:off x="1331640" y="2276872"/>
            <a:ext cx="5903913" cy="304698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Status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InitList_L</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LinkList</a:t>
            </a:r>
            <a:r>
              <a:rPr lang="en-US" altLang="zh-CN" sz="2400" dirty="0">
                <a:latin typeface="Cambria Math" panose="02040503050406030204" pitchFamily="18" charset="0"/>
                <a:ea typeface="Cambria Math" panose="02040503050406030204" pitchFamily="18" charset="0"/>
                <a:cs typeface="Arial Unicode MS" panose="020B0604020202020204" charset="-122"/>
              </a:rPr>
              <a:t> &amp;L){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L=new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 if(L==NULL) exit(OVERFLOW);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L-&gt;next=NULL;</a:t>
            </a:r>
            <a:r>
              <a:rPr lang="zh-CN" altLang="en-US" sz="2400" dirty="0">
                <a:latin typeface="Cambria Math" panose="02040503050406030204" pitchFamily="18" charset="0"/>
                <a:ea typeface="Cambria Math" panose="02040503050406030204" pitchFamily="18" charset="0"/>
                <a:cs typeface="Arial Unicode MS" panose="020B0604020202020204" charset="-122"/>
              </a:rPr>
              <a:t>　　　　　</a:t>
            </a:r>
          </a:p>
          <a:p>
            <a:pPr marL="0" lvl="0" indent="0">
              <a:buNone/>
            </a:pPr>
            <a:r>
              <a:rPr lang="zh-CN" altLang="en-US"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a:latin typeface="Cambria Math" panose="02040503050406030204" pitchFamily="18" charset="0"/>
                <a:ea typeface="Cambria Math" panose="02040503050406030204" pitchFamily="18" charset="0"/>
                <a:cs typeface="Arial Unicode MS" panose="020B0604020202020204" charset="-122"/>
              </a:rPr>
              <a:t>return OK;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p:txBody>
      </p:sp>
      <p:sp>
        <p:nvSpPr>
          <p:cNvPr id="9" name="Text Box 3"/>
          <p:cNvSpPr txBox="1"/>
          <p:nvPr/>
        </p:nvSpPr>
        <p:spPr>
          <a:xfrm>
            <a:off x="2418715" y="5480685"/>
            <a:ext cx="27193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1800" b="1" dirty="0">
                <a:ea typeface="隶书" panose="02010509060101010101" pitchFamily="49" charset="-122"/>
              </a:rPr>
              <a:t>算法时间复杂度为</a:t>
            </a:r>
            <a:r>
              <a:rPr lang="en-US" altLang="zh-CN" sz="1800" dirty="0">
                <a:ea typeface="宋体" panose="02010600030101010101" pitchFamily="2" charset="-122"/>
              </a:rPr>
              <a:t>:</a:t>
            </a:r>
          </a:p>
        </p:txBody>
      </p:sp>
      <p:sp>
        <p:nvSpPr>
          <p:cNvPr id="10" name="Text Box 4"/>
          <p:cNvSpPr txBox="1"/>
          <p:nvPr/>
        </p:nvSpPr>
        <p:spPr>
          <a:xfrm>
            <a:off x="4557078" y="5523548"/>
            <a:ext cx="640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1800" dirty="0">
                <a:ea typeface="宋体" panose="02010600030101010101" pitchFamily="2" charset="-122"/>
              </a:rPr>
              <a:t>O(1)</a:t>
            </a:r>
          </a:p>
        </p:txBody>
      </p:sp>
      <p:sp>
        <p:nvSpPr>
          <p:cNvPr id="6" name="灯片编号占位符 5"/>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链表判空</a:t>
            </a:r>
          </a:p>
        </p:txBody>
      </p:sp>
      <p:graphicFrame>
        <p:nvGraphicFramePr>
          <p:cNvPr id="10" name="Object 11"/>
          <p:cNvGraphicFramePr>
            <a:graphicFrameLocks noChangeAspect="1"/>
          </p:cNvGraphicFramePr>
          <p:nvPr/>
        </p:nvGraphicFramePr>
        <p:xfrm>
          <a:off x="1105217" y="1160497"/>
          <a:ext cx="6632575" cy="747395"/>
        </p:xfrm>
        <a:graphic>
          <a:graphicData uri="http://schemas.openxmlformats.org/presentationml/2006/ole">
            <mc:AlternateContent xmlns:mc="http://schemas.openxmlformats.org/markup-compatibility/2006">
              <mc:Choice xmlns:v="urn:schemas-microsoft-com:vml" Requires="v">
                <p:oleObj spid="_x0000_s8331" name="VISIO" r:id="rId3" imgW="5256276" imgH="560832" progId="">
                  <p:embed/>
                </p:oleObj>
              </mc:Choice>
              <mc:Fallback>
                <p:oleObj name="VISIO" r:id="rId3" imgW="5256276" imgH="560832" progId="">
                  <p:embed/>
                  <p:pic>
                    <p:nvPicPr>
                      <p:cNvPr id="0" name="Picture 7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217" y="1160497"/>
                        <a:ext cx="6632575" cy="74739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5"/>
          <p:cNvGraphicFramePr>
            <a:graphicFrameLocks noChangeAspect="1"/>
          </p:cNvGraphicFramePr>
          <p:nvPr/>
        </p:nvGraphicFramePr>
        <p:xfrm>
          <a:off x="3618230" y="2039620"/>
          <a:ext cx="1908175" cy="581025"/>
        </p:xfrm>
        <a:graphic>
          <a:graphicData uri="http://schemas.openxmlformats.org/presentationml/2006/ole">
            <mc:AlternateContent xmlns:mc="http://schemas.openxmlformats.org/markup-compatibility/2006">
              <mc:Choice xmlns:v="urn:schemas-microsoft-com:vml" Requires="v">
                <p:oleObj spid="_x0000_s8332" name="VISIO" r:id="rId5" imgW="1296360" imgH="396360" progId="">
                  <p:embed/>
                </p:oleObj>
              </mc:Choice>
              <mc:Fallback>
                <p:oleObj name="VISIO" r:id="rId5" imgW="1296360" imgH="396360" progId="">
                  <p:embed/>
                  <p:pic>
                    <p:nvPicPr>
                      <p:cNvPr id="0" name="Picture 8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8230" y="2039620"/>
                        <a:ext cx="1908175" cy="58102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文本框 4"/>
          <p:cNvSpPr txBox="1"/>
          <p:nvPr/>
        </p:nvSpPr>
        <p:spPr>
          <a:xfrm>
            <a:off x="1469435" y="2876312"/>
            <a:ext cx="5903913" cy="311912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gn="l"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int ListEmpty(LinkList L){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gn="l"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//若L为空表，则返回1，否则返回0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gn="l"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if(L-&gt;next!=NULL)   //非空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gn="l"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0;</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gn="l"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else</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gn="l"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1;</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gn="l"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9" name="Text Box 3"/>
          <p:cNvSpPr txBox="1"/>
          <p:nvPr/>
        </p:nvSpPr>
        <p:spPr>
          <a:xfrm>
            <a:off x="4140835" y="4906645"/>
            <a:ext cx="27193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1800" b="1" dirty="0">
                <a:ea typeface="隶书" panose="02010509060101010101" pitchFamily="49" charset="-122"/>
              </a:rPr>
              <a:t>算法时间复杂度为</a:t>
            </a:r>
            <a:r>
              <a:rPr lang="en-US" altLang="zh-CN" sz="1800" dirty="0">
                <a:ea typeface="宋体" panose="02010600030101010101" pitchFamily="2" charset="-122"/>
              </a:rPr>
              <a:t>:</a:t>
            </a:r>
          </a:p>
        </p:txBody>
      </p:sp>
      <p:sp>
        <p:nvSpPr>
          <p:cNvPr id="7" name="Text Box 4"/>
          <p:cNvSpPr txBox="1"/>
          <p:nvPr/>
        </p:nvSpPr>
        <p:spPr>
          <a:xfrm>
            <a:off x="6279198" y="4949508"/>
            <a:ext cx="640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1800" dirty="0">
                <a:ea typeface="宋体" panose="02010600030101010101" pitchFamily="2" charset="-122"/>
              </a:rPr>
              <a:t>O(1)</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链表长度</a:t>
            </a:r>
          </a:p>
        </p:txBody>
      </p:sp>
      <p:graphicFrame>
        <p:nvGraphicFramePr>
          <p:cNvPr id="10" name="Object 11"/>
          <p:cNvGraphicFramePr>
            <a:graphicFrameLocks noChangeAspect="1"/>
          </p:cNvGraphicFramePr>
          <p:nvPr/>
        </p:nvGraphicFramePr>
        <p:xfrm>
          <a:off x="1105852" y="1684372"/>
          <a:ext cx="6632575" cy="747395"/>
        </p:xfrm>
        <a:graphic>
          <a:graphicData uri="http://schemas.openxmlformats.org/presentationml/2006/ole">
            <mc:AlternateContent xmlns:mc="http://schemas.openxmlformats.org/markup-compatibility/2006">
              <mc:Choice xmlns:v="urn:schemas-microsoft-com:vml" Requires="v">
                <p:oleObj spid="_x0000_s9291" name="VISIO" r:id="rId4" imgW="5256276" imgH="560832" progId="">
                  <p:embed/>
                </p:oleObj>
              </mc:Choice>
              <mc:Fallback>
                <p:oleObj name="VISIO" r:id="rId4" imgW="5256276" imgH="560832" progId="">
                  <p:embed/>
                  <p:pic>
                    <p:nvPicPr>
                      <p:cNvPr id="0" name="Picture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5852" y="1684372"/>
                        <a:ext cx="6632575" cy="74739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文本框 4"/>
          <p:cNvSpPr txBox="1"/>
          <p:nvPr/>
        </p:nvSpPr>
        <p:spPr>
          <a:xfrm>
            <a:off x="1470070" y="2532960"/>
            <a:ext cx="6630322" cy="3416320"/>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int  ListLength_L(LinkList L){</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p=L-&gt;next;  //p指向第一个结点</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i=0;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while(p){//遍历单链表,统计结点数</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p=p-&gt;next;    </a:t>
            </a:r>
          </a:p>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lnSpc>
                <a:spcPct val="100000"/>
              </a:lnSpc>
              <a:spcBef>
                <a:spcPts val="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i;         </a:t>
            </a:r>
            <a:r>
              <a:rPr lang="en-US" altLang="zh-CN" sz="2400" b="1" dirty="0">
                <a:latin typeface="Times New Roman" panose="02020603050405020304" pitchFamily="18" charset="0"/>
                <a:sym typeface="+mn-ea"/>
              </a:rPr>
              <a:t>                    </a:t>
            </a:r>
            <a:endParaRPr lang="en-US" altLang="zh-CN" sz="2400" b="1" dirty="0">
              <a:latin typeface="Times New Roman" panose="02020603050405020304" pitchFamily="18" charset="0"/>
            </a:endParaRPr>
          </a:p>
          <a:p>
            <a:pPr marL="0" indent="0">
              <a:lnSpc>
                <a:spcPct val="100000"/>
              </a:lnSpc>
              <a:spcBef>
                <a:spcPts val="0"/>
              </a:spcBef>
              <a:buNone/>
            </a:pPr>
            <a:r>
              <a:rPr lang="en-US" altLang="zh-CN" sz="2400" b="1" dirty="0">
                <a:latin typeface="Times New Roman" panose="02020603050405020304" pitchFamily="18" charset="0"/>
                <a:sym typeface="+mn-ea"/>
              </a:rPr>
              <a:t> </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3" name="内容占位符 2"/>
          <p:cNvSpPr>
            <a:spLocks noGrp="1"/>
          </p:cNvSpPr>
          <p:nvPr>
            <p:ph idx="1"/>
          </p:nvPr>
        </p:nvSpPr>
        <p:spPr>
          <a:xfrm>
            <a:off x="468630" y="1125855"/>
            <a:ext cx="8207375" cy="558800"/>
          </a:xfrm>
        </p:spPr>
        <p:txBody>
          <a:bodyPr/>
          <a:lstStyle/>
          <a:p>
            <a:r>
              <a:rPr lang="zh-CN" altLang="en-US"/>
              <a:t>表中元素的个数（</a:t>
            </a:r>
            <a:r>
              <a:rPr lang="en-US" altLang="zh-CN"/>
              <a:t>“</a:t>
            </a:r>
            <a:r>
              <a:rPr lang="zh-CN" altLang="en-US"/>
              <a:t>数</a:t>
            </a:r>
            <a:r>
              <a:rPr lang="en-US" altLang="zh-CN"/>
              <a:t>”</a:t>
            </a:r>
            <a:r>
              <a:rPr lang="zh-CN" altLang="en-US"/>
              <a:t>结点个数）</a:t>
            </a:r>
            <a:endParaRPr lang="en-US" altLang="zh-CN"/>
          </a:p>
        </p:txBody>
      </p:sp>
      <p:sp>
        <p:nvSpPr>
          <p:cNvPr id="9" name="Text Box 3"/>
          <p:cNvSpPr txBox="1"/>
          <p:nvPr/>
        </p:nvSpPr>
        <p:spPr>
          <a:xfrm>
            <a:off x="3208020" y="5911215"/>
            <a:ext cx="27193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1800" b="1" dirty="0">
                <a:ea typeface="隶书" panose="02010509060101010101" pitchFamily="49" charset="-122"/>
              </a:rPr>
              <a:t>算法时间复杂度为</a:t>
            </a:r>
            <a:r>
              <a:rPr lang="en-US" altLang="zh-CN" sz="1800" dirty="0">
                <a:ea typeface="宋体" panose="02010600030101010101" pitchFamily="2" charset="-122"/>
              </a:rPr>
              <a:t>:</a:t>
            </a:r>
          </a:p>
        </p:txBody>
      </p:sp>
      <p:sp>
        <p:nvSpPr>
          <p:cNvPr id="6" name="Text Box 4"/>
          <p:cNvSpPr txBox="1"/>
          <p:nvPr/>
        </p:nvSpPr>
        <p:spPr>
          <a:xfrm>
            <a:off x="5346383" y="5954078"/>
            <a:ext cx="640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1800" dirty="0">
                <a:ea typeface="宋体" panose="02010600030101010101" pitchFamily="2" charset="-122"/>
              </a:rPr>
              <a:t>O(n)</a:t>
            </a:r>
          </a:p>
        </p:txBody>
      </p:sp>
      <p:graphicFrame>
        <p:nvGraphicFramePr>
          <p:cNvPr id="8" name="表格 7"/>
          <p:cNvGraphicFramePr>
            <a:graphicFrameLocks noGrp="1"/>
          </p:cNvGraphicFramePr>
          <p:nvPr>
            <p:extLst>
              <p:ext uri="{D42A27DB-BD31-4B8C-83A1-F6EECF244321}">
                <p14:modId xmlns:p14="http://schemas.microsoft.com/office/powerpoint/2010/main" val="2196607902"/>
              </p:ext>
            </p:extLst>
          </p:nvPr>
        </p:nvGraphicFramePr>
        <p:xfrm>
          <a:off x="5886178" y="4241120"/>
          <a:ext cx="2975610" cy="1483360"/>
        </p:xfrm>
        <a:graphic>
          <a:graphicData uri="http://schemas.openxmlformats.org/drawingml/2006/table">
            <a:tbl>
              <a:tblPr firstRow="1" bandRow="1">
                <a:tableStyleId>{2D5ABB26-0587-4C30-8999-92F81FD0307C}</a:tableStyleId>
              </a:tblPr>
              <a:tblGrid>
                <a:gridCol w="1487805">
                  <a:extLst>
                    <a:ext uri="{9D8B030D-6E8A-4147-A177-3AD203B41FA5}">
                      <a16:colId xmlns:a16="http://schemas.microsoft.com/office/drawing/2014/main" val="20000"/>
                    </a:ext>
                  </a:extLst>
                </a:gridCol>
                <a:gridCol w="1487805">
                  <a:extLst>
                    <a:ext uri="{9D8B030D-6E8A-4147-A177-3AD203B41FA5}">
                      <a16:colId xmlns:a16="http://schemas.microsoft.com/office/drawing/2014/main" val="20001"/>
                    </a:ext>
                  </a:extLst>
                </a:gridCol>
              </a:tblGrid>
              <a:tr h="370840">
                <a:tc>
                  <a:txBody>
                    <a:bodyPr/>
                    <a:lstStyle/>
                    <a:p>
                      <a:pPr algn="ctr"/>
                      <a:r>
                        <a:rPr lang="en-US" altLang="zh-CN" dirty="0"/>
                        <a:t>p</a:t>
                      </a:r>
                      <a:r>
                        <a:rPr lang="zh-CN" altLang="en-US" dirty="0"/>
                        <a:t>为空</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a:r>
                        <a:rPr lang="en-US" altLang="zh-CN" dirty="0"/>
                        <a:t>p</a:t>
                      </a:r>
                      <a:r>
                        <a:rPr lang="zh-CN" altLang="en-US" dirty="0"/>
                        <a:t>不为空</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altLang="zh-CN" dirty="0"/>
                        <a:t>!p</a:t>
                      </a:r>
                      <a:endParaRPr lang="zh-CN" alt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ctr"/>
                      <a:r>
                        <a:rPr lang="en-US" altLang="zh-CN" dirty="0"/>
                        <a:t>p</a:t>
                      </a:r>
                      <a:endParaRPr lang="zh-CN" alt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n-US" altLang="zh-CN" dirty="0"/>
                        <a:t>p == NULL</a:t>
                      </a:r>
                      <a:endParaRPr lang="zh-CN" alt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tcPr>
                </a:tc>
                <a:tc>
                  <a:txBody>
                    <a:bodyPr/>
                    <a:lstStyle/>
                    <a:p>
                      <a:pPr algn="ctr"/>
                      <a:r>
                        <a:rPr lang="en-US" altLang="zh-CN" dirty="0"/>
                        <a:t>p != NULL</a:t>
                      </a:r>
                      <a:endParaRPr lang="zh-CN" alt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algn="ctr"/>
                      <a:r>
                        <a:rPr lang="en-US" altLang="zh-CN" dirty="0"/>
                        <a:t>p == 0</a:t>
                      </a:r>
                      <a:endParaRPr lang="zh-CN" alt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algn="ctr"/>
                      <a:r>
                        <a:rPr lang="en-US" altLang="zh-CN" dirty="0"/>
                        <a:t>p</a:t>
                      </a:r>
                      <a:r>
                        <a:rPr lang="en-US" altLang="zh-CN" baseline="0" dirty="0"/>
                        <a:t> != 0</a:t>
                      </a:r>
                      <a:endParaRPr lang="zh-CN" altLang="en-US"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链表取值</a:t>
            </a:r>
          </a:p>
        </p:txBody>
      </p:sp>
      <p:sp>
        <p:nvSpPr>
          <p:cNvPr id="10" name="Text Box 7"/>
          <p:cNvSpPr txBox="1">
            <a:spLocks noChangeArrowheads="1"/>
          </p:cNvSpPr>
          <p:nvPr/>
        </p:nvSpPr>
        <p:spPr bwMode="auto">
          <a:xfrm>
            <a:off x="491173" y="1223963"/>
            <a:ext cx="75326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buNone/>
              <a:defRPr/>
            </a:pPr>
            <a:r>
              <a:rPr kumimoji="0" lang="zh-CN" altLang="en-US" sz="2800" kern="1200" cap="none" spc="0" normalizeH="0" baseline="0" noProof="0" dirty="0">
                <a:latin typeface="+mn-ea"/>
                <a:ea typeface="+mn-ea"/>
                <a:cs typeface="+mn-cs"/>
              </a:rPr>
              <a:t> </a:t>
            </a:r>
            <a:r>
              <a:rPr kumimoji="0" lang="en-US" altLang="zh-CN" sz="2800" b="1" kern="1200" cap="none" spc="0" normalizeH="0" baseline="0" noProof="0" dirty="0" err="1">
                <a:latin typeface="+mn-ea"/>
                <a:ea typeface="+mn-ea"/>
                <a:cs typeface="+mn-cs"/>
              </a:rPr>
              <a:t>GetElem</a:t>
            </a:r>
            <a:r>
              <a:rPr kumimoji="0" lang="en-US" altLang="zh-CN" sz="2800" b="1" kern="1200" cap="none" spc="0" normalizeH="0" baseline="0" noProof="0" dirty="0">
                <a:latin typeface="+mn-ea"/>
                <a:ea typeface="+mn-ea"/>
                <a:cs typeface="+mn-cs"/>
              </a:rPr>
              <a:t>(L, </a:t>
            </a:r>
            <a:r>
              <a:rPr kumimoji="0" lang="en-US" altLang="zh-CN" sz="2800" b="1" kern="1200" cap="none" spc="0" normalizeH="0" baseline="0" noProof="0" dirty="0" err="1">
                <a:latin typeface="+mn-ea"/>
                <a:ea typeface="+mn-ea"/>
                <a:cs typeface="+mn-cs"/>
              </a:rPr>
              <a:t>i</a:t>
            </a:r>
            <a:r>
              <a:rPr kumimoji="0" lang="en-US" altLang="zh-CN" sz="2800" b="1" kern="1200" cap="none" spc="0" normalizeH="0" baseline="0" noProof="0" dirty="0">
                <a:latin typeface="+mn-ea"/>
                <a:ea typeface="+mn-ea"/>
                <a:cs typeface="+mn-cs"/>
              </a:rPr>
              <a:t>, &amp;e)</a:t>
            </a:r>
            <a:endParaRPr kumimoji="0" lang="en-US" altLang="zh-CN" sz="2800" kern="1200" cap="none" spc="0" normalizeH="0" baseline="0" noProof="0" dirty="0">
              <a:latin typeface="+mn-ea"/>
              <a:ea typeface="+mn-ea"/>
              <a:cs typeface="+mn-cs"/>
            </a:endParaRPr>
          </a:p>
        </p:txBody>
      </p:sp>
      <p:grpSp>
        <p:nvGrpSpPr>
          <p:cNvPr id="4" name="组合 3"/>
          <p:cNvGrpSpPr/>
          <p:nvPr/>
        </p:nvGrpSpPr>
        <p:grpSpPr>
          <a:xfrm>
            <a:off x="468630" y="2205355"/>
            <a:ext cx="7691120" cy="1371600"/>
            <a:chOff x="738" y="3473"/>
            <a:chExt cx="12112" cy="2160"/>
          </a:xfrm>
        </p:grpSpPr>
        <p:grpSp>
          <p:nvGrpSpPr>
            <p:cNvPr id="5" name="Group 2"/>
            <p:cNvGrpSpPr/>
            <p:nvPr/>
          </p:nvGrpSpPr>
          <p:grpSpPr>
            <a:xfrm>
              <a:off x="738" y="3473"/>
              <a:ext cx="1682" cy="2160"/>
              <a:chOff x="95" y="1900"/>
              <a:chExt cx="769" cy="980"/>
            </a:xfrm>
          </p:grpSpPr>
          <p:sp>
            <p:nvSpPr>
              <p:cNvPr id="36911" name="Rectangle 3"/>
              <p:cNvSpPr/>
              <p:nvPr/>
            </p:nvSpPr>
            <p:spPr>
              <a:xfrm>
                <a:off x="288"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zh-CN" sz="3600" dirty="0">
                  <a:ea typeface="宋体" panose="02010600030101010101" pitchFamily="2" charset="-122"/>
                </a:endParaRPr>
              </a:p>
            </p:txBody>
          </p:sp>
          <p:sp>
            <p:nvSpPr>
              <p:cNvPr id="36912" name="Line 4"/>
              <p:cNvSpPr/>
              <p:nvPr/>
            </p:nvSpPr>
            <p:spPr>
              <a:xfrm>
                <a:off x="672" y="2544"/>
                <a:ext cx="0" cy="336"/>
              </a:xfrm>
              <a:prstGeom prst="line">
                <a:avLst/>
              </a:prstGeom>
              <a:ln w="9525" cap="flat" cmpd="sng">
                <a:solidFill>
                  <a:srgbClr val="008080"/>
                </a:solidFill>
                <a:prstDash val="solid"/>
                <a:headEnd type="none" w="med" len="med"/>
                <a:tailEnd type="none" w="med" len="med"/>
              </a:ln>
            </p:spPr>
          </p:sp>
          <p:sp>
            <p:nvSpPr>
              <p:cNvPr id="36913" name="Text Box 5"/>
              <p:cNvSpPr txBox="1"/>
              <p:nvPr/>
            </p:nvSpPr>
            <p:spPr>
              <a:xfrm>
                <a:off x="96" y="1900"/>
                <a:ext cx="352" cy="4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L</a:t>
                </a:r>
                <a:endParaRPr lang="en-US" altLang="zh-CN" sz="3600" dirty="0">
                  <a:ea typeface="宋体" panose="02010600030101010101" pitchFamily="2" charset="-122"/>
                </a:endParaRPr>
              </a:p>
            </p:txBody>
          </p:sp>
          <p:sp>
            <p:nvSpPr>
              <p:cNvPr id="36914" name="Arc 6"/>
              <p:cNvSpPr/>
              <p:nvPr/>
            </p:nvSpPr>
            <p:spPr>
              <a:xfrm rot="-10459146">
                <a:off x="95" y="2176"/>
                <a:ext cx="433" cy="553"/>
              </a:xfrm>
              <a:custGeom>
                <a:avLst/>
                <a:gdLst/>
                <a:ahLst/>
                <a:cxnLst>
                  <a:cxn ang="0">
                    <a:pos x="0" y="0"/>
                  </a:cxn>
                  <a:cxn ang="0">
                    <a:pos x="0" y="0"/>
                  </a:cxn>
                  <a:cxn ang="0">
                    <a:pos x="0" y="0"/>
                  </a:cxn>
                </a:cxnLst>
                <a:rect l="0" t="0" r="0" b="0"/>
                <a:pathLst>
                  <a:path w="21600" h="20719" fill="none">
                    <a:moveTo>
                      <a:pt x="9627" y="0"/>
                    </a:moveTo>
                    <a:cubicBezTo>
                      <a:pt x="16963" y="3652"/>
                      <a:pt x="21600" y="11141"/>
                      <a:pt x="21600" y="19336"/>
                    </a:cubicBezTo>
                    <a:cubicBezTo>
                      <a:pt x="21600" y="19797"/>
                      <a:pt x="21585" y="20258"/>
                      <a:pt x="21555" y="20718"/>
                    </a:cubicBezTo>
                  </a:path>
                  <a:path w="21600" h="20719" stroke="0">
                    <a:moveTo>
                      <a:pt x="9627" y="0"/>
                    </a:moveTo>
                    <a:cubicBezTo>
                      <a:pt x="16963" y="3652"/>
                      <a:pt x="21600" y="11141"/>
                      <a:pt x="21600" y="19336"/>
                    </a:cubicBezTo>
                    <a:cubicBezTo>
                      <a:pt x="21600" y="19797"/>
                      <a:pt x="21585" y="20258"/>
                      <a:pt x="21555" y="20718"/>
                    </a:cubicBezTo>
                    <a:lnTo>
                      <a:pt x="0" y="19336"/>
                    </a:lnTo>
                    <a:lnTo>
                      <a:pt x="9627" y="0"/>
                    </a:lnTo>
                    <a:close/>
                  </a:path>
                </a:pathLst>
              </a:custGeom>
              <a:noFill/>
              <a:ln w="31750" cap="flat" cmpd="sng">
                <a:solidFill>
                  <a:srgbClr val="000099">
                    <a:alpha val="100000"/>
                  </a:srgbClr>
                </a:solidFill>
                <a:prstDash val="solid"/>
                <a:round/>
                <a:headEnd type="triangle" w="med" len="med"/>
                <a:tailEnd type="none" w="med" len="lg"/>
              </a:ln>
            </p:spPr>
            <p:txBody>
              <a:bodyPr/>
              <a:lstStyle/>
              <a:p>
                <a:endParaRPr lang="zh-CN" altLang="en-US"/>
              </a:p>
            </p:txBody>
          </p:sp>
        </p:grpSp>
        <p:grpSp>
          <p:nvGrpSpPr>
            <p:cNvPr id="11" name="Group 8"/>
            <p:cNvGrpSpPr/>
            <p:nvPr/>
          </p:nvGrpSpPr>
          <p:grpSpPr>
            <a:xfrm>
              <a:off x="2418" y="4913"/>
              <a:ext cx="1922" cy="720"/>
              <a:chOff x="768" y="2544"/>
              <a:chExt cx="864" cy="336"/>
            </a:xfrm>
          </p:grpSpPr>
          <p:sp>
            <p:nvSpPr>
              <p:cNvPr id="36908" name="Rectangle 9"/>
              <p:cNvSpPr/>
              <p:nvPr/>
            </p:nvSpPr>
            <p:spPr>
              <a:xfrm>
                <a:off x="105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21</a:t>
                </a:r>
                <a:endParaRPr lang="en-US" altLang="zh-CN" sz="2400" dirty="0">
                  <a:ea typeface="宋体" panose="02010600030101010101" pitchFamily="2" charset="-122"/>
                </a:endParaRPr>
              </a:p>
            </p:txBody>
          </p:sp>
          <p:sp>
            <p:nvSpPr>
              <p:cNvPr id="36909" name="Line 10"/>
              <p:cNvSpPr/>
              <p:nvPr/>
            </p:nvSpPr>
            <p:spPr>
              <a:xfrm>
                <a:off x="1440" y="2544"/>
                <a:ext cx="0" cy="336"/>
              </a:xfrm>
              <a:prstGeom prst="line">
                <a:avLst/>
              </a:prstGeom>
              <a:ln w="9525" cap="flat" cmpd="sng">
                <a:solidFill>
                  <a:srgbClr val="008080"/>
                </a:solidFill>
                <a:prstDash val="solid"/>
                <a:headEnd type="none" w="med" len="med"/>
                <a:tailEnd type="none" w="med" len="med"/>
              </a:ln>
            </p:spPr>
          </p:sp>
          <p:sp>
            <p:nvSpPr>
              <p:cNvPr id="36910" name="Line 11"/>
              <p:cNvSpPr/>
              <p:nvPr/>
            </p:nvSpPr>
            <p:spPr>
              <a:xfrm>
                <a:off x="768" y="2736"/>
                <a:ext cx="288" cy="0"/>
              </a:xfrm>
              <a:prstGeom prst="line">
                <a:avLst/>
              </a:prstGeom>
              <a:ln w="25400" cap="flat" cmpd="sng">
                <a:solidFill>
                  <a:srgbClr val="008080"/>
                </a:solidFill>
                <a:prstDash val="solid"/>
                <a:headEnd type="oval" w="sm" len="sm"/>
                <a:tailEnd type="triangle" w="med" len="lg"/>
              </a:ln>
            </p:spPr>
          </p:sp>
        </p:grpSp>
        <p:grpSp>
          <p:nvGrpSpPr>
            <p:cNvPr id="15" name="Group 12"/>
            <p:cNvGrpSpPr/>
            <p:nvPr/>
          </p:nvGrpSpPr>
          <p:grpSpPr>
            <a:xfrm>
              <a:off x="4098" y="4913"/>
              <a:ext cx="1922" cy="720"/>
              <a:chOff x="1536" y="2544"/>
              <a:chExt cx="864" cy="336"/>
            </a:xfrm>
          </p:grpSpPr>
          <p:sp>
            <p:nvSpPr>
              <p:cNvPr id="36905" name="Rectangle 13"/>
              <p:cNvSpPr/>
              <p:nvPr/>
            </p:nvSpPr>
            <p:spPr>
              <a:xfrm>
                <a:off x="1824"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18</a:t>
                </a:r>
                <a:endParaRPr lang="en-US" altLang="zh-CN" sz="2400" dirty="0">
                  <a:ea typeface="宋体" panose="02010600030101010101" pitchFamily="2" charset="-122"/>
                </a:endParaRPr>
              </a:p>
            </p:txBody>
          </p:sp>
          <p:sp>
            <p:nvSpPr>
              <p:cNvPr id="36906" name="Line 14"/>
              <p:cNvSpPr/>
              <p:nvPr/>
            </p:nvSpPr>
            <p:spPr>
              <a:xfrm>
                <a:off x="2208" y="2544"/>
                <a:ext cx="0" cy="336"/>
              </a:xfrm>
              <a:prstGeom prst="line">
                <a:avLst/>
              </a:prstGeom>
              <a:ln w="9525" cap="flat" cmpd="sng">
                <a:solidFill>
                  <a:srgbClr val="008080"/>
                </a:solidFill>
                <a:prstDash val="solid"/>
                <a:headEnd type="none" w="med" len="med"/>
                <a:tailEnd type="none" w="med" len="med"/>
              </a:ln>
            </p:spPr>
          </p:sp>
          <p:sp>
            <p:nvSpPr>
              <p:cNvPr id="36907" name="Line 15"/>
              <p:cNvSpPr/>
              <p:nvPr/>
            </p:nvSpPr>
            <p:spPr>
              <a:xfrm>
                <a:off x="1536" y="2736"/>
                <a:ext cx="288" cy="0"/>
              </a:xfrm>
              <a:prstGeom prst="line">
                <a:avLst/>
              </a:prstGeom>
              <a:ln w="25400" cap="flat" cmpd="sng">
                <a:solidFill>
                  <a:srgbClr val="008080"/>
                </a:solidFill>
                <a:prstDash val="solid"/>
                <a:headEnd type="oval" w="sm" len="sm"/>
                <a:tailEnd type="triangle" w="med" len="lg"/>
              </a:ln>
            </p:spPr>
          </p:sp>
        </p:grpSp>
        <p:grpSp>
          <p:nvGrpSpPr>
            <p:cNvPr id="19" name="Group 16"/>
            <p:cNvGrpSpPr/>
            <p:nvPr/>
          </p:nvGrpSpPr>
          <p:grpSpPr>
            <a:xfrm>
              <a:off x="5778" y="4913"/>
              <a:ext cx="2042" cy="720"/>
              <a:chOff x="2304" y="2544"/>
              <a:chExt cx="864" cy="336"/>
            </a:xfrm>
          </p:grpSpPr>
          <p:sp>
            <p:nvSpPr>
              <p:cNvPr id="36902" name="Rectangle 17"/>
              <p:cNvSpPr/>
              <p:nvPr/>
            </p:nvSpPr>
            <p:spPr>
              <a:xfrm>
                <a:off x="2592"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30</a:t>
                </a:r>
                <a:endParaRPr lang="en-US" altLang="zh-CN" sz="2400" dirty="0">
                  <a:ea typeface="宋体" panose="02010600030101010101" pitchFamily="2" charset="-122"/>
                </a:endParaRPr>
              </a:p>
            </p:txBody>
          </p:sp>
          <p:sp>
            <p:nvSpPr>
              <p:cNvPr id="36903" name="Line 18"/>
              <p:cNvSpPr/>
              <p:nvPr/>
            </p:nvSpPr>
            <p:spPr>
              <a:xfrm>
                <a:off x="2976" y="2544"/>
                <a:ext cx="0" cy="336"/>
              </a:xfrm>
              <a:prstGeom prst="line">
                <a:avLst/>
              </a:prstGeom>
              <a:ln w="9525" cap="flat" cmpd="sng">
                <a:solidFill>
                  <a:srgbClr val="008080"/>
                </a:solidFill>
                <a:prstDash val="solid"/>
                <a:headEnd type="none" w="med" len="med"/>
                <a:tailEnd type="none" w="med" len="med"/>
              </a:ln>
            </p:spPr>
          </p:sp>
          <p:sp>
            <p:nvSpPr>
              <p:cNvPr id="36904" name="Line 19"/>
              <p:cNvSpPr/>
              <p:nvPr/>
            </p:nvSpPr>
            <p:spPr>
              <a:xfrm>
                <a:off x="2304" y="2736"/>
                <a:ext cx="288" cy="0"/>
              </a:xfrm>
              <a:prstGeom prst="line">
                <a:avLst/>
              </a:prstGeom>
              <a:ln w="25400" cap="flat" cmpd="sng">
                <a:solidFill>
                  <a:srgbClr val="008080"/>
                </a:solidFill>
                <a:prstDash val="solid"/>
                <a:headEnd type="oval" w="sm" len="sm"/>
                <a:tailEnd type="triangle" w="med" len="lg"/>
              </a:ln>
            </p:spPr>
          </p:sp>
        </p:grpSp>
        <p:grpSp>
          <p:nvGrpSpPr>
            <p:cNvPr id="23" name="Group 20"/>
            <p:cNvGrpSpPr/>
            <p:nvPr/>
          </p:nvGrpSpPr>
          <p:grpSpPr>
            <a:xfrm>
              <a:off x="7578" y="4913"/>
              <a:ext cx="1922" cy="720"/>
              <a:chOff x="3072" y="2544"/>
              <a:chExt cx="864" cy="336"/>
            </a:xfrm>
          </p:grpSpPr>
          <p:sp>
            <p:nvSpPr>
              <p:cNvPr id="36899" name="Rectangle 21"/>
              <p:cNvSpPr/>
              <p:nvPr/>
            </p:nvSpPr>
            <p:spPr>
              <a:xfrm>
                <a:off x="3360"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75</a:t>
                </a:r>
                <a:endParaRPr lang="en-US" altLang="zh-CN" sz="2400" dirty="0">
                  <a:ea typeface="宋体" panose="02010600030101010101" pitchFamily="2" charset="-122"/>
                </a:endParaRPr>
              </a:p>
            </p:txBody>
          </p:sp>
          <p:sp>
            <p:nvSpPr>
              <p:cNvPr id="36900" name="Line 22"/>
              <p:cNvSpPr/>
              <p:nvPr/>
            </p:nvSpPr>
            <p:spPr>
              <a:xfrm>
                <a:off x="3744" y="2544"/>
                <a:ext cx="0" cy="336"/>
              </a:xfrm>
              <a:prstGeom prst="line">
                <a:avLst/>
              </a:prstGeom>
              <a:ln w="9525" cap="flat" cmpd="sng">
                <a:solidFill>
                  <a:srgbClr val="008080"/>
                </a:solidFill>
                <a:prstDash val="solid"/>
                <a:headEnd type="none" w="med" len="med"/>
                <a:tailEnd type="none" w="med" len="med"/>
              </a:ln>
            </p:spPr>
          </p:sp>
          <p:sp>
            <p:nvSpPr>
              <p:cNvPr id="36901" name="Line 23"/>
              <p:cNvSpPr/>
              <p:nvPr/>
            </p:nvSpPr>
            <p:spPr>
              <a:xfrm>
                <a:off x="3072" y="2736"/>
                <a:ext cx="288" cy="0"/>
              </a:xfrm>
              <a:prstGeom prst="line">
                <a:avLst/>
              </a:prstGeom>
              <a:ln w="25400" cap="flat" cmpd="sng">
                <a:solidFill>
                  <a:srgbClr val="008080"/>
                </a:solidFill>
                <a:prstDash val="solid"/>
                <a:headEnd type="oval" w="sm" len="sm"/>
                <a:tailEnd type="triangle" w="med" len="lg"/>
              </a:ln>
            </p:spPr>
          </p:sp>
        </p:grpSp>
        <p:grpSp>
          <p:nvGrpSpPr>
            <p:cNvPr id="27" name="Group 24"/>
            <p:cNvGrpSpPr/>
            <p:nvPr/>
          </p:nvGrpSpPr>
          <p:grpSpPr>
            <a:xfrm>
              <a:off x="9258" y="4913"/>
              <a:ext cx="1922" cy="720"/>
              <a:chOff x="3840" y="2544"/>
              <a:chExt cx="864" cy="336"/>
            </a:xfrm>
          </p:grpSpPr>
          <p:sp>
            <p:nvSpPr>
              <p:cNvPr id="36896" name="Rectangle 25"/>
              <p:cNvSpPr/>
              <p:nvPr/>
            </p:nvSpPr>
            <p:spPr>
              <a:xfrm>
                <a:off x="4128"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42</a:t>
                </a:r>
                <a:endParaRPr lang="en-US" altLang="zh-CN" sz="2400" dirty="0">
                  <a:ea typeface="宋体" panose="02010600030101010101" pitchFamily="2" charset="-122"/>
                </a:endParaRPr>
              </a:p>
            </p:txBody>
          </p:sp>
          <p:sp>
            <p:nvSpPr>
              <p:cNvPr id="36897" name="Line 26"/>
              <p:cNvSpPr/>
              <p:nvPr/>
            </p:nvSpPr>
            <p:spPr>
              <a:xfrm>
                <a:off x="4512" y="2544"/>
                <a:ext cx="0" cy="336"/>
              </a:xfrm>
              <a:prstGeom prst="line">
                <a:avLst/>
              </a:prstGeom>
              <a:ln w="9525" cap="flat" cmpd="sng">
                <a:solidFill>
                  <a:srgbClr val="008080"/>
                </a:solidFill>
                <a:prstDash val="solid"/>
                <a:headEnd type="none" w="med" len="med"/>
                <a:tailEnd type="none" w="med" len="med"/>
              </a:ln>
            </p:spPr>
          </p:sp>
          <p:sp>
            <p:nvSpPr>
              <p:cNvPr id="36898" name="Line 27"/>
              <p:cNvSpPr/>
              <p:nvPr/>
            </p:nvSpPr>
            <p:spPr>
              <a:xfrm>
                <a:off x="3840" y="2736"/>
                <a:ext cx="288" cy="0"/>
              </a:xfrm>
              <a:prstGeom prst="line">
                <a:avLst/>
              </a:prstGeom>
              <a:ln w="25400" cap="flat" cmpd="sng">
                <a:solidFill>
                  <a:srgbClr val="008080"/>
                </a:solidFill>
                <a:prstDash val="solid"/>
                <a:headEnd type="oval" w="sm" len="sm"/>
                <a:tailEnd type="triangle" w="med" len="lg"/>
              </a:ln>
            </p:spPr>
          </p:sp>
        </p:grpSp>
        <p:grpSp>
          <p:nvGrpSpPr>
            <p:cNvPr id="31" name="Group 28"/>
            <p:cNvGrpSpPr/>
            <p:nvPr/>
          </p:nvGrpSpPr>
          <p:grpSpPr>
            <a:xfrm>
              <a:off x="10938" y="4891"/>
              <a:ext cx="1913" cy="740"/>
              <a:chOff x="4608" y="2535"/>
              <a:chExt cx="900" cy="345"/>
            </a:xfrm>
          </p:grpSpPr>
          <p:sp>
            <p:nvSpPr>
              <p:cNvPr id="36892" name="Rectangle 29"/>
              <p:cNvSpPr/>
              <p:nvPr/>
            </p:nvSpPr>
            <p:spPr>
              <a:xfrm>
                <a:off x="489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56</a:t>
                </a:r>
                <a:endParaRPr lang="en-US" altLang="zh-CN" sz="2400" dirty="0">
                  <a:ea typeface="宋体" panose="02010600030101010101" pitchFamily="2" charset="-122"/>
                </a:endParaRPr>
              </a:p>
            </p:txBody>
          </p:sp>
          <p:sp>
            <p:nvSpPr>
              <p:cNvPr id="36893" name="Line 30"/>
              <p:cNvSpPr/>
              <p:nvPr/>
            </p:nvSpPr>
            <p:spPr>
              <a:xfrm>
                <a:off x="5280" y="2544"/>
                <a:ext cx="0" cy="336"/>
              </a:xfrm>
              <a:prstGeom prst="line">
                <a:avLst/>
              </a:prstGeom>
              <a:ln w="9525" cap="flat" cmpd="sng">
                <a:solidFill>
                  <a:srgbClr val="008080"/>
                </a:solidFill>
                <a:prstDash val="solid"/>
                <a:headEnd type="none" w="med" len="med"/>
                <a:tailEnd type="none" w="med" len="med"/>
              </a:ln>
            </p:spPr>
          </p:sp>
          <p:sp>
            <p:nvSpPr>
              <p:cNvPr id="36894" name="Text Box 31"/>
              <p:cNvSpPr txBox="1"/>
              <p:nvPr/>
            </p:nvSpPr>
            <p:spPr>
              <a:xfrm>
                <a:off x="5205" y="2535"/>
                <a:ext cx="303" cy="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a:t>
                </a:r>
                <a:endParaRPr lang="en-US" altLang="zh-CN" sz="2400" dirty="0">
                  <a:ea typeface="宋体" panose="02010600030101010101" pitchFamily="2" charset="-122"/>
                </a:endParaRPr>
              </a:p>
            </p:txBody>
          </p:sp>
          <p:sp>
            <p:nvSpPr>
              <p:cNvPr id="36895" name="Line 32"/>
              <p:cNvSpPr/>
              <p:nvPr/>
            </p:nvSpPr>
            <p:spPr>
              <a:xfrm>
                <a:off x="4608" y="2736"/>
                <a:ext cx="288" cy="0"/>
              </a:xfrm>
              <a:prstGeom prst="line">
                <a:avLst/>
              </a:prstGeom>
              <a:ln w="25400" cap="flat" cmpd="sng">
                <a:solidFill>
                  <a:srgbClr val="008080"/>
                </a:solidFill>
                <a:prstDash val="solid"/>
                <a:headEnd type="oval" w="sm" len="sm"/>
                <a:tailEnd type="triangle" w="med" len="lg"/>
              </a:ln>
            </p:spPr>
          </p:sp>
        </p:grpSp>
      </p:grpSp>
      <p:grpSp>
        <p:nvGrpSpPr>
          <p:cNvPr id="36" name="Group 33"/>
          <p:cNvGrpSpPr/>
          <p:nvPr/>
        </p:nvGrpSpPr>
        <p:grpSpPr>
          <a:xfrm>
            <a:off x="2089150" y="3653155"/>
            <a:ext cx="438150" cy="990600"/>
            <a:chOff x="1212" y="2880"/>
            <a:chExt cx="276" cy="624"/>
          </a:xfrm>
        </p:grpSpPr>
        <p:sp>
          <p:nvSpPr>
            <p:cNvPr id="36890" name="Line 34"/>
            <p:cNvSpPr/>
            <p:nvPr/>
          </p:nvSpPr>
          <p:spPr>
            <a:xfrm>
              <a:off x="1248" y="2880"/>
              <a:ext cx="0" cy="624"/>
            </a:xfrm>
            <a:prstGeom prst="line">
              <a:avLst/>
            </a:prstGeom>
            <a:ln w="31750" cap="flat" cmpd="sng">
              <a:solidFill>
                <a:srgbClr val="990000"/>
              </a:solidFill>
              <a:prstDash val="solid"/>
              <a:headEnd type="triangle" w="med" len="lg"/>
              <a:tailEnd type="none" w="med" len="med"/>
            </a:ln>
          </p:spPr>
        </p:sp>
        <p:sp>
          <p:nvSpPr>
            <p:cNvPr id="36891" name="Text Box 35"/>
            <p:cNvSpPr txBox="1"/>
            <p:nvPr/>
          </p:nvSpPr>
          <p:spPr>
            <a:xfrm>
              <a:off x="1212" y="305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p</a:t>
              </a:r>
              <a:endParaRPr lang="en-US" altLang="zh-CN" sz="3600" dirty="0">
                <a:ea typeface="宋体" panose="02010600030101010101" pitchFamily="2" charset="-122"/>
              </a:endParaRPr>
            </a:p>
          </p:txBody>
        </p:sp>
      </p:grpSp>
      <p:grpSp>
        <p:nvGrpSpPr>
          <p:cNvPr id="39" name="Group 36"/>
          <p:cNvGrpSpPr/>
          <p:nvPr/>
        </p:nvGrpSpPr>
        <p:grpSpPr>
          <a:xfrm>
            <a:off x="3289300" y="3653155"/>
            <a:ext cx="438150" cy="990600"/>
            <a:chOff x="1212" y="2880"/>
            <a:chExt cx="276" cy="624"/>
          </a:xfrm>
        </p:grpSpPr>
        <p:sp>
          <p:nvSpPr>
            <p:cNvPr id="36888" name="Line 37"/>
            <p:cNvSpPr/>
            <p:nvPr/>
          </p:nvSpPr>
          <p:spPr>
            <a:xfrm>
              <a:off x="1248" y="2880"/>
              <a:ext cx="0" cy="624"/>
            </a:xfrm>
            <a:prstGeom prst="line">
              <a:avLst/>
            </a:prstGeom>
            <a:ln w="31750" cap="flat" cmpd="sng">
              <a:solidFill>
                <a:srgbClr val="990000"/>
              </a:solidFill>
              <a:prstDash val="solid"/>
              <a:headEnd type="triangle" w="med" len="lg"/>
              <a:tailEnd type="none" w="med" len="med"/>
            </a:ln>
          </p:spPr>
        </p:sp>
        <p:sp>
          <p:nvSpPr>
            <p:cNvPr id="36889" name="Text Box 38"/>
            <p:cNvSpPr txBox="1"/>
            <p:nvPr/>
          </p:nvSpPr>
          <p:spPr>
            <a:xfrm>
              <a:off x="1212" y="305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p</a:t>
              </a:r>
              <a:endParaRPr lang="en-US" altLang="zh-CN" sz="3600" dirty="0">
                <a:ea typeface="宋体" panose="02010600030101010101" pitchFamily="2" charset="-122"/>
              </a:endParaRPr>
            </a:p>
          </p:txBody>
        </p:sp>
      </p:grpSp>
      <p:grpSp>
        <p:nvGrpSpPr>
          <p:cNvPr id="42" name="Group 39"/>
          <p:cNvGrpSpPr/>
          <p:nvPr/>
        </p:nvGrpSpPr>
        <p:grpSpPr>
          <a:xfrm>
            <a:off x="4527550" y="3653155"/>
            <a:ext cx="438150" cy="990600"/>
            <a:chOff x="1212" y="2880"/>
            <a:chExt cx="276" cy="624"/>
          </a:xfrm>
        </p:grpSpPr>
        <p:sp>
          <p:nvSpPr>
            <p:cNvPr id="36886" name="Line 40"/>
            <p:cNvSpPr/>
            <p:nvPr/>
          </p:nvSpPr>
          <p:spPr>
            <a:xfrm>
              <a:off x="1248" y="2880"/>
              <a:ext cx="0" cy="624"/>
            </a:xfrm>
            <a:prstGeom prst="line">
              <a:avLst/>
            </a:prstGeom>
            <a:ln w="31750" cap="flat" cmpd="sng">
              <a:solidFill>
                <a:srgbClr val="990000"/>
              </a:solidFill>
              <a:prstDash val="solid"/>
              <a:headEnd type="triangle" w="med" len="lg"/>
              <a:tailEnd type="none" w="med" len="med"/>
            </a:ln>
          </p:spPr>
        </p:sp>
        <p:sp>
          <p:nvSpPr>
            <p:cNvPr id="36887" name="Text Box 41"/>
            <p:cNvSpPr txBox="1"/>
            <p:nvPr/>
          </p:nvSpPr>
          <p:spPr>
            <a:xfrm>
              <a:off x="1212" y="305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p</a:t>
              </a:r>
              <a:endParaRPr lang="en-US" altLang="zh-CN" sz="3600" dirty="0">
                <a:ea typeface="宋体" panose="02010600030101010101" pitchFamily="2" charset="-122"/>
              </a:endParaRPr>
            </a:p>
          </p:txBody>
        </p:sp>
      </p:grpSp>
      <p:sp>
        <p:nvSpPr>
          <p:cNvPr id="45" name="Text Box 42"/>
          <p:cNvSpPr txBox="1"/>
          <p:nvPr/>
        </p:nvSpPr>
        <p:spPr>
          <a:xfrm>
            <a:off x="589280" y="3867785"/>
            <a:ext cx="336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j</a:t>
            </a:r>
            <a:endParaRPr lang="en-US" altLang="zh-CN" sz="3600" dirty="0">
              <a:ea typeface="宋体" panose="02010600030101010101" pitchFamily="2" charset="-122"/>
            </a:endParaRPr>
          </a:p>
        </p:txBody>
      </p:sp>
      <p:sp>
        <p:nvSpPr>
          <p:cNvPr id="46" name="Text Box 43"/>
          <p:cNvSpPr txBox="1"/>
          <p:nvPr/>
        </p:nvSpPr>
        <p:spPr>
          <a:xfrm>
            <a:off x="1046480" y="3902710"/>
            <a:ext cx="641350" cy="650875"/>
          </a:xfrm>
          <a:prstGeom prst="rect">
            <a:avLst/>
          </a:prstGeom>
          <a:solidFill>
            <a:srgbClr val="FFFF99">
              <a:alpha val="50195"/>
            </a:srgbClr>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1</a:t>
            </a:r>
            <a:endParaRPr lang="en-US" altLang="zh-CN" sz="3600" dirty="0">
              <a:ea typeface="宋体" panose="02010600030101010101" pitchFamily="2" charset="-122"/>
            </a:endParaRPr>
          </a:p>
        </p:txBody>
      </p:sp>
      <p:sp>
        <p:nvSpPr>
          <p:cNvPr id="47" name="Text Box 44"/>
          <p:cNvSpPr txBox="1"/>
          <p:nvPr/>
        </p:nvSpPr>
        <p:spPr>
          <a:xfrm>
            <a:off x="1046480" y="3902710"/>
            <a:ext cx="641350" cy="650875"/>
          </a:xfrm>
          <a:prstGeom prst="rect">
            <a:avLst/>
          </a:prstGeom>
          <a:solidFill>
            <a:srgbClr val="FFFF99"/>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2</a:t>
            </a:r>
            <a:endParaRPr lang="en-US" altLang="zh-CN" sz="3600" dirty="0">
              <a:ea typeface="宋体" panose="02010600030101010101" pitchFamily="2" charset="-122"/>
            </a:endParaRPr>
          </a:p>
        </p:txBody>
      </p:sp>
      <p:sp>
        <p:nvSpPr>
          <p:cNvPr id="48" name="Text Box 45"/>
          <p:cNvSpPr txBox="1"/>
          <p:nvPr/>
        </p:nvSpPr>
        <p:spPr>
          <a:xfrm>
            <a:off x="1046480" y="3902710"/>
            <a:ext cx="641350" cy="650875"/>
          </a:xfrm>
          <a:prstGeom prst="rect">
            <a:avLst/>
          </a:prstGeom>
          <a:solidFill>
            <a:srgbClr val="FFFF99"/>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3</a:t>
            </a:r>
            <a:endParaRPr lang="en-US" altLang="zh-CN" sz="3600" dirty="0">
              <a:ea typeface="宋体" panose="02010600030101010101" pitchFamily="2" charset="-122"/>
            </a:endParaRPr>
          </a:p>
        </p:txBody>
      </p:sp>
      <p:sp useBgFill="1">
        <p:nvSpPr>
          <p:cNvPr id="49" name="Rectangle 46"/>
          <p:cNvSpPr/>
          <p:nvPr/>
        </p:nvSpPr>
        <p:spPr>
          <a:xfrm>
            <a:off x="1993900" y="3653155"/>
            <a:ext cx="457200" cy="11430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50" name="Rectangle 47"/>
          <p:cNvSpPr/>
          <p:nvPr/>
        </p:nvSpPr>
        <p:spPr>
          <a:xfrm>
            <a:off x="3211830" y="3653155"/>
            <a:ext cx="457200" cy="1143000"/>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51" name="文本框 50"/>
          <p:cNvSpPr txBox="1"/>
          <p:nvPr/>
        </p:nvSpPr>
        <p:spPr>
          <a:xfrm>
            <a:off x="993775" y="1997393"/>
            <a:ext cx="1630363"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800" dirty="0">
                <a:solidFill>
                  <a:srgbClr val="000000"/>
                </a:solidFill>
                <a:latin typeface="华文细黑" panose="02010600040101010101" pitchFamily="2" charset="-122"/>
              </a:rPr>
              <a:t>例：</a:t>
            </a:r>
            <a:r>
              <a:rPr lang="en-US" altLang="zh-CN" sz="2800" dirty="0">
                <a:solidFill>
                  <a:srgbClr val="000000"/>
                </a:solidFill>
                <a:latin typeface="华文细黑" panose="02010600040101010101" pitchFamily="2" charset="-122"/>
              </a:rPr>
              <a:t>i=3</a:t>
            </a:r>
          </a:p>
        </p:txBody>
      </p:sp>
      <p:sp>
        <p:nvSpPr>
          <p:cNvPr id="2" name="文本框 1"/>
          <p:cNvSpPr txBox="1"/>
          <p:nvPr/>
        </p:nvSpPr>
        <p:spPr>
          <a:xfrm>
            <a:off x="539552" y="5342890"/>
            <a:ext cx="2592288"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sz="2800" dirty="0">
                <a:solidFill>
                  <a:srgbClr val="000000"/>
                </a:solidFill>
                <a:latin typeface="华文细黑" panose="02010600040101010101" pitchFamily="2" charset="-122"/>
              </a:rPr>
              <a:t>有什么问题？</a:t>
            </a:r>
            <a:endParaRPr lang="zh-CN" altLang="en-US" sz="2800" dirty="0">
              <a:solidFill>
                <a:srgbClr val="000000"/>
              </a:solidFill>
              <a:latin typeface="华文细黑" panose="02010600040101010101" pitchFamily="2" charset="-122"/>
            </a:endParaRPr>
          </a:p>
        </p:txBody>
      </p:sp>
      <p:sp>
        <p:nvSpPr>
          <p:cNvPr id="3" name="文本框 2"/>
          <p:cNvSpPr txBox="1"/>
          <p:nvPr/>
        </p:nvSpPr>
        <p:spPr>
          <a:xfrm>
            <a:off x="4739640" y="1224280"/>
            <a:ext cx="1771650" cy="1364615"/>
          </a:xfrm>
          <a:prstGeom prst="rect">
            <a:avLst/>
          </a:prstGeom>
          <a:noFill/>
          <a:ln>
            <a:solidFill>
              <a:schemeClr val="tx1"/>
            </a:solidFill>
          </a:ln>
        </p:spPr>
        <p:txBody>
          <a:bodyPr wrap="square" rtlCol="0" anchor="t">
            <a:spAutoFit/>
          </a:bodyPr>
          <a:lstStyle/>
          <a:p>
            <a:pPr marL="342900" indent="-342900" eaLnBrk="0" hangingPunct="0">
              <a:spcBef>
                <a:spcPct val="20000"/>
              </a:spcBef>
            </a:pPr>
            <a:r>
              <a:rPr lang="en-US" altLang="zh-CN" dirty="0">
                <a:ln>
                  <a:solidFill>
                    <a:schemeClr val="tx1"/>
                  </a:solidFill>
                </a:ln>
                <a:latin typeface="Times New Roman" panose="02020603050405020304" pitchFamily="18" charset="0"/>
                <a:sym typeface="+mn-ea"/>
              </a:rPr>
              <a:t>while(j&lt;i){</a:t>
            </a:r>
            <a:r>
              <a:rPr lang="zh-CN" altLang="en-US" dirty="0">
                <a:ln>
                  <a:solidFill>
                    <a:schemeClr val="tx1"/>
                  </a:solidFill>
                </a:ln>
                <a:latin typeface="Times New Roman" panose="02020603050405020304" pitchFamily="18" charset="0"/>
                <a:sym typeface="+mn-ea"/>
              </a:rPr>
              <a:t> </a:t>
            </a:r>
          </a:p>
          <a:p>
            <a:pPr marL="342900" indent="-342900" eaLnBrk="0" hangingPunct="0">
              <a:spcBef>
                <a:spcPct val="20000"/>
              </a:spcBef>
            </a:pPr>
            <a:r>
              <a:rPr lang="zh-CN" altLang="en-US" dirty="0">
                <a:ln>
                  <a:solidFill>
                    <a:schemeClr val="tx1"/>
                  </a:solidFill>
                </a:ln>
                <a:latin typeface="Times New Roman" panose="02020603050405020304" pitchFamily="18" charset="0"/>
                <a:sym typeface="+mn-ea"/>
              </a:rPr>
              <a:t>       </a:t>
            </a:r>
            <a:r>
              <a:rPr lang="en-US" altLang="zh-CN" dirty="0">
                <a:ln>
                  <a:solidFill>
                    <a:schemeClr val="tx1"/>
                  </a:solidFill>
                </a:ln>
                <a:latin typeface="Times New Roman" panose="02020603050405020304" pitchFamily="18" charset="0"/>
                <a:sym typeface="+mn-ea"/>
              </a:rPr>
              <a:t>p=p-&gt;next;</a:t>
            </a:r>
          </a:p>
          <a:p>
            <a:pPr marL="342900" indent="-342900" eaLnBrk="0" hangingPunct="0">
              <a:spcBef>
                <a:spcPct val="20000"/>
              </a:spcBef>
            </a:pPr>
            <a:r>
              <a:rPr lang="en-US" altLang="zh-CN" dirty="0">
                <a:ln>
                  <a:solidFill>
                    <a:schemeClr val="tx1"/>
                  </a:solidFill>
                </a:ln>
                <a:latin typeface="Times New Roman" panose="02020603050405020304" pitchFamily="18" charset="0"/>
                <a:sym typeface="+mn-ea"/>
              </a:rPr>
              <a:t>	 ++j; </a:t>
            </a:r>
          </a:p>
          <a:p>
            <a:pPr marL="342900" indent="-342900" eaLnBrk="0" hangingPunct="0">
              <a:spcBef>
                <a:spcPct val="20000"/>
              </a:spcBef>
            </a:pPr>
            <a:r>
              <a:rPr lang="en-US" altLang="zh-CN">
                <a:ln>
                  <a:solidFill>
                    <a:schemeClr val="tx1"/>
                  </a:solidFill>
                </a:ln>
              </a:rPr>
              <a:t>}</a:t>
            </a:r>
          </a:p>
        </p:txBody>
      </p:sp>
      <p:sp>
        <p:nvSpPr>
          <p:cNvPr id="6" name="文本框 5"/>
          <p:cNvSpPr txBox="1"/>
          <p:nvPr/>
        </p:nvSpPr>
        <p:spPr>
          <a:xfrm>
            <a:off x="3566889" y="5355302"/>
            <a:ext cx="3587384"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sz="2800" dirty="0">
                <a:solidFill>
                  <a:srgbClr val="000000"/>
                </a:solidFill>
                <a:latin typeface="华文细黑" panose="02010600040101010101" pitchFamily="2" charset="-122"/>
              </a:rPr>
              <a:t>当</a:t>
            </a:r>
            <a:r>
              <a:rPr lang="en-US" altLang="zh-CN" sz="2800" dirty="0" err="1">
                <a:solidFill>
                  <a:srgbClr val="000000"/>
                </a:solidFill>
                <a:latin typeface="华文细黑" panose="02010600040101010101" pitchFamily="2" charset="-122"/>
              </a:rPr>
              <a:t>i</a:t>
            </a:r>
            <a:r>
              <a:rPr lang="en-US" altLang="zh-CN" sz="2800" dirty="0">
                <a:solidFill>
                  <a:srgbClr val="000000"/>
                </a:solidFill>
                <a:latin typeface="华文细黑" panose="02010600040101010101" pitchFamily="2" charset="-122"/>
              </a:rPr>
              <a:t>=8</a:t>
            </a:r>
            <a:r>
              <a:rPr lang="zh-CN" altLang="en-US" sz="2800" dirty="0">
                <a:solidFill>
                  <a:srgbClr val="000000"/>
                </a:solidFill>
                <a:latin typeface="华文细黑" panose="02010600040101010101" pitchFamily="2" charset="-122"/>
              </a:rPr>
              <a:t>时会发生什么</a:t>
            </a:r>
            <a:r>
              <a:rPr lang="zh-CN" sz="2800" dirty="0">
                <a:solidFill>
                  <a:srgbClr val="000000"/>
                </a:solidFill>
                <a:latin typeface="华文细黑" panose="02010600040101010101" pitchFamily="2" charset="-122"/>
              </a:rPr>
              <a:t>？</a:t>
            </a:r>
            <a:endParaRPr lang="zh-CN" altLang="en-US" sz="2800" dirty="0">
              <a:solidFill>
                <a:srgbClr val="000000"/>
              </a:solidFill>
              <a:latin typeface="华文细黑" panose="02010600040101010101" pitchFamily="2" charset="-122"/>
            </a:endParaRPr>
          </a:p>
        </p:txBody>
      </p:sp>
      <p:sp>
        <p:nvSpPr>
          <p:cNvPr id="7" name="文本框 6"/>
          <p:cNvSpPr txBox="1"/>
          <p:nvPr/>
        </p:nvSpPr>
        <p:spPr>
          <a:xfrm>
            <a:off x="6828084" y="1745933"/>
            <a:ext cx="1195777" cy="461665"/>
          </a:xfrm>
          <a:prstGeom prst="rect">
            <a:avLst/>
          </a:prstGeom>
          <a:noFill/>
        </p:spPr>
        <p:txBody>
          <a:bodyPr wrap="square" rtlCol="0">
            <a:spAutoFit/>
          </a:bodyPr>
          <a:lstStyle/>
          <a:p>
            <a:r>
              <a:rPr lang="zh-CN" altLang="en-US" sz="2400" b="1" dirty="0">
                <a:solidFill>
                  <a:srgbClr val="FF0000"/>
                </a:solidFill>
              </a:rPr>
              <a:t>错误</a:t>
            </a:r>
          </a:p>
        </p:txBody>
      </p:sp>
      <p:sp>
        <p:nvSpPr>
          <p:cNvPr id="8" name="灯片编号占位符 7"/>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left)">
                                      <p:cBhvr>
                                        <p:cTn id="12" dur="500"/>
                                        <p:tgtEl>
                                          <p:spTgt spid="4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wipe(left)">
                                      <p:cBhvr>
                                        <p:cTn id="20" dur="500"/>
                                        <p:tgtEl>
                                          <p:spTgt spid="4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500"/>
                                        <p:tgtEl>
                                          <p:spTgt spid="50"/>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wipe(left)">
                                      <p:cBhvr>
                                        <p:cTn id="33" dur="500"/>
                                        <p:tgtEl>
                                          <p:spTgt spid="4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bldLvl="0" animBg="1"/>
      <p:bldP spid="48" grpId="0" bldLvl="0" animBg="1"/>
      <p:bldP spid="49" grpId="0" animBg="1"/>
      <p:bldP spid="50" grpId="0" bldLvl="0" animBg="1"/>
      <p:bldP spid="2" grpId="0"/>
      <p:bldP spid="6" grpId="0"/>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链表取值</a:t>
            </a:r>
          </a:p>
        </p:txBody>
      </p:sp>
      <p:graphicFrame>
        <p:nvGraphicFramePr>
          <p:cNvPr id="10" name="Object 11"/>
          <p:cNvGraphicFramePr>
            <a:graphicFrameLocks noChangeAspect="1"/>
          </p:cNvGraphicFramePr>
          <p:nvPr/>
        </p:nvGraphicFramePr>
        <p:xfrm>
          <a:off x="623832" y="1144622"/>
          <a:ext cx="6632575" cy="747395"/>
        </p:xfrm>
        <a:graphic>
          <a:graphicData uri="http://schemas.openxmlformats.org/presentationml/2006/ole">
            <mc:AlternateContent xmlns:mc="http://schemas.openxmlformats.org/markup-compatibility/2006">
              <mc:Choice xmlns:v="urn:schemas-microsoft-com:vml" Requires="v">
                <p:oleObj spid="_x0000_s10311" name="VISIO" r:id="rId3" imgW="5256276" imgH="560832" progId="">
                  <p:embed/>
                </p:oleObj>
              </mc:Choice>
              <mc:Fallback>
                <p:oleObj name="VISIO" r:id="rId3" imgW="5256276" imgH="560832" progId="">
                  <p:embed/>
                  <p:pic>
                    <p:nvPicPr>
                      <p:cNvPr id="0"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832" y="1144622"/>
                        <a:ext cx="6632575" cy="74739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文本框 3"/>
          <p:cNvSpPr txBox="1"/>
          <p:nvPr/>
        </p:nvSpPr>
        <p:spPr>
          <a:xfrm>
            <a:off x="623515" y="2023110"/>
            <a:ext cx="7908925" cy="400494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Status GetElem_L(LinkList L,int i,ElemType &amp;e){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p=L-&gt;next; j=1; //初始化</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while(p&amp;&amp;j&lt;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//直到p为空或p指向第i个元素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p=p-&gt;next; ++j;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if(p==NULL || j&gt;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)return ERROR; //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&gt;n </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或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&lt;1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e=p-&gt;data;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取第i个元素</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的数据域</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OK;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}//GetElem_L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5" name="Text Box 3"/>
          <p:cNvSpPr txBox="1"/>
          <p:nvPr/>
        </p:nvSpPr>
        <p:spPr>
          <a:xfrm>
            <a:off x="4302328" y="5373216"/>
            <a:ext cx="2319866"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b="1" dirty="0">
                <a:ea typeface="隶书" panose="02010509060101010101" pitchFamily="49" charset="-122"/>
              </a:rPr>
              <a:t>算法的时间复杂度</a:t>
            </a:r>
            <a:r>
              <a:rPr lang="en-US" altLang="zh-CN" sz="2000" dirty="0">
                <a:ea typeface="宋体" panose="02010600030101010101" pitchFamily="2" charset="-122"/>
              </a:rPr>
              <a:t>:</a:t>
            </a:r>
          </a:p>
        </p:txBody>
      </p:sp>
      <p:sp>
        <p:nvSpPr>
          <p:cNvPr id="6" name="Text Box 4"/>
          <p:cNvSpPr txBox="1"/>
          <p:nvPr/>
        </p:nvSpPr>
        <p:spPr>
          <a:xfrm>
            <a:off x="6678592" y="5395441"/>
            <a:ext cx="710451"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000" b="1" dirty="0">
                <a:ea typeface="宋体" panose="02010600030101010101" pitchFamily="2" charset="-122"/>
              </a:rPr>
              <a:t>O(n)</a:t>
            </a:r>
            <a:endParaRPr lang="en-US" altLang="zh-CN" sz="2000" dirty="0">
              <a:ea typeface="宋体" panose="02010600030101010101" pitchFamily="2" charset="-122"/>
            </a:endParaRP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0-#ppt_w/2"/>
                                          </p:val>
                                        </p:tav>
                                        <p:tav tm="100000">
                                          <p:val>
                                            <p:strVal val="#ppt_x"/>
                                          </p:val>
                                        </p:tav>
                                      </p:tavLst>
                                    </p:anim>
                                    <p:anim calcmode="lin" valueType="num">
                                      <p:cBhvr additive="base">
                                        <p:cTn id="4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left)">
                                      <p:cBhvr>
                                        <p:cTn id="4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链表取值（另一种方法实现）</a:t>
            </a:r>
          </a:p>
        </p:txBody>
      </p:sp>
      <p:graphicFrame>
        <p:nvGraphicFramePr>
          <p:cNvPr id="10" name="Object 11"/>
          <p:cNvGraphicFramePr>
            <a:graphicFrameLocks noChangeAspect="1"/>
          </p:cNvGraphicFramePr>
          <p:nvPr/>
        </p:nvGraphicFramePr>
        <p:xfrm>
          <a:off x="623832" y="1144622"/>
          <a:ext cx="6632575" cy="747395"/>
        </p:xfrm>
        <a:graphic>
          <a:graphicData uri="http://schemas.openxmlformats.org/presentationml/2006/ole">
            <mc:AlternateContent xmlns:mc="http://schemas.openxmlformats.org/markup-compatibility/2006">
              <mc:Choice xmlns:v="urn:schemas-microsoft-com:vml" Requires="v">
                <p:oleObj spid="_x0000_s90144" name="VISIO" r:id="rId3" imgW="5256276" imgH="560832" progId="">
                  <p:embed/>
                </p:oleObj>
              </mc:Choice>
              <mc:Fallback>
                <p:oleObj name="VISIO" r:id="rId3" imgW="5256276" imgH="560832"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832" y="1144622"/>
                        <a:ext cx="6632575" cy="74739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文本框 3"/>
          <p:cNvSpPr txBox="1"/>
          <p:nvPr/>
        </p:nvSpPr>
        <p:spPr>
          <a:xfrm>
            <a:off x="623515" y="2023110"/>
            <a:ext cx="7908925" cy="4450449"/>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Status GetElem_L(LinkList L,int i,ElemType &amp;e){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n =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ListLength_L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(L);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&gt;n ||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&lt;1) return ERROR;</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*p=L-&gt;next;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j=1; //</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初始化</a:t>
            </a:r>
          </a:p>
          <a:p>
            <a:pPr marL="0" indent="0">
              <a:buNone/>
            </a:pP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while(j&lt;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此时</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在合法范围之内</a:t>
            </a:r>
          </a:p>
          <a:p>
            <a:pPr marL="0" indent="0">
              <a:buNone/>
            </a:pP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p=p-&gt;next; ++j;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e=p-&gt;data; //</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取第</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个元素的数据域 </a:t>
            </a:r>
          </a:p>
          <a:p>
            <a:pPr marL="0" indent="0">
              <a:buNone/>
            </a:pP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return OK;</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}//GetElem_L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5" name="Text Box 3"/>
          <p:cNvSpPr txBox="1"/>
          <p:nvPr/>
        </p:nvSpPr>
        <p:spPr>
          <a:xfrm>
            <a:off x="5013677" y="4437112"/>
            <a:ext cx="2319866"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b="1" dirty="0">
                <a:ea typeface="隶书" panose="02010509060101010101" pitchFamily="49" charset="-122"/>
              </a:rPr>
              <a:t>算法的时间复杂度</a:t>
            </a:r>
            <a:r>
              <a:rPr lang="en-US" altLang="zh-CN" sz="2000" dirty="0">
                <a:ea typeface="宋体" panose="02010600030101010101" pitchFamily="2" charset="-122"/>
              </a:rPr>
              <a:t>:</a:t>
            </a:r>
          </a:p>
        </p:txBody>
      </p:sp>
      <p:sp>
        <p:nvSpPr>
          <p:cNvPr id="6" name="Text Box 4"/>
          <p:cNvSpPr txBox="1"/>
          <p:nvPr/>
        </p:nvSpPr>
        <p:spPr>
          <a:xfrm>
            <a:off x="7389941" y="4459337"/>
            <a:ext cx="710451"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000" b="1" dirty="0">
                <a:ea typeface="宋体" panose="02010600030101010101" pitchFamily="2" charset="-122"/>
              </a:rPr>
              <a:t>O(n)</a:t>
            </a:r>
            <a:endParaRPr lang="en-US" altLang="zh-CN" sz="2000" dirty="0">
              <a:ea typeface="宋体" panose="02010600030101010101" pitchFamily="2" charset="-122"/>
            </a:endParaRP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59</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additive="base">
                                        <p:cTn id="54" dur="500" fill="hold"/>
                                        <p:tgtEl>
                                          <p:spTgt spid="5"/>
                                        </p:tgtEl>
                                        <p:attrNameLst>
                                          <p:attrName>ppt_x</p:attrName>
                                        </p:attrNameLst>
                                      </p:cBhvr>
                                      <p:tavLst>
                                        <p:tav tm="0">
                                          <p:val>
                                            <p:strVal val="0-#ppt_w/2"/>
                                          </p:val>
                                        </p:tav>
                                        <p:tav tm="100000">
                                          <p:val>
                                            <p:strVal val="#ppt_x"/>
                                          </p:val>
                                        </p:tav>
                                      </p:tavLst>
                                    </p:anim>
                                    <p:anim calcmode="lin" valueType="num">
                                      <p:cBhvr additive="base">
                                        <p:cTn id="55"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链表查找 </a:t>
            </a:r>
          </a:p>
        </p:txBody>
      </p:sp>
      <p:sp>
        <p:nvSpPr>
          <p:cNvPr id="10" name="Text Box 7"/>
          <p:cNvSpPr txBox="1">
            <a:spLocks noChangeArrowheads="1"/>
          </p:cNvSpPr>
          <p:nvPr/>
        </p:nvSpPr>
        <p:spPr bwMode="auto">
          <a:xfrm>
            <a:off x="491173" y="1223963"/>
            <a:ext cx="75326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buClrTx/>
              <a:buSzTx/>
              <a:buFontTx/>
              <a:buNone/>
              <a:defRPr/>
            </a:pPr>
            <a:r>
              <a:rPr kumimoji="0" lang="zh-CN" altLang="en-US" sz="2800" kern="1200" cap="none" spc="0" normalizeH="0" baseline="0" noProof="0" dirty="0">
                <a:latin typeface="+mn-ea"/>
                <a:ea typeface="+mn-ea"/>
                <a:cs typeface="+mn-cs"/>
              </a:rPr>
              <a:t> </a:t>
            </a:r>
            <a:r>
              <a:rPr kumimoji="0" lang="en-US" altLang="zh-CN" sz="2800" b="1" kern="1200" cap="none" spc="0" normalizeH="0" baseline="0" noProof="0" dirty="0" err="1">
                <a:latin typeface="+mn-ea"/>
                <a:ea typeface="+mn-ea"/>
                <a:cs typeface="+mn-cs"/>
              </a:rPr>
              <a:t>LocateElem</a:t>
            </a:r>
            <a:r>
              <a:rPr kumimoji="0" lang="en-US" altLang="zh-CN" sz="2800" b="1" kern="1200" cap="none" spc="0" normalizeH="0" baseline="0" noProof="0" dirty="0">
                <a:latin typeface="+mn-ea"/>
                <a:ea typeface="+mn-ea"/>
                <a:cs typeface="+mn-cs"/>
              </a:rPr>
              <a:t>(L, e, &amp;</a:t>
            </a:r>
            <a:r>
              <a:rPr kumimoji="0" lang="en-US" altLang="zh-CN" sz="2800" b="1" kern="1200" cap="none" spc="0" normalizeH="0" baseline="0" noProof="0" dirty="0" err="1">
                <a:latin typeface="+mn-ea"/>
                <a:ea typeface="+mn-ea"/>
                <a:cs typeface="+mn-cs"/>
              </a:rPr>
              <a:t>i</a:t>
            </a:r>
            <a:r>
              <a:rPr kumimoji="0" lang="en-US" altLang="zh-CN" sz="2800" b="1" kern="1200" cap="none" spc="0" normalizeH="0" baseline="0" noProof="0" dirty="0">
                <a:latin typeface="+mn-ea"/>
                <a:ea typeface="+mn-ea"/>
                <a:cs typeface="+mn-cs"/>
              </a:rPr>
              <a:t>) </a:t>
            </a:r>
            <a:endParaRPr kumimoji="0" lang="en-US" altLang="zh-CN" sz="2800" kern="1200" cap="none" spc="0" normalizeH="0" baseline="0" noProof="0" dirty="0">
              <a:latin typeface="+mn-ea"/>
              <a:ea typeface="+mn-ea"/>
              <a:cs typeface="+mn-cs"/>
            </a:endParaRPr>
          </a:p>
        </p:txBody>
      </p:sp>
      <p:grpSp>
        <p:nvGrpSpPr>
          <p:cNvPr id="4" name="组合 3"/>
          <p:cNvGrpSpPr/>
          <p:nvPr/>
        </p:nvGrpSpPr>
        <p:grpSpPr>
          <a:xfrm>
            <a:off x="468630" y="2205355"/>
            <a:ext cx="7691120" cy="1371600"/>
            <a:chOff x="738" y="3473"/>
            <a:chExt cx="12112" cy="2160"/>
          </a:xfrm>
        </p:grpSpPr>
        <p:grpSp>
          <p:nvGrpSpPr>
            <p:cNvPr id="5" name="Group 2"/>
            <p:cNvGrpSpPr/>
            <p:nvPr/>
          </p:nvGrpSpPr>
          <p:grpSpPr>
            <a:xfrm>
              <a:off x="738" y="3473"/>
              <a:ext cx="1682" cy="2160"/>
              <a:chOff x="95" y="1900"/>
              <a:chExt cx="769" cy="980"/>
            </a:xfrm>
          </p:grpSpPr>
          <p:sp>
            <p:nvSpPr>
              <p:cNvPr id="36911" name="Rectangle 3"/>
              <p:cNvSpPr/>
              <p:nvPr/>
            </p:nvSpPr>
            <p:spPr>
              <a:xfrm>
                <a:off x="288"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zh-CN" sz="3600" dirty="0">
                  <a:ea typeface="宋体" panose="02010600030101010101" pitchFamily="2" charset="-122"/>
                </a:endParaRPr>
              </a:p>
            </p:txBody>
          </p:sp>
          <p:sp>
            <p:nvSpPr>
              <p:cNvPr id="36912" name="Line 4"/>
              <p:cNvSpPr/>
              <p:nvPr/>
            </p:nvSpPr>
            <p:spPr>
              <a:xfrm>
                <a:off x="672" y="2544"/>
                <a:ext cx="0" cy="336"/>
              </a:xfrm>
              <a:prstGeom prst="line">
                <a:avLst/>
              </a:prstGeom>
              <a:ln w="9525" cap="flat" cmpd="sng">
                <a:solidFill>
                  <a:srgbClr val="008080"/>
                </a:solidFill>
                <a:prstDash val="solid"/>
                <a:headEnd type="none" w="med" len="med"/>
                <a:tailEnd type="none" w="med" len="med"/>
              </a:ln>
            </p:spPr>
          </p:sp>
          <p:sp>
            <p:nvSpPr>
              <p:cNvPr id="36913" name="Text Box 5"/>
              <p:cNvSpPr txBox="1"/>
              <p:nvPr/>
            </p:nvSpPr>
            <p:spPr>
              <a:xfrm>
                <a:off x="96" y="1900"/>
                <a:ext cx="352" cy="4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L</a:t>
                </a:r>
                <a:endParaRPr lang="en-US" altLang="zh-CN" sz="3600" dirty="0">
                  <a:ea typeface="宋体" panose="02010600030101010101" pitchFamily="2" charset="-122"/>
                </a:endParaRPr>
              </a:p>
            </p:txBody>
          </p:sp>
          <p:sp>
            <p:nvSpPr>
              <p:cNvPr id="36914" name="Arc 6"/>
              <p:cNvSpPr/>
              <p:nvPr/>
            </p:nvSpPr>
            <p:spPr>
              <a:xfrm rot="-10459146">
                <a:off x="95" y="2176"/>
                <a:ext cx="433" cy="553"/>
              </a:xfrm>
              <a:custGeom>
                <a:avLst/>
                <a:gdLst/>
                <a:ahLst/>
                <a:cxnLst>
                  <a:cxn ang="0">
                    <a:pos x="0" y="0"/>
                  </a:cxn>
                  <a:cxn ang="0">
                    <a:pos x="0" y="0"/>
                  </a:cxn>
                  <a:cxn ang="0">
                    <a:pos x="0" y="0"/>
                  </a:cxn>
                </a:cxnLst>
                <a:rect l="0" t="0" r="0" b="0"/>
                <a:pathLst>
                  <a:path w="21600" h="20719" fill="none">
                    <a:moveTo>
                      <a:pt x="9627" y="0"/>
                    </a:moveTo>
                    <a:cubicBezTo>
                      <a:pt x="16963" y="3652"/>
                      <a:pt x="21600" y="11141"/>
                      <a:pt x="21600" y="19336"/>
                    </a:cubicBezTo>
                    <a:cubicBezTo>
                      <a:pt x="21600" y="19797"/>
                      <a:pt x="21585" y="20258"/>
                      <a:pt x="21555" y="20718"/>
                    </a:cubicBezTo>
                  </a:path>
                  <a:path w="21600" h="20719" stroke="0">
                    <a:moveTo>
                      <a:pt x="9627" y="0"/>
                    </a:moveTo>
                    <a:cubicBezTo>
                      <a:pt x="16963" y="3652"/>
                      <a:pt x="21600" y="11141"/>
                      <a:pt x="21600" y="19336"/>
                    </a:cubicBezTo>
                    <a:cubicBezTo>
                      <a:pt x="21600" y="19797"/>
                      <a:pt x="21585" y="20258"/>
                      <a:pt x="21555" y="20718"/>
                    </a:cubicBezTo>
                    <a:lnTo>
                      <a:pt x="0" y="19336"/>
                    </a:lnTo>
                    <a:lnTo>
                      <a:pt x="9627" y="0"/>
                    </a:lnTo>
                    <a:close/>
                  </a:path>
                </a:pathLst>
              </a:custGeom>
              <a:noFill/>
              <a:ln w="31750" cap="flat" cmpd="sng">
                <a:solidFill>
                  <a:srgbClr val="000099">
                    <a:alpha val="100000"/>
                  </a:srgbClr>
                </a:solidFill>
                <a:prstDash val="solid"/>
                <a:round/>
                <a:headEnd type="triangle" w="med" len="med"/>
                <a:tailEnd type="none" w="med" len="lg"/>
              </a:ln>
            </p:spPr>
            <p:txBody>
              <a:bodyPr/>
              <a:lstStyle/>
              <a:p>
                <a:endParaRPr lang="zh-CN" altLang="en-US"/>
              </a:p>
            </p:txBody>
          </p:sp>
        </p:grpSp>
        <p:grpSp>
          <p:nvGrpSpPr>
            <p:cNvPr id="11" name="Group 8"/>
            <p:cNvGrpSpPr/>
            <p:nvPr/>
          </p:nvGrpSpPr>
          <p:grpSpPr>
            <a:xfrm>
              <a:off x="2418" y="4913"/>
              <a:ext cx="1922" cy="720"/>
              <a:chOff x="768" y="2544"/>
              <a:chExt cx="864" cy="336"/>
            </a:xfrm>
          </p:grpSpPr>
          <p:sp>
            <p:nvSpPr>
              <p:cNvPr id="36908" name="Rectangle 9"/>
              <p:cNvSpPr/>
              <p:nvPr/>
            </p:nvSpPr>
            <p:spPr>
              <a:xfrm>
                <a:off x="105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21</a:t>
                </a:r>
                <a:endParaRPr lang="en-US" altLang="zh-CN" sz="2400" dirty="0">
                  <a:ea typeface="宋体" panose="02010600030101010101" pitchFamily="2" charset="-122"/>
                </a:endParaRPr>
              </a:p>
            </p:txBody>
          </p:sp>
          <p:sp>
            <p:nvSpPr>
              <p:cNvPr id="36909" name="Line 10"/>
              <p:cNvSpPr/>
              <p:nvPr/>
            </p:nvSpPr>
            <p:spPr>
              <a:xfrm>
                <a:off x="1440" y="2544"/>
                <a:ext cx="0" cy="336"/>
              </a:xfrm>
              <a:prstGeom prst="line">
                <a:avLst/>
              </a:prstGeom>
              <a:ln w="9525" cap="flat" cmpd="sng">
                <a:solidFill>
                  <a:srgbClr val="008080"/>
                </a:solidFill>
                <a:prstDash val="solid"/>
                <a:headEnd type="none" w="med" len="med"/>
                <a:tailEnd type="none" w="med" len="med"/>
              </a:ln>
            </p:spPr>
          </p:sp>
          <p:sp>
            <p:nvSpPr>
              <p:cNvPr id="36910" name="Line 11"/>
              <p:cNvSpPr/>
              <p:nvPr/>
            </p:nvSpPr>
            <p:spPr>
              <a:xfrm>
                <a:off x="768" y="2736"/>
                <a:ext cx="288" cy="0"/>
              </a:xfrm>
              <a:prstGeom prst="line">
                <a:avLst/>
              </a:prstGeom>
              <a:ln w="25400" cap="flat" cmpd="sng">
                <a:solidFill>
                  <a:srgbClr val="008080"/>
                </a:solidFill>
                <a:prstDash val="solid"/>
                <a:headEnd type="oval" w="sm" len="sm"/>
                <a:tailEnd type="triangle" w="med" len="lg"/>
              </a:ln>
            </p:spPr>
          </p:sp>
        </p:grpSp>
        <p:grpSp>
          <p:nvGrpSpPr>
            <p:cNvPr id="15" name="Group 12"/>
            <p:cNvGrpSpPr/>
            <p:nvPr/>
          </p:nvGrpSpPr>
          <p:grpSpPr>
            <a:xfrm>
              <a:off x="4098" y="4913"/>
              <a:ext cx="1922" cy="720"/>
              <a:chOff x="1536" y="2544"/>
              <a:chExt cx="864" cy="336"/>
            </a:xfrm>
          </p:grpSpPr>
          <p:sp>
            <p:nvSpPr>
              <p:cNvPr id="36905" name="Rectangle 13"/>
              <p:cNvSpPr/>
              <p:nvPr/>
            </p:nvSpPr>
            <p:spPr>
              <a:xfrm>
                <a:off x="1824"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18</a:t>
                </a:r>
                <a:endParaRPr lang="en-US" altLang="zh-CN" sz="2400" dirty="0">
                  <a:ea typeface="宋体" panose="02010600030101010101" pitchFamily="2" charset="-122"/>
                </a:endParaRPr>
              </a:p>
            </p:txBody>
          </p:sp>
          <p:sp>
            <p:nvSpPr>
              <p:cNvPr id="36906" name="Line 14"/>
              <p:cNvSpPr/>
              <p:nvPr/>
            </p:nvSpPr>
            <p:spPr>
              <a:xfrm>
                <a:off x="2208" y="2544"/>
                <a:ext cx="0" cy="336"/>
              </a:xfrm>
              <a:prstGeom prst="line">
                <a:avLst/>
              </a:prstGeom>
              <a:ln w="9525" cap="flat" cmpd="sng">
                <a:solidFill>
                  <a:srgbClr val="008080"/>
                </a:solidFill>
                <a:prstDash val="solid"/>
                <a:headEnd type="none" w="med" len="med"/>
                <a:tailEnd type="none" w="med" len="med"/>
              </a:ln>
            </p:spPr>
          </p:sp>
          <p:sp>
            <p:nvSpPr>
              <p:cNvPr id="36907" name="Line 15"/>
              <p:cNvSpPr/>
              <p:nvPr/>
            </p:nvSpPr>
            <p:spPr>
              <a:xfrm>
                <a:off x="1536" y="2736"/>
                <a:ext cx="288" cy="0"/>
              </a:xfrm>
              <a:prstGeom prst="line">
                <a:avLst/>
              </a:prstGeom>
              <a:ln w="25400" cap="flat" cmpd="sng">
                <a:solidFill>
                  <a:srgbClr val="008080"/>
                </a:solidFill>
                <a:prstDash val="solid"/>
                <a:headEnd type="oval" w="sm" len="sm"/>
                <a:tailEnd type="triangle" w="med" len="lg"/>
              </a:ln>
            </p:spPr>
          </p:sp>
        </p:grpSp>
        <p:grpSp>
          <p:nvGrpSpPr>
            <p:cNvPr id="19" name="Group 16"/>
            <p:cNvGrpSpPr/>
            <p:nvPr/>
          </p:nvGrpSpPr>
          <p:grpSpPr>
            <a:xfrm>
              <a:off x="5778" y="4913"/>
              <a:ext cx="2042" cy="720"/>
              <a:chOff x="2304" y="2544"/>
              <a:chExt cx="864" cy="336"/>
            </a:xfrm>
          </p:grpSpPr>
          <p:sp>
            <p:nvSpPr>
              <p:cNvPr id="36902" name="Rectangle 17"/>
              <p:cNvSpPr/>
              <p:nvPr/>
            </p:nvSpPr>
            <p:spPr>
              <a:xfrm>
                <a:off x="2592"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30</a:t>
                </a:r>
                <a:endParaRPr lang="en-US" altLang="zh-CN" sz="2400" dirty="0">
                  <a:ea typeface="宋体" panose="02010600030101010101" pitchFamily="2" charset="-122"/>
                </a:endParaRPr>
              </a:p>
            </p:txBody>
          </p:sp>
          <p:sp>
            <p:nvSpPr>
              <p:cNvPr id="36903" name="Line 18"/>
              <p:cNvSpPr/>
              <p:nvPr/>
            </p:nvSpPr>
            <p:spPr>
              <a:xfrm>
                <a:off x="2976" y="2544"/>
                <a:ext cx="0" cy="336"/>
              </a:xfrm>
              <a:prstGeom prst="line">
                <a:avLst/>
              </a:prstGeom>
              <a:ln w="9525" cap="flat" cmpd="sng">
                <a:solidFill>
                  <a:srgbClr val="008080"/>
                </a:solidFill>
                <a:prstDash val="solid"/>
                <a:headEnd type="none" w="med" len="med"/>
                <a:tailEnd type="none" w="med" len="med"/>
              </a:ln>
            </p:spPr>
          </p:sp>
          <p:sp>
            <p:nvSpPr>
              <p:cNvPr id="36904" name="Line 19"/>
              <p:cNvSpPr/>
              <p:nvPr/>
            </p:nvSpPr>
            <p:spPr>
              <a:xfrm>
                <a:off x="2304" y="2736"/>
                <a:ext cx="288" cy="0"/>
              </a:xfrm>
              <a:prstGeom prst="line">
                <a:avLst/>
              </a:prstGeom>
              <a:ln w="25400" cap="flat" cmpd="sng">
                <a:solidFill>
                  <a:srgbClr val="008080"/>
                </a:solidFill>
                <a:prstDash val="solid"/>
                <a:headEnd type="oval" w="sm" len="sm"/>
                <a:tailEnd type="triangle" w="med" len="lg"/>
              </a:ln>
            </p:spPr>
          </p:sp>
        </p:grpSp>
        <p:grpSp>
          <p:nvGrpSpPr>
            <p:cNvPr id="23" name="Group 20"/>
            <p:cNvGrpSpPr/>
            <p:nvPr/>
          </p:nvGrpSpPr>
          <p:grpSpPr>
            <a:xfrm>
              <a:off x="7578" y="4913"/>
              <a:ext cx="1922" cy="720"/>
              <a:chOff x="3072" y="2544"/>
              <a:chExt cx="864" cy="336"/>
            </a:xfrm>
          </p:grpSpPr>
          <p:sp>
            <p:nvSpPr>
              <p:cNvPr id="36899" name="Rectangle 21"/>
              <p:cNvSpPr/>
              <p:nvPr/>
            </p:nvSpPr>
            <p:spPr>
              <a:xfrm>
                <a:off x="3360"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75</a:t>
                </a:r>
                <a:endParaRPr lang="en-US" altLang="zh-CN" sz="2400" dirty="0">
                  <a:ea typeface="宋体" panose="02010600030101010101" pitchFamily="2" charset="-122"/>
                </a:endParaRPr>
              </a:p>
            </p:txBody>
          </p:sp>
          <p:sp>
            <p:nvSpPr>
              <p:cNvPr id="36900" name="Line 22"/>
              <p:cNvSpPr/>
              <p:nvPr/>
            </p:nvSpPr>
            <p:spPr>
              <a:xfrm>
                <a:off x="3744" y="2544"/>
                <a:ext cx="0" cy="336"/>
              </a:xfrm>
              <a:prstGeom prst="line">
                <a:avLst/>
              </a:prstGeom>
              <a:ln w="9525" cap="flat" cmpd="sng">
                <a:solidFill>
                  <a:srgbClr val="008080"/>
                </a:solidFill>
                <a:prstDash val="solid"/>
                <a:headEnd type="none" w="med" len="med"/>
                <a:tailEnd type="none" w="med" len="med"/>
              </a:ln>
            </p:spPr>
          </p:sp>
          <p:sp>
            <p:nvSpPr>
              <p:cNvPr id="36901" name="Line 23"/>
              <p:cNvSpPr/>
              <p:nvPr/>
            </p:nvSpPr>
            <p:spPr>
              <a:xfrm>
                <a:off x="3072" y="2736"/>
                <a:ext cx="288" cy="0"/>
              </a:xfrm>
              <a:prstGeom prst="line">
                <a:avLst/>
              </a:prstGeom>
              <a:ln w="25400" cap="flat" cmpd="sng">
                <a:solidFill>
                  <a:srgbClr val="008080"/>
                </a:solidFill>
                <a:prstDash val="solid"/>
                <a:headEnd type="oval" w="sm" len="sm"/>
                <a:tailEnd type="triangle" w="med" len="lg"/>
              </a:ln>
            </p:spPr>
          </p:sp>
        </p:grpSp>
        <p:grpSp>
          <p:nvGrpSpPr>
            <p:cNvPr id="27" name="Group 24"/>
            <p:cNvGrpSpPr/>
            <p:nvPr/>
          </p:nvGrpSpPr>
          <p:grpSpPr>
            <a:xfrm>
              <a:off x="9258" y="4913"/>
              <a:ext cx="1922" cy="720"/>
              <a:chOff x="3840" y="2544"/>
              <a:chExt cx="864" cy="336"/>
            </a:xfrm>
          </p:grpSpPr>
          <p:sp>
            <p:nvSpPr>
              <p:cNvPr id="36896" name="Rectangle 25"/>
              <p:cNvSpPr/>
              <p:nvPr/>
            </p:nvSpPr>
            <p:spPr>
              <a:xfrm>
                <a:off x="4128"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42</a:t>
                </a:r>
                <a:endParaRPr lang="en-US" altLang="zh-CN" sz="2400" dirty="0">
                  <a:ea typeface="宋体" panose="02010600030101010101" pitchFamily="2" charset="-122"/>
                </a:endParaRPr>
              </a:p>
            </p:txBody>
          </p:sp>
          <p:sp>
            <p:nvSpPr>
              <p:cNvPr id="36897" name="Line 26"/>
              <p:cNvSpPr/>
              <p:nvPr/>
            </p:nvSpPr>
            <p:spPr>
              <a:xfrm>
                <a:off x="4512" y="2544"/>
                <a:ext cx="0" cy="336"/>
              </a:xfrm>
              <a:prstGeom prst="line">
                <a:avLst/>
              </a:prstGeom>
              <a:ln w="9525" cap="flat" cmpd="sng">
                <a:solidFill>
                  <a:srgbClr val="008080"/>
                </a:solidFill>
                <a:prstDash val="solid"/>
                <a:headEnd type="none" w="med" len="med"/>
                <a:tailEnd type="none" w="med" len="med"/>
              </a:ln>
            </p:spPr>
          </p:sp>
          <p:sp>
            <p:nvSpPr>
              <p:cNvPr id="36898" name="Line 27"/>
              <p:cNvSpPr/>
              <p:nvPr/>
            </p:nvSpPr>
            <p:spPr>
              <a:xfrm>
                <a:off x="3840" y="2736"/>
                <a:ext cx="288" cy="0"/>
              </a:xfrm>
              <a:prstGeom prst="line">
                <a:avLst/>
              </a:prstGeom>
              <a:ln w="25400" cap="flat" cmpd="sng">
                <a:solidFill>
                  <a:srgbClr val="008080"/>
                </a:solidFill>
                <a:prstDash val="solid"/>
                <a:headEnd type="oval" w="sm" len="sm"/>
                <a:tailEnd type="triangle" w="med" len="lg"/>
              </a:ln>
            </p:spPr>
          </p:sp>
        </p:grpSp>
        <p:grpSp>
          <p:nvGrpSpPr>
            <p:cNvPr id="31" name="Group 28"/>
            <p:cNvGrpSpPr/>
            <p:nvPr/>
          </p:nvGrpSpPr>
          <p:grpSpPr>
            <a:xfrm>
              <a:off x="10938" y="4891"/>
              <a:ext cx="1913" cy="740"/>
              <a:chOff x="4608" y="2535"/>
              <a:chExt cx="900" cy="345"/>
            </a:xfrm>
          </p:grpSpPr>
          <p:sp>
            <p:nvSpPr>
              <p:cNvPr id="36892" name="Rectangle 29"/>
              <p:cNvSpPr/>
              <p:nvPr/>
            </p:nvSpPr>
            <p:spPr>
              <a:xfrm>
                <a:off x="489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56</a:t>
                </a:r>
                <a:endParaRPr lang="en-US" altLang="zh-CN" sz="2400" dirty="0">
                  <a:ea typeface="宋体" panose="02010600030101010101" pitchFamily="2" charset="-122"/>
                </a:endParaRPr>
              </a:p>
            </p:txBody>
          </p:sp>
          <p:sp>
            <p:nvSpPr>
              <p:cNvPr id="36893" name="Line 30"/>
              <p:cNvSpPr/>
              <p:nvPr/>
            </p:nvSpPr>
            <p:spPr>
              <a:xfrm>
                <a:off x="5280" y="2544"/>
                <a:ext cx="0" cy="336"/>
              </a:xfrm>
              <a:prstGeom prst="line">
                <a:avLst/>
              </a:prstGeom>
              <a:ln w="9525" cap="flat" cmpd="sng">
                <a:solidFill>
                  <a:srgbClr val="008080"/>
                </a:solidFill>
                <a:prstDash val="solid"/>
                <a:headEnd type="none" w="med" len="med"/>
                <a:tailEnd type="none" w="med" len="med"/>
              </a:ln>
            </p:spPr>
          </p:sp>
          <p:sp>
            <p:nvSpPr>
              <p:cNvPr id="36894" name="Text Box 31"/>
              <p:cNvSpPr txBox="1"/>
              <p:nvPr/>
            </p:nvSpPr>
            <p:spPr>
              <a:xfrm>
                <a:off x="5205" y="2535"/>
                <a:ext cx="303" cy="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a:t>
                </a:r>
                <a:endParaRPr lang="en-US" altLang="zh-CN" sz="2400" dirty="0">
                  <a:ea typeface="宋体" panose="02010600030101010101" pitchFamily="2" charset="-122"/>
                </a:endParaRPr>
              </a:p>
            </p:txBody>
          </p:sp>
          <p:sp>
            <p:nvSpPr>
              <p:cNvPr id="36895" name="Line 32"/>
              <p:cNvSpPr/>
              <p:nvPr/>
            </p:nvSpPr>
            <p:spPr>
              <a:xfrm>
                <a:off x="4608" y="2736"/>
                <a:ext cx="288" cy="0"/>
              </a:xfrm>
              <a:prstGeom prst="line">
                <a:avLst/>
              </a:prstGeom>
              <a:ln w="25400" cap="flat" cmpd="sng">
                <a:solidFill>
                  <a:srgbClr val="008080"/>
                </a:solidFill>
                <a:prstDash val="solid"/>
                <a:headEnd type="oval" w="sm" len="sm"/>
                <a:tailEnd type="triangle" w="med" len="lg"/>
              </a:ln>
            </p:spPr>
          </p:sp>
        </p:grpSp>
      </p:grpSp>
      <p:grpSp>
        <p:nvGrpSpPr>
          <p:cNvPr id="36" name="Group 33"/>
          <p:cNvGrpSpPr/>
          <p:nvPr/>
        </p:nvGrpSpPr>
        <p:grpSpPr>
          <a:xfrm>
            <a:off x="2089150" y="3653155"/>
            <a:ext cx="438150" cy="990600"/>
            <a:chOff x="1212" y="2880"/>
            <a:chExt cx="276" cy="624"/>
          </a:xfrm>
        </p:grpSpPr>
        <p:sp>
          <p:nvSpPr>
            <p:cNvPr id="36890" name="Line 34"/>
            <p:cNvSpPr/>
            <p:nvPr/>
          </p:nvSpPr>
          <p:spPr>
            <a:xfrm>
              <a:off x="1248" y="2880"/>
              <a:ext cx="0" cy="624"/>
            </a:xfrm>
            <a:prstGeom prst="line">
              <a:avLst/>
            </a:prstGeom>
            <a:ln w="31750" cap="flat" cmpd="sng">
              <a:solidFill>
                <a:srgbClr val="990000"/>
              </a:solidFill>
              <a:prstDash val="solid"/>
              <a:headEnd type="triangle" w="med" len="lg"/>
              <a:tailEnd type="none" w="med" len="med"/>
            </a:ln>
          </p:spPr>
        </p:sp>
        <p:sp>
          <p:nvSpPr>
            <p:cNvPr id="36891" name="Text Box 35"/>
            <p:cNvSpPr txBox="1"/>
            <p:nvPr/>
          </p:nvSpPr>
          <p:spPr>
            <a:xfrm>
              <a:off x="1212" y="305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p</a:t>
              </a:r>
              <a:endParaRPr lang="en-US" altLang="zh-CN" sz="3600" dirty="0">
                <a:ea typeface="宋体" panose="02010600030101010101" pitchFamily="2" charset="-122"/>
              </a:endParaRPr>
            </a:p>
          </p:txBody>
        </p:sp>
      </p:grpSp>
      <p:grpSp>
        <p:nvGrpSpPr>
          <p:cNvPr id="39" name="Group 36"/>
          <p:cNvGrpSpPr/>
          <p:nvPr/>
        </p:nvGrpSpPr>
        <p:grpSpPr>
          <a:xfrm>
            <a:off x="3289300" y="3653155"/>
            <a:ext cx="438150" cy="990600"/>
            <a:chOff x="1212" y="2880"/>
            <a:chExt cx="276" cy="624"/>
          </a:xfrm>
        </p:grpSpPr>
        <p:sp>
          <p:nvSpPr>
            <p:cNvPr id="36888" name="Line 37"/>
            <p:cNvSpPr/>
            <p:nvPr/>
          </p:nvSpPr>
          <p:spPr>
            <a:xfrm>
              <a:off x="1248" y="2880"/>
              <a:ext cx="0" cy="624"/>
            </a:xfrm>
            <a:prstGeom prst="line">
              <a:avLst/>
            </a:prstGeom>
            <a:ln w="31750" cap="flat" cmpd="sng">
              <a:solidFill>
                <a:srgbClr val="990000"/>
              </a:solidFill>
              <a:prstDash val="solid"/>
              <a:headEnd type="triangle" w="med" len="lg"/>
              <a:tailEnd type="none" w="med" len="med"/>
            </a:ln>
          </p:spPr>
        </p:sp>
        <p:sp>
          <p:nvSpPr>
            <p:cNvPr id="36889" name="Text Box 38"/>
            <p:cNvSpPr txBox="1"/>
            <p:nvPr/>
          </p:nvSpPr>
          <p:spPr>
            <a:xfrm>
              <a:off x="1212" y="305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p</a:t>
              </a:r>
              <a:endParaRPr lang="en-US" altLang="zh-CN" sz="3600" dirty="0">
                <a:ea typeface="宋体" panose="02010600030101010101" pitchFamily="2" charset="-122"/>
              </a:endParaRPr>
            </a:p>
          </p:txBody>
        </p:sp>
      </p:grpSp>
      <p:grpSp>
        <p:nvGrpSpPr>
          <p:cNvPr id="42" name="Group 39"/>
          <p:cNvGrpSpPr/>
          <p:nvPr/>
        </p:nvGrpSpPr>
        <p:grpSpPr>
          <a:xfrm>
            <a:off x="4527550" y="3653155"/>
            <a:ext cx="438150" cy="990600"/>
            <a:chOff x="1212" y="2880"/>
            <a:chExt cx="276" cy="624"/>
          </a:xfrm>
        </p:grpSpPr>
        <p:sp>
          <p:nvSpPr>
            <p:cNvPr id="36886" name="Line 40"/>
            <p:cNvSpPr/>
            <p:nvPr/>
          </p:nvSpPr>
          <p:spPr>
            <a:xfrm>
              <a:off x="1248" y="2880"/>
              <a:ext cx="0" cy="624"/>
            </a:xfrm>
            <a:prstGeom prst="line">
              <a:avLst/>
            </a:prstGeom>
            <a:ln w="31750" cap="flat" cmpd="sng">
              <a:solidFill>
                <a:srgbClr val="990000"/>
              </a:solidFill>
              <a:prstDash val="solid"/>
              <a:headEnd type="triangle" w="med" len="lg"/>
              <a:tailEnd type="none" w="med" len="med"/>
            </a:ln>
          </p:spPr>
        </p:sp>
        <p:sp>
          <p:nvSpPr>
            <p:cNvPr id="36887" name="Text Box 41"/>
            <p:cNvSpPr txBox="1"/>
            <p:nvPr/>
          </p:nvSpPr>
          <p:spPr>
            <a:xfrm>
              <a:off x="1212" y="3052"/>
              <a:ext cx="276" cy="40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p</a:t>
              </a:r>
              <a:endParaRPr lang="en-US" altLang="zh-CN" sz="3600" dirty="0">
                <a:ea typeface="宋体" panose="02010600030101010101" pitchFamily="2" charset="-122"/>
              </a:endParaRPr>
            </a:p>
          </p:txBody>
        </p:sp>
      </p:grpSp>
      <p:sp>
        <p:nvSpPr>
          <p:cNvPr id="45" name="Text Box 42"/>
          <p:cNvSpPr txBox="1"/>
          <p:nvPr/>
        </p:nvSpPr>
        <p:spPr>
          <a:xfrm>
            <a:off x="589280" y="3867785"/>
            <a:ext cx="3365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j</a:t>
            </a:r>
            <a:endParaRPr lang="en-US" altLang="zh-CN" sz="3600" dirty="0">
              <a:ea typeface="宋体" panose="02010600030101010101" pitchFamily="2" charset="-122"/>
            </a:endParaRPr>
          </a:p>
        </p:txBody>
      </p:sp>
      <p:sp>
        <p:nvSpPr>
          <p:cNvPr id="46" name="Text Box 43"/>
          <p:cNvSpPr txBox="1"/>
          <p:nvPr/>
        </p:nvSpPr>
        <p:spPr>
          <a:xfrm>
            <a:off x="1046480" y="3902710"/>
            <a:ext cx="641350" cy="650875"/>
          </a:xfrm>
          <a:prstGeom prst="rect">
            <a:avLst/>
          </a:prstGeom>
          <a:solidFill>
            <a:srgbClr val="FFFF99">
              <a:alpha val="50195"/>
            </a:srgbClr>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1</a:t>
            </a:r>
            <a:endParaRPr lang="en-US" altLang="zh-CN" sz="3600" dirty="0">
              <a:ea typeface="宋体" panose="02010600030101010101" pitchFamily="2" charset="-122"/>
            </a:endParaRPr>
          </a:p>
        </p:txBody>
      </p:sp>
      <p:sp>
        <p:nvSpPr>
          <p:cNvPr id="47" name="Text Box 44"/>
          <p:cNvSpPr txBox="1"/>
          <p:nvPr/>
        </p:nvSpPr>
        <p:spPr>
          <a:xfrm>
            <a:off x="1046480" y="3902710"/>
            <a:ext cx="641350" cy="650875"/>
          </a:xfrm>
          <a:prstGeom prst="rect">
            <a:avLst/>
          </a:prstGeom>
          <a:solidFill>
            <a:srgbClr val="FFFF99"/>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2</a:t>
            </a:r>
            <a:endParaRPr lang="en-US" altLang="zh-CN" sz="3600" dirty="0">
              <a:ea typeface="宋体" panose="02010600030101010101" pitchFamily="2" charset="-122"/>
            </a:endParaRPr>
          </a:p>
        </p:txBody>
      </p:sp>
      <p:sp>
        <p:nvSpPr>
          <p:cNvPr id="48" name="Text Box 45"/>
          <p:cNvSpPr txBox="1"/>
          <p:nvPr/>
        </p:nvSpPr>
        <p:spPr>
          <a:xfrm>
            <a:off x="1046480" y="3902710"/>
            <a:ext cx="641350" cy="650875"/>
          </a:xfrm>
          <a:prstGeom prst="rect">
            <a:avLst/>
          </a:prstGeom>
          <a:solidFill>
            <a:srgbClr val="FFFF99"/>
          </a:solidFill>
          <a:ln w="9525" cap="flat" cmpd="sng">
            <a:solidFill>
              <a:srgbClr val="99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3</a:t>
            </a:r>
            <a:endParaRPr lang="en-US" altLang="zh-CN" sz="3600" dirty="0">
              <a:ea typeface="宋体" panose="02010600030101010101" pitchFamily="2" charset="-122"/>
            </a:endParaRPr>
          </a:p>
        </p:txBody>
      </p:sp>
      <p:sp useBgFill="1">
        <p:nvSpPr>
          <p:cNvPr id="49" name="Rectangle 46"/>
          <p:cNvSpPr/>
          <p:nvPr/>
        </p:nvSpPr>
        <p:spPr>
          <a:xfrm>
            <a:off x="1993900" y="3653155"/>
            <a:ext cx="457200" cy="11430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50" name="Rectangle 47"/>
          <p:cNvSpPr/>
          <p:nvPr/>
        </p:nvSpPr>
        <p:spPr>
          <a:xfrm>
            <a:off x="3211830" y="3653155"/>
            <a:ext cx="457200" cy="1143000"/>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51" name="文本框 50"/>
          <p:cNvSpPr txBox="1"/>
          <p:nvPr/>
        </p:nvSpPr>
        <p:spPr>
          <a:xfrm>
            <a:off x="993775" y="1997710"/>
            <a:ext cx="2015490"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800" dirty="0">
                <a:solidFill>
                  <a:srgbClr val="000000"/>
                </a:solidFill>
                <a:latin typeface="华文细黑" panose="02010600040101010101" pitchFamily="2" charset="-122"/>
              </a:rPr>
              <a:t>例：</a:t>
            </a:r>
            <a:r>
              <a:rPr lang="en-US" altLang="zh-CN" sz="2800" dirty="0">
                <a:solidFill>
                  <a:srgbClr val="000000"/>
                </a:solidFill>
                <a:latin typeface="华文细黑" panose="02010600040101010101" pitchFamily="2" charset="-122"/>
              </a:rPr>
              <a:t>e=30</a:t>
            </a:r>
          </a:p>
        </p:txBody>
      </p:sp>
      <p:sp>
        <p:nvSpPr>
          <p:cNvPr id="2" name="文本框 1"/>
          <p:cNvSpPr txBox="1"/>
          <p:nvPr/>
        </p:nvSpPr>
        <p:spPr>
          <a:xfrm>
            <a:off x="1270000" y="4981575"/>
            <a:ext cx="4723765" cy="9531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sz="2800" dirty="0">
                <a:solidFill>
                  <a:srgbClr val="000000"/>
                </a:solidFill>
                <a:latin typeface="华文细黑" panose="02010600040101010101" pitchFamily="2" charset="-122"/>
              </a:rPr>
              <a:t>有什么问题？</a:t>
            </a:r>
          </a:p>
          <a:p>
            <a:pPr marL="0" lvl="0" indent="0">
              <a:spcBef>
                <a:spcPct val="0"/>
              </a:spcBef>
              <a:buClrTx/>
              <a:buNone/>
            </a:pPr>
            <a:r>
              <a:rPr lang="zh-CN" altLang="en-US" sz="2800" dirty="0">
                <a:solidFill>
                  <a:srgbClr val="000000"/>
                </a:solidFill>
                <a:latin typeface="华文细黑" panose="02010600040101010101" pitchFamily="2" charset="-122"/>
              </a:rPr>
              <a:t>什么情况下代码有问题？</a:t>
            </a:r>
          </a:p>
        </p:txBody>
      </p:sp>
      <p:sp>
        <p:nvSpPr>
          <p:cNvPr id="3" name="文本框 2"/>
          <p:cNvSpPr txBox="1"/>
          <p:nvPr/>
        </p:nvSpPr>
        <p:spPr>
          <a:xfrm>
            <a:off x="5562600" y="1288415"/>
            <a:ext cx="2462530" cy="1364615"/>
          </a:xfrm>
          <a:prstGeom prst="rect">
            <a:avLst/>
          </a:prstGeom>
          <a:noFill/>
          <a:ln>
            <a:solidFill>
              <a:schemeClr val="tx1"/>
            </a:solidFill>
          </a:ln>
        </p:spPr>
        <p:txBody>
          <a:bodyPr wrap="square" rtlCol="0" anchor="t">
            <a:spAutoFit/>
          </a:bodyPr>
          <a:lstStyle/>
          <a:p>
            <a:pPr marL="342900" indent="-342900" eaLnBrk="0" hangingPunct="0">
              <a:spcBef>
                <a:spcPct val="20000"/>
              </a:spcBef>
            </a:pPr>
            <a:r>
              <a:rPr lang="en-US" altLang="zh-CN" dirty="0">
                <a:ln>
                  <a:solidFill>
                    <a:schemeClr val="tx1"/>
                  </a:solidFill>
                </a:ln>
                <a:latin typeface="Times New Roman" panose="02020603050405020304" pitchFamily="18" charset="0"/>
                <a:sym typeface="+mn-ea"/>
              </a:rPr>
              <a:t>while(</a:t>
            </a:r>
            <a:r>
              <a:rPr lang="en-US" altLang="zh-CN" b="1" dirty="0">
                <a:latin typeface="Times New Roman" panose="02020603050405020304" pitchFamily="18" charset="0"/>
                <a:sym typeface="+mn-ea"/>
              </a:rPr>
              <a:t>p-&gt;data!=e</a:t>
            </a:r>
            <a:r>
              <a:rPr lang="en-US" altLang="zh-CN" dirty="0">
                <a:ln>
                  <a:solidFill>
                    <a:schemeClr val="tx1"/>
                  </a:solidFill>
                </a:ln>
                <a:latin typeface="Times New Roman" panose="02020603050405020304" pitchFamily="18" charset="0"/>
                <a:sym typeface="+mn-ea"/>
              </a:rPr>
              <a:t>){</a:t>
            </a:r>
            <a:r>
              <a:rPr lang="zh-CN" altLang="en-US" dirty="0">
                <a:ln>
                  <a:solidFill>
                    <a:schemeClr val="tx1"/>
                  </a:solidFill>
                </a:ln>
                <a:latin typeface="Times New Roman" panose="02020603050405020304" pitchFamily="18" charset="0"/>
                <a:sym typeface="+mn-ea"/>
              </a:rPr>
              <a:t> </a:t>
            </a:r>
          </a:p>
          <a:p>
            <a:pPr marL="342900" indent="-342900" eaLnBrk="0" hangingPunct="0">
              <a:spcBef>
                <a:spcPct val="20000"/>
              </a:spcBef>
            </a:pPr>
            <a:r>
              <a:rPr lang="zh-CN" altLang="en-US" dirty="0">
                <a:ln>
                  <a:solidFill>
                    <a:schemeClr val="tx1"/>
                  </a:solidFill>
                </a:ln>
                <a:latin typeface="Times New Roman" panose="02020603050405020304" pitchFamily="18" charset="0"/>
                <a:sym typeface="+mn-ea"/>
              </a:rPr>
              <a:t>       </a:t>
            </a:r>
            <a:r>
              <a:rPr lang="en-US" altLang="zh-CN" dirty="0">
                <a:ln>
                  <a:solidFill>
                    <a:schemeClr val="tx1"/>
                  </a:solidFill>
                </a:ln>
                <a:latin typeface="Times New Roman" panose="02020603050405020304" pitchFamily="18" charset="0"/>
                <a:sym typeface="+mn-ea"/>
              </a:rPr>
              <a:t>p=p-&gt;next;</a:t>
            </a:r>
          </a:p>
          <a:p>
            <a:pPr marL="342900" indent="-342900" eaLnBrk="0" hangingPunct="0">
              <a:spcBef>
                <a:spcPct val="20000"/>
              </a:spcBef>
            </a:pPr>
            <a:r>
              <a:rPr lang="en-US" altLang="zh-CN" dirty="0">
                <a:ln>
                  <a:solidFill>
                    <a:schemeClr val="tx1"/>
                  </a:solidFill>
                </a:ln>
                <a:latin typeface="Times New Roman" panose="02020603050405020304" pitchFamily="18" charset="0"/>
                <a:sym typeface="+mn-ea"/>
              </a:rPr>
              <a:t>	 ++j; </a:t>
            </a:r>
          </a:p>
          <a:p>
            <a:pPr marL="342900" indent="-342900" eaLnBrk="0" hangingPunct="0">
              <a:spcBef>
                <a:spcPct val="20000"/>
              </a:spcBef>
            </a:pPr>
            <a:r>
              <a:rPr lang="en-US" altLang="zh-CN" dirty="0">
                <a:ln>
                  <a:solidFill>
                    <a:schemeClr val="tx1"/>
                  </a:solidFill>
                </a:ln>
              </a:rPr>
              <a:t>}</a:t>
            </a:r>
          </a:p>
        </p:txBody>
      </p:sp>
      <p:sp>
        <p:nvSpPr>
          <p:cNvPr id="6" name="文本框 5"/>
          <p:cNvSpPr txBox="1"/>
          <p:nvPr/>
        </p:nvSpPr>
        <p:spPr>
          <a:xfrm>
            <a:off x="8160385" y="1478281"/>
            <a:ext cx="660087" cy="830997"/>
          </a:xfrm>
          <a:prstGeom prst="rect">
            <a:avLst/>
          </a:prstGeom>
          <a:noFill/>
        </p:spPr>
        <p:txBody>
          <a:bodyPr wrap="square" rtlCol="0">
            <a:spAutoFit/>
          </a:bodyPr>
          <a:lstStyle/>
          <a:p>
            <a:r>
              <a:rPr lang="zh-CN" altLang="en-US" sz="2400" dirty="0">
                <a:solidFill>
                  <a:srgbClr val="FF0000"/>
                </a:solidFill>
              </a:rPr>
              <a:t>错误</a:t>
            </a:r>
          </a:p>
        </p:txBody>
      </p:sp>
      <p:sp>
        <p:nvSpPr>
          <p:cNvPr id="7" name="灯片编号占位符 6"/>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wipe(left)">
                                      <p:cBhvr>
                                        <p:cTn id="14" dur="500"/>
                                        <p:tgtEl>
                                          <p:spTgt spid="3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wipe(left)">
                                      <p:cBhvr>
                                        <p:cTn id="19" dur="500"/>
                                        <p:tgtEl>
                                          <p:spTgt spid="45"/>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wipe(left)">
                                      <p:cBhvr>
                                        <p:cTn id="23" dur="500"/>
                                        <p:tgtEl>
                                          <p:spTgt spid="4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left)">
                                      <p:cBhvr>
                                        <p:cTn id="32" dur="500"/>
                                        <p:tgtEl>
                                          <p:spTgt spid="49"/>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left)">
                                      <p:cBhvr>
                                        <p:cTn id="36" dur="500"/>
                                        <p:tgtEl>
                                          <p:spTgt spid="39"/>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wipe(left)">
                                      <p:cBhvr>
                                        <p:cTn id="40" dur="500"/>
                                        <p:tgtEl>
                                          <p:spTgt spid="4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wipe(left)">
                                      <p:cBhvr>
                                        <p:cTn id="45" dur="500"/>
                                        <p:tgtEl>
                                          <p:spTgt spid="50"/>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wipe(left)">
                                      <p:cBhvr>
                                        <p:cTn id="49" dur="500"/>
                                        <p:tgtEl>
                                          <p:spTgt spid="42"/>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wipe(left)">
                                      <p:cBhvr>
                                        <p:cTn id="53" dur="500"/>
                                        <p:tgtEl>
                                          <p:spTgt spid="48"/>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bldLvl="0" animBg="1"/>
      <p:bldP spid="47" grpId="0" bldLvl="0" animBg="1"/>
      <p:bldP spid="48" grpId="0" bldLvl="0" animBg="1"/>
      <p:bldP spid="49" grpId="0" animBg="1"/>
      <p:bldP spid="50" grpId="0" bldLvl="0" animBg="1"/>
      <p:bldP spid="51" grpId="0"/>
      <p:bldP spid="2" grpId="0"/>
      <p:bldP spid="3" grpId="0" bldLvl="0" animBg="1"/>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链表查找</a:t>
            </a:r>
          </a:p>
        </p:txBody>
      </p:sp>
      <p:graphicFrame>
        <p:nvGraphicFramePr>
          <p:cNvPr id="10" name="Object 11"/>
          <p:cNvGraphicFramePr>
            <a:graphicFrameLocks noChangeAspect="1"/>
          </p:cNvGraphicFramePr>
          <p:nvPr/>
        </p:nvGraphicFramePr>
        <p:xfrm>
          <a:off x="1243329" y="1163637"/>
          <a:ext cx="6632575" cy="747395"/>
        </p:xfrm>
        <a:graphic>
          <a:graphicData uri="http://schemas.openxmlformats.org/presentationml/2006/ole">
            <mc:AlternateContent xmlns:mc="http://schemas.openxmlformats.org/markup-compatibility/2006">
              <mc:Choice xmlns:v="urn:schemas-microsoft-com:vml" Requires="v">
                <p:oleObj spid="_x0000_s11340" name="VISIO" r:id="rId3" imgW="5256276" imgH="560832" progId="">
                  <p:embed/>
                </p:oleObj>
              </mc:Choice>
              <mc:Fallback>
                <p:oleObj name="VISIO" r:id="rId3" imgW="5256276" imgH="560832" progId="">
                  <p:embed/>
                  <p:pic>
                    <p:nvPicPr>
                      <p:cNvPr id="0" name="Picture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3329" y="1163637"/>
                        <a:ext cx="6632575" cy="74739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文本框 3"/>
          <p:cNvSpPr txBox="1"/>
          <p:nvPr/>
        </p:nvSpPr>
        <p:spPr>
          <a:xfrm>
            <a:off x="605155" y="2166620"/>
            <a:ext cx="7908925" cy="3564053"/>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LocateELem_L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LinkList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L,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p=L-&gt;next;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=1;</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while(p &amp;&amp;p-&gt;data!=e)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p=p-&gt;next;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if(p) return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0;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LocateElem_L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5" name="Text Box 3"/>
          <p:cNvSpPr txBox="1"/>
          <p:nvPr/>
        </p:nvSpPr>
        <p:spPr>
          <a:xfrm>
            <a:off x="3275856" y="5786206"/>
            <a:ext cx="2319866"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b="1" dirty="0">
                <a:ea typeface="隶书" panose="02010509060101010101" pitchFamily="49" charset="-122"/>
              </a:rPr>
              <a:t>算法的时间复杂度</a:t>
            </a:r>
            <a:r>
              <a:rPr lang="en-US" altLang="zh-CN" sz="2000" dirty="0">
                <a:ea typeface="宋体" panose="02010600030101010101" pitchFamily="2" charset="-122"/>
              </a:rPr>
              <a:t>:</a:t>
            </a:r>
          </a:p>
        </p:txBody>
      </p:sp>
      <p:sp>
        <p:nvSpPr>
          <p:cNvPr id="6" name="Text Box 4"/>
          <p:cNvSpPr txBox="1"/>
          <p:nvPr/>
        </p:nvSpPr>
        <p:spPr>
          <a:xfrm>
            <a:off x="5652120" y="5808431"/>
            <a:ext cx="710451"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000" b="1" dirty="0">
                <a:ea typeface="宋体" panose="02010600030101010101" pitchFamily="2" charset="-122"/>
              </a:rPr>
              <a:t>O(n)</a:t>
            </a:r>
            <a:endParaRPr lang="en-US" altLang="zh-CN" sz="2000" dirty="0">
              <a:ea typeface="宋体" panose="02010600030101010101" pitchFamily="2" charset="-122"/>
            </a:endParaRP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0-#ppt_w/2"/>
                                          </p:val>
                                        </p:tav>
                                        <p:tav tm="100000">
                                          <p:val>
                                            <p:strVal val="#ppt_x"/>
                                          </p:val>
                                        </p:tav>
                                      </p:tavLst>
                                    </p:anim>
                                    <p:anim calcmode="lin" valueType="num">
                                      <p:cBhvr additive="base">
                                        <p:cTn id="2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链表查找</a:t>
            </a:r>
          </a:p>
        </p:txBody>
      </p:sp>
      <p:graphicFrame>
        <p:nvGraphicFramePr>
          <p:cNvPr id="10" name="Object 11"/>
          <p:cNvGraphicFramePr>
            <a:graphicFrameLocks noChangeAspect="1"/>
          </p:cNvGraphicFramePr>
          <p:nvPr>
            <p:extLst>
              <p:ext uri="{D42A27DB-BD31-4B8C-83A1-F6EECF244321}">
                <p14:modId xmlns:p14="http://schemas.microsoft.com/office/powerpoint/2010/main" val="1543296702"/>
              </p:ext>
            </p:extLst>
          </p:nvPr>
        </p:nvGraphicFramePr>
        <p:xfrm>
          <a:off x="1255711" y="2536844"/>
          <a:ext cx="6632575" cy="747395"/>
        </p:xfrm>
        <a:graphic>
          <a:graphicData uri="http://schemas.openxmlformats.org/presentationml/2006/ole">
            <mc:AlternateContent xmlns:mc="http://schemas.openxmlformats.org/markup-compatibility/2006">
              <mc:Choice xmlns:v="urn:schemas-microsoft-com:vml" Requires="v">
                <p:oleObj spid="_x0000_s13382" name="VISIO" r:id="rId3" imgW="5256276" imgH="560832" progId="">
                  <p:embed/>
                </p:oleObj>
              </mc:Choice>
              <mc:Fallback>
                <p:oleObj name="VISIO" r:id="rId3" imgW="5256276" imgH="560832" progId="">
                  <p:embed/>
                  <p:pic>
                    <p:nvPicPr>
                      <p:cNvPr id="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711" y="2536844"/>
                        <a:ext cx="6632575" cy="74739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文本框 3"/>
          <p:cNvSpPr txBox="1"/>
          <p:nvPr/>
        </p:nvSpPr>
        <p:spPr>
          <a:xfrm>
            <a:off x="617535" y="3543338"/>
            <a:ext cx="7908925" cy="2677656"/>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*Find (LinkList L，ElemType e)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p=L-&gt;next;</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while(p &amp;&amp;p-&gt;data!=e)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p=p-&gt;next;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p;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LocateElem_L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5" name="内容占位符 2"/>
          <p:cNvSpPr>
            <a:spLocks noGrp="1"/>
          </p:cNvSpPr>
          <p:nvPr>
            <p:ph idx="1"/>
          </p:nvPr>
        </p:nvSpPr>
        <p:spPr>
          <a:xfrm>
            <a:off x="468313" y="1124744"/>
            <a:ext cx="8207375" cy="576064"/>
          </a:xfrm>
        </p:spPr>
        <p:txBody>
          <a:bodyPr/>
          <a:lstStyle/>
          <a:p>
            <a:r>
              <a:rPr lang="zh-CN" altLang="en-US" dirty="0"/>
              <a:t>有时我们需要返回某个元素的地址，查找失败返回</a:t>
            </a:r>
            <a:r>
              <a:rPr lang="en-US" altLang="zh-CN" dirty="0"/>
              <a:t>NULL</a:t>
            </a:r>
            <a:endParaRPr lang="zh-CN" altLang="en-US" dirty="0"/>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eaLnBrk="1" hangingPunct="1">
              <a:defRPr/>
            </a:pPr>
            <a:r>
              <a:rPr lang="en-US" altLang="zh-CN" dirty="0"/>
              <a:t>Ch2 </a:t>
            </a:r>
            <a:r>
              <a:rPr lang="zh-CN" altLang="en-US" dirty="0"/>
              <a:t>练习</a:t>
            </a:r>
            <a:r>
              <a:rPr lang="en-US" altLang="zh-CN" dirty="0"/>
              <a:t>4</a:t>
            </a:r>
            <a:endParaRPr lang="en-US" dirty="0"/>
          </a:p>
        </p:txBody>
      </p:sp>
    </p:spTree>
    <p:extLst>
      <p:ext uri="{BB962C8B-B14F-4D97-AF65-F5344CB8AC3E}">
        <p14:creationId xmlns:p14="http://schemas.microsoft.com/office/powerpoint/2010/main" val="345180127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prstGeom prst="rect">
            <a:avLst/>
          </a:prstGeo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6" name="文本框 5"/>
          <p:cNvSpPr txBox="1"/>
          <p:nvPr>
            <p:custDataLst>
              <p:tags r:id="rId2"/>
            </p:custDataLst>
          </p:nvPr>
        </p:nvSpPr>
        <p:spPr>
          <a:xfrm>
            <a:off x="319435" y="767715"/>
            <a:ext cx="4953744" cy="5882323"/>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完成链表的打印操作</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void output (</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LinkList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L) {</a:t>
            </a:r>
          </a:p>
          <a:p>
            <a:pPr>
              <a:lnSpc>
                <a:spcPct val="150000"/>
              </a:lnSpc>
            </a:pP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此处写上你的姓名和学号</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nSpc>
                <a:spcPct val="150000"/>
              </a:lnSpc>
            </a:pP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给出缺少的代码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参考算法：</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首元结点地址</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while(p!=NULL){</a:t>
            </a: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打印</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所指节点的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域</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下一个结点</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kumimoji="0" 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文本框 4"/>
          <p:cNvSpPr txBox="1"/>
          <p:nvPr/>
        </p:nvSpPr>
        <p:spPr>
          <a:xfrm>
            <a:off x="5273179" y="1007693"/>
            <a:ext cx="3743821" cy="2234458"/>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typedef</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rPr>
              <a:t>   data;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*next;   </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LinkList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9"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891262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链表插入</a:t>
            </a:r>
          </a:p>
        </p:txBody>
      </p:sp>
      <p:sp>
        <p:nvSpPr>
          <p:cNvPr id="3" name="内容占位符 2"/>
          <p:cNvSpPr>
            <a:spLocks noGrp="1"/>
          </p:cNvSpPr>
          <p:nvPr>
            <p:ph idx="1"/>
          </p:nvPr>
        </p:nvSpPr>
        <p:spPr/>
        <p:txBody>
          <a:bodyPr/>
          <a:lstStyle/>
          <a:p>
            <a:r>
              <a:rPr lang="en-US" altLang="zh-CN" dirty="0" err="1">
                <a:latin typeface="Cambria Math" panose="02040503050406030204" pitchFamily="18" charset="0"/>
                <a:ea typeface="Cambria Math" panose="02040503050406030204" pitchFamily="18" charset="0"/>
                <a:cs typeface="Arial Unicode MS" panose="020B0604020202020204" charset="-122"/>
                <a:sym typeface="+mn-ea"/>
              </a:rPr>
              <a:t>ListInsert_L</a:t>
            </a:r>
            <a:r>
              <a:rPr lang="en-US" altLang="zh-CN" dirty="0">
                <a:latin typeface="Cambria Math" panose="02040503050406030204" pitchFamily="18" charset="0"/>
                <a:ea typeface="Cambria Math" panose="02040503050406030204" pitchFamily="18" charset="0"/>
                <a:cs typeface="Arial Unicode MS" panose="020B0604020202020204" charset="-122"/>
                <a:sym typeface="+mn-ea"/>
              </a:rPr>
              <a:t> (L, 3, 30) // </a:t>
            </a:r>
            <a:r>
              <a:rPr lang="zh-CN" altLang="en-US" dirty="0">
                <a:latin typeface="Cambria Math" panose="02040503050406030204" pitchFamily="18" charset="0"/>
                <a:ea typeface="Cambria Math" panose="02040503050406030204" pitchFamily="18" charset="0"/>
                <a:cs typeface="Arial Unicode MS" panose="020B0604020202020204" charset="-122"/>
                <a:sym typeface="+mn-ea"/>
              </a:rPr>
              <a:t>将</a:t>
            </a:r>
            <a:r>
              <a:rPr lang="en-US" altLang="zh-CN" dirty="0">
                <a:latin typeface="Cambria Math" panose="02040503050406030204" pitchFamily="18" charset="0"/>
                <a:ea typeface="Cambria Math" panose="02040503050406030204" pitchFamily="18" charset="0"/>
                <a:cs typeface="Arial Unicode MS" panose="020B0604020202020204" charset="-122"/>
                <a:sym typeface="+mn-ea"/>
              </a:rPr>
              <a:t>30</a:t>
            </a:r>
            <a:r>
              <a:rPr lang="zh-CN" altLang="en-US" dirty="0">
                <a:latin typeface="Cambria Math" panose="02040503050406030204" pitchFamily="18" charset="0"/>
                <a:ea typeface="Cambria Math" panose="02040503050406030204" pitchFamily="18" charset="0"/>
                <a:cs typeface="Arial Unicode MS" panose="020B0604020202020204" charset="-122"/>
                <a:sym typeface="+mn-ea"/>
              </a:rPr>
              <a:t>插入位置</a:t>
            </a:r>
            <a:r>
              <a:rPr lang="en-US" altLang="zh-CN" dirty="0">
                <a:latin typeface="Cambria Math" panose="02040503050406030204" pitchFamily="18" charset="0"/>
                <a:ea typeface="Cambria Math" panose="02040503050406030204" pitchFamily="18" charset="0"/>
                <a:cs typeface="Arial Unicode MS" panose="020B0604020202020204" charset="-122"/>
                <a:sym typeface="+mn-ea"/>
              </a:rPr>
              <a:t>3</a:t>
            </a:r>
            <a:endParaRPr lang="zh-CN" altLang="en-US" dirty="0"/>
          </a:p>
        </p:txBody>
      </p:sp>
      <p:grpSp>
        <p:nvGrpSpPr>
          <p:cNvPr id="86" name="组合 85"/>
          <p:cNvGrpSpPr/>
          <p:nvPr/>
        </p:nvGrpSpPr>
        <p:grpSpPr>
          <a:xfrm>
            <a:off x="1007685" y="4005064"/>
            <a:ext cx="7884795" cy="913765"/>
            <a:chOff x="490528" y="2636912"/>
            <a:chExt cx="7884795" cy="913765"/>
          </a:xfrm>
        </p:grpSpPr>
        <p:grpSp>
          <p:nvGrpSpPr>
            <p:cNvPr id="87" name="组合 86"/>
            <p:cNvGrpSpPr/>
            <p:nvPr/>
          </p:nvGrpSpPr>
          <p:grpSpPr>
            <a:xfrm>
              <a:off x="490528" y="2636912"/>
              <a:ext cx="7884795" cy="913765"/>
              <a:chOff x="434" y="4891"/>
              <a:chExt cx="12417" cy="1439"/>
            </a:xfrm>
          </p:grpSpPr>
          <p:grpSp>
            <p:nvGrpSpPr>
              <p:cNvPr id="92" name="Group 2"/>
              <p:cNvGrpSpPr/>
              <p:nvPr/>
            </p:nvGrpSpPr>
            <p:grpSpPr>
              <a:xfrm>
                <a:off x="434" y="4891"/>
                <a:ext cx="1986" cy="1439"/>
                <a:chOff x="-44" y="2544"/>
                <a:chExt cx="908" cy="653"/>
              </a:xfrm>
            </p:grpSpPr>
            <p:sp>
              <p:nvSpPr>
                <p:cNvPr id="118" name="Rectangle 3"/>
                <p:cNvSpPr/>
                <p:nvPr/>
              </p:nvSpPr>
              <p:spPr>
                <a:xfrm>
                  <a:off x="288"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zh-CN" sz="3600" dirty="0">
                    <a:ea typeface="宋体" panose="02010600030101010101" pitchFamily="2" charset="-122"/>
                  </a:endParaRPr>
                </a:p>
              </p:txBody>
            </p:sp>
            <p:sp>
              <p:nvSpPr>
                <p:cNvPr id="119" name="Line 4"/>
                <p:cNvSpPr/>
                <p:nvPr/>
              </p:nvSpPr>
              <p:spPr>
                <a:xfrm>
                  <a:off x="672" y="2544"/>
                  <a:ext cx="0" cy="336"/>
                </a:xfrm>
                <a:prstGeom prst="line">
                  <a:avLst/>
                </a:prstGeom>
                <a:ln w="9525" cap="flat" cmpd="sng">
                  <a:solidFill>
                    <a:srgbClr val="008080"/>
                  </a:solidFill>
                  <a:prstDash val="solid"/>
                  <a:headEnd type="none" w="med" len="med"/>
                  <a:tailEnd type="none" w="med" len="med"/>
                </a:ln>
              </p:spPr>
            </p:sp>
            <p:sp>
              <p:nvSpPr>
                <p:cNvPr id="120" name="Text Box 5"/>
                <p:cNvSpPr txBox="1"/>
                <p:nvPr/>
              </p:nvSpPr>
              <p:spPr>
                <a:xfrm>
                  <a:off x="-44" y="2739"/>
                  <a:ext cx="352" cy="4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L</a:t>
                  </a:r>
                  <a:endParaRPr lang="en-US" altLang="zh-CN" sz="3600" dirty="0">
                    <a:ea typeface="宋体" panose="02010600030101010101" pitchFamily="2" charset="-122"/>
                  </a:endParaRPr>
                </a:p>
              </p:txBody>
            </p:sp>
          </p:grpSp>
          <p:grpSp>
            <p:nvGrpSpPr>
              <p:cNvPr id="93" name="Group 8"/>
              <p:cNvGrpSpPr/>
              <p:nvPr/>
            </p:nvGrpSpPr>
            <p:grpSpPr>
              <a:xfrm>
                <a:off x="2418" y="4913"/>
                <a:ext cx="1922" cy="720"/>
                <a:chOff x="768" y="2544"/>
                <a:chExt cx="864" cy="336"/>
              </a:xfrm>
            </p:grpSpPr>
            <p:sp>
              <p:nvSpPr>
                <p:cNvPr id="115" name="Rectangle 9"/>
                <p:cNvSpPr/>
                <p:nvPr/>
              </p:nvSpPr>
              <p:spPr>
                <a:xfrm>
                  <a:off x="105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21</a:t>
                  </a:r>
                  <a:endParaRPr lang="en-US" altLang="zh-CN" sz="2400" dirty="0">
                    <a:ea typeface="宋体" panose="02010600030101010101" pitchFamily="2" charset="-122"/>
                  </a:endParaRPr>
                </a:p>
              </p:txBody>
            </p:sp>
            <p:sp>
              <p:nvSpPr>
                <p:cNvPr id="116" name="Line 10"/>
                <p:cNvSpPr/>
                <p:nvPr/>
              </p:nvSpPr>
              <p:spPr>
                <a:xfrm>
                  <a:off x="1440" y="2544"/>
                  <a:ext cx="0" cy="336"/>
                </a:xfrm>
                <a:prstGeom prst="line">
                  <a:avLst/>
                </a:prstGeom>
                <a:ln w="9525" cap="flat" cmpd="sng">
                  <a:solidFill>
                    <a:srgbClr val="008080"/>
                  </a:solidFill>
                  <a:prstDash val="solid"/>
                  <a:headEnd type="none" w="med" len="med"/>
                  <a:tailEnd type="none" w="med" len="med"/>
                </a:ln>
              </p:spPr>
            </p:sp>
            <p:sp>
              <p:nvSpPr>
                <p:cNvPr id="117" name="Line 11"/>
                <p:cNvSpPr/>
                <p:nvPr/>
              </p:nvSpPr>
              <p:spPr>
                <a:xfrm>
                  <a:off x="768" y="2736"/>
                  <a:ext cx="288" cy="0"/>
                </a:xfrm>
                <a:prstGeom prst="line">
                  <a:avLst/>
                </a:prstGeom>
                <a:ln w="25400" cap="flat" cmpd="sng">
                  <a:solidFill>
                    <a:srgbClr val="008080"/>
                  </a:solidFill>
                  <a:prstDash val="solid"/>
                  <a:headEnd type="oval" w="sm" len="sm"/>
                  <a:tailEnd type="triangle" w="med" len="lg"/>
                </a:ln>
              </p:spPr>
            </p:sp>
          </p:grpSp>
          <p:grpSp>
            <p:nvGrpSpPr>
              <p:cNvPr id="94" name="Group 12"/>
              <p:cNvGrpSpPr/>
              <p:nvPr/>
            </p:nvGrpSpPr>
            <p:grpSpPr>
              <a:xfrm>
                <a:off x="4098" y="4913"/>
                <a:ext cx="1922" cy="720"/>
                <a:chOff x="1536" y="2544"/>
                <a:chExt cx="864" cy="336"/>
              </a:xfrm>
            </p:grpSpPr>
            <p:sp>
              <p:nvSpPr>
                <p:cNvPr id="112" name="Rectangle 13"/>
                <p:cNvSpPr/>
                <p:nvPr/>
              </p:nvSpPr>
              <p:spPr>
                <a:xfrm>
                  <a:off x="1824"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18</a:t>
                  </a:r>
                  <a:endParaRPr lang="en-US" altLang="zh-CN" sz="2400" dirty="0">
                    <a:ea typeface="宋体" panose="02010600030101010101" pitchFamily="2" charset="-122"/>
                  </a:endParaRPr>
                </a:p>
              </p:txBody>
            </p:sp>
            <p:sp>
              <p:nvSpPr>
                <p:cNvPr id="113" name="Line 14"/>
                <p:cNvSpPr/>
                <p:nvPr/>
              </p:nvSpPr>
              <p:spPr>
                <a:xfrm>
                  <a:off x="2208" y="2544"/>
                  <a:ext cx="0" cy="336"/>
                </a:xfrm>
                <a:prstGeom prst="line">
                  <a:avLst/>
                </a:prstGeom>
                <a:ln w="9525" cap="flat" cmpd="sng">
                  <a:solidFill>
                    <a:srgbClr val="008080"/>
                  </a:solidFill>
                  <a:prstDash val="solid"/>
                  <a:headEnd type="none" w="med" len="med"/>
                  <a:tailEnd type="none" w="med" len="med"/>
                </a:ln>
              </p:spPr>
            </p:sp>
            <p:sp>
              <p:nvSpPr>
                <p:cNvPr id="114" name="Line 15"/>
                <p:cNvSpPr/>
                <p:nvPr/>
              </p:nvSpPr>
              <p:spPr>
                <a:xfrm>
                  <a:off x="1536" y="2736"/>
                  <a:ext cx="288" cy="0"/>
                </a:xfrm>
                <a:prstGeom prst="line">
                  <a:avLst/>
                </a:prstGeom>
                <a:ln w="25400" cap="flat" cmpd="sng">
                  <a:solidFill>
                    <a:srgbClr val="008080"/>
                  </a:solidFill>
                  <a:prstDash val="solid"/>
                  <a:headEnd type="oval" w="sm" len="sm"/>
                  <a:tailEnd type="triangle" w="med" len="lg"/>
                </a:ln>
              </p:spPr>
            </p:sp>
          </p:grpSp>
          <p:grpSp>
            <p:nvGrpSpPr>
              <p:cNvPr id="95" name="Group 16"/>
              <p:cNvGrpSpPr/>
              <p:nvPr/>
            </p:nvGrpSpPr>
            <p:grpSpPr>
              <a:xfrm>
                <a:off x="5778" y="4913"/>
                <a:ext cx="2042" cy="720"/>
                <a:chOff x="2304" y="2544"/>
                <a:chExt cx="864" cy="336"/>
              </a:xfrm>
            </p:grpSpPr>
            <p:sp>
              <p:nvSpPr>
                <p:cNvPr id="109" name="Rectangle 17"/>
                <p:cNvSpPr/>
                <p:nvPr/>
              </p:nvSpPr>
              <p:spPr>
                <a:xfrm>
                  <a:off x="2592" y="2544"/>
                  <a:ext cx="576" cy="336"/>
                </a:xfrm>
                <a:prstGeom prst="rect">
                  <a:avLst/>
                </a:prstGeom>
                <a:solidFill>
                  <a:srgbClr val="FF0000">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30</a:t>
                  </a:r>
                  <a:endParaRPr lang="en-US" altLang="zh-CN" sz="2400" dirty="0">
                    <a:ea typeface="宋体" panose="02010600030101010101" pitchFamily="2" charset="-122"/>
                  </a:endParaRPr>
                </a:p>
              </p:txBody>
            </p:sp>
            <p:sp>
              <p:nvSpPr>
                <p:cNvPr id="110" name="Line 18"/>
                <p:cNvSpPr/>
                <p:nvPr/>
              </p:nvSpPr>
              <p:spPr>
                <a:xfrm>
                  <a:off x="2976" y="2544"/>
                  <a:ext cx="0" cy="336"/>
                </a:xfrm>
                <a:prstGeom prst="line">
                  <a:avLst/>
                </a:prstGeom>
                <a:ln w="9525" cap="flat" cmpd="sng">
                  <a:solidFill>
                    <a:srgbClr val="008080"/>
                  </a:solidFill>
                  <a:prstDash val="solid"/>
                  <a:headEnd type="none" w="med" len="med"/>
                  <a:tailEnd type="none" w="med" len="med"/>
                </a:ln>
              </p:spPr>
            </p:sp>
            <p:sp>
              <p:nvSpPr>
                <p:cNvPr id="111" name="Line 19"/>
                <p:cNvSpPr/>
                <p:nvPr/>
              </p:nvSpPr>
              <p:spPr>
                <a:xfrm>
                  <a:off x="2304" y="2736"/>
                  <a:ext cx="288" cy="0"/>
                </a:xfrm>
                <a:prstGeom prst="line">
                  <a:avLst/>
                </a:prstGeom>
                <a:ln w="25400" cap="flat" cmpd="sng">
                  <a:solidFill>
                    <a:srgbClr val="008080"/>
                  </a:solidFill>
                  <a:prstDash val="solid"/>
                  <a:headEnd type="oval" w="sm" len="sm"/>
                  <a:tailEnd type="triangle" w="med" len="lg"/>
                </a:ln>
              </p:spPr>
            </p:sp>
          </p:grpSp>
          <p:grpSp>
            <p:nvGrpSpPr>
              <p:cNvPr id="96" name="Group 20"/>
              <p:cNvGrpSpPr/>
              <p:nvPr/>
            </p:nvGrpSpPr>
            <p:grpSpPr>
              <a:xfrm>
                <a:off x="7578" y="4913"/>
                <a:ext cx="1922" cy="720"/>
                <a:chOff x="3072" y="2544"/>
                <a:chExt cx="864" cy="336"/>
              </a:xfrm>
            </p:grpSpPr>
            <p:sp>
              <p:nvSpPr>
                <p:cNvPr id="106" name="Rectangle 21"/>
                <p:cNvSpPr/>
                <p:nvPr/>
              </p:nvSpPr>
              <p:spPr>
                <a:xfrm>
                  <a:off x="3360"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75</a:t>
                  </a:r>
                  <a:endParaRPr lang="en-US" altLang="zh-CN" sz="2400" dirty="0">
                    <a:ea typeface="宋体" panose="02010600030101010101" pitchFamily="2" charset="-122"/>
                  </a:endParaRPr>
                </a:p>
              </p:txBody>
            </p:sp>
            <p:sp>
              <p:nvSpPr>
                <p:cNvPr id="107" name="Line 22"/>
                <p:cNvSpPr/>
                <p:nvPr/>
              </p:nvSpPr>
              <p:spPr>
                <a:xfrm>
                  <a:off x="3744" y="2544"/>
                  <a:ext cx="0" cy="336"/>
                </a:xfrm>
                <a:prstGeom prst="line">
                  <a:avLst/>
                </a:prstGeom>
                <a:ln w="9525" cap="flat" cmpd="sng">
                  <a:solidFill>
                    <a:srgbClr val="008080"/>
                  </a:solidFill>
                  <a:prstDash val="solid"/>
                  <a:headEnd type="none" w="med" len="med"/>
                  <a:tailEnd type="none" w="med" len="med"/>
                </a:ln>
              </p:spPr>
            </p:sp>
            <p:sp>
              <p:nvSpPr>
                <p:cNvPr id="108" name="Line 23"/>
                <p:cNvSpPr/>
                <p:nvPr/>
              </p:nvSpPr>
              <p:spPr>
                <a:xfrm>
                  <a:off x="3072" y="2736"/>
                  <a:ext cx="288" cy="0"/>
                </a:xfrm>
                <a:prstGeom prst="line">
                  <a:avLst/>
                </a:prstGeom>
                <a:ln w="25400" cap="flat" cmpd="sng">
                  <a:solidFill>
                    <a:srgbClr val="008080"/>
                  </a:solidFill>
                  <a:prstDash val="solid"/>
                  <a:headEnd type="oval" w="sm" len="sm"/>
                  <a:tailEnd type="triangle" w="med" len="lg"/>
                </a:ln>
              </p:spPr>
            </p:sp>
          </p:grpSp>
          <p:grpSp>
            <p:nvGrpSpPr>
              <p:cNvPr id="97" name="Group 24"/>
              <p:cNvGrpSpPr/>
              <p:nvPr/>
            </p:nvGrpSpPr>
            <p:grpSpPr>
              <a:xfrm>
                <a:off x="9258" y="4913"/>
                <a:ext cx="1922" cy="720"/>
                <a:chOff x="3840" y="2544"/>
                <a:chExt cx="864" cy="336"/>
              </a:xfrm>
            </p:grpSpPr>
            <p:sp>
              <p:nvSpPr>
                <p:cNvPr id="103" name="Rectangle 25"/>
                <p:cNvSpPr/>
                <p:nvPr/>
              </p:nvSpPr>
              <p:spPr>
                <a:xfrm>
                  <a:off x="4128"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42</a:t>
                  </a:r>
                  <a:endParaRPr lang="en-US" altLang="zh-CN" sz="2400" dirty="0">
                    <a:ea typeface="宋体" panose="02010600030101010101" pitchFamily="2" charset="-122"/>
                  </a:endParaRPr>
                </a:p>
              </p:txBody>
            </p:sp>
            <p:sp>
              <p:nvSpPr>
                <p:cNvPr id="104" name="Line 26"/>
                <p:cNvSpPr/>
                <p:nvPr/>
              </p:nvSpPr>
              <p:spPr>
                <a:xfrm>
                  <a:off x="4512" y="2544"/>
                  <a:ext cx="0" cy="336"/>
                </a:xfrm>
                <a:prstGeom prst="line">
                  <a:avLst/>
                </a:prstGeom>
                <a:ln w="9525" cap="flat" cmpd="sng">
                  <a:solidFill>
                    <a:srgbClr val="008080"/>
                  </a:solidFill>
                  <a:prstDash val="solid"/>
                  <a:headEnd type="none" w="med" len="med"/>
                  <a:tailEnd type="none" w="med" len="med"/>
                </a:ln>
              </p:spPr>
            </p:sp>
            <p:sp>
              <p:nvSpPr>
                <p:cNvPr id="105" name="Line 27"/>
                <p:cNvSpPr/>
                <p:nvPr/>
              </p:nvSpPr>
              <p:spPr>
                <a:xfrm>
                  <a:off x="3840" y="2736"/>
                  <a:ext cx="288" cy="0"/>
                </a:xfrm>
                <a:prstGeom prst="line">
                  <a:avLst/>
                </a:prstGeom>
                <a:ln w="25400" cap="flat" cmpd="sng">
                  <a:solidFill>
                    <a:srgbClr val="008080"/>
                  </a:solidFill>
                  <a:prstDash val="solid"/>
                  <a:headEnd type="oval" w="sm" len="sm"/>
                  <a:tailEnd type="triangle" w="med" len="lg"/>
                </a:ln>
              </p:spPr>
            </p:sp>
          </p:grpSp>
          <p:grpSp>
            <p:nvGrpSpPr>
              <p:cNvPr id="98" name="Group 28"/>
              <p:cNvGrpSpPr/>
              <p:nvPr/>
            </p:nvGrpSpPr>
            <p:grpSpPr>
              <a:xfrm>
                <a:off x="10938" y="4891"/>
                <a:ext cx="1913" cy="740"/>
                <a:chOff x="4608" y="2535"/>
                <a:chExt cx="900" cy="345"/>
              </a:xfrm>
            </p:grpSpPr>
            <p:sp>
              <p:nvSpPr>
                <p:cNvPr id="99" name="Rectangle 29"/>
                <p:cNvSpPr/>
                <p:nvPr/>
              </p:nvSpPr>
              <p:spPr>
                <a:xfrm>
                  <a:off x="489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56</a:t>
                  </a:r>
                  <a:endParaRPr lang="en-US" altLang="zh-CN" sz="2400" dirty="0">
                    <a:ea typeface="宋体" panose="02010600030101010101" pitchFamily="2" charset="-122"/>
                  </a:endParaRPr>
                </a:p>
              </p:txBody>
            </p:sp>
            <p:sp>
              <p:nvSpPr>
                <p:cNvPr id="100" name="Line 30"/>
                <p:cNvSpPr/>
                <p:nvPr/>
              </p:nvSpPr>
              <p:spPr>
                <a:xfrm>
                  <a:off x="5280" y="2544"/>
                  <a:ext cx="0" cy="336"/>
                </a:xfrm>
                <a:prstGeom prst="line">
                  <a:avLst/>
                </a:prstGeom>
                <a:ln w="9525" cap="flat" cmpd="sng">
                  <a:solidFill>
                    <a:srgbClr val="008080"/>
                  </a:solidFill>
                  <a:prstDash val="solid"/>
                  <a:headEnd type="none" w="med" len="med"/>
                  <a:tailEnd type="none" w="med" len="med"/>
                </a:ln>
              </p:spPr>
            </p:sp>
            <p:sp>
              <p:nvSpPr>
                <p:cNvPr id="101" name="Text Box 31"/>
                <p:cNvSpPr txBox="1"/>
                <p:nvPr/>
              </p:nvSpPr>
              <p:spPr>
                <a:xfrm>
                  <a:off x="5205" y="2535"/>
                  <a:ext cx="303" cy="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a:t>
                  </a:r>
                  <a:endParaRPr lang="en-US" altLang="zh-CN" sz="2400" dirty="0">
                    <a:ea typeface="宋体" panose="02010600030101010101" pitchFamily="2" charset="-122"/>
                  </a:endParaRPr>
                </a:p>
              </p:txBody>
            </p:sp>
            <p:sp>
              <p:nvSpPr>
                <p:cNvPr id="102" name="Line 32"/>
                <p:cNvSpPr/>
                <p:nvPr/>
              </p:nvSpPr>
              <p:spPr>
                <a:xfrm>
                  <a:off x="4608" y="2736"/>
                  <a:ext cx="288" cy="0"/>
                </a:xfrm>
                <a:prstGeom prst="line">
                  <a:avLst/>
                </a:prstGeom>
                <a:ln w="25400" cap="flat" cmpd="sng">
                  <a:solidFill>
                    <a:srgbClr val="008080"/>
                  </a:solidFill>
                  <a:prstDash val="solid"/>
                  <a:headEnd type="oval" w="sm" len="sm"/>
                  <a:tailEnd type="triangle" w="med" len="lg"/>
                </a:ln>
              </p:spPr>
            </p:sp>
          </p:grpSp>
        </p:grpSp>
        <p:sp>
          <p:nvSpPr>
            <p:cNvPr id="89" name="Line 15"/>
            <p:cNvSpPr/>
            <p:nvPr/>
          </p:nvSpPr>
          <p:spPr>
            <a:xfrm>
              <a:off x="564777" y="2852936"/>
              <a:ext cx="406823" cy="0"/>
            </a:xfrm>
            <a:prstGeom prst="line">
              <a:avLst/>
            </a:prstGeom>
            <a:ln w="25400" cap="flat" cmpd="sng">
              <a:solidFill>
                <a:srgbClr val="008080"/>
              </a:solidFill>
              <a:prstDash val="solid"/>
              <a:headEnd type="oval" w="sm" len="sm"/>
              <a:tailEnd type="triangle" w="med" len="lg"/>
            </a:ln>
          </p:spPr>
        </p:sp>
      </p:grpSp>
      <p:grpSp>
        <p:nvGrpSpPr>
          <p:cNvPr id="121" name="组合 120"/>
          <p:cNvGrpSpPr/>
          <p:nvPr/>
        </p:nvGrpSpPr>
        <p:grpSpPr>
          <a:xfrm>
            <a:off x="1007685" y="2276872"/>
            <a:ext cx="6791325" cy="1021104"/>
            <a:chOff x="490528" y="2636912"/>
            <a:chExt cx="6791325" cy="913765"/>
          </a:xfrm>
        </p:grpSpPr>
        <p:grpSp>
          <p:nvGrpSpPr>
            <p:cNvPr id="122" name="组合 121"/>
            <p:cNvGrpSpPr/>
            <p:nvPr/>
          </p:nvGrpSpPr>
          <p:grpSpPr>
            <a:xfrm>
              <a:off x="490528" y="2636912"/>
              <a:ext cx="6791325" cy="913765"/>
              <a:chOff x="434" y="4891"/>
              <a:chExt cx="10695" cy="1439"/>
            </a:xfrm>
          </p:grpSpPr>
          <p:grpSp>
            <p:nvGrpSpPr>
              <p:cNvPr id="127" name="Group 2"/>
              <p:cNvGrpSpPr/>
              <p:nvPr/>
            </p:nvGrpSpPr>
            <p:grpSpPr>
              <a:xfrm>
                <a:off x="434" y="4891"/>
                <a:ext cx="1986" cy="1439"/>
                <a:chOff x="-44" y="2544"/>
                <a:chExt cx="908" cy="653"/>
              </a:xfrm>
            </p:grpSpPr>
            <p:sp>
              <p:nvSpPr>
                <p:cNvPr id="153" name="Rectangle 3"/>
                <p:cNvSpPr/>
                <p:nvPr/>
              </p:nvSpPr>
              <p:spPr>
                <a:xfrm>
                  <a:off x="288"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zh-CN" sz="3600" dirty="0">
                    <a:ea typeface="宋体" panose="02010600030101010101" pitchFamily="2" charset="-122"/>
                  </a:endParaRPr>
                </a:p>
              </p:txBody>
            </p:sp>
            <p:sp>
              <p:nvSpPr>
                <p:cNvPr id="154" name="Line 4"/>
                <p:cNvSpPr/>
                <p:nvPr/>
              </p:nvSpPr>
              <p:spPr>
                <a:xfrm>
                  <a:off x="672" y="2544"/>
                  <a:ext cx="0" cy="336"/>
                </a:xfrm>
                <a:prstGeom prst="line">
                  <a:avLst/>
                </a:prstGeom>
                <a:ln w="9525" cap="flat" cmpd="sng">
                  <a:solidFill>
                    <a:srgbClr val="008080"/>
                  </a:solidFill>
                  <a:prstDash val="solid"/>
                  <a:headEnd type="none" w="med" len="med"/>
                  <a:tailEnd type="none" w="med" len="med"/>
                </a:ln>
              </p:spPr>
            </p:sp>
            <p:sp>
              <p:nvSpPr>
                <p:cNvPr id="155" name="Text Box 5"/>
                <p:cNvSpPr txBox="1"/>
                <p:nvPr/>
              </p:nvSpPr>
              <p:spPr>
                <a:xfrm>
                  <a:off x="-44" y="2739"/>
                  <a:ext cx="352" cy="45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L</a:t>
                  </a:r>
                  <a:endParaRPr lang="en-US" altLang="zh-CN" sz="3600" dirty="0">
                    <a:ea typeface="宋体" panose="02010600030101010101" pitchFamily="2" charset="-122"/>
                  </a:endParaRPr>
                </a:p>
              </p:txBody>
            </p:sp>
          </p:grpSp>
          <p:grpSp>
            <p:nvGrpSpPr>
              <p:cNvPr id="128" name="Group 8"/>
              <p:cNvGrpSpPr/>
              <p:nvPr/>
            </p:nvGrpSpPr>
            <p:grpSpPr>
              <a:xfrm>
                <a:off x="2418" y="4913"/>
                <a:ext cx="1922" cy="720"/>
                <a:chOff x="768" y="2544"/>
                <a:chExt cx="864" cy="336"/>
              </a:xfrm>
            </p:grpSpPr>
            <p:sp>
              <p:nvSpPr>
                <p:cNvPr id="150" name="Rectangle 9"/>
                <p:cNvSpPr/>
                <p:nvPr/>
              </p:nvSpPr>
              <p:spPr>
                <a:xfrm>
                  <a:off x="105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21</a:t>
                  </a:r>
                  <a:endParaRPr lang="en-US" altLang="zh-CN" sz="2400" dirty="0">
                    <a:ea typeface="宋体" panose="02010600030101010101" pitchFamily="2" charset="-122"/>
                  </a:endParaRPr>
                </a:p>
              </p:txBody>
            </p:sp>
            <p:sp>
              <p:nvSpPr>
                <p:cNvPr id="151" name="Line 10"/>
                <p:cNvSpPr/>
                <p:nvPr/>
              </p:nvSpPr>
              <p:spPr>
                <a:xfrm>
                  <a:off x="1440" y="2544"/>
                  <a:ext cx="0" cy="336"/>
                </a:xfrm>
                <a:prstGeom prst="line">
                  <a:avLst/>
                </a:prstGeom>
                <a:ln w="9525" cap="flat" cmpd="sng">
                  <a:solidFill>
                    <a:srgbClr val="008080"/>
                  </a:solidFill>
                  <a:prstDash val="solid"/>
                  <a:headEnd type="none" w="med" len="med"/>
                  <a:tailEnd type="none" w="med" len="med"/>
                </a:ln>
              </p:spPr>
            </p:sp>
            <p:sp>
              <p:nvSpPr>
                <p:cNvPr id="152" name="Line 11"/>
                <p:cNvSpPr/>
                <p:nvPr/>
              </p:nvSpPr>
              <p:spPr>
                <a:xfrm>
                  <a:off x="768" y="2736"/>
                  <a:ext cx="288" cy="0"/>
                </a:xfrm>
                <a:prstGeom prst="line">
                  <a:avLst/>
                </a:prstGeom>
                <a:ln w="25400" cap="flat" cmpd="sng">
                  <a:solidFill>
                    <a:srgbClr val="008080"/>
                  </a:solidFill>
                  <a:prstDash val="solid"/>
                  <a:headEnd type="oval" w="sm" len="sm"/>
                  <a:tailEnd type="triangle" w="med" len="lg"/>
                </a:ln>
              </p:spPr>
            </p:sp>
          </p:grpSp>
          <p:grpSp>
            <p:nvGrpSpPr>
              <p:cNvPr id="129" name="Group 12"/>
              <p:cNvGrpSpPr/>
              <p:nvPr/>
            </p:nvGrpSpPr>
            <p:grpSpPr>
              <a:xfrm>
                <a:off x="4098" y="4913"/>
                <a:ext cx="1922" cy="720"/>
                <a:chOff x="1536" y="2544"/>
                <a:chExt cx="864" cy="336"/>
              </a:xfrm>
            </p:grpSpPr>
            <p:sp>
              <p:nvSpPr>
                <p:cNvPr id="147" name="Rectangle 13"/>
                <p:cNvSpPr/>
                <p:nvPr/>
              </p:nvSpPr>
              <p:spPr>
                <a:xfrm>
                  <a:off x="1824"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18</a:t>
                  </a:r>
                  <a:endParaRPr lang="en-US" altLang="zh-CN" sz="2400" dirty="0">
                    <a:ea typeface="宋体" panose="02010600030101010101" pitchFamily="2" charset="-122"/>
                  </a:endParaRPr>
                </a:p>
              </p:txBody>
            </p:sp>
            <p:sp>
              <p:nvSpPr>
                <p:cNvPr id="148" name="Line 14"/>
                <p:cNvSpPr/>
                <p:nvPr/>
              </p:nvSpPr>
              <p:spPr>
                <a:xfrm>
                  <a:off x="2208" y="2544"/>
                  <a:ext cx="0" cy="336"/>
                </a:xfrm>
                <a:prstGeom prst="line">
                  <a:avLst/>
                </a:prstGeom>
                <a:ln w="9525" cap="flat" cmpd="sng">
                  <a:solidFill>
                    <a:srgbClr val="008080"/>
                  </a:solidFill>
                  <a:prstDash val="solid"/>
                  <a:headEnd type="none" w="med" len="med"/>
                  <a:tailEnd type="none" w="med" len="med"/>
                </a:ln>
              </p:spPr>
            </p:sp>
            <p:sp>
              <p:nvSpPr>
                <p:cNvPr id="149" name="Line 15"/>
                <p:cNvSpPr/>
                <p:nvPr/>
              </p:nvSpPr>
              <p:spPr>
                <a:xfrm>
                  <a:off x="1536" y="2736"/>
                  <a:ext cx="288" cy="0"/>
                </a:xfrm>
                <a:prstGeom prst="line">
                  <a:avLst/>
                </a:prstGeom>
                <a:ln w="25400" cap="flat" cmpd="sng">
                  <a:solidFill>
                    <a:srgbClr val="008080"/>
                  </a:solidFill>
                  <a:prstDash val="solid"/>
                  <a:headEnd type="oval" w="sm" len="sm"/>
                  <a:tailEnd type="triangle" w="med" len="lg"/>
                </a:ln>
              </p:spPr>
            </p:sp>
          </p:grpSp>
          <p:grpSp>
            <p:nvGrpSpPr>
              <p:cNvPr id="131" name="Group 20"/>
              <p:cNvGrpSpPr/>
              <p:nvPr/>
            </p:nvGrpSpPr>
            <p:grpSpPr>
              <a:xfrm>
                <a:off x="5833" y="4913"/>
                <a:ext cx="1952" cy="720"/>
                <a:chOff x="2286" y="2544"/>
                <a:chExt cx="877" cy="336"/>
              </a:xfrm>
            </p:grpSpPr>
            <p:sp>
              <p:nvSpPr>
                <p:cNvPr id="141" name="Rectangle 21"/>
                <p:cNvSpPr/>
                <p:nvPr/>
              </p:nvSpPr>
              <p:spPr>
                <a:xfrm>
                  <a:off x="2587"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75</a:t>
                  </a:r>
                  <a:endParaRPr lang="en-US" altLang="zh-CN" sz="2400" dirty="0">
                    <a:ea typeface="宋体" panose="02010600030101010101" pitchFamily="2" charset="-122"/>
                  </a:endParaRPr>
                </a:p>
              </p:txBody>
            </p:sp>
            <p:sp>
              <p:nvSpPr>
                <p:cNvPr id="142" name="Line 22"/>
                <p:cNvSpPr/>
                <p:nvPr/>
              </p:nvSpPr>
              <p:spPr>
                <a:xfrm>
                  <a:off x="2971" y="2544"/>
                  <a:ext cx="0" cy="336"/>
                </a:xfrm>
                <a:prstGeom prst="line">
                  <a:avLst/>
                </a:prstGeom>
                <a:ln w="9525" cap="flat" cmpd="sng">
                  <a:solidFill>
                    <a:srgbClr val="008080"/>
                  </a:solidFill>
                  <a:prstDash val="solid"/>
                  <a:headEnd type="none" w="med" len="med"/>
                  <a:tailEnd type="none" w="med" len="med"/>
                </a:ln>
              </p:spPr>
            </p:sp>
            <p:sp>
              <p:nvSpPr>
                <p:cNvPr id="143" name="Line 23"/>
                <p:cNvSpPr/>
                <p:nvPr/>
              </p:nvSpPr>
              <p:spPr>
                <a:xfrm>
                  <a:off x="2286" y="2734"/>
                  <a:ext cx="319" cy="0"/>
                </a:xfrm>
                <a:prstGeom prst="line">
                  <a:avLst/>
                </a:prstGeom>
                <a:ln w="25400" cap="flat" cmpd="sng">
                  <a:solidFill>
                    <a:srgbClr val="008080"/>
                  </a:solidFill>
                  <a:prstDash val="solid"/>
                  <a:headEnd type="oval" w="sm" len="sm"/>
                  <a:tailEnd type="triangle" w="med" len="lg"/>
                </a:ln>
              </p:spPr>
            </p:sp>
          </p:grpSp>
          <p:grpSp>
            <p:nvGrpSpPr>
              <p:cNvPr id="132" name="Group 24"/>
              <p:cNvGrpSpPr/>
              <p:nvPr/>
            </p:nvGrpSpPr>
            <p:grpSpPr>
              <a:xfrm>
                <a:off x="7540" y="4913"/>
                <a:ext cx="1922" cy="720"/>
                <a:chOff x="3066" y="2544"/>
                <a:chExt cx="864" cy="336"/>
              </a:xfrm>
            </p:grpSpPr>
            <p:sp>
              <p:nvSpPr>
                <p:cNvPr id="138" name="Rectangle 25"/>
                <p:cNvSpPr/>
                <p:nvPr/>
              </p:nvSpPr>
              <p:spPr>
                <a:xfrm>
                  <a:off x="3354"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42</a:t>
                  </a:r>
                  <a:endParaRPr lang="en-US" altLang="zh-CN" sz="2400" dirty="0">
                    <a:ea typeface="宋体" panose="02010600030101010101" pitchFamily="2" charset="-122"/>
                  </a:endParaRPr>
                </a:p>
              </p:txBody>
            </p:sp>
            <p:sp>
              <p:nvSpPr>
                <p:cNvPr id="139" name="Line 26"/>
                <p:cNvSpPr/>
                <p:nvPr/>
              </p:nvSpPr>
              <p:spPr>
                <a:xfrm>
                  <a:off x="3738" y="2544"/>
                  <a:ext cx="0" cy="336"/>
                </a:xfrm>
                <a:prstGeom prst="line">
                  <a:avLst/>
                </a:prstGeom>
                <a:ln w="9525" cap="flat" cmpd="sng">
                  <a:solidFill>
                    <a:srgbClr val="008080"/>
                  </a:solidFill>
                  <a:prstDash val="solid"/>
                  <a:headEnd type="none" w="med" len="med"/>
                  <a:tailEnd type="none" w="med" len="med"/>
                </a:ln>
              </p:spPr>
            </p:sp>
            <p:sp>
              <p:nvSpPr>
                <p:cNvPr id="140" name="Line 27"/>
                <p:cNvSpPr/>
                <p:nvPr/>
              </p:nvSpPr>
              <p:spPr>
                <a:xfrm>
                  <a:off x="3066" y="2736"/>
                  <a:ext cx="288" cy="0"/>
                </a:xfrm>
                <a:prstGeom prst="line">
                  <a:avLst/>
                </a:prstGeom>
                <a:ln w="25400" cap="flat" cmpd="sng">
                  <a:solidFill>
                    <a:srgbClr val="008080"/>
                  </a:solidFill>
                  <a:prstDash val="solid"/>
                  <a:headEnd type="oval" w="sm" len="sm"/>
                  <a:tailEnd type="triangle" w="med" len="lg"/>
                </a:ln>
              </p:spPr>
            </p:sp>
          </p:grpSp>
          <p:grpSp>
            <p:nvGrpSpPr>
              <p:cNvPr id="133" name="Group 28"/>
              <p:cNvGrpSpPr/>
              <p:nvPr/>
            </p:nvGrpSpPr>
            <p:grpSpPr>
              <a:xfrm>
                <a:off x="9216" y="4891"/>
                <a:ext cx="1913" cy="740"/>
                <a:chOff x="3798" y="2535"/>
                <a:chExt cx="900" cy="345"/>
              </a:xfrm>
            </p:grpSpPr>
            <p:sp>
              <p:nvSpPr>
                <p:cNvPr id="134" name="Rectangle 29"/>
                <p:cNvSpPr/>
                <p:nvPr/>
              </p:nvSpPr>
              <p:spPr>
                <a:xfrm>
                  <a:off x="4086" y="2544"/>
                  <a:ext cx="576" cy="336"/>
                </a:xfrm>
                <a:prstGeom prst="rect">
                  <a:avLst/>
                </a:prstGeom>
                <a:solidFill>
                  <a:srgbClr val="CCFFFF">
                    <a:alpha val="50195"/>
                  </a:srgbClr>
                </a:solidFill>
                <a:ln w="25400" cap="flat" cmpd="sng">
                  <a:solidFill>
                    <a:srgbClr val="008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56</a:t>
                  </a:r>
                  <a:endParaRPr lang="en-US" altLang="zh-CN" sz="2400" dirty="0">
                    <a:ea typeface="宋体" panose="02010600030101010101" pitchFamily="2" charset="-122"/>
                  </a:endParaRPr>
                </a:p>
              </p:txBody>
            </p:sp>
            <p:sp>
              <p:nvSpPr>
                <p:cNvPr id="135" name="Line 30"/>
                <p:cNvSpPr/>
                <p:nvPr/>
              </p:nvSpPr>
              <p:spPr>
                <a:xfrm>
                  <a:off x="4441" y="2544"/>
                  <a:ext cx="0" cy="336"/>
                </a:xfrm>
                <a:prstGeom prst="line">
                  <a:avLst/>
                </a:prstGeom>
                <a:ln w="9525" cap="flat" cmpd="sng">
                  <a:solidFill>
                    <a:srgbClr val="008080"/>
                  </a:solidFill>
                  <a:prstDash val="solid"/>
                  <a:headEnd type="none" w="med" len="med"/>
                  <a:tailEnd type="none" w="med" len="med"/>
                </a:ln>
              </p:spPr>
            </p:sp>
            <p:sp>
              <p:nvSpPr>
                <p:cNvPr id="136" name="Text Box 31"/>
                <p:cNvSpPr txBox="1"/>
                <p:nvPr/>
              </p:nvSpPr>
              <p:spPr>
                <a:xfrm>
                  <a:off x="4395" y="2535"/>
                  <a:ext cx="303" cy="339"/>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400" b="1" dirty="0">
                      <a:ea typeface="宋体" panose="02010600030101010101" pitchFamily="2" charset="-122"/>
                    </a:rPr>
                    <a:t>∧</a:t>
                  </a:r>
                  <a:endParaRPr lang="en-US" altLang="zh-CN" sz="2400" dirty="0">
                    <a:ea typeface="宋体" panose="02010600030101010101" pitchFamily="2" charset="-122"/>
                  </a:endParaRPr>
                </a:p>
              </p:txBody>
            </p:sp>
            <p:sp>
              <p:nvSpPr>
                <p:cNvPr id="137" name="Line 32"/>
                <p:cNvSpPr/>
                <p:nvPr/>
              </p:nvSpPr>
              <p:spPr>
                <a:xfrm>
                  <a:off x="3798" y="2736"/>
                  <a:ext cx="288" cy="0"/>
                </a:xfrm>
                <a:prstGeom prst="line">
                  <a:avLst/>
                </a:prstGeom>
                <a:ln w="25400" cap="flat" cmpd="sng">
                  <a:solidFill>
                    <a:srgbClr val="008080"/>
                  </a:solidFill>
                  <a:prstDash val="solid"/>
                  <a:headEnd type="oval" w="sm" len="sm"/>
                  <a:tailEnd type="triangle" w="med" len="lg"/>
                </a:ln>
              </p:spPr>
            </p:sp>
          </p:grpSp>
        </p:grpSp>
        <p:sp>
          <p:nvSpPr>
            <p:cNvPr id="124" name="Line 15"/>
            <p:cNvSpPr/>
            <p:nvPr/>
          </p:nvSpPr>
          <p:spPr>
            <a:xfrm>
              <a:off x="564777" y="2852936"/>
              <a:ext cx="406823" cy="0"/>
            </a:xfrm>
            <a:prstGeom prst="line">
              <a:avLst/>
            </a:prstGeom>
            <a:ln w="25400" cap="flat" cmpd="sng">
              <a:solidFill>
                <a:srgbClr val="008080"/>
              </a:solidFill>
              <a:prstDash val="solid"/>
              <a:headEnd type="oval" w="sm" len="sm"/>
              <a:tailEnd type="triangle" w="med" len="lg"/>
            </a:ln>
          </p:spPr>
        </p:sp>
      </p:grpSp>
      <p:sp>
        <p:nvSpPr>
          <p:cNvPr id="156" name="文本框 155"/>
          <p:cNvSpPr txBox="1"/>
          <p:nvPr/>
        </p:nvSpPr>
        <p:spPr>
          <a:xfrm>
            <a:off x="395536" y="1988840"/>
            <a:ext cx="503237" cy="1200329"/>
          </a:xfrm>
          <a:prstGeom prst="rect">
            <a:avLst/>
          </a:prstGeom>
          <a:noFill/>
        </p:spPr>
        <p:txBody>
          <a:bodyPr wrap="square" rtlCol="0">
            <a:spAutoFit/>
          </a:bodyPr>
          <a:lstStyle/>
          <a:p>
            <a:r>
              <a:rPr lang="zh-CN" altLang="en-US" sz="2400" b="1" dirty="0"/>
              <a:t>插入前</a:t>
            </a:r>
          </a:p>
        </p:txBody>
      </p:sp>
      <p:sp>
        <p:nvSpPr>
          <p:cNvPr id="161" name="文本框 160"/>
          <p:cNvSpPr txBox="1"/>
          <p:nvPr/>
        </p:nvSpPr>
        <p:spPr>
          <a:xfrm>
            <a:off x="395536" y="3717032"/>
            <a:ext cx="503237" cy="1200329"/>
          </a:xfrm>
          <a:prstGeom prst="rect">
            <a:avLst/>
          </a:prstGeom>
          <a:noFill/>
        </p:spPr>
        <p:txBody>
          <a:bodyPr wrap="square" rtlCol="0">
            <a:spAutoFit/>
          </a:bodyPr>
          <a:lstStyle/>
          <a:p>
            <a:r>
              <a:rPr lang="zh-CN" altLang="en-US" sz="2400" b="1" dirty="0"/>
              <a:t>插入后</a:t>
            </a: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95837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6"/>
                                        </p:tgtEl>
                                        <p:attrNameLst>
                                          <p:attrName>style.visibility</p:attrName>
                                        </p:attrNameLst>
                                      </p:cBhvr>
                                      <p:to>
                                        <p:strVal val="visible"/>
                                      </p:to>
                                    </p:set>
                                  </p:childTnLst>
                                </p:cTn>
                              </p:par>
                              <p:par>
                                <p:cTn id="9" presetID="22" presetClass="entr" presetSubtype="8" fill="hold" nodeType="withEffect">
                                  <p:stCondLst>
                                    <p:cond delay="0"/>
                                  </p:stCondLst>
                                  <p:childTnLst>
                                    <p:set>
                                      <p:cBhvr>
                                        <p:cTn id="10" dur="1" fill="hold">
                                          <p:stCondLst>
                                            <p:cond delay="0"/>
                                          </p:stCondLst>
                                        </p:cTn>
                                        <p:tgtEl>
                                          <p:spTgt spid="121"/>
                                        </p:tgtEl>
                                        <p:attrNameLst>
                                          <p:attrName>style.visibility</p:attrName>
                                        </p:attrNameLst>
                                      </p:cBhvr>
                                      <p:to>
                                        <p:strVal val="visible"/>
                                      </p:to>
                                    </p:set>
                                    <p:animEffect transition="in" filter="wipe(left)">
                                      <p:cBhvr>
                                        <p:cTn id="11" dur="500"/>
                                        <p:tgtEl>
                                          <p:spTgt spid="12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61"/>
                                        </p:tgtEl>
                                        <p:attrNameLst>
                                          <p:attrName>style.visibility</p:attrName>
                                        </p:attrNameLst>
                                      </p:cBhvr>
                                      <p:to>
                                        <p:strVal val="visible"/>
                                      </p:to>
                                    </p:set>
                                  </p:childTnLst>
                                </p:cTn>
                              </p:par>
                              <p:par>
                                <p:cTn id="16" presetID="22" presetClass="entr" presetSubtype="8" fill="hold" nodeType="withEffect">
                                  <p:stCondLst>
                                    <p:cond delay="0"/>
                                  </p:stCondLst>
                                  <p:childTnLst>
                                    <p:set>
                                      <p:cBhvr>
                                        <p:cTn id="17" dur="1" fill="hold">
                                          <p:stCondLst>
                                            <p:cond delay="0"/>
                                          </p:stCondLst>
                                        </p:cTn>
                                        <p:tgtEl>
                                          <p:spTgt spid="86"/>
                                        </p:tgtEl>
                                        <p:attrNameLst>
                                          <p:attrName>style.visibility</p:attrName>
                                        </p:attrNameLst>
                                      </p:cBhvr>
                                      <p:to>
                                        <p:strVal val="visible"/>
                                      </p:to>
                                    </p:set>
                                    <p:animEffect transition="in" filter="wipe(left)">
                                      <p:cBhvr>
                                        <p:cTn id="18"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p:bldP spid="16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链表插入</a:t>
            </a:r>
          </a:p>
        </p:txBody>
      </p:sp>
      <p:sp>
        <p:nvSpPr>
          <p:cNvPr id="4" name="Rectangle 7"/>
          <p:cNvSpPr>
            <a:spLocks noChangeArrowheads="1"/>
          </p:cNvSpPr>
          <p:nvPr/>
        </p:nvSpPr>
        <p:spPr bwMode="auto">
          <a:xfrm>
            <a:off x="827584" y="4437112"/>
            <a:ext cx="7776864" cy="211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dirty="0">
                <a:latin typeface="+mn-ea"/>
                <a:ea typeface="+mn-ea"/>
                <a:cs typeface="楷体_GB2312"/>
              </a:rPr>
              <a:t>（</a:t>
            </a:r>
            <a:r>
              <a:rPr lang="en-US" altLang="zh-CN" dirty="0">
                <a:latin typeface="+mn-ea"/>
                <a:ea typeface="+mn-ea"/>
                <a:cs typeface="楷体_GB2312"/>
              </a:rPr>
              <a:t>1</a:t>
            </a:r>
            <a:r>
              <a:rPr lang="zh-CN" altLang="en-US" dirty="0">
                <a:latin typeface="+mn-ea"/>
                <a:ea typeface="+mn-ea"/>
                <a:cs typeface="楷体_GB2312"/>
              </a:rPr>
              <a:t>）找到</a:t>
            </a:r>
            <a:r>
              <a:rPr lang="en-US" altLang="zh-CN" dirty="0">
                <a:latin typeface="+mn-ea"/>
                <a:ea typeface="+mn-ea"/>
                <a:cs typeface="楷体_GB2312"/>
              </a:rPr>
              <a:t>a</a:t>
            </a:r>
            <a:r>
              <a:rPr lang="en-US" altLang="zh-CN" baseline="-30000" dirty="0">
                <a:latin typeface="+mn-ea"/>
                <a:ea typeface="+mn-ea"/>
                <a:cs typeface="楷体_GB2312"/>
              </a:rPr>
              <a:t>i-1</a:t>
            </a:r>
            <a:r>
              <a:rPr lang="zh-CN" altLang="en-US" dirty="0">
                <a:latin typeface="+mn-ea"/>
                <a:ea typeface="+mn-ea"/>
                <a:cs typeface="楷体_GB2312"/>
              </a:rPr>
              <a:t>存储位置</a:t>
            </a:r>
            <a:r>
              <a:rPr lang="en-US" altLang="zh-CN" dirty="0">
                <a:latin typeface="+mn-ea"/>
                <a:ea typeface="+mn-ea"/>
                <a:cs typeface="楷体_GB2312"/>
              </a:rPr>
              <a:t>p</a:t>
            </a:r>
          </a:p>
          <a:p>
            <a:pPr>
              <a:spcBef>
                <a:spcPct val="20000"/>
              </a:spcBef>
            </a:pPr>
            <a:r>
              <a:rPr lang="zh-CN" altLang="en-US" dirty="0">
                <a:latin typeface="+mn-ea"/>
                <a:ea typeface="+mn-ea"/>
                <a:cs typeface="楷体_GB2312"/>
              </a:rPr>
              <a:t>（</a:t>
            </a:r>
            <a:r>
              <a:rPr lang="en-US" altLang="zh-CN" dirty="0">
                <a:latin typeface="+mn-ea"/>
                <a:ea typeface="+mn-ea"/>
                <a:cs typeface="楷体_GB2312"/>
              </a:rPr>
              <a:t>2</a:t>
            </a:r>
            <a:r>
              <a:rPr lang="zh-CN" altLang="en-US" dirty="0">
                <a:latin typeface="+mn-ea"/>
                <a:ea typeface="+mn-ea"/>
                <a:cs typeface="楷体_GB2312"/>
              </a:rPr>
              <a:t>）生成一个新结点</a:t>
            </a:r>
            <a:r>
              <a:rPr lang="en-US" altLang="zh-CN" dirty="0">
                <a:latin typeface="+mn-ea"/>
                <a:ea typeface="+mn-ea"/>
                <a:cs typeface="楷体_GB2312"/>
              </a:rPr>
              <a:t>s</a:t>
            </a:r>
            <a:r>
              <a:rPr lang="zh-CN" altLang="en-US" dirty="0">
                <a:latin typeface="+mn-ea"/>
                <a:ea typeface="+mn-ea"/>
                <a:cs typeface="楷体_GB2312"/>
              </a:rPr>
              <a:t>，并将其数据域置为</a:t>
            </a:r>
            <a:r>
              <a:rPr lang="en-US" altLang="zh-CN" dirty="0">
                <a:latin typeface="+mn-ea"/>
                <a:ea typeface="+mn-ea"/>
                <a:cs typeface="楷体_GB2312"/>
              </a:rPr>
              <a:t>e</a:t>
            </a:r>
          </a:p>
          <a:p>
            <a:pPr>
              <a:spcBef>
                <a:spcPct val="20000"/>
              </a:spcBef>
            </a:pPr>
            <a:r>
              <a:rPr lang="zh-CN" altLang="en-US" dirty="0">
                <a:latin typeface="+mn-ea"/>
                <a:ea typeface="+mn-ea"/>
                <a:cs typeface="楷体_GB2312"/>
              </a:rPr>
              <a:t>（</a:t>
            </a:r>
            <a:r>
              <a:rPr lang="en-US" altLang="zh-CN" dirty="0">
                <a:latin typeface="+mn-ea"/>
                <a:ea typeface="+mn-ea"/>
                <a:cs typeface="楷体_GB2312"/>
              </a:rPr>
              <a:t>3</a:t>
            </a:r>
            <a:r>
              <a:rPr lang="zh-CN" altLang="en-US" dirty="0">
                <a:latin typeface="+mn-ea"/>
                <a:ea typeface="+mn-ea"/>
                <a:cs typeface="楷体_GB2312"/>
              </a:rPr>
              <a:t>）新结点</a:t>
            </a:r>
            <a:r>
              <a:rPr lang="en-US" altLang="zh-CN" dirty="0">
                <a:latin typeface="+mn-ea"/>
                <a:ea typeface="+mn-ea"/>
                <a:cs typeface="楷体_GB2312"/>
              </a:rPr>
              <a:t>s</a:t>
            </a:r>
            <a:r>
              <a:rPr lang="zh-CN" altLang="en-US" dirty="0">
                <a:latin typeface="+mn-ea"/>
                <a:ea typeface="+mn-ea"/>
                <a:cs typeface="楷体_GB2312"/>
              </a:rPr>
              <a:t>的指针域指向结点</a:t>
            </a:r>
            <a:r>
              <a:rPr lang="en-US" altLang="zh-CN" dirty="0" err="1">
                <a:latin typeface="+mn-ea"/>
                <a:ea typeface="+mn-ea"/>
                <a:cs typeface="楷体_GB2312"/>
              </a:rPr>
              <a:t>a</a:t>
            </a:r>
            <a:r>
              <a:rPr lang="en-US" altLang="zh-CN" baseline="-30000" dirty="0" err="1">
                <a:latin typeface="+mn-ea"/>
                <a:ea typeface="+mn-ea"/>
                <a:cs typeface="楷体_GB2312"/>
              </a:rPr>
              <a:t>i</a:t>
            </a:r>
            <a:endParaRPr lang="en-US" altLang="zh-CN" dirty="0">
              <a:latin typeface="+mn-ea"/>
              <a:ea typeface="+mn-ea"/>
              <a:cs typeface="楷体_GB2312"/>
            </a:endParaRPr>
          </a:p>
          <a:p>
            <a:pPr>
              <a:spcBef>
                <a:spcPct val="20000"/>
              </a:spcBef>
            </a:pPr>
            <a:r>
              <a:rPr lang="zh-CN" altLang="en-US" dirty="0">
                <a:latin typeface="+mn-ea"/>
                <a:ea typeface="+mn-ea"/>
                <a:cs typeface="楷体_GB2312"/>
              </a:rPr>
              <a:t>（</a:t>
            </a:r>
            <a:r>
              <a:rPr lang="en-US" altLang="zh-CN" dirty="0">
                <a:latin typeface="+mn-ea"/>
                <a:ea typeface="+mn-ea"/>
                <a:cs typeface="楷体_GB2312"/>
              </a:rPr>
              <a:t>4</a:t>
            </a:r>
            <a:r>
              <a:rPr lang="zh-CN" altLang="en-US" dirty="0">
                <a:latin typeface="+mn-ea"/>
                <a:ea typeface="+mn-ea"/>
                <a:cs typeface="楷体_GB2312"/>
              </a:rPr>
              <a:t>）令结点</a:t>
            </a:r>
            <a:r>
              <a:rPr lang="en-US" altLang="zh-CN" dirty="0">
                <a:latin typeface="+mn-ea"/>
                <a:ea typeface="+mn-ea"/>
                <a:cs typeface="楷体_GB2312"/>
              </a:rPr>
              <a:t>p</a:t>
            </a:r>
            <a:r>
              <a:rPr lang="zh-CN" altLang="en-US" dirty="0">
                <a:latin typeface="+mn-ea"/>
                <a:ea typeface="+mn-ea"/>
                <a:cs typeface="楷体_GB2312"/>
              </a:rPr>
              <a:t>的指针域指向新结点</a:t>
            </a:r>
            <a:r>
              <a:rPr lang="en-US" altLang="zh-CN" dirty="0">
                <a:latin typeface="+mn-ea"/>
                <a:ea typeface="+mn-ea"/>
                <a:cs typeface="楷体_GB2312"/>
              </a:rPr>
              <a:t>s</a:t>
            </a:r>
          </a:p>
        </p:txBody>
      </p:sp>
      <p:grpSp>
        <p:nvGrpSpPr>
          <p:cNvPr id="7" name="Group 2"/>
          <p:cNvGrpSpPr/>
          <p:nvPr/>
        </p:nvGrpSpPr>
        <p:grpSpPr>
          <a:xfrm>
            <a:off x="1735088" y="2473787"/>
            <a:ext cx="1981200" cy="609600"/>
            <a:chOff x="864" y="2880"/>
            <a:chExt cx="1248" cy="384"/>
          </a:xfrm>
        </p:grpSpPr>
        <p:sp>
          <p:nvSpPr>
            <p:cNvPr id="26" name="Rectangle 3"/>
            <p:cNvSpPr/>
            <p:nvPr/>
          </p:nvSpPr>
          <p:spPr>
            <a:xfrm>
              <a:off x="1440" y="2880"/>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27" name="Line 4"/>
            <p:cNvSpPr/>
            <p:nvPr/>
          </p:nvSpPr>
          <p:spPr>
            <a:xfrm>
              <a:off x="1920" y="2880"/>
              <a:ext cx="0" cy="384"/>
            </a:xfrm>
            <a:prstGeom prst="line">
              <a:avLst/>
            </a:prstGeom>
            <a:ln w="9525" cap="flat" cmpd="sng">
              <a:solidFill>
                <a:srgbClr val="000099"/>
              </a:solidFill>
              <a:prstDash val="solid"/>
              <a:headEnd type="none" w="med" len="med"/>
              <a:tailEnd type="none" w="med" len="med"/>
            </a:ln>
          </p:spPr>
        </p:sp>
        <p:sp>
          <p:nvSpPr>
            <p:cNvPr id="28" name="Line 5"/>
            <p:cNvSpPr/>
            <p:nvPr/>
          </p:nvSpPr>
          <p:spPr>
            <a:xfrm>
              <a:off x="864" y="3072"/>
              <a:ext cx="576" cy="0"/>
            </a:xfrm>
            <a:prstGeom prst="line">
              <a:avLst/>
            </a:prstGeom>
            <a:ln w="31750" cap="flat" cmpd="sng">
              <a:solidFill>
                <a:srgbClr val="000080"/>
              </a:solidFill>
              <a:prstDash val="solid"/>
              <a:headEnd type="oval" w="sm" len="sm"/>
              <a:tailEnd type="triangle" w="med" len="lg"/>
            </a:ln>
          </p:spPr>
        </p:sp>
      </p:grpSp>
      <p:sp>
        <p:nvSpPr>
          <p:cNvPr id="24" name="Rectangle 9"/>
          <p:cNvSpPr/>
          <p:nvPr/>
        </p:nvSpPr>
        <p:spPr>
          <a:xfrm>
            <a:off x="4402088" y="3616787"/>
            <a:ext cx="1066800" cy="609600"/>
          </a:xfrm>
          <a:prstGeom prst="rect">
            <a:avLst/>
          </a:prstGeom>
          <a:solidFill>
            <a:srgbClr val="FFCC99">
              <a:alpha val="50195"/>
            </a:srgbClr>
          </a:solidFill>
          <a:ln w="25400" cap="flat" cmpd="sng">
            <a:solidFill>
              <a:srgbClr val="99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 e</a:t>
            </a:r>
            <a:endParaRPr lang="en-US" altLang="zh-CN" sz="3600" dirty="0">
              <a:ea typeface="宋体" panose="02010600030101010101" pitchFamily="2" charset="-122"/>
            </a:endParaRPr>
          </a:p>
        </p:txBody>
      </p:sp>
      <p:sp>
        <p:nvSpPr>
          <p:cNvPr id="25" name="Line 10"/>
          <p:cNvSpPr/>
          <p:nvPr/>
        </p:nvSpPr>
        <p:spPr>
          <a:xfrm>
            <a:off x="5164088" y="3616787"/>
            <a:ext cx="0" cy="609600"/>
          </a:xfrm>
          <a:prstGeom prst="line">
            <a:avLst/>
          </a:prstGeom>
          <a:ln w="25400" cap="flat" cmpd="sng">
            <a:solidFill>
              <a:srgbClr val="993300"/>
            </a:solidFill>
            <a:prstDash val="solid"/>
            <a:headEnd type="none" w="med" len="med"/>
            <a:tailEnd type="none" w="med" len="med"/>
          </a:ln>
        </p:spPr>
      </p:sp>
      <p:grpSp>
        <p:nvGrpSpPr>
          <p:cNvPr id="9" name="Group 11"/>
          <p:cNvGrpSpPr/>
          <p:nvPr/>
        </p:nvGrpSpPr>
        <p:grpSpPr>
          <a:xfrm>
            <a:off x="3563888" y="2473787"/>
            <a:ext cx="3886200" cy="609600"/>
            <a:chOff x="2016" y="2880"/>
            <a:chExt cx="2448" cy="384"/>
          </a:xfrm>
        </p:grpSpPr>
        <p:sp>
          <p:nvSpPr>
            <p:cNvPr id="20" name="Line 12"/>
            <p:cNvSpPr/>
            <p:nvPr/>
          </p:nvSpPr>
          <p:spPr>
            <a:xfrm>
              <a:off x="2016" y="3072"/>
              <a:ext cx="1344" cy="0"/>
            </a:xfrm>
            <a:prstGeom prst="line">
              <a:avLst/>
            </a:prstGeom>
            <a:ln w="31750" cap="flat" cmpd="sng">
              <a:solidFill>
                <a:srgbClr val="000080"/>
              </a:solidFill>
              <a:prstDash val="solid"/>
              <a:headEnd type="oval" w="sm" len="sm"/>
              <a:tailEnd type="triangle" w="med" len="lg"/>
            </a:ln>
          </p:spPr>
        </p:sp>
        <p:sp>
          <p:nvSpPr>
            <p:cNvPr id="21" name="Rectangle 13"/>
            <p:cNvSpPr/>
            <p:nvPr/>
          </p:nvSpPr>
          <p:spPr>
            <a:xfrm>
              <a:off x="3360" y="2880"/>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a:t>
              </a:r>
              <a:endParaRPr lang="en-US" altLang="zh-CN" sz="3600" dirty="0">
                <a:ea typeface="宋体" panose="02010600030101010101" pitchFamily="2" charset="-122"/>
              </a:endParaRPr>
            </a:p>
          </p:txBody>
        </p:sp>
        <p:sp>
          <p:nvSpPr>
            <p:cNvPr id="22" name="Line 14"/>
            <p:cNvSpPr/>
            <p:nvPr/>
          </p:nvSpPr>
          <p:spPr>
            <a:xfrm>
              <a:off x="3840" y="2880"/>
              <a:ext cx="0" cy="384"/>
            </a:xfrm>
            <a:prstGeom prst="line">
              <a:avLst/>
            </a:prstGeom>
            <a:ln w="9525" cap="flat" cmpd="sng">
              <a:solidFill>
                <a:srgbClr val="000099"/>
              </a:solidFill>
              <a:prstDash val="solid"/>
              <a:headEnd type="none" w="med" len="med"/>
              <a:tailEnd type="none" w="med" len="med"/>
            </a:ln>
          </p:spPr>
        </p:sp>
        <p:sp>
          <p:nvSpPr>
            <p:cNvPr id="23" name="Line 15"/>
            <p:cNvSpPr/>
            <p:nvPr/>
          </p:nvSpPr>
          <p:spPr>
            <a:xfrm>
              <a:off x="3936" y="3072"/>
              <a:ext cx="528" cy="0"/>
            </a:xfrm>
            <a:prstGeom prst="line">
              <a:avLst/>
            </a:prstGeom>
            <a:ln w="31750" cap="flat" cmpd="sng">
              <a:solidFill>
                <a:srgbClr val="000080"/>
              </a:solidFill>
              <a:prstDash val="solid"/>
              <a:headEnd type="oval" w="sm" len="sm"/>
              <a:tailEnd type="triangle" w="med" len="lg"/>
            </a:ln>
          </p:spPr>
        </p:sp>
      </p:grpSp>
      <p:sp useBgFill="1">
        <p:nvSpPr>
          <p:cNvPr id="10" name="Rectangle 16"/>
          <p:cNvSpPr/>
          <p:nvPr/>
        </p:nvSpPr>
        <p:spPr>
          <a:xfrm>
            <a:off x="3450750" y="2580076"/>
            <a:ext cx="2240969" cy="350167"/>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grpSp>
        <p:nvGrpSpPr>
          <p:cNvPr id="11" name="Group 17"/>
          <p:cNvGrpSpPr/>
          <p:nvPr/>
        </p:nvGrpSpPr>
        <p:grpSpPr>
          <a:xfrm>
            <a:off x="2649488" y="2473787"/>
            <a:ext cx="1066800" cy="609600"/>
            <a:chOff x="1440" y="3504"/>
            <a:chExt cx="672" cy="384"/>
          </a:xfrm>
        </p:grpSpPr>
        <p:sp>
          <p:nvSpPr>
            <p:cNvPr id="18" name="Rectangle 18"/>
            <p:cNvSpPr/>
            <p:nvPr/>
          </p:nvSpPr>
          <p:spPr>
            <a:xfrm>
              <a:off x="1440" y="3504"/>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19" name="Line 19"/>
            <p:cNvSpPr/>
            <p:nvPr/>
          </p:nvSpPr>
          <p:spPr>
            <a:xfrm>
              <a:off x="1920" y="3504"/>
              <a:ext cx="0" cy="384"/>
            </a:xfrm>
            <a:prstGeom prst="line">
              <a:avLst/>
            </a:prstGeom>
            <a:ln w="9525" cap="flat" cmpd="sng">
              <a:solidFill>
                <a:srgbClr val="000099"/>
              </a:solidFill>
              <a:prstDash val="solid"/>
              <a:headEnd type="none" w="med" len="med"/>
              <a:tailEnd type="none" w="med" len="med"/>
            </a:ln>
          </p:spPr>
        </p:sp>
      </p:grpSp>
      <p:cxnSp>
        <p:nvCxnSpPr>
          <p:cNvPr id="12" name="AutoShape 20"/>
          <p:cNvCxnSpPr>
            <a:endCxn id="24" idx="1"/>
          </p:cNvCxnSpPr>
          <p:nvPr/>
        </p:nvCxnSpPr>
        <p:spPr>
          <a:xfrm rot="5400000" flipV="1">
            <a:off x="3432225" y="2951977"/>
            <a:ext cx="1143000" cy="795655"/>
          </a:xfrm>
          <a:prstGeom prst="bentConnector2">
            <a:avLst/>
          </a:prstGeom>
          <a:ln w="31750" cap="flat" cmpd="sng">
            <a:solidFill>
              <a:srgbClr val="008080"/>
            </a:solidFill>
            <a:prstDash val="solid"/>
            <a:miter/>
            <a:headEnd type="oval" w="sm" len="sm"/>
            <a:tailEnd type="triangle" w="med" len="lg"/>
          </a:ln>
        </p:spPr>
      </p:cxnSp>
      <p:cxnSp>
        <p:nvCxnSpPr>
          <p:cNvPr id="13" name="AutoShape 21"/>
          <p:cNvCxnSpPr>
            <a:endCxn id="21" idx="2"/>
          </p:cNvCxnSpPr>
          <p:nvPr/>
        </p:nvCxnSpPr>
        <p:spPr>
          <a:xfrm flipV="1">
            <a:off x="5290235" y="3083422"/>
            <a:ext cx="940435" cy="855345"/>
          </a:xfrm>
          <a:prstGeom prst="bentConnector2">
            <a:avLst/>
          </a:prstGeom>
          <a:ln w="31750" cap="flat" cmpd="sng">
            <a:solidFill>
              <a:srgbClr val="008080"/>
            </a:solidFill>
            <a:prstDash val="solid"/>
            <a:miter/>
            <a:headEnd type="oval" w="sm" len="sm"/>
            <a:tailEnd type="triangle" w="med" len="lg"/>
          </a:ln>
        </p:spPr>
      </p:cxnSp>
      <p:grpSp>
        <p:nvGrpSpPr>
          <p:cNvPr id="14" name="组合 13"/>
          <p:cNvGrpSpPr/>
          <p:nvPr/>
        </p:nvGrpSpPr>
        <p:grpSpPr>
          <a:xfrm>
            <a:off x="2908350" y="3921622"/>
            <a:ext cx="1481455" cy="521970"/>
            <a:chOff x="4149" y="8649"/>
            <a:chExt cx="2333" cy="822"/>
          </a:xfrm>
        </p:grpSpPr>
        <p:sp>
          <p:nvSpPr>
            <p:cNvPr id="16" name="Line 5"/>
            <p:cNvSpPr/>
            <p:nvPr/>
          </p:nvSpPr>
          <p:spPr>
            <a:xfrm flipV="1">
              <a:off x="5057" y="8773"/>
              <a:ext cx="1425" cy="373"/>
            </a:xfrm>
            <a:prstGeom prst="line">
              <a:avLst/>
            </a:prstGeom>
            <a:ln w="31750" cap="flat" cmpd="sng">
              <a:solidFill>
                <a:srgbClr val="000080"/>
              </a:solidFill>
              <a:prstDash val="solid"/>
              <a:headEnd type="oval" w="sm" len="sm"/>
              <a:tailEnd type="triangle" w="med" len="lg"/>
            </a:ln>
          </p:spPr>
        </p:sp>
        <p:sp>
          <p:nvSpPr>
            <p:cNvPr id="17" name="文本框 16"/>
            <p:cNvSpPr txBox="1"/>
            <p:nvPr/>
          </p:nvSpPr>
          <p:spPr>
            <a:xfrm>
              <a:off x="4149" y="8649"/>
              <a:ext cx="783" cy="822"/>
            </a:xfrm>
            <a:prstGeom prst="rect">
              <a:avLst/>
            </a:prstGeom>
            <a:noFill/>
          </p:spPr>
          <p:txBody>
            <a:bodyPr wrap="square" rtlCol="0">
              <a:spAutoFit/>
            </a:bodyPr>
            <a:lstStyle/>
            <a:p>
              <a:pPr algn="r"/>
              <a:r>
                <a:rPr lang="en-US" altLang="zh-CN" sz="2800" dirty="0"/>
                <a:t>s</a:t>
              </a:r>
            </a:p>
          </p:txBody>
        </p:sp>
      </p:grpSp>
      <p:sp>
        <p:nvSpPr>
          <p:cNvPr id="15" name="文本框 14"/>
          <p:cNvSpPr txBox="1"/>
          <p:nvPr/>
        </p:nvSpPr>
        <p:spPr>
          <a:xfrm>
            <a:off x="1761456" y="3247961"/>
            <a:ext cx="497205" cy="521970"/>
          </a:xfrm>
          <a:prstGeom prst="rect">
            <a:avLst/>
          </a:prstGeom>
          <a:noFill/>
        </p:spPr>
        <p:txBody>
          <a:bodyPr wrap="square" rtlCol="0">
            <a:spAutoFit/>
          </a:bodyPr>
          <a:lstStyle/>
          <a:p>
            <a:pPr algn="r"/>
            <a:r>
              <a:rPr lang="en-US" altLang="zh-CN" sz="2800" dirty="0"/>
              <a:t>p</a:t>
            </a:r>
          </a:p>
        </p:txBody>
      </p:sp>
      <p:sp>
        <p:nvSpPr>
          <p:cNvPr id="29" name="Line 5"/>
          <p:cNvSpPr/>
          <p:nvPr/>
        </p:nvSpPr>
        <p:spPr>
          <a:xfrm flipV="1">
            <a:off x="2296742" y="3083386"/>
            <a:ext cx="809948" cy="426075"/>
          </a:xfrm>
          <a:prstGeom prst="line">
            <a:avLst/>
          </a:prstGeom>
          <a:ln w="31750" cap="flat" cmpd="sng">
            <a:solidFill>
              <a:srgbClr val="000080"/>
            </a:solidFill>
            <a:prstDash val="solid"/>
            <a:headEnd type="oval" w="sm" len="sm"/>
            <a:tailEnd type="triangle" w="med" len="lg"/>
          </a:ln>
        </p:spPr>
      </p:sp>
      <p:grpSp>
        <p:nvGrpSpPr>
          <p:cNvPr id="3" name="组合 2"/>
          <p:cNvGrpSpPr/>
          <p:nvPr/>
        </p:nvGrpSpPr>
        <p:grpSpPr>
          <a:xfrm>
            <a:off x="2159322" y="1131224"/>
            <a:ext cx="4832350" cy="609600"/>
            <a:chOff x="2115914" y="1340768"/>
            <a:chExt cx="4832350" cy="609600"/>
          </a:xfrm>
        </p:grpSpPr>
        <p:grpSp>
          <p:nvGrpSpPr>
            <p:cNvPr id="35" name="Group 2"/>
            <p:cNvGrpSpPr/>
            <p:nvPr/>
          </p:nvGrpSpPr>
          <p:grpSpPr>
            <a:xfrm>
              <a:off x="2115914" y="1340768"/>
              <a:ext cx="1530350" cy="609600"/>
              <a:chOff x="1148" y="2880"/>
              <a:chExt cx="964" cy="384"/>
            </a:xfrm>
          </p:grpSpPr>
          <p:sp>
            <p:nvSpPr>
              <p:cNvPr id="50" name="Rectangle 3"/>
              <p:cNvSpPr/>
              <p:nvPr/>
            </p:nvSpPr>
            <p:spPr>
              <a:xfrm>
                <a:off x="1440" y="2880"/>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51" name="Line 4"/>
              <p:cNvSpPr/>
              <p:nvPr/>
            </p:nvSpPr>
            <p:spPr>
              <a:xfrm>
                <a:off x="1920" y="2880"/>
                <a:ext cx="0" cy="384"/>
              </a:xfrm>
              <a:prstGeom prst="line">
                <a:avLst/>
              </a:prstGeom>
              <a:ln w="9525" cap="flat" cmpd="sng">
                <a:solidFill>
                  <a:srgbClr val="000099"/>
                </a:solidFill>
                <a:prstDash val="solid"/>
                <a:headEnd type="none" w="med" len="med"/>
                <a:tailEnd type="none" w="med" len="med"/>
              </a:ln>
            </p:spPr>
          </p:sp>
          <p:sp>
            <p:nvSpPr>
              <p:cNvPr id="52" name="Line 5"/>
              <p:cNvSpPr/>
              <p:nvPr/>
            </p:nvSpPr>
            <p:spPr>
              <a:xfrm>
                <a:off x="1148" y="3069"/>
                <a:ext cx="292" cy="3"/>
              </a:xfrm>
              <a:prstGeom prst="line">
                <a:avLst/>
              </a:prstGeom>
              <a:ln w="31750" cap="flat" cmpd="sng">
                <a:solidFill>
                  <a:srgbClr val="000080"/>
                </a:solidFill>
                <a:prstDash val="solid"/>
                <a:headEnd type="oval" w="sm" len="sm"/>
                <a:tailEnd type="triangle" w="med" len="lg"/>
              </a:ln>
            </p:spPr>
          </p:sp>
        </p:grpSp>
        <p:grpSp>
          <p:nvGrpSpPr>
            <p:cNvPr id="36" name="Group 11"/>
            <p:cNvGrpSpPr/>
            <p:nvPr/>
          </p:nvGrpSpPr>
          <p:grpSpPr>
            <a:xfrm>
              <a:off x="3493864" y="1340768"/>
              <a:ext cx="3454400" cy="609600"/>
              <a:chOff x="2016" y="2880"/>
              <a:chExt cx="2176" cy="384"/>
            </a:xfrm>
          </p:grpSpPr>
          <p:sp>
            <p:nvSpPr>
              <p:cNvPr id="46" name="Line 12"/>
              <p:cNvSpPr/>
              <p:nvPr/>
            </p:nvSpPr>
            <p:spPr>
              <a:xfrm>
                <a:off x="2016" y="3072"/>
                <a:ext cx="1344" cy="0"/>
              </a:xfrm>
              <a:prstGeom prst="line">
                <a:avLst/>
              </a:prstGeom>
              <a:ln w="31750" cap="flat" cmpd="sng">
                <a:solidFill>
                  <a:srgbClr val="000080"/>
                </a:solidFill>
                <a:prstDash val="solid"/>
                <a:headEnd type="oval" w="sm" len="sm"/>
                <a:tailEnd type="triangle" w="med" len="lg"/>
              </a:ln>
            </p:spPr>
          </p:sp>
          <p:sp>
            <p:nvSpPr>
              <p:cNvPr id="47" name="Rectangle 13"/>
              <p:cNvSpPr/>
              <p:nvPr/>
            </p:nvSpPr>
            <p:spPr>
              <a:xfrm>
                <a:off x="3360" y="2880"/>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a:t>
                </a:r>
                <a:endParaRPr lang="en-US" altLang="zh-CN" sz="3600" dirty="0">
                  <a:ea typeface="宋体" panose="02010600030101010101" pitchFamily="2" charset="-122"/>
                </a:endParaRPr>
              </a:p>
            </p:txBody>
          </p:sp>
          <p:sp>
            <p:nvSpPr>
              <p:cNvPr id="48" name="Line 14"/>
              <p:cNvSpPr/>
              <p:nvPr/>
            </p:nvSpPr>
            <p:spPr>
              <a:xfrm>
                <a:off x="3840" y="2880"/>
                <a:ext cx="0" cy="384"/>
              </a:xfrm>
              <a:prstGeom prst="line">
                <a:avLst/>
              </a:prstGeom>
              <a:ln w="9525" cap="flat" cmpd="sng">
                <a:solidFill>
                  <a:srgbClr val="000099"/>
                </a:solidFill>
                <a:prstDash val="solid"/>
                <a:headEnd type="none" w="med" len="med"/>
                <a:tailEnd type="none" w="med" len="med"/>
              </a:ln>
            </p:spPr>
          </p:sp>
          <p:sp>
            <p:nvSpPr>
              <p:cNvPr id="49" name="Line 15"/>
              <p:cNvSpPr/>
              <p:nvPr/>
            </p:nvSpPr>
            <p:spPr>
              <a:xfrm flipV="1">
                <a:off x="3936" y="3069"/>
                <a:ext cx="256" cy="3"/>
              </a:xfrm>
              <a:prstGeom prst="line">
                <a:avLst/>
              </a:prstGeom>
              <a:ln w="31750" cap="flat" cmpd="sng">
                <a:solidFill>
                  <a:srgbClr val="000080"/>
                </a:solidFill>
                <a:prstDash val="solid"/>
                <a:headEnd type="oval" w="sm" len="sm"/>
                <a:tailEnd type="triangle" w="med" len="lg"/>
              </a:ln>
            </p:spPr>
          </p:sp>
        </p:grpSp>
        <p:sp useBgFill="1">
          <p:nvSpPr>
            <p:cNvPr id="37" name="Rectangle 16"/>
            <p:cNvSpPr/>
            <p:nvPr/>
          </p:nvSpPr>
          <p:spPr>
            <a:xfrm>
              <a:off x="3380726" y="1447057"/>
              <a:ext cx="2240969" cy="350167"/>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grpSp>
          <p:nvGrpSpPr>
            <p:cNvPr id="38" name="Group 17"/>
            <p:cNvGrpSpPr/>
            <p:nvPr/>
          </p:nvGrpSpPr>
          <p:grpSpPr>
            <a:xfrm>
              <a:off x="2579464" y="1340768"/>
              <a:ext cx="1066800" cy="609600"/>
              <a:chOff x="1440" y="3504"/>
              <a:chExt cx="672" cy="384"/>
            </a:xfrm>
          </p:grpSpPr>
          <p:sp>
            <p:nvSpPr>
              <p:cNvPr id="44" name="Rectangle 18"/>
              <p:cNvSpPr/>
              <p:nvPr/>
            </p:nvSpPr>
            <p:spPr>
              <a:xfrm>
                <a:off x="1440" y="3504"/>
                <a:ext cx="672" cy="384"/>
              </a:xfrm>
              <a:prstGeom prst="rect">
                <a:avLst/>
              </a:prstGeom>
              <a:solidFill>
                <a:srgbClr val="99CCFF">
                  <a:alpha val="50195"/>
                </a:srgbClr>
              </a:solidFill>
              <a:ln w="22225" cap="flat" cmpd="sng">
                <a:solidFill>
                  <a:srgbClr val="00008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45" name="Line 19"/>
              <p:cNvSpPr/>
              <p:nvPr/>
            </p:nvSpPr>
            <p:spPr>
              <a:xfrm>
                <a:off x="1920" y="3504"/>
                <a:ext cx="0" cy="384"/>
              </a:xfrm>
              <a:prstGeom prst="line">
                <a:avLst/>
              </a:prstGeom>
              <a:ln w="9525" cap="flat" cmpd="sng">
                <a:solidFill>
                  <a:srgbClr val="000099"/>
                </a:solidFill>
                <a:prstDash val="solid"/>
                <a:headEnd type="none" w="med" len="med"/>
                <a:tailEnd type="none" w="med" len="med"/>
              </a:ln>
            </p:spPr>
          </p:sp>
        </p:grpSp>
        <p:cxnSp>
          <p:nvCxnSpPr>
            <p:cNvPr id="39" name="AutoShape 20"/>
            <p:cNvCxnSpPr>
              <a:endCxn id="42" idx="1"/>
            </p:cNvCxnSpPr>
            <p:nvPr/>
          </p:nvCxnSpPr>
          <p:spPr>
            <a:xfrm>
              <a:off x="3493866" y="1645535"/>
              <a:ext cx="659158" cy="33"/>
            </a:xfrm>
            <a:prstGeom prst="bentConnector3">
              <a:avLst>
                <a:gd name="adj1" fmla="val 50000"/>
              </a:avLst>
            </a:prstGeom>
            <a:ln w="31750" cap="flat" cmpd="sng">
              <a:solidFill>
                <a:srgbClr val="008080"/>
              </a:solidFill>
              <a:prstDash val="solid"/>
              <a:miter/>
              <a:headEnd type="oval" w="sm" len="sm"/>
              <a:tailEnd type="triangle" w="med" len="lg"/>
            </a:ln>
          </p:spPr>
        </p:cxnSp>
        <p:grpSp>
          <p:nvGrpSpPr>
            <p:cNvPr id="40" name="Group 8"/>
            <p:cNvGrpSpPr/>
            <p:nvPr/>
          </p:nvGrpSpPr>
          <p:grpSpPr>
            <a:xfrm>
              <a:off x="4153024" y="1340768"/>
              <a:ext cx="1066800" cy="609600"/>
              <a:chOff x="2544" y="3600"/>
              <a:chExt cx="672" cy="384"/>
            </a:xfrm>
          </p:grpSpPr>
          <p:sp>
            <p:nvSpPr>
              <p:cNvPr id="42" name="Rectangle 9"/>
              <p:cNvSpPr/>
              <p:nvPr/>
            </p:nvSpPr>
            <p:spPr>
              <a:xfrm>
                <a:off x="2544" y="3600"/>
                <a:ext cx="672" cy="384"/>
              </a:xfrm>
              <a:prstGeom prst="rect">
                <a:avLst/>
              </a:prstGeom>
              <a:solidFill>
                <a:srgbClr val="FFCC99">
                  <a:alpha val="50195"/>
                </a:srgbClr>
              </a:solidFill>
              <a:ln w="25400" cap="flat" cmpd="sng">
                <a:solidFill>
                  <a:srgbClr val="99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 e</a:t>
                </a:r>
                <a:endParaRPr lang="en-US" altLang="zh-CN" sz="3600" dirty="0">
                  <a:ea typeface="宋体" panose="02010600030101010101" pitchFamily="2" charset="-122"/>
                </a:endParaRPr>
              </a:p>
            </p:txBody>
          </p:sp>
          <p:sp>
            <p:nvSpPr>
              <p:cNvPr id="43" name="Line 10"/>
              <p:cNvSpPr/>
              <p:nvPr/>
            </p:nvSpPr>
            <p:spPr>
              <a:xfrm>
                <a:off x="3024" y="3600"/>
                <a:ext cx="0" cy="384"/>
              </a:xfrm>
              <a:prstGeom prst="line">
                <a:avLst/>
              </a:prstGeom>
              <a:ln w="25400" cap="flat" cmpd="sng">
                <a:solidFill>
                  <a:srgbClr val="993300"/>
                </a:solidFill>
                <a:prstDash val="solid"/>
                <a:headEnd type="none" w="med" len="med"/>
                <a:tailEnd type="none" w="med" len="med"/>
              </a:ln>
            </p:spPr>
          </p:sp>
        </p:grpSp>
        <p:cxnSp>
          <p:nvCxnSpPr>
            <p:cNvPr id="41" name="AutoShape 20"/>
            <p:cNvCxnSpPr/>
            <p:nvPr/>
          </p:nvCxnSpPr>
          <p:spPr>
            <a:xfrm>
              <a:off x="5131093" y="1641297"/>
              <a:ext cx="520779" cy="4238"/>
            </a:xfrm>
            <a:prstGeom prst="bentConnector3">
              <a:avLst>
                <a:gd name="adj1" fmla="val 50000"/>
              </a:avLst>
            </a:prstGeom>
            <a:ln w="31750" cap="flat" cmpd="sng">
              <a:solidFill>
                <a:srgbClr val="008080"/>
              </a:solidFill>
              <a:prstDash val="solid"/>
              <a:miter/>
              <a:headEnd type="oval" w="sm" len="sm"/>
              <a:tailEnd type="triangle" w="med" len="lg"/>
            </a:ln>
          </p:spPr>
        </p:cxnSp>
      </p:grpSp>
      <p:sp>
        <p:nvSpPr>
          <p:cNvPr id="62" name="文本框 61"/>
          <p:cNvSpPr txBox="1"/>
          <p:nvPr/>
        </p:nvSpPr>
        <p:spPr>
          <a:xfrm>
            <a:off x="303684" y="1203232"/>
            <a:ext cx="1440160" cy="461665"/>
          </a:xfrm>
          <a:prstGeom prst="rect">
            <a:avLst/>
          </a:prstGeom>
          <a:noFill/>
        </p:spPr>
        <p:txBody>
          <a:bodyPr wrap="square" rtlCol="0">
            <a:spAutoFit/>
          </a:bodyPr>
          <a:lstStyle/>
          <a:p>
            <a:r>
              <a:rPr lang="zh-CN" altLang="en-US" sz="2400" b="1" dirty="0"/>
              <a:t>插入后</a:t>
            </a:r>
          </a:p>
        </p:txBody>
      </p:sp>
      <p:sp>
        <p:nvSpPr>
          <p:cNvPr id="63" name="文本框 62"/>
          <p:cNvSpPr txBox="1"/>
          <p:nvPr/>
        </p:nvSpPr>
        <p:spPr>
          <a:xfrm>
            <a:off x="294928" y="2571384"/>
            <a:ext cx="1440160" cy="461665"/>
          </a:xfrm>
          <a:prstGeom prst="rect">
            <a:avLst/>
          </a:prstGeom>
          <a:noFill/>
        </p:spPr>
        <p:txBody>
          <a:bodyPr wrap="square" rtlCol="0">
            <a:spAutoFit/>
          </a:bodyPr>
          <a:lstStyle/>
          <a:p>
            <a:r>
              <a:rPr lang="zh-CN" altLang="en-US" sz="2400" b="1" dirty="0"/>
              <a:t>插入前</a:t>
            </a:r>
          </a:p>
        </p:txBody>
      </p:sp>
      <p:sp>
        <p:nvSpPr>
          <p:cNvPr id="5" name="灯片编号占位符 4"/>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0" grpId="0" animBg="1"/>
      <p:bldP spid="1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链表插入</a:t>
            </a:r>
          </a:p>
        </p:txBody>
      </p:sp>
      <p:sp>
        <p:nvSpPr>
          <p:cNvPr id="3" name="内容占位符 2"/>
          <p:cNvSpPr>
            <a:spLocks noGrp="1"/>
          </p:cNvSpPr>
          <p:nvPr>
            <p:ph idx="1"/>
          </p:nvPr>
        </p:nvSpPr>
        <p:spPr/>
        <p:txBody>
          <a:bodyPr/>
          <a:lstStyle/>
          <a:p>
            <a:r>
              <a:rPr lang="zh-CN" altLang="en-US" dirty="0">
                <a:solidFill>
                  <a:srgbClr val="FF0000"/>
                </a:solidFill>
              </a:rPr>
              <a:t>怎样找到第</a:t>
            </a:r>
            <a:r>
              <a:rPr lang="en-US" altLang="zh-CN" dirty="0">
                <a:solidFill>
                  <a:srgbClr val="FF0000"/>
                </a:solidFill>
              </a:rPr>
              <a:t>i-1</a:t>
            </a:r>
            <a:r>
              <a:rPr lang="zh-CN" altLang="en-US" dirty="0">
                <a:solidFill>
                  <a:srgbClr val="FF0000"/>
                </a:solidFill>
              </a:rPr>
              <a:t>个结点的地址？</a:t>
            </a:r>
            <a:endParaRPr lang="en-US" altLang="zh-CN" dirty="0">
              <a:solidFill>
                <a:srgbClr val="FF0000"/>
              </a:solidFill>
            </a:endParaRPr>
          </a:p>
        </p:txBody>
      </p:sp>
      <p:graphicFrame>
        <p:nvGraphicFramePr>
          <p:cNvPr id="4" name="Object 11"/>
          <p:cNvGraphicFramePr>
            <a:graphicFrameLocks noChangeAspect="1"/>
          </p:cNvGraphicFramePr>
          <p:nvPr>
            <p:extLst>
              <p:ext uri="{D42A27DB-BD31-4B8C-83A1-F6EECF244321}">
                <p14:modId xmlns:p14="http://schemas.microsoft.com/office/powerpoint/2010/main" val="3244156163"/>
              </p:ext>
            </p:extLst>
          </p:nvPr>
        </p:nvGraphicFramePr>
        <p:xfrm>
          <a:off x="1243329" y="1916832"/>
          <a:ext cx="6632575" cy="747395"/>
        </p:xfrm>
        <a:graphic>
          <a:graphicData uri="http://schemas.openxmlformats.org/presentationml/2006/ole">
            <mc:AlternateContent xmlns:mc="http://schemas.openxmlformats.org/markup-compatibility/2006">
              <mc:Choice xmlns:v="urn:schemas-microsoft-com:vml" Requires="v">
                <p:oleObj spid="_x0000_s17456" name="VISIO" r:id="rId3" imgW="5256276" imgH="560832" progId="">
                  <p:embed/>
                </p:oleObj>
              </mc:Choice>
              <mc:Fallback>
                <p:oleObj name="VISIO" r:id="rId3" imgW="5256276" imgH="560832" progId="">
                  <p:embed/>
                  <p:pic>
                    <p:nvPicPr>
                      <p:cNvPr id="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3329" y="1916832"/>
                        <a:ext cx="6632575" cy="747395"/>
                      </a:xfrm>
                      <a:prstGeom prst="rect">
                        <a:avLst/>
                      </a:prstGeom>
                      <a:solidFill>
                        <a:srgbClr val="00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文本框 5"/>
          <p:cNvSpPr txBox="1"/>
          <p:nvPr/>
        </p:nvSpPr>
        <p:spPr>
          <a:xfrm>
            <a:off x="605155" y="2708920"/>
            <a:ext cx="7908925" cy="3564053"/>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Lnode</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FindPrior_L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LinkList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&amp;L,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p=L; j=0;  //</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查找的初始化：</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p=L-&gt;next;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=1;</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while(p &amp;&amp; j&lt;i-1)  { </a:t>
            </a:r>
            <a:r>
              <a:rPr lang="zh-CN" altLang="en-US" sz="2400" dirty="0">
                <a:latin typeface="Cambria Math" panose="02040503050406030204" pitchFamily="18" charset="0"/>
                <a:ea typeface="Cambria Math" panose="02040503050406030204" pitchFamily="18" charset="0"/>
                <a:cs typeface="Arial Unicode MS" panose="020B0604020202020204" charset="-122"/>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p=p-&gt;next;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j++</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if(!p || j&gt;i-1) return NULL;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p</a:t>
            </a:r>
            <a:r>
              <a:rPr lang="zh-CN" altLang="en-US"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FindPrior_L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7" name="Text Box 3"/>
          <p:cNvSpPr txBox="1"/>
          <p:nvPr/>
        </p:nvSpPr>
        <p:spPr>
          <a:xfrm>
            <a:off x="5292080" y="5670961"/>
            <a:ext cx="2319866"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b="1" dirty="0">
                <a:ea typeface="隶书" panose="02010509060101010101" pitchFamily="49" charset="-122"/>
              </a:rPr>
              <a:t>算法的时间复杂度</a:t>
            </a:r>
            <a:r>
              <a:rPr lang="en-US" altLang="zh-CN" sz="2000" dirty="0">
                <a:ea typeface="宋体" panose="02010600030101010101" pitchFamily="2" charset="-122"/>
              </a:rPr>
              <a:t>:</a:t>
            </a:r>
          </a:p>
        </p:txBody>
      </p:sp>
      <p:sp>
        <p:nvSpPr>
          <p:cNvPr id="8" name="Text Box 4"/>
          <p:cNvSpPr txBox="1"/>
          <p:nvPr/>
        </p:nvSpPr>
        <p:spPr>
          <a:xfrm>
            <a:off x="7668344" y="5693186"/>
            <a:ext cx="710451"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000" b="1" dirty="0">
                <a:ea typeface="宋体" panose="02010600030101010101" pitchFamily="2" charset="-122"/>
              </a:rPr>
              <a:t>O(n)</a:t>
            </a:r>
            <a:endParaRPr lang="en-US" altLang="zh-CN" sz="2000" dirty="0">
              <a:ea typeface="宋体" panose="02010600030101010101" pitchFamily="2" charset="-122"/>
            </a:endParaRPr>
          </a:p>
        </p:txBody>
      </p:sp>
      <p:sp>
        <p:nvSpPr>
          <p:cNvPr id="5" name="灯片编号占位符 4"/>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22770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链表插入</a:t>
            </a:r>
          </a:p>
        </p:txBody>
      </p:sp>
      <p:sp>
        <p:nvSpPr>
          <p:cNvPr id="4" name="文本框 3"/>
          <p:cNvSpPr txBox="1"/>
          <p:nvPr/>
        </p:nvSpPr>
        <p:spPr>
          <a:xfrm>
            <a:off x="605155" y="1437973"/>
            <a:ext cx="7908925" cy="4007251"/>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Status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ListInsert_L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LinkList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&amp;L,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FindPrior</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(L,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if(!p) return ERROR;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s = new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LNode</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s-&gt;data = e;</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s-&gt;next = p-&gt;next;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p-&gt;next = s;</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OK;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ListInsert_L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6" name="Text Box 3"/>
          <p:cNvSpPr txBox="1"/>
          <p:nvPr/>
        </p:nvSpPr>
        <p:spPr>
          <a:xfrm>
            <a:off x="5076056" y="2924944"/>
            <a:ext cx="2319866"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b="1" dirty="0">
                <a:ea typeface="隶书" panose="02010509060101010101" pitchFamily="49" charset="-122"/>
              </a:rPr>
              <a:t>算法的时间复杂度</a:t>
            </a:r>
            <a:r>
              <a:rPr lang="en-US" altLang="zh-CN" sz="2000" dirty="0">
                <a:ea typeface="宋体" panose="02010600030101010101" pitchFamily="2" charset="-122"/>
              </a:rPr>
              <a:t>:</a:t>
            </a:r>
          </a:p>
        </p:txBody>
      </p:sp>
      <p:sp>
        <p:nvSpPr>
          <p:cNvPr id="7" name="Text Box 4"/>
          <p:cNvSpPr txBox="1"/>
          <p:nvPr/>
        </p:nvSpPr>
        <p:spPr>
          <a:xfrm>
            <a:off x="7452320" y="2947169"/>
            <a:ext cx="710451"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000" b="1" dirty="0">
                <a:ea typeface="宋体" panose="02010600030101010101" pitchFamily="2" charset="-122"/>
              </a:rPr>
              <a:t>O(n)</a:t>
            </a:r>
            <a:endParaRPr lang="en-US" altLang="zh-CN" sz="2000" dirty="0">
              <a:ea typeface="宋体" panose="02010600030101010101" pitchFamily="2" charset="-122"/>
            </a:endParaRP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406384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left)">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链表删除</a:t>
            </a:r>
          </a:p>
        </p:txBody>
      </p:sp>
      <p:sp>
        <p:nvSpPr>
          <p:cNvPr id="5" name="Rectangle 7"/>
          <p:cNvSpPr>
            <a:spLocks noChangeArrowheads="1"/>
          </p:cNvSpPr>
          <p:nvPr/>
        </p:nvSpPr>
        <p:spPr bwMode="auto">
          <a:xfrm>
            <a:off x="1115616" y="4149080"/>
            <a:ext cx="7416824"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dirty="0">
                <a:latin typeface="+mn-ea"/>
                <a:ea typeface="+mn-ea"/>
                <a:cs typeface="楷体_GB2312"/>
              </a:rPr>
              <a:t>（</a:t>
            </a:r>
            <a:r>
              <a:rPr lang="en-US" altLang="zh-CN" dirty="0">
                <a:latin typeface="+mn-ea"/>
                <a:ea typeface="+mn-ea"/>
                <a:cs typeface="楷体_GB2312"/>
              </a:rPr>
              <a:t>1</a:t>
            </a:r>
            <a:r>
              <a:rPr lang="zh-CN" altLang="en-US" dirty="0">
                <a:latin typeface="+mn-ea"/>
                <a:ea typeface="+mn-ea"/>
                <a:cs typeface="楷体_GB2312"/>
              </a:rPr>
              <a:t>）找到</a:t>
            </a:r>
            <a:r>
              <a:rPr lang="en-US" altLang="zh-CN" dirty="0">
                <a:latin typeface="+mn-ea"/>
                <a:ea typeface="+mn-ea"/>
                <a:cs typeface="楷体_GB2312"/>
              </a:rPr>
              <a:t>a</a:t>
            </a:r>
            <a:r>
              <a:rPr lang="en-US" altLang="zh-CN" baseline="-30000" dirty="0">
                <a:latin typeface="+mn-ea"/>
                <a:ea typeface="+mn-ea"/>
                <a:cs typeface="楷体_GB2312"/>
              </a:rPr>
              <a:t>i-1</a:t>
            </a:r>
            <a:r>
              <a:rPr lang="zh-CN" altLang="en-US" dirty="0">
                <a:latin typeface="+mn-ea"/>
                <a:ea typeface="+mn-ea"/>
                <a:cs typeface="楷体_GB2312"/>
              </a:rPr>
              <a:t>存储位置</a:t>
            </a:r>
            <a:r>
              <a:rPr lang="en-US" altLang="zh-CN" dirty="0">
                <a:latin typeface="+mn-ea"/>
                <a:ea typeface="+mn-ea"/>
                <a:cs typeface="楷体_GB2312"/>
              </a:rPr>
              <a:t>p</a:t>
            </a:r>
          </a:p>
          <a:p>
            <a:pPr>
              <a:spcBef>
                <a:spcPct val="20000"/>
              </a:spcBef>
            </a:pPr>
            <a:r>
              <a:rPr lang="zh-CN" altLang="en-US" dirty="0">
                <a:latin typeface="+mn-ea"/>
                <a:ea typeface="+mn-ea"/>
                <a:cs typeface="楷体_GB2312"/>
              </a:rPr>
              <a:t>（</a:t>
            </a:r>
            <a:r>
              <a:rPr lang="en-US" altLang="zh-CN" dirty="0">
                <a:latin typeface="+mn-ea"/>
                <a:ea typeface="+mn-ea"/>
                <a:cs typeface="楷体_GB2312"/>
              </a:rPr>
              <a:t>2</a:t>
            </a:r>
            <a:r>
              <a:rPr lang="zh-CN" altLang="en-US" dirty="0">
                <a:latin typeface="+mn-ea"/>
                <a:ea typeface="+mn-ea"/>
                <a:cs typeface="楷体_GB2312"/>
              </a:rPr>
              <a:t>）临时保存结点</a:t>
            </a:r>
            <a:r>
              <a:rPr lang="en-US" altLang="zh-CN" dirty="0" err="1">
                <a:latin typeface="+mn-ea"/>
                <a:ea typeface="+mn-ea"/>
                <a:cs typeface="楷体_GB2312"/>
              </a:rPr>
              <a:t>ai</a:t>
            </a:r>
            <a:r>
              <a:rPr lang="zh-CN" altLang="en-US" dirty="0">
                <a:latin typeface="+mn-ea"/>
                <a:ea typeface="+mn-ea"/>
                <a:cs typeface="楷体_GB2312"/>
              </a:rPr>
              <a:t>的地址在</a:t>
            </a:r>
            <a:r>
              <a:rPr lang="en-US" altLang="zh-CN" dirty="0">
                <a:latin typeface="+mn-ea"/>
                <a:ea typeface="+mn-ea"/>
                <a:cs typeface="楷体_GB2312"/>
              </a:rPr>
              <a:t>r</a:t>
            </a:r>
            <a:r>
              <a:rPr lang="zh-CN" altLang="en-US" dirty="0">
                <a:latin typeface="+mn-ea"/>
                <a:ea typeface="+mn-ea"/>
                <a:cs typeface="楷体_GB2312"/>
              </a:rPr>
              <a:t>中，以备释放</a:t>
            </a:r>
          </a:p>
          <a:p>
            <a:pPr>
              <a:spcBef>
                <a:spcPct val="20000"/>
              </a:spcBef>
            </a:pPr>
            <a:r>
              <a:rPr lang="zh-CN" altLang="en-US" dirty="0">
                <a:latin typeface="+mn-ea"/>
                <a:ea typeface="+mn-ea"/>
                <a:cs typeface="楷体_GB2312"/>
              </a:rPr>
              <a:t>（</a:t>
            </a:r>
            <a:r>
              <a:rPr lang="en-US" altLang="zh-CN" dirty="0">
                <a:latin typeface="+mn-ea"/>
                <a:ea typeface="+mn-ea"/>
                <a:cs typeface="楷体_GB2312"/>
              </a:rPr>
              <a:t>3</a:t>
            </a:r>
            <a:r>
              <a:rPr lang="zh-CN" altLang="en-US" dirty="0">
                <a:latin typeface="+mn-ea"/>
                <a:ea typeface="+mn-ea"/>
                <a:cs typeface="楷体_GB2312"/>
              </a:rPr>
              <a:t>）令</a:t>
            </a:r>
            <a:r>
              <a:rPr lang="en-US" altLang="zh-CN" dirty="0">
                <a:latin typeface="+mn-ea"/>
                <a:ea typeface="+mn-ea"/>
                <a:cs typeface="楷体_GB2312"/>
              </a:rPr>
              <a:t>p-&gt;next</a:t>
            </a:r>
            <a:r>
              <a:rPr lang="zh-CN" altLang="en-US" dirty="0">
                <a:latin typeface="+mn-ea"/>
                <a:ea typeface="+mn-ea"/>
                <a:cs typeface="楷体_GB2312"/>
              </a:rPr>
              <a:t>指向</a:t>
            </a:r>
            <a:r>
              <a:rPr lang="en-US" altLang="zh-CN" dirty="0" err="1">
                <a:latin typeface="+mn-ea"/>
                <a:ea typeface="+mn-ea"/>
                <a:cs typeface="楷体_GB2312"/>
              </a:rPr>
              <a:t>a</a:t>
            </a:r>
            <a:r>
              <a:rPr lang="en-US" altLang="zh-CN" baseline="-25000" dirty="0" err="1">
                <a:latin typeface="+mn-ea"/>
                <a:ea typeface="+mn-ea"/>
                <a:cs typeface="楷体_GB2312"/>
              </a:rPr>
              <a:t>i</a:t>
            </a:r>
            <a:r>
              <a:rPr lang="zh-CN" altLang="en-US" dirty="0">
                <a:latin typeface="+mn-ea"/>
                <a:ea typeface="+mn-ea"/>
                <a:cs typeface="楷体_GB2312"/>
              </a:rPr>
              <a:t>的直接后继结点</a:t>
            </a:r>
          </a:p>
          <a:p>
            <a:pPr>
              <a:spcBef>
                <a:spcPct val="20000"/>
              </a:spcBef>
            </a:pPr>
            <a:r>
              <a:rPr lang="zh-CN" altLang="en-US" dirty="0">
                <a:latin typeface="+mn-ea"/>
                <a:ea typeface="+mn-ea"/>
                <a:cs typeface="楷体_GB2312"/>
              </a:rPr>
              <a:t>（</a:t>
            </a:r>
            <a:r>
              <a:rPr lang="en-US" altLang="zh-CN" dirty="0">
                <a:latin typeface="+mn-ea"/>
                <a:ea typeface="+mn-ea"/>
                <a:cs typeface="楷体_GB2312"/>
              </a:rPr>
              <a:t>4</a:t>
            </a:r>
            <a:r>
              <a:rPr lang="zh-CN" altLang="en-US" dirty="0">
                <a:latin typeface="+mn-ea"/>
                <a:ea typeface="+mn-ea"/>
                <a:cs typeface="楷体_GB2312"/>
              </a:rPr>
              <a:t>）释放</a:t>
            </a:r>
            <a:r>
              <a:rPr lang="en-US" altLang="zh-CN" dirty="0" err="1">
                <a:latin typeface="+mn-ea"/>
                <a:ea typeface="+mn-ea"/>
                <a:cs typeface="楷体_GB2312"/>
              </a:rPr>
              <a:t>a</a:t>
            </a:r>
            <a:r>
              <a:rPr lang="en-US" altLang="zh-CN" baseline="-25000" dirty="0" err="1">
                <a:latin typeface="+mn-ea"/>
                <a:ea typeface="+mn-ea"/>
                <a:cs typeface="楷体_GB2312"/>
              </a:rPr>
              <a:t>i</a:t>
            </a:r>
            <a:r>
              <a:rPr lang="zh-CN" altLang="en-US" dirty="0">
                <a:latin typeface="+mn-ea"/>
                <a:ea typeface="+mn-ea"/>
                <a:cs typeface="楷体_GB2312"/>
              </a:rPr>
              <a:t>的空间</a:t>
            </a:r>
          </a:p>
        </p:txBody>
      </p:sp>
      <p:grpSp>
        <p:nvGrpSpPr>
          <p:cNvPr id="6" name="Group 4"/>
          <p:cNvGrpSpPr/>
          <p:nvPr/>
        </p:nvGrpSpPr>
        <p:grpSpPr>
          <a:xfrm>
            <a:off x="1742256" y="2722628"/>
            <a:ext cx="2057400" cy="609600"/>
            <a:chOff x="672" y="2976"/>
            <a:chExt cx="1296" cy="384"/>
          </a:xfrm>
        </p:grpSpPr>
        <p:sp>
          <p:nvSpPr>
            <p:cNvPr id="7" name="Rectangle 5"/>
            <p:cNvSpPr/>
            <p:nvPr/>
          </p:nvSpPr>
          <p:spPr>
            <a:xfrm>
              <a:off x="1296" y="2976"/>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8" name="Line 6"/>
            <p:cNvSpPr/>
            <p:nvPr/>
          </p:nvSpPr>
          <p:spPr>
            <a:xfrm>
              <a:off x="1776" y="2976"/>
              <a:ext cx="0" cy="384"/>
            </a:xfrm>
            <a:prstGeom prst="line">
              <a:avLst/>
            </a:prstGeom>
            <a:ln w="9525" cap="flat" cmpd="sng">
              <a:solidFill>
                <a:srgbClr val="000099"/>
              </a:solidFill>
              <a:prstDash val="solid"/>
              <a:headEnd type="none" w="med" len="med"/>
              <a:tailEnd type="none" w="med" len="med"/>
            </a:ln>
          </p:spPr>
        </p:sp>
        <p:sp>
          <p:nvSpPr>
            <p:cNvPr id="9" name="Line 7"/>
            <p:cNvSpPr/>
            <p:nvPr/>
          </p:nvSpPr>
          <p:spPr>
            <a:xfrm>
              <a:off x="672" y="3168"/>
              <a:ext cx="624" cy="0"/>
            </a:xfrm>
            <a:prstGeom prst="line">
              <a:avLst/>
            </a:prstGeom>
            <a:ln w="31750" cap="flat" cmpd="sng">
              <a:solidFill>
                <a:srgbClr val="0000FF"/>
              </a:solidFill>
              <a:prstDash val="solid"/>
              <a:headEnd type="oval" w="sm" len="sm"/>
              <a:tailEnd type="triangle" w="med" len="lg"/>
            </a:ln>
          </p:spPr>
        </p:sp>
      </p:grpSp>
      <p:grpSp>
        <p:nvGrpSpPr>
          <p:cNvPr id="10" name="Group 8"/>
          <p:cNvGrpSpPr/>
          <p:nvPr/>
        </p:nvGrpSpPr>
        <p:grpSpPr>
          <a:xfrm>
            <a:off x="3647256" y="2722628"/>
            <a:ext cx="2133600" cy="609600"/>
            <a:chOff x="1872" y="2976"/>
            <a:chExt cx="1344" cy="384"/>
          </a:xfrm>
        </p:grpSpPr>
        <p:sp>
          <p:nvSpPr>
            <p:cNvPr id="11" name="Rectangle 9"/>
            <p:cNvSpPr/>
            <p:nvPr/>
          </p:nvSpPr>
          <p:spPr>
            <a:xfrm>
              <a:off x="2544" y="2976"/>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a:t>
              </a:r>
              <a:endParaRPr lang="en-US" altLang="zh-CN" sz="3600" dirty="0">
                <a:ea typeface="宋体" panose="02010600030101010101" pitchFamily="2" charset="-122"/>
              </a:endParaRPr>
            </a:p>
          </p:txBody>
        </p:sp>
        <p:sp>
          <p:nvSpPr>
            <p:cNvPr id="12" name="Line 10"/>
            <p:cNvSpPr/>
            <p:nvPr/>
          </p:nvSpPr>
          <p:spPr>
            <a:xfrm>
              <a:off x="3024" y="2976"/>
              <a:ext cx="0" cy="384"/>
            </a:xfrm>
            <a:prstGeom prst="line">
              <a:avLst/>
            </a:prstGeom>
            <a:ln w="9525" cap="flat" cmpd="sng">
              <a:solidFill>
                <a:srgbClr val="000099"/>
              </a:solidFill>
              <a:prstDash val="solid"/>
              <a:headEnd type="none" w="med" len="med"/>
              <a:tailEnd type="none" w="med" len="med"/>
            </a:ln>
          </p:spPr>
        </p:sp>
        <p:sp>
          <p:nvSpPr>
            <p:cNvPr id="13" name="Line 11"/>
            <p:cNvSpPr/>
            <p:nvPr/>
          </p:nvSpPr>
          <p:spPr>
            <a:xfrm>
              <a:off x="1872" y="3168"/>
              <a:ext cx="672" cy="0"/>
            </a:xfrm>
            <a:prstGeom prst="line">
              <a:avLst/>
            </a:prstGeom>
            <a:ln w="31750" cap="flat" cmpd="sng">
              <a:solidFill>
                <a:srgbClr val="0000FF"/>
              </a:solidFill>
              <a:prstDash val="solid"/>
              <a:headEnd type="oval" w="sm" len="sm"/>
              <a:tailEnd type="triangle" w="med" len="lg"/>
            </a:ln>
          </p:spPr>
        </p:sp>
      </p:grpSp>
      <p:grpSp>
        <p:nvGrpSpPr>
          <p:cNvPr id="14" name="Group 12"/>
          <p:cNvGrpSpPr/>
          <p:nvPr/>
        </p:nvGrpSpPr>
        <p:grpSpPr>
          <a:xfrm>
            <a:off x="5628456" y="2722628"/>
            <a:ext cx="3048000" cy="609600"/>
            <a:chOff x="3120" y="2976"/>
            <a:chExt cx="1920" cy="384"/>
          </a:xfrm>
        </p:grpSpPr>
        <p:sp>
          <p:nvSpPr>
            <p:cNvPr id="15" name="Rectangle 13"/>
            <p:cNvSpPr/>
            <p:nvPr/>
          </p:nvSpPr>
          <p:spPr>
            <a:xfrm>
              <a:off x="3792" y="2976"/>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16" name="Line 14"/>
            <p:cNvSpPr/>
            <p:nvPr/>
          </p:nvSpPr>
          <p:spPr>
            <a:xfrm>
              <a:off x="4272" y="2976"/>
              <a:ext cx="0" cy="384"/>
            </a:xfrm>
            <a:prstGeom prst="line">
              <a:avLst/>
            </a:prstGeom>
            <a:ln w="9525" cap="flat" cmpd="sng">
              <a:solidFill>
                <a:srgbClr val="000099"/>
              </a:solidFill>
              <a:prstDash val="solid"/>
              <a:headEnd type="none" w="med" len="med"/>
              <a:tailEnd type="none" w="med" len="med"/>
            </a:ln>
          </p:spPr>
        </p:sp>
        <p:sp>
          <p:nvSpPr>
            <p:cNvPr id="17" name="Line 15"/>
            <p:cNvSpPr/>
            <p:nvPr/>
          </p:nvSpPr>
          <p:spPr>
            <a:xfrm>
              <a:off x="3120" y="3168"/>
              <a:ext cx="672" cy="0"/>
            </a:xfrm>
            <a:prstGeom prst="line">
              <a:avLst/>
            </a:prstGeom>
            <a:ln w="31750" cap="flat" cmpd="sng">
              <a:solidFill>
                <a:srgbClr val="0000FF"/>
              </a:solidFill>
              <a:prstDash val="solid"/>
              <a:headEnd type="oval" w="sm" len="sm"/>
              <a:tailEnd type="triangle" w="med" len="lg"/>
            </a:ln>
          </p:spPr>
        </p:sp>
        <p:sp>
          <p:nvSpPr>
            <p:cNvPr id="18" name="Line 16"/>
            <p:cNvSpPr/>
            <p:nvPr/>
          </p:nvSpPr>
          <p:spPr>
            <a:xfrm>
              <a:off x="4368" y="3168"/>
              <a:ext cx="672" cy="0"/>
            </a:xfrm>
            <a:prstGeom prst="line">
              <a:avLst/>
            </a:prstGeom>
            <a:ln w="31750" cap="flat" cmpd="sng">
              <a:solidFill>
                <a:srgbClr val="0000FF"/>
              </a:solidFill>
              <a:prstDash val="solid"/>
              <a:headEnd type="oval" w="sm" len="sm"/>
              <a:tailEnd type="triangle" w="med" len="lg"/>
            </a:ln>
          </p:spPr>
        </p:sp>
      </p:grpSp>
      <p:sp useBgFill="1">
        <p:nvSpPr>
          <p:cNvPr id="19" name="Rectangle 17"/>
          <p:cNvSpPr/>
          <p:nvPr/>
        </p:nvSpPr>
        <p:spPr>
          <a:xfrm>
            <a:off x="3571056" y="2951228"/>
            <a:ext cx="1143000" cy="2286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grpSp>
        <p:nvGrpSpPr>
          <p:cNvPr id="20" name="Group 18"/>
          <p:cNvGrpSpPr/>
          <p:nvPr/>
        </p:nvGrpSpPr>
        <p:grpSpPr>
          <a:xfrm>
            <a:off x="2732856" y="2722628"/>
            <a:ext cx="1066800" cy="609600"/>
            <a:chOff x="1296" y="2976"/>
            <a:chExt cx="672" cy="384"/>
          </a:xfrm>
        </p:grpSpPr>
        <p:sp>
          <p:nvSpPr>
            <p:cNvPr id="21" name="Rectangle 19"/>
            <p:cNvSpPr/>
            <p:nvPr/>
          </p:nvSpPr>
          <p:spPr>
            <a:xfrm>
              <a:off x="1296" y="2976"/>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22" name="Line 20"/>
            <p:cNvSpPr/>
            <p:nvPr/>
          </p:nvSpPr>
          <p:spPr>
            <a:xfrm>
              <a:off x="1776" y="2976"/>
              <a:ext cx="0" cy="384"/>
            </a:xfrm>
            <a:prstGeom prst="line">
              <a:avLst/>
            </a:prstGeom>
            <a:ln w="9525" cap="flat" cmpd="sng">
              <a:solidFill>
                <a:srgbClr val="000099"/>
              </a:solidFill>
              <a:prstDash val="solid"/>
              <a:headEnd type="none" w="med" len="med"/>
              <a:tailEnd type="none" w="med" len="med"/>
            </a:ln>
          </p:spPr>
        </p:sp>
      </p:grpSp>
      <p:cxnSp>
        <p:nvCxnSpPr>
          <p:cNvPr id="23" name="AutoShape 21"/>
          <p:cNvCxnSpPr>
            <a:endCxn id="15" idx="2"/>
          </p:cNvCxnSpPr>
          <p:nvPr/>
        </p:nvCxnSpPr>
        <p:spPr>
          <a:xfrm>
            <a:off x="3647256" y="3044130"/>
            <a:ext cx="3581400" cy="288098"/>
          </a:xfrm>
          <a:prstGeom prst="bentConnector4">
            <a:avLst>
              <a:gd name="adj1" fmla="val 13678"/>
              <a:gd name="adj2" fmla="val 322930"/>
            </a:avLst>
          </a:prstGeom>
          <a:ln w="31750" cap="flat" cmpd="sng">
            <a:solidFill>
              <a:srgbClr val="008080"/>
            </a:solidFill>
            <a:prstDash val="solid"/>
            <a:miter/>
            <a:headEnd type="oval" w="sm" len="med"/>
            <a:tailEnd type="triangle" w="med" len="lg"/>
          </a:ln>
        </p:spPr>
      </p:cxnSp>
      <p:sp useBgFill="1">
        <p:nvSpPr>
          <p:cNvPr id="24" name="Rectangle 22"/>
          <p:cNvSpPr/>
          <p:nvPr/>
        </p:nvSpPr>
        <p:spPr>
          <a:xfrm>
            <a:off x="4639044" y="2594992"/>
            <a:ext cx="2057400" cy="7620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grpSp>
        <p:nvGrpSpPr>
          <p:cNvPr id="25" name="组合 24"/>
          <p:cNvGrpSpPr/>
          <p:nvPr/>
        </p:nvGrpSpPr>
        <p:grpSpPr>
          <a:xfrm>
            <a:off x="3994174" y="2176210"/>
            <a:ext cx="1481455" cy="521970"/>
            <a:chOff x="4149" y="8649"/>
            <a:chExt cx="2333" cy="822"/>
          </a:xfrm>
        </p:grpSpPr>
        <p:sp>
          <p:nvSpPr>
            <p:cNvPr id="26" name="Line 5"/>
            <p:cNvSpPr/>
            <p:nvPr/>
          </p:nvSpPr>
          <p:spPr>
            <a:xfrm>
              <a:off x="5057" y="9146"/>
              <a:ext cx="1425" cy="325"/>
            </a:xfrm>
            <a:prstGeom prst="line">
              <a:avLst/>
            </a:prstGeom>
            <a:ln w="31750" cap="flat" cmpd="sng">
              <a:solidFill>
                <a:srgbClr val="000080"/>
              </a:solidFill>
              <a:prstDash val="solid"/>
              <a:headEnd type="oval" w="sm" len="sm"/>
              <a:tailEnd type="triangle" w="med" len="lg"/>
            </a:ln>
          </p:spPr>
        </p:sp>
        <p:sp>
          <p:nvSpPr>
            <p:cNvPr id="27" name="文本框 26"/>
            <p:cNvSpPr txBox="1"/>
            <p:nvPr/>
          </p:nvSpPr>
          <p:spPr>
            <a:xfrm>
              <a:off x="4149" y="8649"/>
              <a:ext cx="783" cy="822"/>
            </a:xfrm>
            <a:prstGeom prst="rect">
              <a:avLst/>
            </a:prstGeom>
            <a:noFill/>
          </p:spPr>
          <p:txBody>
            <a:bodyPr wrap="square" rtlCol="0">
              <a:spAutoFit/>
            </a:bodyPr>
            <a:lstStyle/>
            <a:p>
              <a:pPr algn="r"/>
              <a:r>
                <a:rPr lang="en-US" altLang="zh-CN" sz="2800"/>
                <a:t>r</a:t>
              </a:r>
            </a:p>
          </p:txBody>
        </p:sp>
      </p:grpSp>
      <p:grpSp>
        <p:nvGrpSpPr>
          <p:cNvPr id="28" name="组合 27"/>
          <p:cNvGrpSpPr/>
          <p:nvPr/>
        </p:nvGrpSpPr>
        <p:grpSpPr>
          <a:xfrm>
            <a:off x="1814264" y="2176210"/>
            <a:ext cx="1481455" cy="521970"/>
            <a:chOff x="4149" y="8649"/>
            <a:chExt cx="2333" cy="822"/>
          </a:xfrm>
        </p:grpSpPr>
        <p:sp>
          <p:nvSpPr>
            <p:cNvPr id="29" name="Line 5"/>
            <p:cNvSpPr/>
            <p:nvPr/>
          </p:nvSpPr>
          <p:spPr>
            <a:xfrm>
              <a:off x="5057" y="9146"/>
              <a:ext cx="1425" cy="325"/>
            </a:xfrm>
            <a:prstGeom prst="line">
              <a:avLst/>
            </a:prstGeom>
            <a:ln w="31750" cap="flat" cmpd="sng">
              <a:solidFill>
                <a:srgbClr val="000080"/>
              </a:solidFill>
              <a:prstDash val="solid"/>
              <a:headEnd type="oval" w="sm" len="sm"/>
              <a:tailEnd type="triangle" w="med" len="lg"/>
            </a:ln>
          </p:spPr>
        </p:sp>
        <p:sp>
          <p:nvSpPr>
            <p:cNvPr id="30" name="文本框 29"/>
            <p:cNvSpPr txBox="1"/>
            <p:nvPr/>
          </p:nvSpPr>
          <p:spPr>
            <a:xfrm>
              <a:off x="4149" y="8649"/>
              <a:ext cx="783" cy="822"/>
            </a:xfrm>
            <a:prstGeom prst="rect">
              <a:avLst/>
            </a:prstGeom>
            <a:noFill/>
          </p:spPr>
          <p:txBody>
            <a:bodyPr wrap="square" rtlCol="0">
              <a:spAutoFit/>
            </a:bodyPr>
            <a:lstStyle/>
            <a:p>
              <a:pPr algn="r"/>
              <a:r>
                <a:rPr lang="en-US" altLang="zh-CN" sz="2800" dirty="0"/>
                <a:t>p</a:t>
              </a:r>
            </a:p>
          </p:txBody>
        </p:sp>
      </p:grpSp>
      <p:grpSp>
        <p:nvGrpSpPr>
          <p:cNvPr id="34" name="组合 33"/>
          <p:cNvGrpSpPr/>
          <p:nvPr/>
        </p:nvGrpSpPr>
        <p:grpSpPr>
          <a:xfrm>
            <a:off x="2195736" y="1340768"/>
            <a:ext cx="4896544" cy="609600"/>
            <a:chOff x="1259632" y="3865563"/>
            <a:chExt cx="4896544" cy="609600"/>
          </a:xfrm>
        </p:grpSpPr>
        <p:grpSp>
          <p:nvGrpSpPr>
            <p:cNvPr id="35" name="Group 4"/>
            <p:cNvGrpSpPr/>
            <p:nvPr/>
          </p:nvGrpSpPr>
          <p:grpSpPr>
            <a:xfrm>
              <a:off x="1259632" y="3865563"/>
              <a:ext cx="2057400" cy="609600"/>
              <a:chOff x="672" y="2976"/>
              <a:chExt cx="1296" cy="384"/>
            </a:xfrm>
          </p:grpSpPr>
          <p:sp>
            <p:nvSpPr>
              <p:cNvPr id="44" name="Rectangle 5"/>
              <p:cNvSpPr/>
              <p:nvPr/>
            </p:nvSpPr>
            <p:spPr>
              <a:xfrm>
                <a:off x="1296" y="2976"/>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45" name="Line 6"/>
              <p:cNvSpPr/>
              <p:nvPr/>
            </p:nvSpPr>
            <p:spPr>
              <a:xfrm>
                <a:off x="1776" y="2976"/>
                <a:ext cx="0" cy="384"/>
              </a:xfrm>
              <a:prstGeom prst="line">
                <a:avLst/>
              </a:prstGeom>
              <a:ln w="9525" cap="flat" cmpd="sng">
                <a:solidFill>
                  <a:srgbClr val="000099"/>
                </a:solidFill>
                <a:prstDash val="solid"/>
                <a:headEnd type="none" w="med" len="med"/>
                <a:tailEnd type="none" w="med" len="med"/>
              </a:ln>
            </p:spPr>
          </p:sp>
          <p:sp>
            <p:nvSpPr>
              <p:cNvPr id="46" name="Line 7"/>
              <p:cNvSpPr/>
              <p:nvPr/>
            </p:nvSpPr>
            <p:spPr>
              <a:xfrm>
                <a:off x="672" y="3168"/>
                <a:ext cx="624" cy="0"/>
              </a:xfrm>
              <a:prstGeom prst="line">
                <a:avLst/>
              </a:prstGeom>
              <a:ln w="31750" cap="flat" cmpd="sng">
                <a:solidFill>
                  <a:srgbClr val="0000FF"/>
                </a:solidFill>
                <a:prstDash val="solid"/>
                <a:headEnd type="oval" w="sm" len="sm"/>
                <a:tailEnd type="triangle" w="med" len="lg"/>
              </a:ln>
            </p:spPr>
          </p:sp>
        </p:grpSp>
        <p:grpSp>
          <p:nvGrpSpPr>
            <p:cNvPr id="36" name="Group 12"/>
            <p:cNvGrpSpPr/>
            <p:nvPr/>
          </p:nvGrpSpPr>
          <p:grpSpPr>
            <a:xfrm>
              <a:off x="3108176" y="3865563"/>
              <a:ext cx="3048000" cy="609600"/>
              <a:chOff x="3120" y="2976"/>
              <a:chExt cx="1920" cy="384"/>
            </a:xfrm>
          </p:grpSpPr>
          <p:sp>
            <p:nvSpPr>
              <p:cNvPr id="40" name="Rectangle 13"/>
              <p:cNvSpPr/>
              <p:nvPr/>
            </p:nvSpPr>
            <p:spPr>
              <a:xfrm>
                <a:off x="3792" y="2976"/>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41" name="Line 14"/>
              <p:cNvSpPr/>
              <p:nvPr/>
            </p:nvSpPr>
            <p:spPr>
              <a:xfrm>
                <a:off x="4272" y="2976"/>
                <a:ext cx="0" cy="384"/>
              </a:xfrm>
              <a:prstGeom prst="line">
                <a:avLst/>
              </a:prstGeom>
              <a:ln w="9525" cap="flat" cmpd="sng">
                <a:solidFill>
                  <a:srgbClr val="000099"/>
                </a:solidFill>
                <a:prstDash val="solid"/>
                <a:headEnd type="none" w="med" len="med"/>
                <a:tailEnd type="none" w="med" len="med"/>
              </a:ln>
            </p:spPr>
          </p:sp>
          <p:sp>
            <p:nvSpPr>
              <p:cNvPr id="42" name="Line 15"/>
              <p:cNvSpPr/>
              <p:nvPr/>
            </p:nvSpPr>
            <p:spPr>
              <a:xfrm>
                <a:off x="3120" y="3168"/>
                <a:ext cx="672" cy="0"/>
              </a:xfrm>
              <a:prstGeom prst="line">
                <a:avLst/>
              </a:prstGeom>
              <a:ln w="31750" cap="flat" cmpd="sng">
                <a:solidFill>
                  <a:srgbClr val="008000"/>
                </a:solidFill>
                <a:prstDash val="solid"/>
                <a:headEnd type="oval" w="sm" len="sm"/>
                <a:tailEnd type="triangle" w="med" len="lg"/>
              </a:ln>
            </p:spPr>
          </p:sp>
          <p:sp>
            <p:nvSpPr>
              <p:cNvPr id="43" name="Line 16"/>
              <p:cNvSpPr/>
              <p:nvPr/>
            </p:nvSpPr>
            <p:spPr>
              <a:xfrm>
                <a:off x="4368" y="3168"/>
                <a:ext cx="672" cy="0"/>
              </a:xfrm>
              <a:prstGeom prst="line">
                <a:avLst/>
              </a:prstGeom>
              <a:ln w="31750" cap="flat" cmpd="sng">
                <a:solidFill>
                  <a:srgbClr val="0000FF"/>
                </a:solidFill>
                <a:prstDash val="solid"/>
                <a:headEnd type="oval" w="sm" len="sm"/>
                <a:tailEnd type="triangle" w="med" len="lg"/>
              </a:ln>
            </p:spPr>
          </p:sp>
        </p:grpSp>
        <p:grpSp>
          <p:nvGrpSpPr>
            <p:cNvPr id="37" name="Group 18"/>
            <p:cNvGrpSpPr/>
            <p:nvPr/>
          </p:nvGrpSpPr>
          <p:grpSpPr>
            <a:xfrm>
              <a:off x="2250232" y="3865563"/>
              <a:ext cx="1066800" cy="609600"/>
              <a:chOff x="1296" y="2976"/>
              <a:chExt cx="672" cy="384"/>
            </a:xfrm>
          </p:grpSpPr>
          <p:sp>
            <p:nvSpPr>
              <p:cNvPr id="38" name="Rectangle 19"/>
              <p:cNvSpPr/>
              <p:nvPr/>
            </p:nvSpPr>
            <p:spPr>
              <a:xfrm>
                <a:off x="1296" y="2976"/>
                <a:ext cx="672" cy="384"/>
              </a:xfrm>
              <a:prstGeom prst="rect">
                <a:avLst/>
              </a:prstGeom>
              <a:solidFill>
                <a:srgbClr val="99CCFF">
                  <a:alpha val="50195"/>
                </a:srgbClr>
              </a:solidFill>
              <a:ln w="28575" cap="flat" cmpd="sng">
                <a:solidFill>
                  <a:srgbClr val="0000FF"/>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39" name="Line 20"/>
              <p:cNvSpPr/>
              <p:nvPr/>
            </p:nvSpPr>
            <p:spPr>
              <a:xfrm>
                <a:off x="1776" y="2976"/>
                <a:ext cx="0" cy="384"/>
              </a:xfrm>
              <a:prstGeom prst="line">
                <a:avLst/>
              </a:prstGeom>
              <a:ln w="9525" cap="flat" cmpd="sng">
                <a:solidFill>
                  <a:srgbClr val="000099"/>
                </a:solidFill>
                <a:prstDash val="solid"/>
                <a:headEnd type="none" w="med" len="med"/>
                <a:tailEnd type="none" w="med" len="med"/>
              </a:ln>
            </p:spPr>
          </p:sp>
        </p:grpSp>
      </p:grpSp>
      <p:sp>
        <p:nvSpPr>
          <p:cNvPr id="47" name="文本框 46"/>
          <p:cNvSpPr txBox="1"/>
          <p:nvPr/>
        </p:nvSpPr>
        <p:spPr>
          <a:xfrm>
            <a:off x="260276" y="1414735"/>
            <a:ext cx="1440160" cy="461665"/>
          </a:xfrm>
          <a:prstGeom prst="rect">
            <a:avLst/>
          </a:prstGeom>
          <a:noFill/>
        </p:spPr>
        <p:txBody>
          <a:bodyPr wrap="square" rtlCol="0">
            <a:spAutoFit/>
          </a:bodyPr>
          <a:lstStyle/>
          <a:p>
            <a:r>
              <a:rPr lang="zh-CN" altLang="en-US" sz="2400" b="1" dirty="0"/>
              <a:t>删除后</a:t>
            </a:r>
          </a:p>
        </p:txBody>
      </p:sp>
      <p:sp>
        <p:nvSpPr>
          <p:cNvPr id="48" name="文本框 47"/>
          <p:cNvSpPr txBox="1"/>
          <p:nvPr/>
        </p:nvSpPr>
        <p:spPr>
          <a:xfrm>
            <a:off x="251520" y="2823319"/>
            <a:ext cx="1440160" cy="461665"/>
          </a:xfrm>
          <a:prstGeom prst="rect">
            <a:avLst/>
          </a:prstGeom>
          <a:noFill/>
        </p:spPr>
        <p:txBody>
          <a:bodyPr wrap="square" rtlCol="0">
            <a:spAutoFit/>
          </a:bodyPr>
          <a:lstStyle/>
          <a:p>
            <a:r>
              <a:rPr lang="zh-CN" altLang="en-US" sz="2400" b="1" dirty="0"/>
              <a:t>删除前</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69</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链表删除</a:t>
            </a:r>
          </a:p>
        </p:txBody>
      </p:sp>
      <p:sp>
        <p:nvSpPr>
          <p:cNvPr id="4" name="文本框 3"/>
          <p:cNvSpPr txBox="1"/>
          <p:nvPr/>
        </p:nvSpPr>
        <p:spPr>
          <a:xfrm>
            <a:off x="605155" y="1737155"/>
            <a:ext cx="7908925" cy="3564053"/>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Status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ListDelete_L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LinkList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&amp;L,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FindPrior</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(L,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i</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if(!p||</a:t>
            </a:r>
            <a:r>
              <a:rPr lang="en-US" altLang="zh-CN" sz="2400" dirty="0">
                <a:solidFill>
                  <a:srgbClr val="FF0000"/>
                </a:solidFill>
                <a:latin typeface="Cambria Math" panose="02040503050406030204" pitchFamily="18" charset="0"/>
                <a:ea typeface="Cambria Math" panose="02040503050406030204" pitchFamily="18" charset="0"/>
                <a:cs typeface="Arial Unicode MS" panose="020B0604020202020204" charset="-122"/>
                <a:sym typeface="+mn-ea"/>
              </a:rPr>
              <a:t>!p-&gt;next</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ERROR;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 = p-&gt;next;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p-&gt;next = r-&gt;next;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delete r;</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return OK;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ListDelete_L</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6" name="Text Box 3"/>
          <p:cNvSpPr txBox="1"/>
          <p:nvPr/>
        </p:nvSpPr>
        <p:spPr>
          <a:xfrm>
            <a:off x="5076056" y="2924944"/>
            <a:ext cx="2319866"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b="1" dirty="0">
                <a:ea typeface="隶书" panose="02010509060101010101" pitchFamily="49" charset="-122"/>
              </a:rPr>
              <a:t>算法的时间复杂度</a:t>
            </a:r>
            <a:r>
              <a:rPr lang="en-US" altLang="zh-CN" sz="2000" dirty="0">
                <a:ea typeface="宋体" panose="02010600030101010101" pitchFamily="2" charset="-122"/>
              </a:rPr>
              <a:t>:</a:t>
            </a:r>
          </a:p>
        </p:txBody>
      </p:sp>
      <p:sp>
        <p:nvSpPr>
          <p:cNvPr id="7" name="Text Box 4"/>
          <p:cNvSpPr txBox="1"/>
          <p:nvPr/>
        </p:nvSpPr>
        <p:spPr>
          <a:xfrm>
            <a:off x="7452320" y="2947169"/>
            <a:ext cx="710451" cy="40011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000" b="1" dirty="0">
                <a:ea typeface="宋体" panose="02010600030101010101" pitchFamily="2" charset="-122"/>
              </a:rPr>
              <a:t>O(n)</a:t>
            </a:r>
            <a:endParaRPr lang="en-US" altLang="zh-CN" sz="2000" dirty="0">
              <a:ea typeface="宋体" panose="02010600030101010101" pitchFamily="2" charset="-122"/>
            </a:endParaRP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链表创建（尾插法）</a:t>
            </a:r>
          </a:p>
        </p:txBody>
      </p:sp>
      <p:sp>
        <p:nvSpPr>
          <p:cNvPr id="3" name="内容占位符 2"/>
          <p:cNvSpPr>
            <a:spLocks noGrp="1"/>
          </p:cNvSpPr>
          <p:nvPr>
            <p:ph idx="1"/>
          </p:nvPr>
        </p:nvSpPr>
        <p:spPr>
          <a:xfrm>
            <a:off x="611188" y="1052736"/>
            <a:ext cx="8207375" cy="2448272"/>
          </a:xfrm>
        </p:spPr>
        <p:txBody>
          <a:bodyPr/>
          <a:lstStyle/>
          <a:p>
            <a:r>
              <a:rPr lang="zh-CN" altLang="en-US" dirty="0"/>
              <a:t>从一个空表开始，重复读入数据：</a:t>
            </a:r>
          </a:p>
          <a:p>
            <a:pPr lvl="1"/>
            <a:r>
              <a:rPr lang="zh-CN" altLang="en-US" dirty="0"/>
              <a:t>生成新结点</a:t>
            </a:r>
          </a:p>
          <a:p>
            <a:pPr lvl="1"/>
            <a:r>
              <a:rPr lang="zh-CN" altLang="en-US" dirty="0"/>
              <a:t>将读入数据存放到新结点的数据域中</a:t>
            </a:r>
          </a:p>
          <a:p>
            <a:pPr lvl="1"/>
            <a:r>
              <a:rPr lang="zh-CN" altLang="en-US" dirty="0"/>
              <a:t>将该新结点插入到链表的尾结点后</a:t>
            </a:r>
          </a:p>
        </p:txBody>
      </p:sp>
      <p:graphicFrame>
        <p:nvGraphicFramePr>
          <p:cNvPr id="5" name="Object 7"/>
          <p:cNvGraphicFramePr>
            <a:graphicFrameLocks noChangeAspect="1"/>
          </p:cNvGraphicFramePr>
          <p:nvPr/>
        </p:nvGraphicFramePr>
        <p:xfrm>
          <a:off x="611560" y="3430289"/>
          <a:ext cx="7989887" cy="3167063"/>
        </p:xfrm>
        <a:graphic>
          <a:graphicData uri="http://schemas.openxmlformats.org/presentationml/2006/ole">
            <mc:AlternateContent xmlns:mc="http://schemas.openxmlformats.org/markup-compatibility/2006">
              <mc:Choice xmlns:v="urn:schemas-microsoft-com:vml" Requires="v">
                <p:oleObj spid="_x0000_s16457" name="图片" r:id="rId3" imgW="5686560" imgH="1981440" progId="Word.Picture.8">
                  <p:embed/>
                </p:oleObj>
              </mc:Choice>
              <mc:Fallback>
                <p:oleObj name="图片" r:id="rId3" imgW="5686560" imgH="1981440" progId="Word.Picture.8">
                  <p:embed/>
                  <p:pic>
                    <p:nvPicPr>
                      <p:cNvPr id="0" name="Picture 41"/>
                      <p:cNvPicPr>
                        <a:picLocks noChangeAspect="1" noChangeArrowheads="1"/>
                      </p:cNvPicPr>
                      <p:nvPr/>
                    </p:nvPicPr>
                    <p:blipFill>
                      <a:blip r:embed="rId4">
                        <a:extLst>
                          <a:ext uri="{28A0092B-C50C-407E-A947-70E740481C1C}">
                            <a14:useLocalDpi xmlns:a14="http://schemas.microsoft.com/office/drawing/2010/main" val="0"/>
                          </a:ext>
                        </a:extLst>
                      </a:blip>
                      <a:srcRect l="3918" t="6793" r="5023" b="2919"/>
                      <a:stretch>
                        <a:fillRect/>
                      </a:stretch>
                    </p:blipFill>
                    <p:spPr bwMode="auto">
                      <a:xfrm>
                        <a:off x="611560" y="3430289"/>
                        <a:ext cx="7989887" cy="316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链表创建（头插法）</a:t>
            </a:r>
          </a:p>
        </p:txBody>
      </p:sp>
      <p:sp>
        <p:nvSpPr>
          <p:cNvPr id="3" name="内容占位符 2"/>
          <p:cNvSpPr>
            <a:spLocks noGrp="1"/>
          </p:cNvSpPr>
          <p:nvPr>
            <p:ph idx="1"/>
          </p:nvPr>
        </p:nvSpPr>
        <p:spPr>
          <a:xfrm>
            <a:off x="611188" y="1052736"/>
            <a:ext cx="8207375" cy="2448272"/>
          </a:xfrm>
        </p:spPr>
        <p:txBody>
          <a:bodyPr/>
          <a:lstStyle/>
          <a:p>
            <a:r>
              <a:rPr lang="zh-CN" altLang="en-US" dirty="0"/>
              <a:t>从一个空表开始，重复读入数据：</a:t>
            </a:r>
          </a:p>
          <a:p>
            <a:pPr lvl="1"/>
            <a:r>
              <a:rPr lang="zh-CN" altLang="en-US" dirty="0"/>
              <a:t>生成新结点</a:t>
            </a:r>
          </a:p>
          <a:p>
            <a:pPr lvl="1"/>
            <a:r>
              <a:rPr lang="zh-CN" altLang="en-US" dirty="0"/>
              <a:t>将读入数据存放到新结点的数据域中</a:t>
            </a:r>
          </a:p>
          <a:p>
            <a:pPr lvl="1"/>
            <a:r>
              <a:rPr lang="zh-CN" altLang="en-US" dirty="0"/>
              <a:t>将该新结点插入到链表的前端</a:t>
            </a:r>
          </a:p>
          <a:p>
            <a:endParaRPr lang="zh-CN" altLang="en-US" dirty="0"/>
          </a:p>
        </p:txBody>
      </p:sp>
      <p:graphicFrame>
        <p:nvGraphicFramePr>
          <p:cNvPr id="4" name="Object 6"/>
          <p:cNvGraphicFramePr>
            <a:graphicFrameLocks noChangeAspect="1"/>
          </p:cNvGraphicFramePr>
          <p:nvPr/>
        </p:nvGraphicFramePr>
        <p:xfrm>
          <a:off x="611188" y="3501008"/>
          <a:ext cx="7991475" cy="3022600"/>
        </p:xfrm>
        <a:graphic>
          <a:graphicData uri="http://schemas.openxmlformats.org/presentationml/2006/ole">
            <mc:AlternateContent xmlns:mc="http://schemas.openxmlformats.org/markup-compatibility/2006">
              <mc:Choice xmlns:v="urn:schemas-microsoft-com:vml" Requires="v">
                <p:oleObj spid="_x0000_s15428" name="图片" r:id="rId3" imgW="4638960" imgH="1752480" progId="Word.Picture.8">
                  <p:embed/>
                </p:oleObj>
              </mc:Choice>
              <mc:Fallback>
                <p:oleObj name="图片" r:id="rId3" imgW="4638960" imgH="1752480" progId="Word.Picture.8">
                  <p:embed/>
                  <p:pic>
                    <p:nvPicPr>
                      <p:cNvPr id="0" name="Picture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501008"/>
                        <a:ext cx="7991475" cy="302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顺序表 </a:t>
            </a:r>
            <a:r>
              <a:rPr lang="en-US" altLang="zh-CN" dirty="0"/>
              <a:t>vs </a:t>
            </a:r>
            <a:r>
              <a:rPr lang="zh-CN" altLang="en-US" dirty="0"/>
              <a:t>链表</a:t>
            </a:r>
          </a:p>
        </p:txBody>
      </p:sp>
      <p:graphicFrame>
        <p:nvGraphicFramePr>
          <p:cNvPr id="4" name="Group 148"/>
          <p:cNvGraphicFramePr>
            <a:graphicFrameLocks noGrp="1"/>
          </p:cNvGraphicFramePr>
          <p:nvPr/>
        </p:nvGraphicFramePr>
        <p:xfrm>
          <a:off x="468311" y="1124744"/>
          <a:ext cx="8207377" cy="4170364"/>
        </p:xfrm>
        <a:graphic>
          <a:graphicData uri="http://schemas.openxmlformats.org/drawingml/2006/table">
            <a:tbl>
              <a:tblPr/>
              <a:tblGrid>
                <a:gridCol w="552254">
                  <a:extLst>
                    <a:ext uri="{9D8B030D-6E8A-4147-A177-3AD203B41FA5}">
                      <a16:colId xmlns:a16="http://schemas.microsoft.com/office/drawing/2014/main" val="20000"/>
                    </a:ext>
                  </a:extLst>
                </a:gridCol>
                <a:gridCol w="1319185">
                  <a:extLst>
                    <a:ext uri="{9D8B030D-6E8A-4147-A177-3AD203B41FA5}">
                      <a16:colId xmlns:a16="http://schemas.microsoft.com/office/drawing/2014/main" val="20001"/>
                    </a:ext>
                  </a:extLst>
                </a:gridCol>
                <a:gridCol w="3024336">
                  <a:extLst>
                    <a:ext uri="{9D8B030D-6E8A-4147-A177-3AD203B41FA5}">
                      <a16:colId xmlns:a16="http://schemas.microsoft.com/office/drawing/2014/main" val="20002"/>
                    </a:ext>
                  </a:extLst>
                </a:gridCol>
                <a:gridCol w="3311602">
                  <a:extLst>
                    <a:ext uri="{9D8B030D-6E8A-4147-A177-3AD203B41FA5}">
                      <a16:colId xmlns:a16="http://schemas.microsoft.com/office/drawing/2014/main" val="20003"/>
                    </a:ext>
                  </a:extLst>
                </a:gridCol>
              </a:tblGrid>
              <a:tr h="871538">
                <a:tc gridSpan="2">
                  <a:txBody>
                    <a:bodyPr/>
                    <a:lstStyle/>
                    <a:p>
                      <a:pPr marL="0" marR="0" lvl="0" indent="0" algn="l" defTabSz="914400" rtl="0" eaLnBrk="0" fontAlgn="base" latinLnBrk="0" hangingPunct="0">
                        <a:lnSpc>
                          <a:spcPct val="100000"/>
                        </a:lnSpc>
                        <a:spcBef>
                          <a:spcPct val="0"/>
                        </a:spcBef>
                        <a:spcAft>
                          <a:spcPct val="0"/>
                        </a:spcAft>
                        <a:buClrTx/>
                        <a:buSzTx/>
                        <a:buFontTx/>
                        <a:buNone/>
                      </a:pPr>
                      <a:endParaRPr kumimoji="1" lang="zh-CN" altLang="zh-CN"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顺  序  表</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链    表</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708025">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方正书宋简体" charset="-122"/>
                        </a:rPr>
                        <a:t>空间</a:t>
                      </a:r>
                      <a:endParaRPr kumimoji="1" lang="zh-CN" altLang="en-US" sz="1800" b="1" i="0" u="none" strike="noStrike" cap="none" normalizeH="0" baseline="0">
                        <a:ln>
                          <a:noFill/>
                        </a:ln>
                        <a:solidFill>
                          <a:schemeClr val="tx1"/>
                        </a:solidFill>
                        <a:effectLst/>
                        <a:latin typeface="Times New Roman" panose="02020603050405020304" pitchFamily="18" charset="0"/>
                        <a:ea typeface="仿宋_GB2312" pitchFamily="49"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空间分配</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预先分配，会导致空间闲置或溢出现象</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动态分配，不会出现闲置或溢出现象</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011238">
                <a:tc vMerge="1">
                  <a:txBody>
                    <a:bodyPr/>
                    <a:lstStyle/>
                    <a:p>
                      <a:endParaRPr lang="zh-CN"/>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方正书宋简体" charset="-122"/>
                        </a:rPr>
                        <a:t>存储密度</a:t>
                      </a:r>
                      <a:endParaRPr kumimoji="1" lang="zh-CN" altLang="en-US" sz="1800" b="1" i="0" u="none" strike="noStrike" cap="none" normalizeH="0" baseline="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不用为表示结点间的逻辑关系而增加额外的存储开销，存储密度等于</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1</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需要借助指针来体现元素间的逻辑关系，存储密度小于</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1</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08025">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方正书宋简体" charset="-122"/>
                        </a:rPr>
                        <a:t>时间</a:t>
                      </a:r>
                      <a:endParaRPr kumimoji="1" lang="zh-CN" altLang="en-US" sz="1800" b="1" i="0" u="none" strike="noStrike" cap="none" normalizeH="0" baseline="0">
                        <a:ln>
                          <a:noFill/>
                        </a:ln>
                        <a:solidFill>
                          <a:schemeClr val="tx1"/>
                        </a:solidFill>
                        <a:effectLst/>
                        <a:latin typeface="Times New Roman" panose="02020603050405020304" pitchFamily="18" charset="0"/>
                        <a:ea typeface="仿宋_GB2312" pitchFamily="49"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查找元素</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时间复杂度为</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O(1)</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时间复杂度为</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O(</a:t>
                      </a:r>
                      <a:r>
                        <a:rPr kumimoji="1" lang="en-US" altLang="zh-CN" sz="1800" b="1" i="1" u="none" strike="noStrike" cap="none" normalizeH="0" baseline="0" dirty="0">
                          <a:ln>
                            <a:noFill/>
                          </a:ln>
                          <a:solidFill>
                            <a:schemeClr val="tx1"/>
                          </a:solidFill>
                          <a:effectLst/>
                          <a:latin typeface="Times New Roman" panose="02020603050405020304" pitchFamily="18" charset="0"/>
                          <a:ea typeface="方正书宋简体" charset="-122"/>
                        </a:rPr>
                        <a:t>n</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871538">
                <a:tc vMerge="1">
                  <a:txBody>
                    <a:bodyPr/>
                    <a:lstStyle/>
                    <a:p>
                      <a:endParaRPr lang="zh-CN"/>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插入、</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删除</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平均移动约表中一半元素，时间复杂度为</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O(</a:t>
                      </a:r>
                      <a:r>
                        <a:rPr kumimoji="1" lang="en-US" altLang="zh-CN" sz="1800" b="1" i="1" u="none" strike="noStrike" cap="none" normalizeH="0" baseline="0" dirty="0">
                          <a:ln>
                            <a:noFill/>
                          </a:ln>
                          <a:solidFill>
                            <a:schemeClr val="tx1"/>
                          </a:solidFill>
                          <a:effectLst/>
                          <a:latin typeface="Times New Roman" panose="02020603050405020304" pitchFamily="18" charset="0"/>
                          <a:ea typeface="方正书宋简体" charset="-122"/>
                        </a:rPr>
                        <a:t>n</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不需移动元素，确定插入、删除位置后，时间复杂度为</a:t>
                      </a: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O(1)</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pic>
        <p:nvPicPr>
          <p:cNvPr id="3" name="图片 2"/>
          <p:cNvPicPr>
            <a:picLocks noChangeAspect="1"/>
          </p:cNvPicPr>
          <p:nvPr/>
        </p:nvPicPr>
        <p:blipFill>
          <a:blip r:embed="rId2" cstate="print"/>
          <a:stretch>
            <a:fillRect/>
          </a:stretch>
        </p:blipFill>
        <p:spPr>
          <a:xfrm>
            <a:off x="2114856" y="5511802"/>
            <a:ext cx="4914286" cy="780952"/>
          </a:xfrm>
          <a:prstGeom prst="rect">
            <a:avLst/>
          </a:prstGeom>
          <a:ln>
            <a:solidFill>
              <a:schemeClr val="tx1"/>
            </a:solidFill>
          </a:ln>
        </p:spPr>
      </p:pic>
      <p:sp>
        <p:nvSpPr>
          <p:cNvPr id="5" name="灯片编号占位符 4"/>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01718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顺序表 </a:t>
            </a:r>
            <a:r>
              <a:rPr lang="en-US" altLang="zh-CN" dirty="0"/>
              <a:t>vs </a:t>
            </a:r>
            <a:r>
              <a:rPr lang="zh-CN" altLang="en-US" dirty="0"/>
              <a:t>链表</a:t>
            </a:r>
          </a:p>
        </p:txBody>
      </p:sp>
      <p:sp>
        <p:nvSpPr>
          <p:cNvPr id="3" name="内容占位符 2"/>
          <p:cNvSpPr>
            <a:spLocks noGrp="1"/>
          </p:cNvSpPr>
          <p:nvPr>
            <p:ph idx="1"/>
          </p:nvPr>
        </p:nvSpPr>
        <p:spPr/>
        <p:txBody>
          <a:bodyPr/>
          <a:lstStyle/>
          <a:p>
            <a:r>
              <a:rPr lang="zh-CN" altLang="en-US" dirty="0"/>
              <a:t>顺序表和链表各有优缺点</a:t>
            </a:r>
            <a:endParaRPr lang="en-US" altLang="zh-CN" dirty="0"/>
          </a:p>
          <a:p>
            <a:pPr lvl="1"/>
            <a:r>
              <a:rPr lang="zh-CN" altLang="en-US" dirty="0"/>
              <a:t>在实际应用中，不能笼统地说哪种存储结构更好，应具体问题具体分析</a:t>
            </a:r>
            <a:endParaRPr lang="en-US" altLang="zh-CN" dirty="0"/>
          </a:p>
          <a:p>
            <a:endParaRPr lang="zh-CN" altLang="en-US" dirty="0"/>
          </a:p>
        </p:txBody>
      </p:sp>
      <p:graphicFrame>
        <p:nvGraphicFramePr>
          <p:cNvPr id="4" name="Group 148"/>
          <p:cNvGraphicFramePr>
            <a:graphicFrameLocks noGrp="1"/>
          </p:cNvGraphicFramePr>
          <p:nvPr/>
        </p:nvGraphicFramePr>
        <p:xfrm>
          <a:off x="922337" y="3284984"/>
          <a:ext cx="7299325" cy="2329374"/>
        </p:xfrm>
        <a:graphic>
          <a:graphicData uri="http://schemas.openxmlformats.org/drawingml/2006/table">
            <a:tbl>
              <a:tblPr/>
              <a:tblGrid>
                <a:gridCol w="4190132">
                  <a:extLst>
                    <a:ext uri="{9D8B030D-6E8A-4147-A177-3AD203B41FA5}">
                      <a16:colId xmlns:a16="http://schemas.microsoft.com/office/drawing/2014/main" val="20000"/>
                    </a:ext>
                  </a:extLst>
                </a:gridCol>
                <a:gridCol w="3109193">
                  <a:extLst>
                    <a:ext uri="{9D8B030D-6E8A-4147-A177-3AD203B41FA5}">
                      <a16:colId xmlns:a16="http://schemas.microsoft.com/office/drawing/2014/main" val="20001"/>
                    </a:ext>
                  </a:extLst>
                </a:gridCol>
              </a:tblGrid>
              <a:tr h="504056">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顺  序  表</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a:ln>
                            <a:noFill/>
                          </a:ln>
                          <a:solidFill>
                            <a:schemeClr val="tx1"/>
                          </a:solidFill>
                          <a:effectLst/>
                          <a:latin typeface="Times New Roman" panose="02020603050405020304" pitchFamily="18" charset="0"/>
                          <a:ea typeface="方正书宋简体" charset="-122"/>
                        </a:rPr>
                        <a:t>链    表</a:t>
                      </a:r>
                      <a:endParaRPr kumimoji="1" lang="zh-CN" altLang="en-US" sz="1800" b="1" i="0" u="none" strike="noStrike" cap="none" normalizeH="0" baseline="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825318">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① </a:t>
                      </a: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表长变化不大，且能事先确定变化的范围</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② 很少进行插入或删除操作，经常按元素序号访问数据元素</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方正书宋简体" charset="-122"/>
                        </a:rPr>
                        <a:t>① </a:t>
                      </a: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长度变化较大</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zh-CN" altLang="en-US" sz="1800" b="1" i="0" u="none" strike="noStrike" cap="none" normalizeH="0" baseline="0" dirty="0">
                          <a:ln>
                            <a:noFill/>
                          </a:ln>
                          <a:solidFill>
                            <a:schemeClr val="tx1"/>
                          </a:solidFill>
                          <a:effectLst/>
                          <a:latin typeface="Times New Roman" panose="02020603050405020304" pitchFamily="18" charset="0"/>
                          <a:ea typeface="方正书宋简体" charset="-122"/>
                        </a:rPr>
                        <a:t>② 频繁进行插入或删除操作</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仿宋_GB2312" pitchFamily="49"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5" name="灯片编号占位符 4"/>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269575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eaLnBrk="1" hangingPunct="1">
              <a:defRPr/>
            </a:pPr>
            <a:r>
              <a:rPr lang="en-US" altLang="zh-CN" dirty="0"/>
              <a:t>Ch2 </a:t>
            </a:r>
            <a:r>
              <a:rPr lang="zh-CN" altLang="en-US" dirty="0"/>
              <a:t>练习</a:t>
            </a:r>
            <a:r>
              <a:rPr lang="en-US" altLang="zh-CN" dirty="0"/>
              <a:t>5</a:t>
            </a:r>
            <a:endParaRPr lang="en-US" dirty="0"/>
          </a:p>
        </p:txBody>
      </p:sp>
    </p:spTree>
    <p:extLst>
      <p:ext uri="{BB962C8B-B14F-4D97-AF65-F5344CB8AC3E}">
        <p14:creationId xmlns:p14="http://schemas.microsoft.com/office/powerpoint/2010/main" val="420497167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prstGeom prst="rect">
            <a:avLst/>
          </a:prstGeo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6" name="文本框 5"/>
          <p:cNvSpPr txBox="1"/>
          <p:nvPr>
            <p:custDataLst>
              <p:tags r:id="rId2"/>
            </p:custDataLst>
          </p:nvPr>
        </p:nvSpPr>
        <p:spPr>
          <a:xfrm>
            <a:off x="914400" y="692696"/>
            <a:ext cx="7315200" cy="5818188"/>
          </a:xfrm>
          <a:prstGeom prst="rect">
            <a:avLst/>
          </a:prstGeom>
          <a:noFill/>
        </p:spPr>
        <p:txBody>
          <a:bodyPr vert="horz" wrap="square" rtlCol="0" anchor="ctr" anchorCtr="0">
            <a:noAutofit/>
          </a:bodyPr>
          <a:lstStyle/>
          <a:p>
            <a:r>
              <a:rPr lang="zh-CN" altLang="en-US"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根据注释完成下面伪代码</a:t>
            </a:r>
            <a:endPar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endParaRP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Status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CreateList_T</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LinkList</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&amp;L,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int</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n) {</a:t>
            </a: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L = new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LNode;L</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-&gt;next = NULL;  r = L; 	</a:t>
            </a: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for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i</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=0;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i</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&lt;n;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i</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a:t>
            </a: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p = new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LNode</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 </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创建一个结点</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p</a:t>
            </a: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 </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读入</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p</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的</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data</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域</a:t>
            </a:r>
            <a:endPar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endParaRP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 </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将</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p</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的</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next</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域赋值为</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NULL </a:t>
            </a: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 </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将</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p</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链接到</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r</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的后面</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a:t>
            </a: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 r </a:t>
            </a:r>
            <a:r>
              <a:rPr lang="zh-CN" altLang="en-US" sz="2200" dirty="0">
                <a:latin typeface="Microsoft YaHei UI" panose="020B0503020204020204" pitchFamily="34" charset="-122"/>
                <a:ea typeface="Microsoft YaHei UI" panose="020B0503020204020204" pitchFamily="34" charset="-122"/>
                <a:cs typeface="Arial Unicode MS" panose="020B0604020202020204" charset="-122"/>
                <a:sym typeface="+mn-ea"/>
              </a:rPr>
              <a:t>指向新创建的节点</a:t>
            </a:r>
            <a:endPar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endParaRP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a:t>
            </a:r>
          </a:p>
          <a:p>
            <a:pPr>
              <a:spcBef>
                <a:spcPct val="20000"/>
              </a:spcBef>
            </a:pP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return OK; 	</a:t>
            </a:r>
            <a:endParaRPr lang="en-US" altLang="zh-CN" sz="2200" dirty="0">
              <a:latin typeface="Microsoft YaHei UI" panose="020B0503020204020204" pitchFamily="34" charset="-122"/>
              <a:ea typeface="Microsoft YaHei UI" panose="020B0503020204020204" pitchFamily="34" charset="-122"/>
              <a:cs typeface="Arial Unicode MS" panose="020B0604020202020204" charset="-122"/>
            </a:endParaRPr>
          </a:p>
          <a:p>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a:t>
            </a:r>
            <a:r>
              <a:rPr lang="en-US" altLang="zh-CN" sz="2200" dirty="0" err="1">
                <a:latin typeface="Microsoft YaHei UI" panose="020B0503020204020204" pitchFamily="34" charset="-122"/>
                <a:ea typeface="Microsoft YaHei UI" panose="020B0503020204020204" pitchFamily="34" charset="-122"/>
                <a:cs typeface="Arial Unicode MS" panose="020B0604020202020204" charset="-122"/>
                <a:sym typeface="+mn-ea"/>
              </a:rPr>
              <a:t>CreateList_T</a:t>
            </a:r>
            <a:r>
              <a:rPr lang="en-US" altLang="zh-CN" sz="2200" dirty="0">
                <a:latin typeface="Microsoft YaHei UI" panose="020B0503020204020204" pitchFamily="34" charset="-122"/>
                <a:ea typeface="Microsoft YaHei UI" panose="020B0503020204020204" pitchFamily="34" charset="-122"/>
                <a:cs typeface="Arial Unicode MS" panose="020B0604020202020204" charset="-122"/>
                <a:sym typeface="+mn-ea"/>
              </a:rPr>
              <a:t> </a:t>
            </a:r>
            <a:endParaRPr lang="en-US" altLang="zh-CN" sz="2200" dirty="0">
              <a:latin typeface="Microsoft YaHei UI" panose="020B0503020204020204" pitchFamily="34" charset="-122"/>
              <a:ea typeface="Microsoft YaHei UI" panose="020B0503020204020204" pitchFamily="34" charset="-122"/>
              <a:cs typeface="Arial Unicode MS" panose="020B0604020202020204" charset="-122"/>
            </a:endParaRPr>
          </a:p>
          <a:p>
            <a:endParaRPr lang="en-US" sz="2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kumimoji="0" 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9"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5222375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prstGeom prst="rect">
            <a:avLst/>
          </a:prstGeom>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6" name="文本框 5"/>
          <p:cNvSpPr txBox="1"/>
          <p:nvPr>
            <p:custDataLst>
              <p:tags r:id="rId2"/>
            </p:custDataLst>
          </p:nvPr>
        </p:nvSpPr>
        <p:spPr>
          <a:xfrm>
            <a:off x="914400" y="1000760"/>
            <a:ext cx="7315200" cy="5452427"/>
          </a:xfrm>
          <a:prstGeom prst="rect">
            <a:avLst/>
          </a:prstGeom>
          <a:noFill/>
        </p:spPr>
        <p:txBody>
          <a:bodyPr vert="horz" wrap="square" rtlCol="0" anchor="ctr" anchorCtr="0">
            <a:noAutofit/>
          </a:bodyPr>
          <a:lstStyle/>
          <a:p>
            <a:pPr>
              <a:spcBef>
                <a:spcPct val="20000"/>
              </a:spcBef>
            </a:pPr>
            <a:r>
              <a:rPr lang="zh-CN" altLang="en-US"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根据注释完成下面伪代码</a:t>
            </a:r>
            <a:endPar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endParaRP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Status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CreateList_H</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LinkList</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&amp;L,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int</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n) {</a:t>
            </a: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L = new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LNode</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L-&gt;next = NULL; // </a:t>
            </a:r>
            <a:r>
              <a:rPr lang="zh-CN" altLang="en-US"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头结点</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t>
            </a: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for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i</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=n;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i</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&gt;0;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i</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a:t>
            </a: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t>
            </a:r>
            <a:r>
              <a:rPr lang="en-US" altLang="zh-CN" sz="2200" dirty="0">
                <a:solidFill>
                  <a:srgbClr val="000000"/>
                </a:solidFill>
                <a:latin typeface="Microsoft YaHei UI" panose="020B0503020204020204" pitchFamily="34" charset="-122"/>
                <a:ea typeface="Microsoft YaHei UI" panose="020B0503020204020204" pitchFamily="34" charset="-122"/>
                <a:sym typeface="+mn-ea"/>
              </a:rPr>
              <a:t>// </a:t>
            </a:r>
            <a:r>
              <a:rPr lang="zh-CN" altLang="en-US" sz="2200" dirty="0">
                <a:solidFill>
                  <a:srgbClr val="000000"/>
                </a:solidFill>
                <a:latin typeface="Microsoft YaHei UI" panose="020B0503020204020204" pitchFamily="34" charset="-122"/>
                <a:ea typeface="Microsoft YaHei UI" panose="020B0503020204020204" pitchFamily="34" charset="-122"/>
                <a:sym typeface="+mn-ea"/>
              </a:rPr>
              <a:t>创建一个结点</a:t>
            </a:r>
            <a:r>
              <a:rPr lang="en-US" altLang="zh-CN" sz="2200" dirty="0">
                <a:solidFill>
                  <a:srgbClr val="000000"/>
                </a:solidFill>
                <a:latin typeface="Microsoft YaHei UI" panose="020B0503020204020204" pitchFamily="34" charset="-122"/>
                <a:ea typeface="Microsoft YaHei UI" panose="020B0503020204020204" pitchFamily="34" charset="-122"/>
                <a:sym typeface="+mn-ea"/>
              </a:rPr>
              <a:t>p</a:t>
            </a: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t>
            </a:r>
            <a:r>
              <a:rPr lang="en-US" altLang="zh-CN" sz="2200" dirty="0">
                <a:solidFill>
                  <a:srgbClr val="000000"/>
                </a:solidFill>
                <a:latin typeface="Microsoft YaHei UI" panose="020B0503020204020204" pitchFamily="34" charset="-122"/>
                <a:ea typeface="Microsoft YaHei UI" panose="020B0503020204020204" pitchFamily="34" charset="-122"/>
                <a:sym typeface="+mn-ea"/>
              </a:rPr>
              <a:t>// </a:t>
            </a:r>
            <a:r>
              <a:rPr lang="zh-CN" altLang="en-US" sz="2200" dirty="0">
                <a:solidFill>
                  <a:srgbClr val="000000"/>
                </a:solidFill>
                <a:latin typeface="Microsoft YaHei UI" panose="020B0503020204020204" pitchFamily="34" charset="-122"/>
                <a:ea typeface="Microsoft YaHei UI" panose="020B0503020204020204" pitchFamily="34" charset="-122"/>
                <a:sym typeface="+mn-ea"/>
              </a:rPr>
              <a:t>读入</a:t>
            </a:r>
            <a:r>
              <a:rPr lang="en-US" altLang="zh-CN" sz="2200" dirty="0">
                <a:solidFill>
                  <a:srgbClr val="000000"/>
                </a:solidFill>
                <a:latin typeface="Microsoft YaHei UI" panose="020B0503020204020204" pitchFamily="34" charset="-122"/>
                <a:ea typeface="Microsoft YaHei UI" panose="020B0503020204020204" pitchFamily="34" charset="-122"/>
                <a:sym typeface="+mn-ea"/>
              </a:rPr>
              <a:t>p</a:t>
            </a:r>
            <a:r>
              <a:rPr lang="zh-CN" altLang="en-US" sz="2200" dirty="0">
                <a:solidFill>
                  <a:srgbClr val="000000"/>
                </a:solidFill>
                <a:latin typeface="Microsoft YaHei UI" panose="020B0503020204020204" pitchFamily="34" charset="-122"/>
                <a:ea typeface="Microsoft YaHei UI" panose="020B0503020204020204" pitchFamily="34" charset="-122"/>
                <a:sym typeface="+mn-ea"/>
              </a:rPr>
              <a:t>的</a:t>
            </a:r>
            <a:r>
              <a:rPr lang="en-US" altLang="zh-CN" sz="2200" dirty="0">
                <a:solidFill>
                  <a:srgbClr val="000000"/>
                </a:solidFill>
                <a:latin typeface="Microsoft YaHei UI" panose="020B0503020204020204" pitchFamily="34" charset="-122"/>
                <a:ea typeface="Microsoft YaHei UI" panose="020B0503020204020204" pitchFamily="34" charset="-122"/>
                <a:sym typeface="+mn-ea"/>
              </a:rPr>
              <a:t>data</a:t>
            </a:r>
            <a:r>
              <a:rPr lang="zh-CN" altLang="en-US" sz="2200" dirty="0">
                <a:solidFill>
                  <a:srgbClr val="000000"/>
                </a:solidFill>
                <a:latin typeface="Microsoft YaHei UI" panose="020B0503020204020204" pitchFamily="34" charset="-122"/>
                <a:ea typeface="Microsoft YaHei UI" panose="020B0503020204020204" pitchFamily="34" charset="-122"/>
                <a:sym typeface="+mn-ea"/>
              </a:rPr>
              <a:t>域</a:t>
            </a:r>
            <a:endParaRPr lang="en-US" altLang="zh-CN" sz="2200" dirty="0">
              <a:solidFill>
                <a:srgbClr val="000000"/>
              </a:solidFill>
              <a:latin typeface="Microsoft YaHei UI" panose="020B0503020204020204" pitchFamily="34" charset="-122"/>
              <a:ea typeface="Microsoft YaHei UI" panose="020B0503020204020204" pitchFamily="34" charset="-122"/>
              <a:sym typeface="+mn-ea"/>
            </a:endParaRP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 </a:t>
            </a:r>
            <a:r>
              <a:rPr lang="zh-CN" altLang="en-US"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将</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p</a:t>
            </a:r>
            <a:r>
              <a:rPr lang="zh-CN" altLang="en-US"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插入到首元节点之前（头结点之后）</a:t>
            </a:r>
            <a:endPar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endParaRP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t>
            </a: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return OK; 	</a:t>
            </a:r>
          </a:p>
          <a:p>
            <a:pPr>
              <a:spcBef>
                <a:spcPct val="20000"/>
              </a:spcBef>
            </a:pP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t>
            </a:r>
            <a:r>
              <a:rPr lang="en-US" altLang="zh-CN" sz="2200" dirty="0" err="1">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CreateList_H</a:t>
            </a:r>
            <a:r>
              <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rPr>
              <a:t> </a:t>
            </a:r>
          </a:p>
          <a:p>
            <a:endParaRPr lang="en-US" altLang="zh-CN" sz="2200" dirty="0">
              <a:solidFill>
                <a:srgbClr val="000000"/>
              </a:solidFill>
              <a:latin typeface="Microsoft YaHei UI" panose="020B0503020204020204" pitchFamily="34" charset="-122"/>
              <a:ea typeface="Microsoft YaHei UI" panose="020B0503020204020204" pitchFamily="34" charset="-122"/>
              <a:sym typeface="Microsoft Yahei" panose="020B0503020204020204" pitchFamily="34" charset="-122"/>
            </a:endParaRP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square" lIns="91440" tIns="45720" rIns="91440" bIns="45720" numCol="1" rtlCol="0" anchor="ctr" anchorCtr="1"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endParaRPr kumimoji="0" 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kumimoji="0" 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9"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US" sz="1800" b="0" i="1" u="none" strike="noStrike" cap="none" normalizeH="0" baseline="0">
                <a:ln>
                  <a:noFill/>
                </a:ln>
                <a:solidFill>
                  <a:schemeClr val="tx1"/>
                </a:solidFill>
                <a:effectLst/>
                <a:latin typeface="Arial" panose="020B0604020202020204" pitchFamily="34" charset="0"/>
                <a:ea typeface="华文细黑" panose="02010600040101010101" pitchFamily="2" charset="-122"/>
              </a:endParaRPr>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2720600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循环链表</a:t>
            </a:r>
          </a:p>
        </p:txBody>
      </p:sp>
      <p:sp>
        <p:nvSpPr>
          <p:cNvPr id="3" name="内容占位符 2"/>
          <p:cNvSpPr>
            <a:spLocks noGrp="1"/>
          </p:cNvSpPr>
          <p:nvPr>
            <p:ph idx="1"/>
          </p:nvPr>
        </p:nvSpPr>
        <p:spPr>
          <a:xfrm>
            <a:off x="468313" y="1125538"/>
            <a:ext cx="8207375" cy="4319587"/>
          </a:xfrm>
        </p:spPr>
        <p:txBody>
          <a:bodyPr vert="horz" wrap="square" lIns="91440" tIns="45720" rIns="91440" bIns="45720" anchor="t"/>
          <a:lstStyle/>
          <a:p>
            <a:r>
              <a:rPr lang="zh-CN" altLang="en-US" dirty="0">
                <a:latin typeface="+mn-lt"/>
                <a:ea typeface="+mn-ea"/>
                <a:cs typeface="+mn-cs"/>
              </a:rPr>
              <a:t>循环链表</a:t>
            </a:r>
            <a:r>
              <a:rPr lang="en-US" altLang="zh-CN" dirty="0"/>
              <a:t>(circular linked list)</a:t>
            </a:r>
            <a:r>
              <a:rPr lang="zh-CN" altLang="en-US" dirty="0">
                <a:latin typeface="+mn-lt"/>
                <a:ea typeface="+mn-ea"/>
                <a:cs typeface="+mn-cs"/>
              </a:rPr>
              <a:t>是表中最后一个结点的指针指向头结点，使链表构成环状</a:t>
            </a:r>
          </a:p>
          <a:p>
            <a:pPr lvl="1"/>
            <a:r>
              <a:rPr lang="zh-CN" altLang="en-US" sz="2400" dirty="0">
                <a:latin typeface="+mn-lt"/>
                <a:ea typeface="+mn-ea"/>
              </a:rPr>
              <a:t>特点：从表中任一结点出发均可找到表中其他结点，提高查找效率</a:t>
            </a:r>
          </a:p>
          <a:p>
            <a:pPr lvl="1"/>
            <a:r>
              <a:rPr lang="zh-CN" altLang="en-US" sz="2400" dirty="0">
                <a:latin typeface="+mn-lt"/>
                <a:ea typeface="+mn-ea"/>
              </a:rPr>
              <a:t>操作与单链表基本一致</a:t>
            </a:r>
            <a:r>
              <a:rPr lang="en-US" altLang="zh-CN" sz="2400" dirty="0">
                <a:latin typeface="+mn-lt"/>
                <a:ea typeface="+mn-ea"/>
              </a:rPr>
              <a:t>,</a:t>
            </a:r>
            <a:r>
              <a:rPr lang="zh-CN" altLang="en-US" sz="2400" dirty="0">
                <a:latin typeface="+mn-lt"/>
                <a:ea typeface="+mn-ea"/>
              </a:rPr>
              <a:t>循环条件不同</a:t>
            </a:r>
          </a:p>
          <a:p>
            <a:pPr lvl="2"/>
            <a:r>
              <a:rPr lang="zh-CN" altLang="en-US" dirty="0">
                <a:latin typeface="+mn-lt"/>
                <a:ea typeface="+mn-ea"/>
              </a:rPr>
              <a:t>单链表</a:t>
            </a:r>
            <a:r>
              <a:rPr lang="en-US" altLang="zh-CN" dirty="0">
                <a:latin typeface="+mn-lt"/>
                <a:ea typeface="+mn-ea"/>
              </a:rPr>
              <a:t>p!=</a:t>
            </a:r>
            <a:r>
              <a:rPr lang="en-US" altLang="zh-CN" dirty="0"/>
              <a:t>0, </a:t>
            </a:r>
            <a:r>
              <a:rPr lang="en-US" altLang="zh-CN" dirty="0">
                <a:latin typeface="+mn-lt"/>
                <a:ea typeface="+mn-ea"/>
              </a:rPr>
              <a:t>p-&gt;</a:t>
            </a:r>
            <a:r>
              <a:rPr lang="en-US" altLang="zh-CN" dirty="0"/>
              <a:t>next!=0</a:t>
            </a:r>
            <a:endParaRPr lang="en-US" altLang="zh-CN" dirty="0">
              <a:latin typeface="+mn-lt"/>
              <a:ea typeface="+mn-ea"/>
            </a:endParaRPr>
          </a:p>
          <a:p>
            <a:pPr lvl="2"/>
            <a:r>
              <a:rPr lang="zh-CN" altLang="en-US" dirty="0">
                <a:latin typeface="+mn-lt"/>
                <a:ea typeface="+mn-ea"/>
              </a:rPr>
              <a:t>循环链表</a:t>
            </a:r>
            <a:r>
              <a:rPr lang="en-US" altLang="zh-CN" dirty="0">
                <a:latin typeface="+mn-lt"/>
                <a:ea typeface="+mn-ea"/>
              </a:rPr>
              <a:t>p!=h, p-&gt;</a:t>
            </a:r>
            <a:r>
              <a:rPr lang="en-US" altLang="zh-CN" dirty="0"/>
              <a:t>next!=h</a:t>
            </a:r>
            <a:endParaRPr lang="en-US" altLang="zh-CN" dirty="0">
              <a:latin typeface="+mn-lt"/>
              <a:ea typeface="+mn-ea"/>
            </a:endParaRPr>
          </a:p>
          <a:p>
            <a:endParaRPr lang="zh-CN" altLang="en-US" dirty="0">
              <a:latin typeface="+mn-lt"/>
              <a:ea typeface="+mn-ea"/>
              <a:cs typeface="+mn-cs"/>
            </a:endParaRPr>
          </a:p>
        </p:txBody>
      </p:sp>
      <p:grpSp>
        <p:nvGrpSpPr>
          <p:cNvPr id="5" name="Group 3"/>
          <p:cNvGrpSpPr/>
          <p:nvPr/>
        </p:nvGrpSpPr>
        <p:grpSpPr>
          <a:xfrm>
            <a:off x="1722438" y="5364163"/>
            <a:ext cx="5111750" cy="709612"/>
            <a:chOff x="1298" y="2215"/>
            <a:chExt cx="3220" cy="447"/>
          </a:xfrm>
        </p:grpSpPr>
        <p:sp>
          <p:nvSpPr>
            <p:cNvPr id="6" name="Text Box 4"/>
            <p:cNvSpPr txBox="1">
              <a:spLocks noChangeArrowheads="1"/>
            </p:cNvSpPr>
            <p:nvPr/>
          </p:nvSpPr>
          <p:spPr bwMode="auto">
            <a:xfrm>
              <a:off x="1298" y="2217"/>
              <a:ext cx="184" cy="25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R="0" algn="ctr" defTabSz="914400" eaLnBrk="1" fontAlgn="auto" hangingPunct="1">
                <a:spcBef>
                  <a:spcPts val="0"/>
                </a:spcBef>
                <a:spcAft>
                  <a:spcPts val="0"/>
                </a:spcAft>
                <a:buClrTx/>
                <a:buSzTx/>
                <a:buFontTx/>
                <a:buNone/>
                <a:defRPr/>
              </a:pPr>
              <a:r>
                <a:rPr kumimoji="1" lang="en-US" altLang="zh-CN" sz="2000" kern="0" cap="none" spc="0" normalizeH="0" baseline="0" noProof="0">
                  <a:solidFill>
                    <a:srgbClr val="003366"/>
                  </a:solidFill>
                  <a:latin typeface="Times New Roman" panose="02020603050405020304" pitchFamily="18" charset="0"/>
                  <a:ea typeface="宋体" panose="02010600030101010101" pitchFamily="2" charset="-122"/>
                  <a:cs typeface="+mn-cs"/>
                </a:rPr>
                <a:t>h</a:t>
              </a:r>
            </a:p>
          </p:txBody>
        </p:sp>
        <p:sp>
          <p:nvSpPr>
            <p:cNvPr id="7" name="Line 5"/>
            <p:cNvSpPr>
              <a:spLocks noChangeShapeType="1"/>
            </p:cNvSpPr>
            <p:nvPr/>
          </p:nvSpPr>
          <p:spPr bwMode="auto">
            <a:xfrm>
              <a:off x="1527" y="2341"/>
              <a:ext cx="267"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 name="Rectangle 6"/>
            <p:cNvSpPr>
              <a:spLocks noChangeArrowheads="1"/>
            </p:cNvSpPr>
            <p:nvPr/>
          </p:nvSpPr>
          <p:spPr bwMode="auto">
            <a:xfrm>
              <a:off x="2724" y="2215"/>
              <a:ext cx="666" cy="255"/>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 name="Line 7"/>
            <p:cNvSpPr>
              <a:spLocks noChangeShapeType="1"/>
            </p:cNvSpPr>
            <p:nvPr/>
          </p:nvSpPr>
          <p:spPr bwMode="auto">
            <a:xfrm>
              <a:off x="3046" y="2226"/>
              <a:ext cx="0" cy="244"/>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0" name="Text Box 8"/>
            <p:cNvSpPr txBox="1">
              <a:spLocks noChangeArrowheads="1"/>
            </p:cNvSpPr>
            <p:nvPr/>
          </p:nvSpPr>
          <p:spPr bwMode="auto">
            <a:xfrm>
              <a:off x="2878" y="2222"/>
              <a:ext cx="116" cy="25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R="0" algn="ctr" defTabSz="914400" eaLnBrk="1" fontAlgn="auto" hangingPunct="1">
                <a:spcBef>
                  <a:spcPts val="0"/>
                </a:spcBef>
                <a:spcAft>
                  <a:spcPts val="0"/>
                </a:spcAft>
                <a:buClrTx/>
                <a:buSzTx/>
                <a:buFontTx/>
                <a:buNone/>
                <a:defRPr/>
              </a:pPr>
              <a:endParaRPr kumimoji="1" lang="zh-CN" altLang="zh-CN" sz="2000" kern="0" cap="none" spc="0" normalizeH="0" baseline="0" noProof="0">
                <a:solidFill>
                  <a:srgbClr val="003366"/>
                </a:solidFill>
                <a:latin typeface="Times New Roman" panose="02020603050405020304" pitchFamily="18" charset="0"/>
                <a:ea typeface="宋体" panose="02010600030101010101" pitchFamily="2" charset="-122"/>
                <a:cs typeface="+mn-cs"/>
              </a:endParaRPr>
            </a:p>
          </p:txBody>
        </p:sp>
        <p:sp>
          <p:nvSpPr>
            <p:cNvPr id="11" name="Rectangle 9"/>
            <p:cNvSpPr>
              <a:spLocks noChangeArrowheads="1"/>
            </p:cNvSpPr>
            <p:nvPr/>
          </p:nvSpPr>
          <p:spPr bwMode="auto">
            <a:xfrm>
              <a:off x="3698" y="2222"/>
              <a:ext cx="666" cy="255"/>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2" name="Line 10"/>
            <p:cNvSpPr>
              <a:spLocks noChangeShapeType="1"/>
            </p:cNvSpPr>
            <p:nvPr/>
          </p:nvSpPr>
          <p:spPr bwMode="auto">
            <a:xfrm>
              <a:off x="4020" y="2233"/>
              <a:ext cx="0" cy="244"/>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3" name="Text Box 11"/>
            <p:cNvSpPr txBox="1">
              <a:spLocks noChangeArrowheads="1"/>
            </p:cNvSpPr>
            <p:nvPr/>
          </p:nvSpPr>
          <p:spPr bwMode="auto">
            <a:xfrm>
              <a:off x="3851" y="2229"/>
              <a:ext cx="116" cy="25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R="0" algn="ctr" defTabSz="914400" eaLnBrk="1" fontAlgn="auto" hangingPunct="1">
                <a:spcBef>
                  <a:spcPts val="0"/>
                </a:spcBef>
                <a:spcAft>
                  <a:spcPts val="0"/>
                </a:spcAft>
                <a:buClrTx/>
                <a:buSzTx/>
                <a:buFontTx/>
                <a:buNone/>
                <a:defRPr/>
              </a:pPr>
              <a:endParaRPr kumimoji="1" lang="zh-CN" altLang="zh-CN" sz="2000" kern="0" cap="none" spc="0" normalizeH="0" baseline="0" noProof="0">
                <a:solidFill>
                  <a:srgbClr val="003366"/>
                </a:solidFill>
                <a:latin typeface="Times New Roman" panose="02020603050405020304" pitchFamily="18" charset="0"/>
                <a:ea typeface="宋体" panose="02010600030101010101" pitchFamily="2" charset="-122"/>
                <a:cs typeface="+mn-cs"/>
              </a:endParaRPr>
            </a:p>
          </p:txBody>
        </p:sp>
        <p:sp>
          <p:nvSpPr>
            <p:cNvPr id="14" name="Line 12"/>
            <p:cNvSpPr>
              <a:spLocks noChangeShapeType="1"/>
            </p:cNvSpPr>
            <p:nvPr/>
          </p:nvSpPr>
          <p:spPr bwMode="auto">
            <a:xfrm>
              <a:off x="2307" y="2339"/>
              <a:ext cx="422"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5" name="Line 13"/>
            <p:cNvSpPr>
              <a:spLocks noChangeShapeType="1"/>
            </p:cNvSpPr>
            <p:nvPr/>
          </p:nvSpPr>
          <p:spPr bwMode="auto">
            <a:xfrm>
              <a:off x="3230" y="2339"/>
              <a:ext cx="46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 name="Line 14"/>
            <p:cNvSpPr>
              <a:spLocks noChangeShapeType="1"/>
            </p:cNvSpPr>
            <p:nvPr/>
          </p:nvSpPr>
          <p:spPr bwMode="auto">
            <a:xfrm>
              <a:off x="4218" y="2349"/>
              <a:ext cx="300"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7" name="Line 15"/>
            <p:cNvSpPr>
              <a:spLocks noChangeShapeType="1"/>
            </p:cNvSpPr>
            <p:nvPr/>
          </p:nvSpPr>
          <p:spPr bwMode="auto">
            <a:xfrm>
              <a:off x="4508" y="2351"/>
              <a:ext cx="0" cy="311"/>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8" name="Line 16"/>
            <p:cNvSpPr>
              <a:spLocks noChangeShapeType="1"/>
            </p:cNvSpPr>
            <p:nvPr/>
          </p:nvSpPr>
          <p:spPr bwMode="auto">
            <a:xfrm flipH="1">
              <a:off x="1952" y="2662"/>
              <a:ext cx="2556" cy="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9" name="Line 17"/>
            <p:cNvSpPr>
              <a:spLocks noChangeShapeType="1"/>
            </p:cNvSpPr>
            <p:nvPr/>
          </p:nvSpPr>
          <p:spPr bwMode="auto">
            <a:xfrm flipV="1">
              <a:off x="1952" y="2473"/>
              <a:ext cx="0" cy="189"/>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nvGrpSpPr>
            <p:cNvPr id="47135" name="Group 18"/>
            <p:cNvGrpSpPr/>
            <p:nvPr/>
          </p:nvGrpSpPr>
          <p:grpSpPr>
            <a:xfrm>
              <a:off x="1780" y="2217"/>
              <a:ext cx="681" cy="257"/>
              <a:chOff x="1780" y="2217"/>
              <a:chExt cx="681" cy="257"/>
            </a:xfrm>
          </p:grpSpPr>
          <p:sp>
            <p:nvSpPr>
              <p:cNvPr id="21" name="Rectangle 19" descr="宽上对角线"/>
              <p:cNvSpPr>
                <a:spLocks noChangeArrowheads="1"/>
              </p:cNvSpPr>
              <p:nvPr/>
            </p:nvSpPr>
            <p:spPr bwMode="auto">
              <a:xfrm>
                <a:off x="2117" y="2219"/>
                <a:ext cx="344" cy="255"/>
              </a:xfrm>
              <a:prstGeom prst="rect">
                <a:avLst/>
              </a:prstGeom>
              <a:noFill/>
              <a:ln w="9525">
                <a:solidFill>
                  <a:srgbClr val="003366"/>
                </a:solidFill>
                <a:miter lim="800000"/>
              </a:ln>
              <a:effectLst/>
              <a:extLst>
                <a:ext uri="{909E8E84-426E-40DD-AFC4-6F175D3DCCD1}">
                  <a14:hiddenFill xmlns:a14="http://schemas.microsoft.com/office/drawing/2010/main">
                    <a:pattFill prst="wdUpDiag">
                      <a:fgClr>
                        <a:srgbClr val="FCFDC6"/>
                      </a:fgClr>
                      <a:bgClr>
                        <a:srgbClr val="FFFFFF"/>
                      </a:bgClr>
                    </a:patt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2" name="Rectangle 20" descr="浅色上对角线"/>
              <p:cNvSpPr>
                <a:spLocks noChangeArrowheads="1"/>
              </p:cNvSpPr>
              <p:nvPr/>
            </p:nvSpPr>
            <p:spPr bwMode="auto">
              <a:xfrm>
                <a:off x="1780" y="2217"/>
                <a:ext cx="344" cy="255"/>
              </a:xfrm>
              <a:prstGeom prst="rect">
                <a:avLst/>
              </a:prstGeom>
              <a:pattFill prst="ltUpDiag">
                <a:fgClr>
                  <a:srgbClr val="000000"/>
                </a:fgClr>
                <a:bgClr>
                  <a:srgbClr val="FFFFFF"/>
                </a:bgClr>
              </a:pattFill>
              <a:ln w="9525">
                <a:solidFill>
                  <a:srgbClr val="003366"/>
                </a:solidFill>
                <a:miter lim="800000"/>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grpSp>
      <p:grpSp>
        <p:nvGrpSpPr>
          <p:cNvPr id="23" name="Group 21"/>
          <p:cNvGrpSpPr/>
          <p:nvPr/>
        </p:nvGrpSpPr>
        <p:grpSpPr>
          <a:xfrm>
            <a:off x="5365948" y="4192588"/>
            <a:ext cx="3238500" cy="706437"/>
            <a:chOff x="1301" y="2788"/>
            <a:chExt cx="2040" cy="445"/>
          </a:xfrm>
        </p:grpSpPr>
        <p:sp>
          <p:nvSpPr>
            <p:cNvPr id="24" name="Text Box 22"/>
            <p:cNvSpPr txBox="1">
              <a:spLocks noChangeArrowheads="1"/>
            </p:cNvSpPr>
            <p:nvPr/>
          </p:nvSpPr>
          <p:spPr bwMode="auto">
            <a:xfrm>
              <a:off x="1301" y="2788"/>
              <a:ext cx="184" cy="25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R="0" algn="ctr" defTabSz="914400" eaLnBrk="1" fontAlgn="auto" hangingPunct="1">
                <a:spcBef>
                  <a:spcPts val="0"/>
                </a:spcBef>
                <a:spcAft>
                  <a:spcPts val="0"/>
                </a:spcAft>
                <a:buClrTx/>
                <a:buSzTx/>
                <a:buFontTx/>
                <a:buNone/>
                <a:defRPr/>
              </a:pPr>
              <a:r>
                <a:rPr kumimoji="1" lang="en-US" altLang="zh-CN" sz="2000" kern="0" cap="none" spc="0" normalizeH="0" baseline="0" noProof="0">
                  <a:solidFill>
                    <a:srgbClr val="003366"/>
                  </a:solidFill>
                  <a:latin typeface="Times New Roman" panose="02020603050405020304" pitchFamily="18" charset="0"/>
                  <a:ea typeface="宋体" panose="02010600030101010101" pitchFamily="2" charset="-122"/>
                  <a:cs typeface="+mn-cs"/>
                </a:rPr>
                <a:t>h</a:t>
              </a:r>
            </a:p>
          </p:txBody>
        </p:sp>
        <p:sp>
          <p:nvSpPr>
            <p:cNvPr id="25" name="Line 23"/>
            <p:cNvSpPr>
              <a:spLocks noChangeShapeType="1"/>
            </p:cNvSpPr>
            <p:nvPr/>
          </p:nvSpPr>
          <p:spPr bwMode="auto">
            <a:xfrm>
              <a:off x="1530" y="2912"/>
              <a:ext cx="267"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6" name="Line 24"/>
            <p:cNvSpPr>
              <a:spLocks noChangeShapeType="1"/>
            </p:cNvSpPr>
            <p:nvPr/>
          </p:nvSpPr>
          <p:spPr bwMode="auto">
            <a:xfrm>
              <a:off x="2310" y="2910"/>
              <a:ext cx="422"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7" name="Line 25"/>
            <p:cNvSpPr>
              <a:spLocks noChangeShapeType="1"/>
            </p:cNvSpPr>
            <p:nvPr/>
          </p:nvSpPr>
          <p:spPr bwMode="auto">
            <a:xfrm flipH="1">
              <a:off x="1955" y="3233"/>
              <a:ext cx="766" cy="0"/>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8" name="Line 26"/>
            <p:cNvSpPr>
              <a:spLocks noChangeShapeType="1"/>
            </p:cNvSpPr>
            <p:nvPr/>
          </p:nvSpPr>
          <p:spPr bwMode="auto">
            <a:xfrm flipV="1">
              <a:off x="1955" y="3044"/>
              <a:ext cx="0" cy="189"/>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9" name="Line 27"/>
            <p:cNvSpPr>
              <a:spLocks noChangeShapeType="1"/>
            </p:cNvSpPr>
            <p:nvPr/>
          </p:nvSpPr>
          <p:spPr bwMode="auto">
            <a:xfrm flipV="1">
              <a:off x="2723" y="2911"/>
              <a:ext cx="0" cy="322"/>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30" name="Text Box 28"/>
            <p:cNvSpPr txBox="1">
              <a:spLocks noChangeArrowheads="1"/>
            </p:cNvSpPr>
            <p:nvPr/>
          </p:nvSpPr>
          <p:spPr bwMode="auto">
            <a:xfrm>
              <a:off x="2905" y="2853"/>
              <a:ext cx="436" cy="25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spAutoFit/>
            </a:bodyPr>
            <a:lstStyle/>
            <a:p>
              <a:pPr marR="0" algn="ctr" defTabSz="914400" eaLnBrk="1" fontAlgn="auto" hangingPunct="1">
                <a:spcBef>
                  <a:spcPts val="0"/>
                </a:spcBef>
                <a:spcAft>
                  <a:spcPts val="0"/>
                </a:spcAft>
                <a:buClrTx/>
                <a:buSzTx/>
                <a:buFontTx/>
                <a:buNone/>
                <a:defRPr/>
              </a:pPr>
              <a:r>
                <a:rPr kumimoji="1" lang="zh-CN" altLang="en-US" sz="2000" kern="0" cap="none" spc="0" normalizeH="0" baseline="0" noProof="0">
                  <a:solidFill>
                    <a:srgbClr val="003366"/>
                  </a:solidFill>
                  <a:latin typeface="Times New Roman" panose="02020603050405020304" pitchFamily="18" charset="0"/>
                  <a:ea typeface="宋体" panose="02010600030101010101" pitchFamily="2" charset="-122"/>
                  <a:cs typeface="+mn-cs"/>
                </a:rPr>
                <a:t>空表</a:t>
              </a:r>
            </a:p>
          </p:txBody>
        </p:sp>
        <p:grpSp>
          <p:nvGrpSpPr>
            <p:cNvPr id="47118" name="Group 29"/>
            <p:cNvGrpSpPr/>
            <p:nvPr/>
          </p:nvGrpSpPr>
          <p:grpSpPr>
            <a:xfrm>
              <a:off x="1786" y="2793"/>
              <a:ext cx="681" cy="255"/>
              <a:chOff x="1786" y="2793"/>
              <a:chExt cx="681" cy="255"/>
            </a:xfrm>
          </p:grpSpPr>
          <p:sp>
            <p:nvSpPr>
              <p:cNvPr id="32" name="Rectangle 30" descr="宽上对角线"/>
              <p:cNvSpPr>
                <a:spLocks noChangeArrowheads="1"/>
              </p:cNvSpPr>
              <p:nvPr/>
            </p:nvSpPr>
            <p:spPr bwMode="auto">
              <a:xfrm>
                <a:off x="2123" y="2793"/>
                <a:ext cx="344" cy="255"/>
              </a:xfrm>
              <a:prstGeom prst="rect">
                <a:avLst/>
              </a:prstGeom>
              <a:noFill/>
              <a:ln w="9525">
                <a:solidFill>
                  <a:srgbClr val="003366"/>
                </a:solidFill>
                <a:miter lim="800000"/>
              </a:ln>
              <a:effectLst/>
              <a:extLst>
                <a:ext uri="{909E8E84-426E-40DD-AFC4-6F175D3DCCD1}">
                  <a14:hiddenFill xmlns:a14="http://schemas.microsoft.com/office/drawing/2010/main">
                    <a:pattFill prst="wdUpDiag">
                      <a:fgClr>
                        <a:srgbClr val="FCFDC6"/>
                      </a:fgClr>
                      <a:bgClr>
                        <a:srgbClr val="FFFFFF"/>
                      </a:bgClr>
                    </a:patt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33" name="Rectangle 31" descr="浅色上对角线"/>
              <p:cNvSpPr>
                <a:spLocks noChangeArrowheads="1"/>
              </p:cNvSpPr>
              <p:nvPr/>
            </p:nvSpPr>
            <p:spPr bwMode="auto">
              <a:xfrm>
                <a:off x="1786" y="2793"/>
                <a:ext cx="344" cy="255"/>
              </a:xfrm>
              <a:prstGeom prst="rect">
                <a:avLst/>
              </a:prstGeom>
              <a:pattFill prst="ltUpDiag">
                <a:fgClr>
                  <a:srgbClr val="000000"/>
                </a:fgClr>
                <a:bgClr>
                  <a:srgbClr val="FFFFFF"/>
                </a:bgClr>
              </a:pattFill>
              <a:ln w="9525">
                <a:solidFill>
                  <a:srgbClr val="003366"/>
                </a:solidFill>
                <a:miter lim="800000"/>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gr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0-#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循环链表</a:t>
            </a:r>
          </a:p>
        </p:txBody>
      </p:sp>
      <p:sp>
        <p:nvSpPr>
          <p:cNvPr id="3" name="内容占位符 2"/>
          <p:cNvSpPr>
            <a:spLocks noGrp="1"/>
          </p:cNvSpPr>
          <p:nvPr>
            <p:ph idx="1"/>
          </p:nvPr>
        </p:nvSpPr>
        <p:spPr>
          <a:xfrm>
            <a:off x="468313" y="1125538"/>
            <a:ext cx="8207375" cy="1929136"/>
          </a:xfrm>
        </p:spPr>
        <p:txBody>
          <a:bodyPr/>
          <a:lstStyle/>
          <a:p>
            <a:r>
              <a:rPr lang="zh-CN" altLang="en-US" dirty="0"/>
              <a:t>对循环链表，有时不给出头指针，而给出尾指针</a:t>
            </a:r>
          </a:p>
          <a:p>
            <a:pPr lvl="1"/>
            <a:r>
              <a:rPr lang="zh-CN" altLang="en-US" dirty="0"/>
              <a:t>可以更方便的找到第一个和最后一个结点</a:t>
            </a:r>
          </a:p>
        </p:txBody>
      </p:sp>
      <p:grpSp>
        <p:nvGrpSpPr>
          <p:cNvPr id="4" name="Group 43"/>
          <p:cNvGrpSpPr/>
          <p:nvPr/>
        </p:nvGrpSpPr>
        <p:grpSpPr bwMode="auto">
          <a:xfrm>
            <a:off x="774700" y="3068960"/>
            <a:ext cx="8097837" cy="1703388"/>
            <a:chOff x="404" y="2789"/>
            <a:chExt cx="5101" cy="1073"/>
          </a:xfrm>
        </p:grpSpPr>
        <p:sp>
          <p:nvSpPr>
            <p:cNvPr id="5" name="Line 44"/>
            <p:cNvSpPr>
              <a:spLocks noChangeShapeType="1"/>
            </p:cNvSpPr>
            <p:nvPr/>
          </p:nvSpPr>
          <p:spPr bwMode="auto">
            <a:xfrm flipV="1">
              <a:off x="4998" y="3265"/>
              <a:ext cx="1" cy="32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bIns="36000"/>
            <a:lstStyle/>
            <a:p>
              <a:endParaRPr lang="zh-CN" altLang="en-US"/>
            </a:p>
          </p:txBody>
        </p:sp>
        <p:sp>
          <p:nvSpPr>
            <p:cNvPr id="6" name="Text Box 45"/>
            <p:cNvSpPr txBox="1">
              <a:spLocks noChangeArrowheads="1"/>
            </p:cNvSpPr>
            <p:nvPr/>
          </p:nvSpPr>
          <p:spPr bwMode="auto">
            <a:xfrm>
              <a:off x="4772" y="3570"/>
              <a:ext cx="48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36000"/>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r>
                <a:rPr lang="en-US" altLang="zh-CN" sz="2400" b="1">
                  <a:solidFill>
                    <a:schemeClr val="tx2"/>
                  </a:solidFill>
                  <a:ea typeface="宋体" panose="02010600030101010101" pitchFamily="2" charset="-122"/>
                </a:rPr>
                <a:t>rear</a:t>
              </a:r>
            </a:p>
          </p:txBody>
        </p:sp>
        <p:sp>
          <p:nvSpPr>
            <p:cNvPr id="7" name="Line 46"/>
            <p:cNvSpPr>
              <a:spLocks noChangeShapeType="1"/>
            </p:cNvSpPr>
            <p:nvPr/>
          </p:nvSpPr>
          <p:spPr bwMode="auto">
            <a:xfrm>
              <a:off x="4390" y="3161"/>
              <a:ext cx="199" cy="0"/>
            </a:xfrm>
            <a:prstGeom prst="line">
              <a:avLst/>
            </a:prstGeom>
            <a:noFill/>
            <a:ln w="28575">
              <a:solidFill>
                <a:srgbClr val="006666"/>
              </a:solidFill>
              <a:prstDash val="dash"/>
              <a:round/>
            </a:ln>
            <a:extLst>
              <a:ext uri="{909E8E84-426E-40DD-AFC4-6F175D3DCCD1}">
                <a14:hiddenFill xmlns:a14="http://schemas.microsoft.com/office/drawing/2010/main">
                  <a:noFill/>
                </a14:hiddenFill>
              </a:ext>
            </a:extLst>
          </p:spPr>
          <p:txBody>
            <a:bodyPr bIns="36000"/>
            <a:lstStyle/>
            <a:p>
              <a:endParaRPr lang="zh-CN" altLang="en-US"/>
            </a:p>
          </p:txBody>
        </p:sp>
        <p:sp>
          <p:nvSpPr>
            <p:cNvPr id="8" name="Text Box 47"/>
            <p:cNvSpPr txBox="1">
              <a:spLocks noChangeArrowheads="1"/>
            </p:cNvSpPr>
            <p:nvPr/>
          </p:nvSpPr>
          <p:spPr bwMode="auto">
            <a:xfrm>
              <a:off x="1481" y="2979"/>
              <a:ext cx="567" cy="272"/>
            </a:xfrm>
            <a:prstGeom prst="rect">
              <a:avLst/>
            </a:prstGeom>
            <a:solidFill>
              <a:srgbClr val="FFFF00"/>
            </a:solidFill>
            <a:ln w="28575">
              <a:solidFill>
                <a:schemeClr val="accent1"/>
              </a:solidFill>
              <a:miter lim="800000"/>
            </a:ln>
          </p:spPr>
          <p:txBody>
            <a:bodyPr tIns="0" rIns="0" bIns="72000"/>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lnSpc>
                  <a:spcPct val="90000"/>
                </a:lnSpc>
              </a:pPr>
              <a:r>
                <a:rPr lang="en-US" altLang="zh-CN" sz="2400" b="1" i="1">
                  <a:solidFill>
                    <a:schemeClr val="tx2"/>
                  </a:solidFill>
                  <a:ea typeface="华文行楷" panose="02010800040101010101" pitchFamily="2" charset="-122"/>
                </a:rPr>
                <a:t>a</a:t>
              </a:r>
              <a:r>
                <a:rPr lang="en-US" altLang="zh-CN" sz="2400" b="1" baseline="-25000">
                  <a:solidFill>
                    <a:schemeClr val="tx2"/>
                  </a:solidFill>
                  <a:ea typeface="华文行楷" panose="02010800040101010101" pitchFamily="2" charset="-122"/>
                </a:rPr>
                <a:t>1</a:t>
              </a:r>
            </a:p>
          </p:txBody>
        </p:sp>
        <p:sp>
          <p:nvSpPr>
            <p:cNvPr id="9" name="Line 48"/>
            <p:cNvSpPr>
              <a:spLocks noChangeShapeType="1"/>
            </p:cNvSpPr>
            <p:nvPr/>
          </p:nvSpPr>
          <p:spPr bwMode="auto">
            <a:xfrm>
              <a:off x="1792" y="2979"/>
              <a:ext cx="0" cy="272"/>
            </a:xfrm>
            <a:prstGeom prst="line">
              <a:avLst/>
            </a:prstGeom>
            <a:noFill/>
            <a:ln w="28575">
              <a:solidFill>
                <a:schemeClr val="accent1"/>
              </a:solidFill>
              <a:round/>
            </a:ln>
            <a:extLst>
              <a:ext uri="{909E8E84-426E-40DD-AFC4-6F175D3DCCD1}">
                <a14:hiddenFill xmlns:a14="http://schemas.microsoft.com/office/drawing/2010/main">
                  <a:noFill/>
                </a14:hiddenFill>
              </a:ext>
            </a:extLst>
          </p:spPr>
          <p:txBody>
            <a:bodyPr wrap="none" bIns="72000" anchor="ctr"/>
            <a:lstStyle/>
            <a:p>
              <a:endParaRPr lang="zh-CN" altLang="en-US"/>
            </a:p>
          </p:txBody>
        </p:sp>
        <p:sp>
          <p:nvSpPr>
            <p:cNvPr id="10" name="Text Box 49"/>
            <p:cNvSpPr txBox="1">
              <a:spLocks noChangeArrowheads="1"/>
            </p:cNvSpPr>
            <p:nvPr/>
          </p:nvSpPr>
          <p:spPr bwMode="auto">
            <a:xfrm>
              <a:off x="646" y="2988"/>
              <a:ext cx="567" cy="272"/>
            </a:xfrm>
            <a:prstGeom prst="rect">
              <a:avLst/>
            </a:prstGeom>
            <a:solidFill>
              <a:srgbClr val="FFFF00"/>
            </a:solidFill>
            <a:ln w="28575">
              <a:solidFill>
                <a:schemeClr val="accent1"/>
              </a:solidFill>
              <a:miter lim="800000"/>
            </a:ln>
          </p:spPr>
          <p:txBody>
            <a:bodyPr tIns="0" rIns="0" bIns="72000"/>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lnSpc>
                  <a:spcPct val="90000"/>
                </a:lnSpc>
              </a:pPr>
              <a:endParaRPr lang="en-US" altLang="zh-CN" sz="2400" b="1" baseline="-25000">
                <a:solidFill>
                  <a:schemeClr val="tx2"/>
                </a:solidFill>
                <a:ea typeface="华文行楷" panose="02010800040101010101" pitchFamily="2" charset="-122"/>
              </a:endParaRPr>
            </a:p>
          </p:txBody>
        </p:sp>
        <p:sp>
          <p:nvSpPr>
            <p:cNvPr id="11" name="Line 50"/>
            <p:cNvSpPr>
              <a:spLocks noChangeShapeType="1"/>
            </p:cNvSpPr>
            <p:nvPr/>
          </p:nvSpPr>
          <p:spPr bwMode="auto">
            <a:xfrm>
              <a:off x="957" y="2988"/>
              <a:ext cx="0" cy="272"/>
            </a:xfrm>
            <a:prstGeom prst="line">
              <a:avLst/>
            </a:prstGeom>
            <a:noFill/>
            <a:ln w="28575">
              <a:solidFill>
                <a:schemeClr val="accent1"/>
              </a:solidFill>
              <a:round/>
            </a:ln>
            <a:extLst>
              <a:ext uri="{909E8E84-426E-40DD-AFC4-6F175D3DCCD1}">
                <a14:hiddenFill xmlns:a14="http://schemas.microsoft.com/office/drawing/2010/main">
                  <a:noFill/>
                </a14:hiddenFill>
              </a:ext>
            </a:extLst>
          </p:spPr>
          <p:txBody>
            <a:bodyPr wrap="none" bIns="72000" anchor="ctr"/>
            <a:lstStyle/>
            <a:p>
              <a:endParaRPr lang="zh-CN" altLang="en-US"/>
            </a:p>
          </p:txBody>
        </p:sp>
        <p:sp>
          <p:nvSpPr>
            <p:cNvPr id="12" name="Text Box 51" descr="宽上对角线"/>
            <p:cNvSpPr txBox="1">
              <a:spLocks noChangeArrowheads="1"/>
            </p:cNvSpPr>
            <p:nvPr/>
          </p:nvSpPr>
          <p:spPr bwMode="auto">
            <a:xfrm>
              <a:off x="656" y="2996"/>
              <a:ext cx="275" cy="291"/>
            </a:xfrm>
            <a:prstGeom prst="rect">
              <a:avLst/>
            </a:prstGeom>
            <a:solidFill>
              <a:srgbClr val="FFFF00"/>
            </a:solid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20000"/>
                </a:spcBef>
              </a:pPr>
              <a:endParaRPr lang="zh-CN" altLang="en-US" sz="2400" b="1">
                <a:solidFill>
                  <a:schemeClr val="tx2"/>
                </a:solidFill>
                <a:latin typeface="Arial" panose="020B0604020202020204" pitchFamily="34" charset="0"/>
                <a:ea typeface="华文行楷" panose="02010800040101010101" pitchFamily="2" charset="-122"/>
              </a:endParaRPr>
            </a:p>
          </p:txBody>
        </p:sp>
        <p:sp>
          <p:nvSpPr>
            <p:cNvPr id="13" name="Line 52"/>
            <p:cNvSpPr>
              <a:spLocks noChangeShapeType="1"/>
            </p:cNvSpPr>
            <p:nvPr/>
          </p:nvSpPr>
          <p:spPr bwMode="auto">
            <a:xfrm>
              <a:off x="1131" y="3163"/>
              <a:ext cx="340"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bIns="36000"/>
            <a:lstStyle/>
            <a:p>
              <a:endParaRPr lang="zh-CN" altLang="en-US"/>
            </a:p>
          </p:txBody>
        </p:sp>
        <p:sp>
          <p:nvSpPr>
            <p:cNvPr id="14" name="Text Box 53"/>
            <p:cNvSpPr txBox="1">
              <a:spLocks noChangeArrowheads="1"/>
            </p:cNvSpPr>
            <p:nvPr/>
          </p:nvSpPr>
          <p:spPr bwMode="auto">
            <a:xfrm>
              <a:off x="2763" y="2978"/>
              <a:ext cx="567" cy="272"/>
            </a:xfrm>
            <a:prstGeom prst="rect">
              <a:avLst/>
            </a:prstGeom>
            <a:solidFill>
              <a:srgbClr val="FFFF00"/>
            </a:solidFill>
            <a:ln w="28575">
              <a:solidFill>
                <a:schemeClr val="accent1"/>
              </a:solidFill>
              <a:miter lim="800000"/>
            </a:ln>
          </p:spPr>
          <p:txBody>
            <a:bodyPr lIns="18000" tIns="0" rIns="0" bIns="72000"/>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lnSpc>
                  <a:spcPct val="90000"/>
                </a:lnSpc>
              </a:pPr>
              <a:r>
                <a:rPr lang="en-US" altLang="zh-CN" sz="2400" b="1" i="1">
                  <a:solidFill>
                    <a:schemeClr val="tx2"/>
                  </a:solidFill>
                  <a:ea typeface="华文行楷" panose="02010800040101010101" pitchFamily="2" charset="-122"/>
                </a:rPr>
                <a:t>a</a:t>
              </a:r>
              <a:r>
                <a:rPr lang="en-US" altLang="zh-CN" sz="2400" b="1" i="1" baseline="-25000">
                  <a:solidFill>
                    <a:schemeClr val="tx2"/>
                  </a:solidFill>
                  <a:ea typeface="华文行楷" panose="02010800040101010101" pitchFamily="2" charset="-122"/>
                </a:rPr>
                <a:t>i</a:t>
              </a:r>
              <a:r>
                <a:rPr lang="en-US" altLang="zh-CN" sz="2400" b="1" baseline="-25000">
                  <a:solidFill>
                    <a:schemeClr val="tx2"/>
                  </a:solidFill>
                  <a:ea typeface="华文行楷" panose="02010800040101010101" pitchFamily="2" charset="-122"/>
                </a:rPr>
                <a:t>-1</a:t>
              </a:r>
            </a:p>
          </p:txBody>
        </p:sp>
        <p:sp>
          <p:nvSpPr>
            <p:cNvPr id="15" name="Line 54"/>
            <p:cNvSpPr>
              <a:spLocks noChangeShapeType="1"/>
            </p:cNvSpPr>
            <p:nvPr/>
          </p:nvSpPr>
          <p:spPr bwMode="auto">
            <a:xfrm>
              <a:off x="3074" y="2978"/>
              <a:ext cx="0" cy="272"/>
            </a:xfrm>
            <a:prstGeom prst="line">
              <a:avLst/>
            </a:prstGeom>
            <a:noFill/>
            <a:ln w="28575">
              <a:solidFill>
                <a:schemeClr val="accent1"/>
              </a:solidFill>
              <a:round/>
            </a:ln>
            <a:extLst>
              <a:ext uri="{909E8E84-426E-40DD-AFC4-6F175D3DCCD1}">
                <a14:hiddenFill xmlns:a14="http://schemas.microsoft.com/office/drawing/2010/main">
                  <a:noFill/>
                </a14:hiddenFill>
              </a:ext>
            </a:extLst>
          </p:spPr>
          <p:txBody>
            <a:bodyPr wrap="none" bIns="72000" anchor="ctr"/>
            <a:lstStyle/>
            <a:p>
              <a:endParaRPr lang="zh-CN" altLang="en-US"/>
            </a:p>
          </p:txBody>
        </p:sp>
        <p:sp>
          <p:nvSpPr>
            <p:cNvPr id="16" name="Text Box 55"/>
            <p:cNvSpPr txBox="1">
              <a:spLocks noChangeArrowheads="1"/>
            </p:cNvSpPr>
            <p:nvPr/>
          </p:nvSpPr>
          <p:spPr bwMode="auto">
            <a:xfrm>
              <a:off x="4817" y="2978"/>
              <a:ext cx="567" cy="272"/>
            </a:xfrm>
            <a:prstGeom prst="rect">
              <a:avLst/>
            </a:prstGeom>
            <a:solidFill>
              <a:srgbClr val="FFFF00"/>
            </a:solidFill>
            <a:ln w="28575">
              <a:solidFill>
                <a:schemeClr val="accent1"/>
              </a:solidFill>
              <a:miter lim="800000"/>
            </a:ln>
          </p:spPr>
          <p:txBody>
            <a:bodyPr lIns="72000" tIns="0" rIns="0" bIns="72000"/>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lnSpc>
                  <a:spcPct val="90000"/>
                </a:lnSpc>
              </a:pPr>
              <a:r>
                <a:rPr lang="en-US" altLang="zh-CN" sz="2400" b="1" i="1">
                  <a:solidFill>
                    <a:schemeClr val="tx2"/>
                  </a:solidFill>
                  <a:ea typeface="华文行楷" panose="02010800040101010101" pitchFamily="2" charset="-122"/>
                </a:rPr>
                <a:t>a</a:t>
              </a:r>
              <a:r>
                <a:rPr lang="en-US" altLang="zh-CN" sz="2400" b="1" i="1" baseline="-25000">
                  <a:solidFill>
                    <a:schemeClr val="tx2"/>
                  </a:solidFill>
                  <a:ea typeface="华文行楷" panose="02010800040101010101" pitchFamily="2" charset="-122"/>
                </a:rPr>
                <a:t>n</a:t>
              </a:r>
            </a:p>
          </p:txBody>
        </p:sp>
        <p:sp>
          <p:nvSpPr>
            <p:cNvPr id="17" name="Line 56"/>
            <p:cNvSpPr>
              <a:spLocks noChangeShapeType="1"/>
            </p:cNvSpPr>
            <p:nvPr/>
          </p:nvSpPr>
          <p:spPr bwMode="auto">
            <a:xfrm>
              <a:off x="5128" y="2978"/>
              <a:ext cx="0" cy="272"/>
            </a:xfrm>
            <a:prstGeom prst="line">
              <a:avLst/>
            </a:prstGeom>
            <a:noFill/>
            <a:ln w="28575">
              <a:solidFill>
                <a:schemeClr val="accent1"/>
              </a:solidFill>
              <a:round/>
            </a:ln>
            <a:extLst>
              <a:ext uri="{909E8E84-426E-40DD-AFC4-6F175D3DCCD1}">
                <a14:hiddenFill xmlns:a14="http://schemas.microsoft.com/office/drawing/2010/main">
                  <a:noFill/>
                </a14:hiddenFill>
              </a:ext>
            </a:extLst>
          </p:spPr>
          <p:txBody>
            <a:bodyPr wrap="none" bIns="72000" anchor="ctr"/>
            <a:lstStyle/>
            <a:p>
              <a:endParaRPr lang="zh-CN" altLang="en-US"/>
            </a:p>
          </p:txBody>
        </p:sp>
        <p:sp>
          <p:nvSpPr>
            <p:cNvPr id="18" name="Text Box 57"/>
            <p:cNvSpPr txBox="1">
              <a:spLocks noChangeArrowheads="1"/>
            </p:cNvSpPr>
            <p:nvPr/>
          </p:nvSpPr>
          <p:spPr bwMode="auto">
            <a:xfrm>
              <a:off x="3602" y="2978"/>
              <a:ext cx="567" cy="272"/>
            </a:xfrm>
            <a:prstGeom prst="rect">
              <a:avLst/>
            </a:prstGeom>
            <a:solidFill>
              <a:srgbClr val="FFFF00"/>
            </a:solidFill>
            <a:ln w="28575">
              <a:solidFill>
                <a:schemeClr val="accent1"/>
              </a:solidFill>
              <a:miter lim="800000"/>
            </a:ln>
          </p:spPr>
          <p:txBody>
            <a:bodyPr lIns="72000" tIns="0" rIns="0" bIns="72000"/>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lnSpc>
                  <a:spcPct val="90000"/>
                </a:lnSpc>
              </a:pPr>
              <a:r>
                <a:rPr lang="en-US" altLang="zh-CN" sz="2400" b="1" i="1">
                  <a:solidFill>
                    <a:schemeClr val="tx2"/>
                  </a:solidFill>
                  <a:ea typeface="华文行楷" panose="02010800040101010101" pitchFamily="2" charset="-122"/>
                </a:rPr>
                <a:t>a</a:t>
              </a:r>
              <a:r>
                <a:rPr lang="en-US" altLang="zh-CN" sz="2400" b="1" i="1" baseline="-25000">
                  <a:solidFill>
                    <a:schemeClr val="tx2"/>
                  </a:solidFill>
                  <a:ea typeface="华文行楷" panose="02010800040101010101" pitchFamily="2" charset="-122"/>
                </a:rPr>
                <a:t>i</a:t>
              </a:r>
            </a:p>
          </p:txBody>
        </p:sp>
        <p:sp>
          <p:nvSpPr>
            <p:cNvPr id="19" name="Line 58"/>
            <p:cNvSpPr>
              <a:spLocks noChangeShapeType="1"/>
            </p:cNvSpPr>
            <p:nvPr/>
          </p:nvSpPr>
          <p:spPr bwMode="auto">
            <a:xfrm>
              <a:off x="3913" y="2978"/>
              <a:ext cx="0" cy="272"/>
            </a:xfrm>
            <a:prstGeom prst="line">
              <a:avLst/>
            </a:prstGeom>
            <a:noFill/>
            <a:ln w="28575">
              <a:solidFill>
                <a:schemeClr val="accent1"/>
              </a:solidFill>
              <a:round/>
            </a:ln>
            <a:extLst>
              <a:ext uri="{909E8E84-426E-40DD-AFC4-6F175D3DCCD1}">
                <a14:hiddenFill xmlns:a14="http://schemas.microsoft.com/office/drawing/2010/main">
                  <a:noFill/>
                </a14:hiddenFill>
              </a:ext>
            </a:extLst>
          </p:spPr>
          <p:txBody>
            <a:bodyPr wrap="none" bIns="72000" anchor="ctr"/>
            <a:lstStyle/>
            <a:p>
              <a:endParaRPr lang="zh-CN" altLang="en-US"/>
            </a:p>
          </p:txBody>
        </p:sp>
        <p:sp>
          <p:nvSpPr>
            <p:cNvPr id="20" name="Line 59"/>
            <p:cNvSpPr>
              <a:spLocks noChangeShapeType="1"/>
            </p:cNvSpPr>
            <p:nvPr/>
          </p:nvSpPr>
          <p:spPr bwMode="auto">
            <a:xfrm>
              <a:off x="4119" y="3162"/>
              <a:ext cx="212"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bIns="36000"/>
            <a:lstStyle/>
            <a:p>
              <a:endParaRPr lang="zh-CN" altLang="en-US"/>
            </a:p>
          </p:txBody>
        </p:sp>
        <p:sp>
          <p:nvSpPr>
            <p:cNvPr id="21" name="Line 60"/>
            <p:cNvSpPr>
              <a:spLocks noChangeShapeType="1"/>
            </p:cNvSpPr>
            <p:nvPr/>
          </p:nvSpPr>
          <p:spPr bwMode="auto">
            <a:xfrm flipV="1">
              <a:off x="4623" y="3162"/>
              <a:ext cx="181"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bIns="36000"/>
            <a:lstStyle/>
            <a:p>
              <a:endParaRPr lang="zh-CN" altLang="en-US"/>
            </a:p>
          </p:txBody>
        </p:sp>
        <p:sp>
          <p:nvSpPr>
            <p:cNvPr id="22" name="Line 61"/>
            <p:cNvSpPr>
              <a:spLocks noChangeShapeType="1"/>
            </p:cNvSpPr>
            <p:nvPr/>
          </p:nvSpPr>
          <p:spPr bwMode="auto">
            <a:xfrm>
              <a:off x="3241" y="3153"/>
              <a:ext cx="340"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bIns="36000"/>
            <a:lstStyle/>
            <a:p>
              <a:endParaRPr lang="zh-CN" altLang="en-US"/>
            </a:p>
          </p:txBody>
        </p:sp>
        <p:sp>
          <p:nvSpPr>
            <p:cNvPr id="23" name="Line 62"/>
            <p:cNvSpPr>
              <a:spLocks noChangeShapeType="1"/>
            </p:cNvSpPr>
            <p:nvPr/>
          </p:nvSpPr>
          <p:spPr bwMode="auto">
            <a:xfrm>
              <a:off x="2279" y="3161"/>
              <a:ext cx="199" cy="0"/>
            </a:xfrm>
            <a:prstGeom prst="line">
              <a:avLst/>
            </a:prstGeom>
            <a:noFill/>
            <a:ln w="28575">
              <a:solidFill>
                <a:srgbClr val="006666"/>
              </a:solidFill>
              <a:prstDash val="dash"/>
              <a:round/>
            </a:ln>
            <a:extLst>
              <a:ext uri="{909E8E84-426E-40DD-AFC4-6F175D3DCCD1}">
                <a14:hiddenFill xmlns:a14="http://schemas.microsoft.com/office/drawing/2010/main">
                  <a:noFill/>
                </a14:hiddenFill>
              </a:ext>
            </a:extLst>
          </p:spPr>
          <p:txBody>
            <a:bodyPr bIns="36000"/>
            <a:lstStyle/>
            <a:p>
              <a:endParaRPr lang="zh-CN" altLang="en-US"/>
            </a:p>
          </p:txBody>
        </p:sp>
        <p:sp>
          <p:nvSpPr>
            <p:cNvPr id="24" name="Line 63"/>
            <p:cNvSpPr>
              <a:spLocks noChangeShapeType="1"/>
            </p:cNvSpPr>
            <p:nvPr/>
          </p:nvSpPr>
          <p:spPr bwMode="auto">
            <a:xfrm>
              <a:off x="1971" y="3162"/>
              <a:ext cx="258"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bIns="36000"/>
            <a:lstStyle/>
            <a:p>
              <a:endParaRPr lang="zh-CN" altLang="en-US"/>
            </a:p>
          </p:txBody>
        </p:sp>
        <p:sp>
          <p:nvSpPr>
            <p:cNvPr id="25" name="Line 64"/>
            <p:cNvSpPr>
              <a:spLocks noChangeShapeType="1"/>
            </p:cNvSpPr>
            <p:nvPr/>
          </p:nvSpPr>
          <p:spPr bwMode="auto">
            <a:xfrm flipV="1">
              <a:off x="2539" y="3162"/>
              <a:ext cx="227"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bIns="36000"/>
            <a:lstStyle/>
            <a:p>
              <a:endParaRPr lang="zh-CN" altLang="en-US"/>
            </a:p>
          </p:txBody>
        </p:sp>
        <p:grpSp>
          <p:nvGrpSpPr>
            <p:cNvPr id="26" name="Group 65"/>
            <p:cNvGrpSpPr/>
            <p:nvPr/>
          </p:nvGrpSpPr>
          <p:grpSpPr bwMode="auto">
            <a:xfrm flipV="1">
              <a:off x="404" y="2789"/>
              <a:ext cx="5101" cy="375"/>
              <a:chOff x="439" y="1549"/>
              <a:chExt cx="5101" cy="375"/>
            </a:xfrm>
          </p:grpSpPr>
          <p:sp>
            <p:nvSpPr>
              <p:cNvPr id="27" name="Line 66"/>
              <p:cNvSpPr>
                <a:spLocks noChangeShapeType="1"/>
              </p:cNvSpPr>
              <p:nvPr/>
            </p:nvSpPr>
            <p:spPr bwMode="auto">
              <a:xfrm flipH="1">
                <a:off x="5376" y="1558"/>
                <a:ext cx="155" cy="0"/>
              </a:xfrm>
              <a:prstGeom prst="line">
                <a:avLst/>
              </a:prstGeom>
              <a:noFill/>
              <a:ln w="28575">
                <a:solidFill>
                  <a:srgbClr val="006666"/>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 name="Line 67"/>
              <p:cNvSpPr>
                <a:spLocks noChangeShapeType="1"/>
              </p:cNvSpPr>
              <p:nvPr/>
            </p:nvSpPr>
            <p:spPr bwMode="auto">
              <a:xfrm flipH="1" flipV="1">
                <a:off x="5540" y="1549"/>
                <a:ext cx="0" cy="357"/>
              </a:xfrm>
              <a:prstGeom prst="line">
                <a:avLst/>
              </a:prstGeom>
              <a:noFill/>
              <a:ln w="28575">
                <a:solidFill>
                  <a:srgbClr val="006666"/>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9" name="Line 68"/>
              <p:cNvSpPr>
                <a:spLocks noChangeShapeType="1"/>
              </p:cNvSpPr>
              <p:nvPr/>
            </p:nvSpPr>
            <p:spPr bwMode="auto">
              <a:xfrm>
                <a:off x="439" y="1915"/>
                <a:ext cx="5101" cy="0"/>
              </a:xfrm>
              <a:prstGeom prst="line">
                <a:avLst/>
              </a:prstGeom>
              <a:noFill/>
              <a:ln w="28575">
                <a:solidFill>
                  <a:srgbClr val="006666"/>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0" name="Line 69"/>
              <p:cNvSpPr>
                <a:spLocks noChangeShapeType="1"/>
              </p:cNvSpPr>
              <p:nvPr/>
            </p:nvSpPr>
            <p:spPr bwMode="auto">
              <a:xfrm flipV="1">
                <a:off x="450" y="1613"/>
                <a:ext cx="0" cy="311"/>
              </a:xfrm>
              <a:prstGeom prst="line">
                <a:avLst/>
              </a:prstGeom>
              <a:noFill/>
              <a:ln w="28575">
                <a:solidFill>
                  <a:srgbClr val="006666"/>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1" name="Line 70"/>
              <p:cNvSpPr>
                <a:spLocks noChangeShapeType="1"/>
              </p:cNvSpPr>
              <p:nvPr/>
            </p:nvSpPr>
            <p:spPr bwMode="auto">
              <a:xfrm>
                <a:off x="448" y="1618"/>
                <a:ext cx="210" cy="0"/>
              </a:xfrm>
              <a:prstGeom prst="line">
                <a:avLst/>
              </a:prstGeom>
              <a:noFill/>
              <a:ln w="28575">
                <a:solidFill>
                  <a:srgbClr val="006666"/>
                </a:solidFill>
                <a:round/>
                <a:tailEnd type="stealth" w="lg"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sp>
        <p:nvSpPr>
          <p:cNvPr id="32" name="Text Box 74"/>
          <p:cNvSpPr txBox="1">
            <a:spLocks noChangeArrowheads="1"/>
          </p:cNvSpPr>
          <p:nvPr/>
        </p:nvSpPr>
        <p:spPr bwMode="auto">
          <a:xfrm>
            <a:off x="2204583" y="4515495"/>
            <a:ext cx="5322888" cy="1160463"/>
          </a:xfrm>
          <a:prstGeom prst="rect">
            <a:avLst/>
          </a:prstGeom>
          <a:noFill/>
          <a:ln w="38100">
            <a:solidFill>
              <a:srgbClr val="0000CC"/>
            </a:solidFill>
            <a:miter lim="800000"/>
          </a:ln>
          <a:extLst>
            <a:ext uri="{909E8E84-426E-40DD-AFC4-6F175D3DCCD1}">
              <a14:hiddenFill xmlns:a14="http://schemas.microsoft.com/office/drawing/2010/main">
                <a:solidFill>
                  <a:srgbClr val="FFFFFF"/>
                </a:solidFill>
              </a14:hiddenFill>
            </a:ext>
          </a:extLst>
        </p:spPr>
        <p:txBody>
          <a:bodyPr wrap="none"/>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eaLnBrk="1" hangingPunct="1">
              <a:spcBef>
                <a:spcPct val="20000"/>
              </a:spcBef>
            </a:pPr>
            <a:r>
              <a:rPr lang="zh-CN" altLang="en-US" sz="2400" b="1" dirty="0">
                <a:solidFill>
                  <a:schemeClr val="tx2"/>
                </a:solidFill>
                <a:ea typeface="宋体" panose="02010600030101010101" pitchFamily="2" charset="-122"/>
              </a:rPr>
              <a:t>开始结点：</a:t>
            </a:r>
            <a:r>
              <a:rPr lang="en-US" altLang="zh-CN" sz="2400" b="1" dirty="0">
                <a:solidFill>
                  <a:schemeClr val="tx2"/>
                </a:solidFill>
                <a:ea typeface="宋体" panose="02010600030101010101" pitchFamily="2" charset="-122"/>
              </a:rPr>
              <a:t>rear-&gt;next-&gt;next</a:t>
            </a:r>
          </a:p>
          <a:p>
            <a:pPr eaLnBrk="1" hangingPunct="1">
              <a:spcBef>
                <a:spcPct val="20000"/>
              </a:spcBef>
            </a:pPr>
            <a:r>
              <a:rPr lang="zh-CN" altLang="en-US" sz="2400" b="1" dirty="0">
                <a:solidFill>
                  <a:schemeClr val="tx2"/>
                </a:solidFill>
                <a:ea typeface="宋体" panose="02010600030101010101" pitchFamily="2" charset="-122"/>
              </a:rPr>
              <a:t>终端结点：</a:t>
            </a:r>
            <a:r>
              <a:rPr lang="en-US" altLang="zh-CN" sz="2400" b="1" dirty="0">
                <a:solidFill>
                  <a:schemeClr val="tx2"/>
                </a:solidFill>
                <a:ea typeface="宋体" panose="02010600030101010101" pitchFamily="2" charset="-122"/>
              </a:rPr>
              <a:t>rear</a:t>
            </a:r>
          </a:p>
        </p:txBody>
      </p:sp>
      <p:sp>
        <p:nvSpPr>
          <p:cNvPr id="33" name="灯片编号占位符 3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79</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双向链表（</a:t>
            </a:r>
            <a:r>
              <a:rPr lang="en-US" altLang="zh-CN" dirty="0">
                <a:latin typeface="+mj-lt"/>
                <a:ea typeface="+mj-ea"/>
                <a:cs typeface="+mj-cs"/>
              </a:rPr>
              <a:t>double linked list</a:t>
            </a:r>
            <a:r>
              <a:rPr lang="zh-CN" altLang="en-US" dirty="0">
                <a:latin typeface="+mj-lt"/>
                <a:ea typeface="+mj-ea"/>
                <a:cs typeface="+mj-cs"/>
              </a:rPr>
              <a:t>）</a:t>
            </a:r>
          </a:p>
        </p:txBody>
      </p:sp>
      <p:sp>
        <p:nvSpPr>
          <p:cNvPr id="48131" name="内容占位符 2"/>
          <p:cNvSpPr>
            <a:spLocks noGrp="1"/>
          </p:cNvSpPr>
          <p:nvPr>
            <p:ph idx="1"/>
          </p:nvPr>
        </p:nvSpPr>
        <p:spPr/>
        <p:txBody>
          <a:bodyPr vert="horz" wrap="square" lIns="91440" tIns="45720" rIns="91440" bIns="45720" anchor="t"/>
          <a:lstStyle/>
          <a:p>
            <a:r>
              <a:rPr lang="zh-CN" altLang="en-US" sz="2800" dirty="0">
                <a:latin typeface="+mn-lt"/>
                <a:ea typeface="+mn-ea"/>
                <a:cs typeface="+mn-cs"/>
              </a:rPr>
              <a:t>结点定义</a:t>
            </a:r>
          </a:p>
          <a:p>
            <a:endParaRPr lang="zh-CN" altLang="en-US" dirty="0">
              <a:latin typeface="+mn-lt"/>
              <a:ea typeface="+mn-ea"/>
              <a:cs typeface="+mn-cs"/>
            </a:endParaRPr>
          </a:p>
        </p:txBody>
      </p:sp>
      <p:sp>
        <p:nvSpPr>
          <p:cNvPr id="5" name="Text Box 3"/>
          <p:cNvSpPr txBox="1"/>
          <p:nvPr/>
        </p:nvSpPr>
        <p:spPr>
          <a:xfrm>
            <a:off x="809625" y="1550708"/>
            <a:ext cx="4854575" cy="1791260"/>
          </a:xfrm>
          <a:prstGeom prst="rect">
            <a:avLst/>
          </a:prstGeom>
          <a:noFill/>
          <a:ln w="9525">
            <a:noFill/>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typedef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DLNode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ElemType</a:t>
            </a:r>
            <a:r>
              <a:rPr lang="en-US" altLang="zh-CN" sz="2400" dirty="0">
                <a:latin typeface="Cambria Math" panose="02040503050406030204" pitchFamily="18" charset="0"/>
                <a:ea typeface="Cambria Math" panose="02040503050406030204" pitchFamily="18" charset="0"/>
                <a:cs typeface="Arial Unicode MS" panose="020B0604020202020204" charset="-122"/>
              </a:rPr>
              <a:t> data;</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DLNode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*prior,*next;</a:t>
            </a:r>
          </a:p>
          <a:p>
            <a:pPr marL="0" lv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DLNode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zh-CN" altLang="en-US"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DLinkList</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p:txBody>
      </p:sp>
      <p:grpSp>
        <p:nvGrpSpPr>
          <p:cNvPr id="6" name="Group 4"/>
          <p:cNvGrpSpPr/>
          <p:nvPr/>
        </p:nvGrpSpPr>
        <p:grpSpPr>
          <a:xfrm>
            <a:off x="823913" y="3522663"/>
            <a:ext cx="2614612" cy="425450"/>
            <a:chOff x="1265" y="2401"/>
            <a:chExt cx="1647" cy="268"/>
          </a:xfrm>
        </p:grpSpPr>
        <p:sp>
          <p:nvSpPr>
            <p:cNvPr id="48182" name="Rectangle 5"/>
            <p:cNvSpPr/>
            <p:nvPr/>
          </p:nvSpPr>
          <p:spPr>
            <a:xfrm>
              <a:off x="1310" y="2424"/>
              <a:ext cx="500" cy="245"/>
            </a:xfrm>
            <a:prstGeom prst="rect">
              <a:avLst/>
            </a:prstGeom>
            <a:noFill/>
            <a:ln w="9525" cap="flat" cmpd="sng">
              <a:solidFill>
                <a:schemeClr val="tx1"/>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83" name="Rectangle 6"/>
            <p:cNvSpPr/>
            <p:nvPr/>
          </p:nvSpPr>
          <p:spPr>
            <a:xfrm>
              <a:off x="1806" y="2424"/>
              <a:ext cx="600"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84" name="Rectangle 7"/>
            <p:cNvSpPr/>
            <p:nvPr/>
          </p:nvSpPr>
          <p:spPr>
            <a:xfrm>
              <a:off x="2412" y="2424"/>
              <a:ext cx="500" cy="245"/>
            </a:xfrm>
            <a:prstGeom prst="rect">
              <a:avLst/>
            </a:prstGeom>
            <a:noFill/>
            <a:ln w="9525" cap="flat" cmpd="sng">
              <a:solidFill>
                <a:schemeClr val="tx1"/>
              </a:solidFill>
              <a:prstDash val="solid"/>
              <a:miter/>
              <a:headEnd type="none" w="med" len="med"/>
              <a:tailEnd type="none" w="med" len="med"/>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85" name="Text Box 8"/>
            <p:cNvSpPr txBox="1"/>
            <p:nvPr/>
          </p:nvSpPr>
          <p:spPr>
            <a:xfrm>
              <a:off x="1265" y="2419"/>
              <a:ext cx="516" cy="2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latin typeface="楷体_GB2312" pitchFamily="49" charset="-122"/>
                  <a:ea typeface="楷体_GB2312" pitchFamily="49" charset="-122"/>
                </a:rPr>
                <a:t>prior</a:t>
              </a:r>
            </a:p>
          </p:txBody>
        </p:sp>
        <p:sp>
          <p:nvSpPr>
            <p:cNvPr id="48186" name="Text Box 9"/>
            <p:cNvSpPr txBox="1"/>
            <p:nvPr/>
          </p:nvSpPr>
          <p:spPr>
            <a:xfrm>
              <a:off x="1886" y="2415"/>
              <a:ext cx="439" cy="252"/>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latin typeface="楷体_GB2312" pitchFamily="49" charset="-122"/>
                  <a:ea typeface="楷体_GB2312" pitchFamily="49" charset="-122"/>
                </a:rPr>
                <a:t>data</a:t>
              </a:r>
            </a:p>
          </p:txBody>
        </p:sp>
        <p:sp>
          <p:nvSpPr>
            <p:cNvPr id="48187" name="Text Box 10"/>
            <p:cNvSpPr txBox="1"/>
            <p:nvPr/>
          </p:nvSpPr>
          <p:spPr>
            <a:xfrm>
              <a:off x="2431" y="2401"/>
              <a:ext cx="436" cy="2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latin typeface="楷体_GB2312" pitchFamily="49" charset="-122"/>
                  <a:ea typeface="楷体_GB2312" pitchFamily="49" charset="-122"/>
                </a:rPr>
                <a:t>next</a:t>
              </a:r>
            </a:p>
          </p:txBody>
        </p:sp>
      </p:grpSp>
      <p:grpSp>
        <p:nvGrpSpPr>
          <p:cNvPr id="13" name="Group 11"/>
          <p:cNvGrpSpPr/>
          <p:nvPr/>
        </p:nvGrpSpPr>
        <p:grpSpPr>
          <a:xfrm>
            <a:off x="4143375" y="4044954"/>
            <a:ext cx="4141788" cy="452438"/>
            <a:chOff x="1022" y="2029"/>
            <a:chExt cx="2609" cy="285"/>
          </a:xfrm>
        </p:grpSpPr>
        <p:sp>
          <p:nvSpPr>
            <p:cNvPr id="48168" name="Rectangle 12"/>
            <p:cNvSpPr/>
            <p:nvPr/>
          </p:nvSpPr>
          <p:spPr>
            <a:xfrm>
              <a:off x="2561" y="2069"/>
              <a:ext cx="378"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69" name="Rectangle 13" descr="浅色上对角线"/>
            <p:cNvSpPr/>
            <p:nvPr/>
          </p:nvSpPr>
          <p:spPr>
            <a:xfrm>
              <a:off x="2946" y="2069"/>
              <a:ext cx="356" cy="245"/>
            </a:xfrm>
            <a:prstGeom prst="rect">
              <a:avLst/>
            </a:prstGeom>
            <a:pattFill prst="ltUpDiag">
              <a:fgClr>
                <a:srgbClr val="000000"/>
              </a:fgClr>
              <a:bgClr>
                <a:srgbClr val="FFFFFF"/>
              </a:bgClr>
            </a:pattFill>
            <a:ln w="9525" cap="flat" cmpd="sng">
              <a:solidFill>
                <a:srgbClr val="333300"/>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70" name="Rectangle 14"/>
            <p:cNvSpPr/>
            <p:nvPr/>
          </p:nvSpPr>
          <p:spPr>
            <a:xfrm>
              <a:off x="3297" y="2069"/>
              <a:ext cx="334"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71" name="Line 15"/>
            <p:cNvSpPr/>
            <p:nvPr/>
          </p:nvSpPr>
          <p:spPr>
            <a:xfrm>
              <a:off x="2333" y="2182"/>
              <a:ext cx="233" cy="0"/>
            </a:xfrm>
            <a:prstGeom prst="line">
              <a:avLst/>
            </a:prstGeom>
            <a:ln w="9525" cap="flat" cmpd="sng">
              <a:solidFill>
                <a:schemeClr val="tx1"/>
              </a:solidFill>
              <a:prstDash val="solid"/>
              <a:headEnd type="none" w="med" len="med"/>
              <a:tailEnd type="triangle" w="med" len="med"/>
            </a:ln>
          </p:spPr>
        </p:sp>
        <p:sp>
          <p:nvSpPr>
            <p:cNvPr id="48174" name="Text Box 24"/>
            <p:cNvSpPr txBox="1"/>
            <p:nvPr/>
          </p:nvSpPr>
          <p:spPr>
            <a:xfrm>
              <a:off x="2169" y="2057"/>
              <a:ext cx="196" cy="2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latin typeface="楷体_GB2312" pitchFamily="49" charset="-122"/>
                  <a:ea typeface="楷体_GB2312" pitchFamily="49" charset="-122"/>
                </a:rPr>
                <a:t>L</a:t>
              </a:r>
            </a:p>
          </p:txBody>
        </p:sp>
        <p:sp>
          <p:nvSpPr>
            <p:cNvPr id="48175" name="Text Box 25"/>
            <p:cNvSpPr txBox="1"/>
            <p:nvPr/>
          </p:nvSpPr>
          <p:spPr>
            <a:xfrm>
              <a:off x="1022" y="2029"/>
              <a:ext cx="1086" cy="25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dirty="0">
                  <a:ea typeface="隶书" panose="02010509060101010101" pitchFamily="49" charset="-122"/>
                </a:rPr>
                <a:t>空双向链表</a:t>
              </a:r>
              <a:r>
                <a:rPr lang="zh-CN" altLang="en-US" sz="2000" dirty="0">
                  <a:latin typeface="楷体_GB2312" pitchFamily="49" charset="-122"/>
                  <a:ea typeface="楷体_GB2312" pitchFamily="49" charset="-122"/>
                </a:rPr>
                <a:t>：</a:t>
              </a:r>
            </a:p>
          </p:txBody>
        </p:sp>
      </p:grpSp>
      <p:grpSp>
        <p:nvGrpSpPr>
          <p:cNvPr id="28" name="Group 58"/>
          <p:cNvGrpSpPr/>
          <p:nvPr/>
        </p:nvGrpSpPr>
        <p:grpSpPr>
          <a:xfrm>
            <a:off x="647700" y="4478339"/>
            <a:ext cx="7077075" cy="1360488"/>
            <a:chOff x="1008" y="2832"/>
            <a:chExt cx="4458" cy="857"/>
          </a:xfrm>
        </p:grpSpPr>
        <p:sp>
          <p:nvSpPr>
            <p:cNvPr id="48137" name="Text Box 27"/>
            <p:cNvSpPr txBox="1"/>
            <p:nvPr/>
          </p:nvSpPr>
          <p:spPr>
            <a:xfrm>
              <a:off x="1008" y="2832"/>
              <a:ext cx="1247" cy="25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zh-CN" altLang="en-US" sz="2000" dirty="0">
                  <a:ea typeface="隶书" panose="02010509060101010101" pitchFamily="49" charset="-122"/>
                </a:rPr>
                <a:t>非空双向链表：</a:t>
              </a:r>
            </a:p>
          </p:txBody>
        </p:sp>
        <p:grpSp>
          <p:nvGrpSpPr>
            <p:cNvPr id="48138" name="Group 57"/>
            <p:cNvGrpSpPr/>
            <p:nvPr/>
          </p:nvGrpSpPr>
          <p:grpSpPr>
            <a:xfrm>
              <a:off x="1536" y="3312"/>
              <a:ext cx="3930" cy="377"/>
              <a:chOff x="1686" y="2880"/>
              <a:chExt cx="3930" cy="377"/>
            </a:xfrm>
          </p:grpSpPr>
          <p:sp>
            <p:nvSpPr>
              <p:cNvPr id="48139" name="Rectangle 28"/>
              <p:cNvSpPr/>
              <p:nvPr/>
            </p:nvSpPr>
            <p:spPr>
              <a:xfrm>
                <a:off x="2087" y="2899"/>
                <a:ext cx="378"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0" name="Rectangle 29" descr="浅色上对角线"/>
              <p:cNvSpPr/>
              <p:nvPr/>
            </p:nvSpPr>
            <p:spPr>
              <a:xfrm>
                <a:off x="2461" y="2899"/>
                <a:ext cx="356" cy="245"/>
              </a:xfrm>
              <a:prstGeom prst="rect">
                <a:avLst/>
              </a:prstGeom>
              <a:pattFill prst="ltUpDiag">
                <a:fgClr>
                  <a:srgbClr val="000000"/>
                </a:fgClr>
                <a:bgClr>
                  <a:srgbClr val="FFFFFF"/>
                </a:bgClr>
              </a:pattFill>
              <a:ln w="9525" cap="flat" cmpd="sng">
                <a:solidFill>
                  <a:srgbClr val="333300"/>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1" name="Rectangle 30"/>
              <p:cNvSpPr/>
              <p:nvPr/>
            </p:nvSpPr>
            <p:spPr>
              <a:xfrm>
                <a:off x="2823" y="2899"/>
                <a:ext cx="334"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2" name="Line 31"/>
              <p:cNvSpPr/>
              <p:nvPr/>
            </p:nvSpPr>
            <p:spPr>
              <a:xfrm>
                <a:off x="1859" y="3012"/>
                <a:ext cx="233" cy="0"/>
              </a:xfrm>
              <a:prstGeom prst="line">
                <a:avLst/>
              </a:prstGeom>
              <a:ln w="9525" cap="flat" cmpd="sng">
                <a:solidFill>
                  <a:schemeClr val="tx1"/>
                </a:solidFill>
                <a:prstDash val="solid"/>
                <a:headEnd type="none" w="med" len="med"/>
                <a:tailEnd type="triangle" w="med" len="med"/>
              </a:ln>
            </p:spPr>
          </p:sp>
          <p:sp>
            <p:nvSpPr>
              <p:cNvPr id="48143" name="Text Box 32"/>
              <p:cNvSpPr txBox="1"/>
              <p:nvPr/>
            </p:nvSpPr>
            <p:spPr>
              <a:xfrm>
                <a:off x="1686" y="2887"/>
                <a:ext cx="214" cy="2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ea typeface="宋体" panose="02010600030101010101" pitchFamily="2" charset="-122"/>
                  </a:rPr>
                  <a:t>L</a:t>
                </a:r>
              </a:p>
            </p:txBody>
          </p:sp>
          <p:sp>
            <p:nvSpPr>
              <p:cNvPr id="48144" name="Rectangle 33"/>
              <p:cNvSpPr/>
              <p:nvPr/>
            </p:nvSpPr>
            <p:spPr>
              <a:xfrm>
                <a:off x="3305" y="2884"/>
                <a:ext cx="378"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5" name="Rectangle 34" descr="宽上对角线"/>
              <p:cNvSpPr/>
              <p:nvPr/>
            </p:nvSpPr>
            <p:spPr>
              <a:xfrm>
                <a:off x="3679" y="2884"/>
                <a:ext cx="356" cy="245"/>
              </a:xfrm>
              <a:prstGeom prst="rect">
                <a:avLst/>
              </a:prstGeom>
              <a:noFill/>
              <a:ln w="9525" cap="flat" cmpd="sng">
                <a:solidFill>
                  <a:srgbClr val="333300"/>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6" name="Rectangle 35"/>
              <p:cNvSpPr/>
              <p:nvPr/>
            </p:nvSpPr>
            <p:spPr>
              <a:xfrm>
                <a:off x="4030" y="2884"/>
                <a:ext cx="334"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7" name="Rectangle 36"/>
              <p:cNvSpPr/>
              <p:nvPr/>
            </p:nvSpPr>
            <p:spPr>
              <a:xfrm>
                <a:off x="4557" y="2880"/>
                <a:ext cx="378"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8" name="Rectangle 37" descr="宽上对角线"/>
              <p:cNvSpPr/>
              <p:nvPr/>
            </p:nvSpPr>
            <p:spPr>
              <a:xfrm>
                <a:off x="4931" y="2880"/>
                <a:ext cx="356" cy="245"/>
              </a:xfrm>
              <a:prstGeom prst="rect">
                <a:avLst/>
              </a:prstGeom>
              <a:noFill/>
              <a:ln w="9525" cap="flat" cmpd="sng">
                <a:solidFill>
                  <a:srgbClr val="333300"/>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49" name="Rectangle 38"/>
              <p:cNvSpPr/>
              <p:nvPr/>
            </p:nvSpPr>
            <p:spPr>
              <a:xfrm>
                <a:off x="5282" y="2880"/>
                <a:ext cx="334" cy="245"/>
              </a:xfrm>
              <a:prstGeom prst="rect">
                <a:avLst/>
              </a:prstGeom>
              <a:noFill/>
              <a:ln w="9525" cap="flat" cmpd="sng">
                <a:solidFill>
                  <a:schemeClr val="tx1"/>
                </a:solidFill>
                <a:prstDash val="solid"/>
                <a:miter/>
                <a:headEnd type="none" w="med" len="med"/>
                <a:tailEnd type="none" w="med" len="med"/>
              </a:ln>
            </p:spPr>
            <p:txBody>
              <a:bodyPr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sp>
            <p:nvSpPr>
              <p:cNvPr id="48150" name="Line 39"/>
              <p:cNvSpPr/>
              <p:nvPr/>
            </p:nvSpPr>
            <p:spPr>
              <a:xfrm>
                <a:off x="2986" y="3006"/>
                <a:ext cx="322" cy="0"/>
              </a:xfrm>
              <a:prstGeom prst="line">
                <a:avLst/>
              </a:prstGeom>
              <a:ln w="9525" cap="flat" cmpd="sng">
                <a:solidFill>
                  <a:srgbClr val="CC3300"/>
                </a:solidFill>
                <a:prstDash val="solid"/>
                <a:headEnd type="none" w="med" len="med"/>
                <a:tailEnd type="triangle" w="med" len="med"/>
              </a:ln>
            </p:spPr>
          </p:sp>
          <p:sp>
            <p:nvSpPr>
              <p:cNvPr id="48151" name="Line 40"/>
              <p:cNvSpPr/>
              <p:nvPr/>
            </p:nvSpPr>
            <p:spPr>
              <a:xfrm>
                <a:off x="4219" y="3006"/>
                <a:ext cx="333" cy="0"/>
              </a:xfrm>
              <a:prstGeom prst="line">
                <a:avLst/>
              </a:prstGeom>
              <a:ln w="9525" cap="flat" cmpd="sng">
                <a:solidFill>
                  <a:srgbClr val="CC3300"/>
                </a:solidFill>
                <a:prstDash val="solid"/>
                <a:headEnd type="none" w="med" len="med"/>
                <a:tailEnd type="triangle" w="med" len="med"/>
              </a:ln>
            </p:spPr>
          </p:sp>
          <p:grpSp>
            <p:nvGrpSpPr>
              <p:cNvPr id="48152" name="Group 41"/>
              <p:cNvGrpSpPr/>
              <p:nvPr/>
            </p:nvGrpSpPr>
            <p:grpSpPr>
              <a:xfrm>
                <a:off x="3875" y="3006"/>
                <a:ext cx="889" cy="244"/>
                <a:chOff x="3512" y="3100"/>
                <a:chExt cx="889" cy="244"/>
              </a:xfrm>
            </p:grpSpPr>
            <p:sp>
              <p:nvSpPr>
                <p:cNvPr id="48165" name="Line 42"/>
                <p:cNvSpPr/>
                <p:nvPr/>
              </p:nvSpPr>
              <p:spPr>
                <a:xfrm>
                  <a:off x="4401" y="3100"/>
                  <a:ext cx="0" cy="244"/>
                </a:xfrm>
                <a:prstGeom prst="line">
                  <a:avLst/>
                </a:prstGeom>
                <a:ln w="9525" cap="flat" cmpd="sng">
                  <a:solidFill>
                    <a:srgbClr val="6600FF"/>
                  </a:solidFill>
                  <a:prstDash val="solid"/>
                  <a:headEnd type="none" w="med" len="med"/>
                  <a:tailEnd type="none" w="med" len="med"/>
                </a:ln>
              </p:spPr>
            </p:sp>
            <p:sp>
              <p:nvSpPr>
                <p:cNvPr id="48166" name="Line 43"/>
                <p:cNvSpPr/>
                <p:nvPr/>
              </p:nvSpPr>
              <p:spPr>
                <a:xfrm flipH="1" flipV="1">
                  <a:off x="3512" y="3344"/>
                  <a:ext cx="889" cy="0"/>
                </a:xfrm>
                <a:prstGeom prst="line">
                  <a:avLst/>
                </a:prstGeom>
                <a:ln w="9525" cap="flat" cmpd="sng">
                  <a:solidFill>
                    <a:srgbClr val="6600FF"/>
                  </a:solidFill>
                  <a:prstDash val="solid"/>
                  <a:headEnd type="none" w="med" len="med"/>
                  <a:tailEnd type="none" w="med" len="med"/>
                </a:ln>
              </p:spPr>
            </p:sp>
            <p:sp>
              <p:nvSpPr>
                <p:cNvPr id="48167" name="Line 44"/>
                <p:cNvSpPr/>
                <p:nvPr/>
              </p:nvSpPr>
              <p:spPr>
                <a:xfrm flipV="1">
                  <a:off x="3512" y="3222"/>
                  <a:ext cx="0" cy="122"/>
                </a:xfrm>
                <a:prstGeom prst="line">
                  <a:avLst/>
                </a:prstGeom>
                <a:ln w="9525" cap="flat" cmpd="sng">
                  <a:solidFill>
                    <a:srgbClr val="6600FF"/>
                  </a:solidFill>
                  <a:prstDash val="solid"/>
                  <a:headEnd type="none" w="med" len="med"/>
                  <a:tailEnd type="triangle" w="med" len="med"/>
                </a:ln>
              </p:spPr>
            </p:sp>
          </p:grpSp>
          <p:grpSp>
            <p:nvGrpSpPr>
              <p:cNvPr id="48153" name="Group 45"/>
              <p:cNvGrpSpPr/>
              <p:nvPr/>
            </p:nvGrpSpPr>
            <p:grpSpPr>
              <a:xfrm>
                <a:off x="2615" y="3013"/>
                <a:ext cx="889" cy="244"/>
                <a:chOff x="3512" y="3100"/>
                <a:chExt cx="889" cy="244"/>
              </a:xfrm>
            </p:grpSpPr>
            <p:sp>
              <p:nvSpPr>
                <p:cNvPr id="48162" name="Line 46"/>
                <p:cNvSpPr/>
                <p:nvPr/>
              </p:nvSpPr>
              <p:spPr>
                <a:xfrm>
                  <a:off x="4401" y="3100"/>
                  <a:ext cx="0" cy="244"/>
                </a:xfrm>
                <a:prstGeom prst="line">
                  <a:avLst/>
                </a:prstGeom>
                <a:ln w="9525" cap="flat" cmpd="sng">
                  <a:solidFill>
                    <a:srgbClr val="6600FF"/>
                  </a:solidFill>
                  <a:prstDash val="solid"/>
                  <a:headEnd type="none" w="med" len="med"/>
                  <a:tailEnd type="none" w="med" len="med"/>
                </a:ln>
              </p:spPr>
            </p:sp>
            <p:sp>
              <p:nvSpPr>
                <p:cNvPr id="48163" name="Line 47"/>
                <p:cNvSpPr/>
                <p:nvPr/>
              </p:nvSpPr>
              <p:spPr>
                <a:xfrm flipH="1" flipV="1">
                  <a:off x="3512" y="3344"/>
                  <a:ext cx="889" cy="0"/>
                </a:xfrm>
                <a:prstGeom prst="line">
                  <a:avLst/>
                </a:prstGeom>
                <a:ln w="9525" cap="flat" cmpd="sng">
                  <a:solidFill>
                    <a:srgbClr val="6600FF"/>
                  </a:solidFill>
                  <a:prstDash val="solid"/>
                  <a:headEnd type="none" w="med" len="med"/>
                  <a:tailEnd type="none" w="med" len="med"/>
                </a:ln>
              </p:spPr>
            </p:sp>
            <p:sp>
              <p:nvSpPr>
                <p:cNvPr id="48164" name="Line 48"/>
                <p:cNvSpPr/>
                <p:nvPr/>
              </p:nvSpPr>
              <p:spPr>
                <a:xfrm flipV="1">
                  <a:off x="3512" y="3222"/>
                  <a:ext cx="0" cy="122"/>
                </a:xfrm>
                <a:prstGeom prst="line">
                  <a:avLst/>
                </a:prstGeom>
                <a:ln w="9525" cap="flat" cmpd="sng">
                  <a:solidFill>
                    <a:srgbClr val="6600FF"/>
                  </a:solidFill>
                  <a:prstDash val="solid"/>
                  <a:headEnd type="none" w="med" len="med"/>
                  <a:tailEnd type="triangle" w="med" len="med"/>
                </a:ln>
              </p:spPr>
            </p:sp>
          </p:grpSp>
          <p:sp>
            <p:nvSpPr>
              <p:cNvPr id="48157" name="Text Box 52"/>
              <p:cNvSpPr txBox="1"/>
              <p:nvPr/>
            </p:nvSpPr>
            <p:spPr>
              <a:xfrm>
                <a:off x="3714" y="2881"/>
                <a:ext cx="232" cy="2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ea typeface="宋体" panose="02010600030101010101" pitchFamily="2" charset="-122"/>
                  </a:rPr>
                  <a:t>A</a:t>
                </a:r>
              </a:p>
            </p:txBody>
          </p:sp>
          <p:sp>
            <p:nvSpPr>
              <p:cNvPr id="48158" name="Text Box 53"/>
              <p:cNvSpPr txBox="1"/>
              <p:nvPr/>
            </p:nvSpPr>
            <p:spPr>
              <a:xfrm>
                <a:off x="4975" y="2880"/>
                <a:ext cx="223" cy="25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ea typeface="宋体" panose="02010600030101010101" pitchFamily="2" charset="-122"/>
                  </a:rPr>
                  <a:t>B</a:t>
                </a:r>
              </a:p>
            </p:txBody>
          </p:sp>
        </p:grpSp>
      </p:grpSp>
      <p:sp>
        <p:nvSpPr>
          <p:cNvPr id="60" name="Text Box 53"/>
          <p:cNvSpPr txBox="1"/>
          <p:nvPr/>
        </p:nvSpPr>
        <p:spPr>
          <a:xfrm>
            <a:off x="6756800" y="4110628"/>
            <a:ext cx="304892" cy="40011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ea typeface="宋体" panose="02010600030101010101" pitchFamily="2" charset="-122"/>
              </a:rPr>
              <a:t>^</a:t>
            </a:r>
          </a:p>
        </p:txBody>
      </p:sp>
      <p:sp>
        <p:nvSpPr>
          <p:cNvPr id="61" name="Text Box 53"/>
          <p:cNvSpPr txBox="1"/>
          <p:nvPr/>
        </p:nvSpPr>
        <p:spPr>
          <a:xfrm>
            <a:off x="7867508" y="4109010"/>
            <a:ext cx="304892" cy="40011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ea typeface="宋体" panose="02010600030101010101" pitchFamily="2" charset="-122"/>
              </a:rPr>
              <a:t>^</a:t>
            </a:r>
          </a:p>
        </p:txBody>
      </p:sp>
      <p:sp>
        <p:nvSpPr>
          <p:cNvPr id="62" name="Text Box 53"/>
          <p:cNvSpPr txBox="1"/>
          <p:nvPr/>
        </p:nvSpPr>
        <p:spPr>
          <a:xfrm>
            <a:off x="7308304" y="5261138"/>
            <a:ext cx="304892" cy="40011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ea typeface="宋体" panose="02010600030101010101" pitchFamily="2" charset="-122"/>
              </a:rPr>
              <a:t>^</a:t>
            </a:r>
          </a:p>
        </p:txBody>
      </p:sp>
      <p:sp>
        <p:nvSpPr>
          <p:cNvPr id="63" name="Text Box 53"/>
          <p:cNvSpPr txBox="1"/>
          <p:nvPr/>
        </p:nvSpPr>
        <p:spPr>
          <a:xfrm>
            <a:off x="2322892" y="5333146"/>
            <a:ext cx="304892" cy="40011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2000" dirty="0">
                <a:ea typeface="宋体" panose="02010600030101010101" pitchFamily="2" charset="-122"/>
              </a:rPr>
              <a:t>^</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ox(out)">
                                      <p:cBhvr>
                                        <p:cTn id="19" dur="500"/>
                                        <p:tgtEl>
                                          <p:spTgt spid="13"/>
                                        </p:tgtEl>
                                      </p:cBhvr>
                                    </p:animEffect>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0" presetID="22" presetClass="entr" presetSubtype="8" fill="hold" grpId="0" nodeType="with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wipe(left)">
                                      <p:cBhvr>
                                        <p:cTn id="22" dur="500"/>
                                        <p:tgtEl>
                                          <p:spTgt spid="6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wipe(left)">
                                      <p:cBhvr>
                                        <p:cTn id="25" dur="500"/>
                                        <p:tgtEl>
                                          <p:spTgt spid="6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0-#ppt_w/2"/>
                                          </p:val>
                                        </p:tav>
                                        <p:tav tm="100000">
                                          <p:val>
                                            <p:strVal val="#ppt_x"/>
                                          </p:val>
                                        </p:tav>
                                      </p:tavLst>
                                    </p:anim>
                                    <p:anim calcmode="lin" valueType="num">
                                      <p:cBhvr additive="base">
                                        <p:cTn id="31" dur="500" fill="hold"/>
                                        <p:tgtEl>
                                          <p:spTgt spid="28"/>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63"/>
                                        </p:tgtEl>
                                        <p:attrNameLst>
                                          <p:attrName>style.visibility</p:attrName>
                                        </p:attrNameLst>
                                      </p:cBhvr>
                                      <p:to>
                                        <p:strVal val="visible"/>
                                      </p:to>
                                    </p:set>
                                    <p:anim calcmode="lin" valueType="num">
                                      <p:cBhvr additive="base">
                                        <p:cTn id="34" dur="500" fill="hold"/>
                                        <p:tgtEl>
                                          <p:spTgt spid="63"/>
                                        </p:tgtEl>
                                        <p:attrNameLst>
                                          <p:attrName>ppt_x</p:attrName>
                                        </p:attrNameLst>
                                      </p:cBhvr>
                                      <p:tavLst>
                                        <p:tav tm="0">
                                          <p:val>
                                            <p:strVal val="0-#ppt_w/2"/>
                                          </p:val>
                                        </p:tav>
                                        <p:tav tm="100000">
                                          <p:val>
                                            <p:strVal val="#ppt_x"/>
                                          </p:val>
                                        </p:tav>
                                      </p:tavLst>
                                    </p:anim>
                                    <p:anim calcmode="lin" valueType="num">
                                      <p:cBhvr additive="base">
                                        <p:cTn id="35" dur="500" fill="hold"/>
                                        <p:tgtEl>
                                          <p:spTgt spid="63"/>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62"/>
                                        </p:tgtEl>
                                        <p:attrNameLst>
                                          <p:attrName>style.visibility</p:attrName>
                                        </p:attrNameLst>
                                      </p:cBhvr>
                                      <p:to>
                                        <p:strVal val="visible"/>
                                      </p:to>
                                    </p:set>
                                    <p:anim calcmode="lin" valueType="num">
                                      <p:cBhvr additive="base">
                                        <p:cTn id="38" dur="500" fill="hold"/>
                                        <p:tgtEl>
                                          <p:spTgt spid="62"/>
                                        </p:tgtEl>
                                        <p:attrNameLst>
                                          <p:attrName>ppt_x</p:attrName>
                                        </p:attrNameLst>
                                      </p:cBhvr>
                                      <p:tavLst>
                                        <p:tav tm="0">
                                          <p:val>
                                            <p:strVal val="0-#ppt_w/2"/>
                                          </p:val>
                                        </p:tav>
                                        <p:tav tm="100000">
                                          <p:val>
                                            <p:strVal val="#ppt_x"/>
                                          </p:val>
                                        </p:tav>
                                      </p:tavLst>
                                    </p:anim>
                                    <p:anim calcmode="lin" valueType="num">
                                      <p:cBhvr additive="base">
                                        <p:cTn id="39" dur="500" fill="hold"/>
                                        <p:tgtEl>
                                          <p:spTgt spid="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0" grpId="0"/>
      <p:bldP spid="61" grpId="0"/>
      <p:bldP spid="62" grpId="0"/>
      <p:bldP spid="6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双向链表的插入</a:t>
            </a:r>
          </a:p>
        </p:txBody>
      </p:sp>
      <p:grpSp>
        <p:nvGrpSpPr>
          <p:cNvPr id="5" name="Group 2"/>
          <p:cNvGrpSpPr/>
          <p:nvPr/>
        </p:nvGrpSpPr>
        <p:grpSpPr>
          <a:xfrm>
            <a:off x="3135313" y="1935753"/>
            <a:ext cx="1905000" cy="609600"/>
            <a:chOff x="1248" y="1008"/>
            <a:chExt cx="1200" cy="384"/>
          </a:xfrm>
        </p:grpSpPr>
        <p:grpSp>
          <p:nvGrpSpPr>
            <p:cNvPr id="49197" name="Group 3"/>
            <p:cNvGrpSpPr/>
            <p:nvPr/>
          </p:nvGrpSpPr>
          <p:grpSpPr>
            <a:xfrm>
              <a:off x="1680" y="1008"/>
              <a:ext cx="768" cy="384"/>
              <a:chOff x="1152" y="912"/>
              <a:chExt cx="768" cy="384"/>
            </a:xfrm>
          </p:grpSpPr>
          <p:sp>
            <p:nvSpPr>
              <p:cNvPr id="8" name="Rectangle 4"/>
              <p:cNvSpPr>
                <a:spLocks noChangeArrowheads="1"/>
              </p:cNvSpPr>
              <p:nvPr/>
            </p:nvSpPr>
            <p:spPr bwMode="auto">
              <a:xfrm>
                <a:off x="1152" y="912"/>
                <a:ext cx="768" cy="384"/>
              </a:xfrm>
              <a:prstGeom prst="rect">
                <a:avLst/>
              </a:prstGeom>
              <a:solidFill>
                <a:srgbClr val="CCFFCC">
                  <a:alpha val="50000"/>
                </a:srgbClr>
              </a:solidFill>
              <a:ln w="9525">
                <a:solidFill>
                  <a:srgbClr val="00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3600" b="1"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rPr>
                  <a:t>a</a:t>
                </a:r>
                <a:r>
                  <a:rPr kumimoji="1" lang="en-US" altLang="zh-CN" sz="3600" b="1" i="0" u="none" strike="noStrike" kern="0" cap="none" spc="0" normalizeH="0" baseline="-25000" noProof="0">
                    <a:ln>
                      <a:noFill/>
                    </a:ln>
                    <a:solidFill>
                      <a:srgbClr val="003366"/>
                    </a:solidFill>
                    <a:effectLst/>
                    <a:uLnTx/>
                    <a:uFillTx/>
                    <a:latin typeface="Times New Roman" panose="02020603050405020304" pitchFamily="18" charset="0"/>
                    <a:ea typeface="宋体" panose="02010600030101010101" pitchFamily="2" charset="-122"/>
                    <a:cs typeface="+mn-cs"/>
                  </a:rPr>
                  <a:t>i-1</a:t>
                </a:r>
                <a:endParaRPr kumimoji="1" lang="en-US" altLang="zh-CN" sz="36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 name="Line 5"/>
              <p:cNvSpPr>
                <a:spLocks noChangeShapeType="1"/>
              </p:cNvSpPr>
              <p:nvPr/>
            </p:nvSpPr>
            <p:spPr bwMode="auto">
              <a:xfrm>
                <a:off x="1344"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0" name="Line 6"/>
              <p:cNvSpPr>
                <a:spLocks noChangeShapeType="1"/>
              </p:cNvSpPr>
              <p:nvPr/>
            </p:nvSpPr>
            <p:spPr bwMode="auto">
              <a:xfrm>
                <a:off x="1728"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sp>
          <p:nvSpPr>
            <p:cNvPr id="7" name="Line 7"/>
            <p:cNvSpPr>
              <a:spLocks noChangeShapeType="1"/>
            </p:cNvSpPr>
            <p:nvPr/>
          </p:nvSpPr>
          <p:spPr bwMode="auto">
            <a:xfrm>
              <a:off x="1248" y="1200"/>
              <a:ext cx="432" cy="0"/>
            </a:xfrm>
            <a:prstGeom prst="line">
              <a:avLst/>
            </a:prstGeom>
            <a:noFill/>
            <a:ln w="31750">
              <a:solidFill>
                <a:srgbClr val="0033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grpSp>
        <p:nvGrpSpPr>
          <p:cNvPr id="11" name="Group 8"/>
          <p:cNvGrpSpPr/>
          <p:nvPr/>
        </p:nvGrpSpPr>
        <p:grpSpPr>
          <a:xfrm>
            <a:off x="4887913" y="1935753"/>
            <a:ext cx="4038600" cy="609600"/>
            <a:chOff x="2352" y="1008"/>
            <a:chExt cx="2544" cy="384"/>
          </a:xfrm>
        </p:grpSpPr>
        <p:grpSp>
          <p:nvGrpSpPr>
            <p:cNvPr id="49191" name="Group 9"/>
            <p:cNvGrpSpPr/>
            <p:nvPr/>
          </p:nvGrpSpPr>
          <p:grpSpPr>
            <a:xfrm>
              <a:off x="3744" y="1008"/>
              <a:ext cx="768" cy="384"/>
              <a:chOff x="1152" y="912"/>
              <a:chExt cx="768" cy="384"/>
            </a:xfrm>
          </p:grpSpPr>
          <p:sp>
            <p:nvSpPr>
              <p:cNvPr id="15" name="Rectangle 10"/>
              <p:cNvSpPr>
                <a:spLocks noChangeArrowheads="1"/>
              </p:cNvSpPr>
              <p:nvPr/>
            </p:nvSpPr>
            <p:spPr bwMode="auto">
              <a:xfrm>
                <a:off x="1152" y="912"/>
                <a:ext cx="768" cy="384"/>
              </a:xfrm>
              <a:prstGeom prst="rect">
                <a:avLst/>
              </a:prstGeom>
              <a:solidFill>
                <a:srgbClr val="CCFFCC">
                  <a:alpha val="50000"/>
                </a:srgbClr>
              </a:solidFill>
              <a:ln w="9525">
                <a:solidFill>
                  <a:srgbClr val="00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3600" b="1"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rPr>
                  <a:t>a</a:t>
                </a:r>
                <a:r>
                  <a:rPr kumimoji="1" lang="en-US" altLang="zh-CN" sz="3600" b="1" i="0" u="none" strike="noStrike" kern="0" cap="none" spc="0" normalizeH="0" baseline="-25000" noProof="0">
                    <a:ln>
                      <a:noFill/>
                    </a:ln>
                    <a:solidFill>
                      <a:srgbClr val="003366"/>
                    </a:solidFill>
                    <a:effectLst/>
                    <a:uLnTx/>
                    <a:uFillTx/>
                    <a:latin typeface="Times New Roman" panose="02020603050405020304" pitchFamily="18" charset="0"/>
                    <a:ea typeface="宋体" panose="02010600030101010101" pitchFamily="2" charset="-122"/>
                    <a:cs typeface="+mn-cs"/>
                  </a:rPr>
                  <a:t>i</a:t>
                </a:r>
                <a:endParaRPr kumimoji="1" lang="en-US" altLang="zh-CN" sz="36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 name="Line 11"/>
              <p:cNvSpPr>
                <a:spLocks noChangeShapeType="1"/>
              </p:cNvSpPr>
              <p:nvPr/>
            </p:nvSpPr>
            <p:spPr bwMode="auto">
              <a:xfrm>
                <a:off x="1344"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7" name="Line 12"/>
              <p:cNvSpPr>
                <a:spLocks noChangeShapeType="1"/>
              </p:cNvSpPr>
              <p:nvPr/>
            </p:nvSpPr>
            <p:spPr bwMode="auto">
              <a:xfrm>
                <a:off x="1728"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sp>
          <p:nvSpPr>
            <p:cNvPr id="13" name="Line 13"/>
            <p:cNvSpPr>
              <a:spLocks noChangeShapeType="1"/>
            </p:cNvSpPr>
            <p:nvPr/>
          </p:nvSpPr>
          <p:spPr bwMode="auto">
            <a:xfrm>
              <a:off x="2352" y="1200"/>
              <a:ext cx="1392" cy="0"/>
            </a:xfrm>
            <a:prstGeom prst="line">
              <a:avLst/>
            </a:prstGeom>
            <a:noFill/>
            <a:ln w="31750">
              <a:solidFill>
                <a:srgbClr val="0033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 name="Line 14"/>
            <p:cNvSpPr>
              <a:spLocks noChangeShapeType="1"/>
            </p:cNvSpPr>
            <p:nvPr/>
          </p:nvSpPr>
          <p:spPr bwMode="auto">
            <a:xfrm>
              <a:off x="4416" y="1200"/>
              <a:ext cx="480" cy="0"/>
            </a:xfrm>
            <a:prstGeom prst="line">
              <a:avLst/>
            </a:prstGeom>
            <a:noFill/>
            <a:ln w="31750">
              <a:solidFill>
                <a:srgbClr val="0033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grpSp>
        <p:nvGrpSpPr>
          <p:cNvPr id="18" name="Group 15"/>
          <p:cNvGrpSpPr/>
          <p:nvPr/>
        </p:nvGrpSpPr>
        <p:grpSpPr>
          <a:xfrm>
            <a:off x="4430713" y="1630953"/>
            <a:ext cx="2819400" cy="609600"/>
            <a:chOff x="1872" y="720"/>
            <a:chExt cx="1776" cy="384"/>
          </a:xfrm>
        </p:grpSpPr>
        <p:sp>
          <p:nvSpPr>
            <p:cNvPr id="49188" name="Line 16"/>
            <p:cNvSpPr/>
            <p:nvPr/>
          </p:nvSpPr>
          <p:spPr>
            <a:xfrm flipV="1">
              <a:off x="3648" y="720"/>
              <a:ext cx="0" cy="384"/>
            </a:xfrm>
            <a:prstGeom prst="line">
              <a:avLst/>
            </a:prstGeom>
            <a:ln w="31750" cap="flat" cmpd="sng">
              <a:solidFill>
                <a:srgbClr val="990000"/>
              </a:solidFill>
              <a:prstDash val="solid"/>
              <a:headEnd type="none" w="med" len="med"/>
              <a:tailEnd type="none" w="med" len="med"/>
            </a:ln>
          </p:spPr>
        </p:sp>
        <p:sp>
          <p:nvSpPr>
            <p:cNvPr id="49189" name="Line 17"/>
            <p:cNvSpPr/>
            <p:nvPr/>
          </p:nvSpPr>
          <p:spPr>
            <a:xfrm flipH="1">
              <a:off x="1872" y="720"/>
              <a:ext cx="1776" cy="0"/>
            </a:xfrm>
            <a:prstGeom prst="line">
              <a:avLst/>
            </a:prstGeom>
            <a:ln w="31750" cap="flat" cmpd="sng">
              <a:solidFill>
                <a:srgbClr val="990000"/>
              </a:solidFill>
              <a:prstDash val="solid"/>
              <a:headEnd type="none" w="med" len="med"/>
              <a:tailEnd type="none" w="med" len="med"/>
            </a:ln>
          </p:spPr>
        </p:sp>
        <p:sp>
          <p:nvSpPr>
            <p:cNvPr id="49190" name="Line 18"/>
            <p:cNvSpPr/>
            <p:nvPr/>
          </p:nvSpPr>
          <p:spPr>
            <a:xfrm>
              <a:off x="1872" y="720"/>
              <a:ext cx="0" cy="192"/>
            </a:xfrm>
            <a:prstGeom prst="line">
              <a:avLst/>
            </a:prstGeom>
            <a:ln w="31750" cap="flat" cmpd="sng">
              <a:solidFill>
                <a:srgbClr val="990000"/>
              </a:solidFill>
              <a:prstDash val="solid"/>
              <a:headEnd type="none" w="med" len="med"/>
              <a:tailEnd type="triangle" w="med" len="lg"/>
            </a:ln>
          </p:spPr>
        </p:sp>
      </p:grpSp>
      <p:grpSp>
        <p:nvGrpSpPr>
          <p:cNvPr id="22" name="Group 19"/>
          <p:cNvGrpSpPr/>
          <p:nvPr/>
        </p:nvGrpSpPr>
        <p:grpSpPr>
          <a:xfrm>
            <a:off x="5497513" y="3002553"/>
            <a:ext cx="1219200" cy="609600"/>
            <a:chOff x="1152" y="912"/>
            <a:chExt cx="768" cy="384"/>
          </a:xfrm>
        </p:grpSpPr>
        <p:sp>
          <p:nvSpPr>
            <p:cNvPr id="23" name="Rectangle 20"/>
            <p:cNvSpPr>
              <a:spLocks noChangeArrowheads="1"/>
            </p:cNvSpPr>
            <p:nvPr/>
          </p:nvSpPr>
          <p:spPr bwMode="auto">
            <a:xfrm>
              <a:off x="1152" y="912"/>
              <a:ext cx="768" cy="384"/>
            </a:xfrm>
            <a:prstGeom prst="rect">
              <a:avLst/>
            </a:prstGeom>
            <a:solidFill>
              <a:srgbClr val="CCFFCC">
                <a:alpha val="50000"/>
              </a:srgbClr>
            </a:solidFill>
            <a:ln w="9525">
              <a:solidFill>
                <a:srgbClr val="00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3600" b="1"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rPr>
                <a:t>e</a:t>
              </a:r>
              <a:endParaRPr kumimoji="1" lang="en-US" altLang="zh-CN" sz="36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4" name="Line 21"/>
            <p:cNvSpPr>
              <a:spLocks noChangeShapeType="1"/>
            </p:cNvSpPr>
            <p:nvPr/>
          </p:nvSpPr>
          <p:spPr bwMode="auto">
            <a:xfrm>
              <a:off x="1344"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5" name="Line 22"/>
            <p:cNvSpPr>
              <a:spLocks noChangeShapeType="1"/>
            </p:cNvSpPr>
            <p:nvPr/>
          </p:nvSpPr>
          <p:spPr bwMode="auto">
            <a:xfrm>
              <a:off x="1728"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sp>
        <p:nvSpPr>
          <p:cNvPr id="26" name="Text Box 23"/>
          <p:cNvSpPr txBox="1"/>
          <p:nvPr/>
        </p:nvSpPr>
        <p:spPr>
          <a:xfrm>
            <a:off x="712475" y="2564904"/>
            <a:ext cx="3427477" cy="397031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eaLnBrk="1" hangingPunct="1">
              <a:lnSpc>
                <a:spcPct val="150000"/>
              </a:lnSpc>
              <a:spcBef>
                <a:spcPct val="0"/>
              </a:spcBef>
              <a:buClrTx/>
              <a:buNone/>
            </a:pPr>
            <a:r>
              <a:rPr lang="en-US" altLang="zh-CN" sz="2800" b="1" dirty="0">
                <a:latin typeface="Times New Roman" panose="02020603050405020304" pitchFamily="18" charset="0"/>
                <a:ea typeface="宋体" panose="02010600030101010101" pitchFamily="2" charset="-122"/>
              </a:rPr>
              <a:t>s = new </a:t>
            </a:r>
            <a:r>
              <a:rPr lang="en-US" altLang="zh-CN" sz="2800" b="1" dirty="0" err="1">
                <a:latin typeface="Times New Roman" panose="02020603050405020304" pitchFamily="18" charset="0"/>
                <a:ea typeface="宋体" panose="02010600030101010101" pitchFamily="2" charset="-122"/>
              </a:rPr>
              <a:t>DLNode</a:t>
            </a:r>
            <a:r>
              <a:rPr lang="en-US" altLang="zh-CN" sz="2800" b="1" dirty="0">
                <a:latin typeface="Times New Roman" panose="02020603050405020304" pitchFamily="18" charset="0"/>
                <a:ea typeface="宋体" panose="02010600030101010101" pitchFamily="2" charset="-122"/>
              </a:rPr>
              <a:t>;</a:t>
            </a:r>
          </a:p>
          <a:p>
            <a:pPr marL="0" lvl="0" indent="0" eaLnBrk="1" hangingPunct="1">
              <a:lnSpc>
                <a:spcPct val="150000"/>
              </a:lnSpc>
              <a:spcBef>
                <a:spcPct val="0"/>
              </a:spcBef>
              <a:buClrTx/>
              <a:buNone/>
            </a:pPr>
            <a:r>
              <a:rPr lang="en-US" altLang="zh-CN" sz="2800" b="1" dirty="0">
                <a:latin typeface="Times New Roman" panose="02020603050405020304" pitchFamily="18" charset="0"/>
                <a:ea typeface="宋体" panose="02010600030101010101" pitchFamily="2" charset="-122"/>
              </a:rPr>
              <a:t>s-&gt;data = e;</a:t>
            </a:r>
          </a:p>
          <a:p>
            <a:pPr marL="0" lvl="0" indent="0" eaLnBrk="1" hangingPunct="1">
              <a:lnSpc>
                <a:spcPct val="150000"/>
              </a:lnSpc>
              <a:spcBef>
                <a:spcPct val="0"/>
              </a:spcBef>
              <a:buClrTx/>
              <a:buNone/>
            </a:pPr>
            <a:r>
              <a:rPr lang="en-US" altLang="zh-CN" sz="2800" b="1" dirty="0">
                <a:latin typeface="Times New Roman" panose="02020603050405020304" pitchFamily="18" charset="0"/>
                <a:ea typeface="宋体" panose="02010600030101010101" pitchFamily="2" charset="-122"/>
              </a:rPr>
              <a:t>s-&gt;next = p-&gt;next;    </a:t>
            </a:r>
          </a:p>
          <a:p>
            <a:pPr marL="0" indent="0" eaLnBrk="1" hangingPunct="1">
              <a:lnSpc>
                <a:spcPct val="150000"/>
              </a:lnSpc>
              <a:spcBef>
                <a:spcPct val="0"/>
              </a:spcBef>
              <a:buClrTx/>
              <a:buNone/>
            </a:pPr>
            <a:r>
              <a:rPr lang="en-US" altLang="zh-CN" sz="2800" b="1" dirty="0">
                <a:latin typeface="Times New Roman" panose="02020603050405020304" pitchFamily="18" charset="0"/>
                <a:ea typeface="宋体" panose="02010600030101010101" pitchFamily="2" charset="-122"/>
              </a:rPr>
              <a:t>s-&gt;prior = p;</a:t>
            </a:r>
            <a:endParaRPr lang="en-US" altLang="zh-CN" sz="2800" dirty="0">
              <a:latin typeface="Times New Roman" panose="02020603050405020304" pitchFamily="18" charset="0"/>
              <a:ea typeface="宋体" panose="02010600030101010101" pitchFamily="2" charset="-122"/>
            </a:endParaRPr>
          </a:p>
          <a:p>
            <a:pPr marL="0" lvl="0" indent="0" eaLnBrk="1" hangingPunct="1">
              <a:lnSpc>
                <a:spcPct val="150000"/>
              </a:lnSpc>
              <a:spcBef>
                <a:spcPct val="0"/>
              </a:spcBef>
              <a:buClrTx/>
              <a:buNone/>
            </a:pPr>
            <a:r>
              <a:rPr lang="en-US" altLang="zh-CN" sz="2800" b="1" dirty="0">
                <a:latin typeface="Times New Roman" panose="02020603050405020304" pitchFamily="18" charset="0"/>
                <a:ea typeface="宋体" panose="02010600030101010101" pitchFamily="2" charset="-122"/>
              </a:rPr>
              <a:t>p-&gt;next = s;</a:t>
            </a:r>
          </a:p>
          <a:p>
            <a:pPr marL="0" lvl="0" indent="0" eaLnBrk="1" hangingPunct="1">
              <a:lnSpc>
                <a:spcPct val="150000"/>
              </a:lnSpc>
              <a:spcBef>
                <a:spcPct val="0"/>
              </a:spcBef>
              <a:buClrTx/>
              <a:buNone/>
            </a:pPr>
            <a:r>
              <a:rPr lang="en-US" altLang="zh-CN" sz="2800" b="1" dirty="0">
                <a:latin typeface="Times New Roman" panose="02020603050405020304" pitchFamily="18" charset="0"/>
                <a:ea typeface="宋体" panose="02010600030101010101" pitchFamily="2" charset="-122"/>
              </a:rPr>
              <a:t>s-&gt;next-&gt;prior = s;    </a:t>
            </a:r>
          </a:p>
        </p:txBody>
      </p:sp>
      <p:sp useBgFill="1">
        <p:nvSpPr>
          <p:cNvPr id="30" name="Rectangle 27"/>
          <p:cNvSpPr/>
          <p:nvPr/>
        </p:nvSpPr>
        <p:spPr>
          <a:xfrm>
            <a:off x="4811713" y="2120280"/>
            <a:ext cx="2286000" cy="2286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eaLnBrk="1" hangingPunct="1">
              <a:spcBef>
                <a:spcPct val="0"/>
              </a:spcBef>
              <a:buClrTx/>
              <a:buNone/>
            </a:pPr>
            <a:endParaRPr lang="zh-CN" altLang="en-US" sz="2400" dirty="0">
              <a:solidFill>
                <a:srgbClr val="003366"/>
              </a:solidFill>
              <a:latin typeface="Times New Roman" panose="02020603050405020304" pitchFamily="18" charset="0"/>
              <a:ea typeface="宋体" panose="02010600030101010101" pitchFamily="2" charset="-122"/>
            </a:endParaRPr>
          </a:p>
        </p:txBody>
      </p:sp>
      <p:grpSp>
        <p:nvGrpSpPr>
          <p:cNvPr id="31" name="Group 28"/>
          <p:cNvGrpSpPr/>
          <p:nvPr/>
        </p:nvGrpSpPr>
        <p:grpSpPr>
          <a:xfrm>
            <a:off x="3821113" y="1935753"/>
            <a:ext cx="1219200" cy="609600"/>
            <a:chOff x="1152" y="912"/>
            <a:chExt cx="768" cy="384"/>
          </a:xfrm>
        </p:grpSpPr>
        <p:sp>
          <p:nvSpPr>
            <p:cNvPr id="32" name="Rectangle 29"/>
            <p:cNvSpPr>
              <a:spLocks noChangeArrowheads="1"/>
            </p:cNvSpPr>
            <p:nvPr/>
          </p:nvSpPr>
          <p:spPr bwMode="auto">
            <a:xfrm>
              <a:off x="1152" y="912"/>
              <a:ext cx="768" cy="384"/>
            </a:xfrm>
            <a:prstGeom prst="rect">
              <a:avLst/>
            </a:prstGeom>
            <a:solidFill>
              <a:srgbClr val="CCFFCC">
                <a:alpha val="50000"/>
              </a:srgbClr>
            </a:solidFill>
            <a:ln w="9525">
              <a:solidFill>
                <a:srgbClr val="00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3600" b="1"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rPr>
                <a:t>a</a:t>
              </a:r>
              <a:r>
                <a:rPr kumimoji="1" lang="en-US" altLang="zh-CN" sz="3600" b="1" i="0" u="none" strike="noStrike" kern="0" cap="none" spc="0" normalizeH="0" baseline="-25000" noProof="0">
                  <a:ln>
                    <a:noFill/>
                  </a:ln>
                  <a:solidFill>
                    <a:srgbClr val="003366"/>
                  </a:solidFill>
                  <a:effectLst/>
                  <a:uLnTx/>
                  <a:uFillTx/>
                  <a:latin typeface="Times New Roman" panose="02020603050405020304" pitchFamily="18" charset="0"/>
                  <a:ea typeface="宋体" panose="02010600030101010101" pitchFamily="2" charset="-122"/>
                  <a:cs typeface="+mn-cs"/>
                </a:rPr>
                <a:t>i-1</a:t>
              </a:r>
              <a:endParaRPr kumimoji="1" lang="en-US" altLang="zh-CN" sz="36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33" name="Line 30"/>
            <p:cNvSpPr>
              <a:spLocks noChangeShapeType="1"/>
            </p:cNvSpPr>
            <p:nvPr/>
          </p:nvSpPr>
          <p:spPr bwMode="auto">
            <a:xfrm>
              <a:off x="1344"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34" name="Line 31"/>
            <p:cNvSpPr>
              <a:spLocks noChangeShapeType="1"/>
            </p:cNvSpPr>
            <p:nvPr/>
          </p:nvSpPr>
          <p:spPr bwMode="auto">
            <a:xfrm>
              <a:off x="1728"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cxnSp>
        <p:nvCxnSpPr>
          <p:cNvPr id="49166" name="AutoShape 32"/>
          <p:cNvCxnSpPr>
            <a:endCxn id="15" idx="2"/>
          </p:cNvCxnSpPr>
          <p:nvPr/>
        </p:nvCxnSpPr>
        <p:spPr>
          <a:xfrm flipV="1">
            <a:off x="6516370" y="2545670"/>
            <a:ext cx="1191260" cy="762000"/>
          </a:xfrm>
          <a:prstGeom prst="bentConnector2">
            <a:avLst/>
          </a:prstGeom>
          <a:ln w="31750" cap="flat" cmpd="sng">
            <a:solidFill>
              <a:srgbClr val="003366"/>
            </a:solidFill>
            <a:prstDash val="solid"/>
            <a:miter/>
            <a:headEnd type="none" w="med" len="med"/>
            <a:tailEnd type="stealth" w="med" len="lg"/>
          </a:ln>
        </p:spPr>
      </p:cxnSp>
      <p:cxnSp>
        <p:nvCxnSpPr>
          <p:cNvPr id="37" name="AutoShape 34"/>
          <p:cNvCxnSpPr/>
          <p:nvPr/>
        </p:nvCxnSpPr>
        <p:spPr>
          <a:xfrm>
            <a:off x="4897120" y="2240870"/>
            <a:ext cx="826770" cy="779145"/>
          </a:xfrm>
          <a:prstGeom prst="bentConnector3">
            <a:avLst>
              <a:gd name="adj1" fmla="val 93855"/>
            </a:avLst>
          </a:prstGeom>
          <a:ln w="31750" cap="flat" cmpd="sng">
            <a:solidFill>
              <a:srgbClr val="003366"/>
            </a:solidFill>
            <a:prstDash val="solid"/>
            <a:miter/>
            <a:headEnd type="none" w="med" len="med"/>
            <a:tailEnd type="stealth" w="med" len="lg"/>
          </a:ln>
        </p:spPr>
      </p:cxnSp>
      <p:sp useBgFill="1">
        <p:nvSpPr>
          <p:cNvPr id="39" name="Rectangle 36"/>
          <p:cNvSpPr/>
          <p:nvPr/>
        </p:nvSpPr>
        <p:spPr>
          <a:xfrm>
            <a:off x="4354513" y="1402353"/>
            <a:ext cx="2971800" cy="5334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eaLnBrk="1" hangingPunct="1">
              <a:spcBef>
                <a:spcPct val="0"/>
              </a:spcBef>
              <a:buClrTx/>
              <a:buNone/>
            </a:pPr>
            <a:endParaRPr lang="zh-CN" altLang="en-US" sz="2400" dirty="0">
              <a:solidFill>
                <a:srgbClr val="003366"/>
              </a:solidFill>
              <a:latin typeface="Times New Roman" panose="02020603050405020304" pitchFamily="18" charset="0"/>
              <a:ea typeface="宋体" panose="02010600030101010101" pitchFamily="2" charset="-122"/>
            </a:endParaRPr>
          </a:p>
        </p:txBody>
      </p:sp>
      <p:sp useBgFill="1">
        <p:nvSpPr>
          <p:cNvPr id="40" name="Rectangle 37"/>
          <p:cNvSpPr/>
          <p:nvPr/>
        </p:nvSpPr>
        <p:spPr>
          <a:xfrm>
            <a:off x="7173913" y="1859553"/>
            <a:ext cx="152400" cy="3810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eaLnBrk="1" hangingPunct="1">
              <a:spcBef>
                <a:spcPct val="0"/>
              </a:spcBef>
              <a:buClrTx/>
              <a:buNone/>
            </a:pPr>
            <a:endParaRPr lang="zh-CN" altLang="en-US" sz="2400" dirty="0">
              <a:solidFill>
                <a:srgbClr val="003366"/>
              </a:solidFill>
              <a:latin typeface="Times New Roman" panose="02020603050405020304" pitchFamily="18" charset="0"/>
              <a:ea typeface="宋体" panose="02010600030101010101" pitchFamily="2" charset="-122"/>
            </a:endParaRPr>
          </a:p>
        </p:txBody>
      </p:sp>
      <p:grpSp>
        <p:nvGrpSpPr>
          <p:cNvPr id="41" name="Group 38"/>
          <p:cNvGrpSpPr/>
          <p:nvPr/>
        </p:nvGrpSpPr>
        <p:grpSpPr>
          <a:xfrm>
            <a:off x="7097713" y="1935753"/>
            <a:ext cx="1219200" cy="609600"/>
            <a:chOff x="1152" y="912"/>
            <a:chExt cx="768" cy="384"/>
          </a:xfrm>
        </p:grpSpPr>
        <p:sp>
          <p:nvSpPr>
            <p:cNvPr id="42" name="Rectangle 39"/>
            <p:cNvSpPr>
              <a:spLocks noChangeArrowheads="1"/>
            </p:cNvSpPr>
            <p:nvPr/>
          </p:nvSpPr>
          <p:spPr bwMode="auto">
            <a:xfrm>
              <a:off x="1152" y="912"/>
              <a:ext cx="768" cy="384"/>
            </a:xfrm>
            <a:prstGeom prst="rect">
              <a:avLst/>
            </a:prstGeom>
            <a:solidFill>
              <a:srgbClr val="CCFFCC">
                <a:alpha val="50000"/>
              </a:srgbClr>
            </a:solidFill>
            <a:ln w="9525">
              <a:solidFill>
                <a:srgbClr val="00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3600" b="1"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rPr>
                <a:t>a</a:t>
              </a:r>
              <a:r>
                <a:rPr kumimoji="1" lang="en-US" altLang="zh-CN" sz="3600" b="1" i="0" u="none" strike="noStrike" kern="0" cap="none" spc="0" normalizeH="0" baseline="-25000" noProof="0">
                  <a:ln>
                    <a:noFill/>
                  </a:ln>
                  <a:solidFill>
                    <a:srgbClr val="003366"/>
                  </a:solidFill>
                  <a:effectLst/>
                  <a:uLnTx/>
                  <a:uFillTx/>
                  <a:latin typeface="Times New Roman" panose="02020603050405020304" pitchFamily="18" charset="0"/>
                  <a:ea typeface="宋体" panose="02010600030101010101" pitchFamily="2" charset="-122"/>
                  <a:cs typeface="+mn-cs"/>
                </a:rPr>
                <a:t>i</a:t>
              </a:r>
              <a:endParaRPr kumimoji="1" lang="en-US" altLang="zh-CN" sz="36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43" name="Line 40"/>
            <p:cNvSpPr>
              <a:spLocks noChangeShapeType="1"/>
            </p:cNvSpPr>
            <p:nvPr/>
          </p:nvSpPr>
          <p:spPr bwMode="auto">
            <a:xfrm>
              <a:off x="1344"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44" name="Line 41"/>
            <p:cNvSpPr>
              <a:spLocks noChangeShapeType="1"/>
            </p:cNvSpPr>
            <p:nvPr/>
          </p:nvSpPr>
          <p:spPr bwMode="auto">
            <a:xfrm>
              <a:off x="1728" y="912"/>
              <a:ext cx="0" cy="384"/>
            </a:xfrm>
            <a:prstGeom prst="line">
              <a:avLst/>
            </a:prstGeom>
            <a:noFill/>
            <a:ln w="9525">
              <a:solidFill>
                <a:srgbClr val="0033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grpSp>
      <p:cxnSp>
        <p:nvCxnSpPr>
          <p:cNvPr id="49173" name="AutoShape 42"/>
          <p:cNvCxnSpPr/>
          <p:nvPr/>
        </p:nvCxnSpPr>
        <p:spPr>
          <a:xfrm rot="10800000" flipV="1">
            <a:off x="6322695" y="2240870"/>
            <a:ext cx="990600" cy="762000"/>
          </a:xfrm>
          <a:prstGeom prst="bentConnector2">
            <a:avLst/>
          </a:prstGeom>
          <a:ln w="31750" cap="flat" cmpd="sng">
            <a:solidFill>
              <a:srgbClr val="990000"/>
            </a:solidFill>
            <a:prstDash val="solid"/>
            <a:miter/>
            <a:headEnd type="none" w="med" len="med"/>
            <a:tailEnd type="stealth" w="med" len="lg"/>
          </a:ln>
        </p:spPr>
      </p:cxnSp>
      <p:cxnSp>
        <p:nvCxnSpPr>
          <p:cNvPr id="49175" name="AutoShape 44"/>
          <p:cNvCxnSpPr>
            <a:endCxn id="32" idx="2"/>
          </p:cNvCxnSpPr>
          <p:nvPr/>
        </p:nvCxnSpPr>
        <p:spPr>
          <a:xfrm rot="10800000">
            <a:off x="4431030" y="2545670"/>
            <a:ext cx="1292860" cy="762000"/>
          </a:xfrm>
          <a:prstGeom prst="bentConnector2">
            <a:avLst/>
          </a:prstGeom>
          <a:ln w="31750" cap="flat" cmpd="sng">
            <a:solidFill>
              <a:srgbClr val="990000"/>
            </a:solidFill>
            <a:prstDash val="solid"/>
            <a:miter/>
            <a:headEnd type="none" w="med" len="med"/>
            <a:tailEnd type="stealth" w="med" len="lg"/>
          </a:ln>
        </p:spPr>
      </p:cxnSp>
      <p:grpSp>
        <p:nvGrpSpPr>
          <p:cNvPr id="48" name="Group 45"/>
          <p:cNvGrpSpPr/>
          <p:nvPr/>
        </p:nvGrpSpPr>
        <p:grpSpPr>
          <a:xfrm>
            <a:off x="3059113" y="1630953"/>
            <a:ext cx="914400" cy="609600"/>
            <a:chOff x="1008" y="720"/>
            <a:chExt cx="576" cy="384"/>
          </a:xfrm>
        </p:grpSpPr>
        <p:sp>
          <p:nvSpPr>
            <p:cNvPr id="49177" name="Line 46"/>
            <p:cNvSpPr/>
            <p:nvPr/>
          </p:nvSpPr>
          <p:spPr>
            <a:xfrm flipV="1">
              <a:off x="1584" y="720"/>
              <a:ext cx="0" cy="384"/>
            </a:xfrm>
            <a:prstGeom prst="line">
              <a:avLst/>
            </a:prstGeom>
            <a:ln w="31750" cap="flat" cmpd="sng">
              <a:solidFill>
                <a:srgbClr val="990000"/>
              </a:solidFill>
              <a:prstDash val="solid"/>
              <a:headEnd type="none" w="med" len="med"/>
              <a:tailEnd type="none" w="med" len="med"/>
            </a:ln>
          </p:spPr>
        </p:sp>
        <p:sp>
          <p:nvSpPr>
            <p:cNvPr id="49178" name="Line 47"/>
            <p:cNvSpPr/>
            <p:nvPr/>
          </p:nvSpPr>
          <p:spPr>
            <a:xfrm flipH="1">
              <a:off x="1008" y="720"/>
              <a:ext cx="576" cy="0"/>
            </a:xfrm>
            <a:prstGeom prst="line">
              <a:avLst/>
            </a:prstGeom>
            <a:ln w="31750" cap="flat" cmpd="sng">
              <a:solidFill>
                <a:srgbClr val="990000"/>
              </a:solidFill>
              <a:prstDash val="solid"/>
              <a:headEnd type="none" w="med" len="med"/>
              <a:tailEnd type="triangle" w="med" len="lg"/>
            </a:ln>
          </p:spPr>
        </p:sp>
      </p:grpSp>
      <p:sp>
        <p:nvSpPr>
          <p:cNvPr id="50" name="Line 7"/>
          <p:cNvSpPr>
            <a:spLocks noChangeShapeType="1"/>
          </p:cNvSpPr>
          <p:nvPr/>
        </p:nvSpPr>
        <p:spPr bwMode="auto">
          <a:xfrm flipH="1">
            <a:off x="4211960" y="1376272"/>
            <a:ext cx="8525" cy="544269"/>
          </a:xfrm>
          <a:prstGeom prst="line">
            <a:avLst/>
          </a:prstGeom>
          <a:noFill/>
          <a:ln w="31750">
            <a:solidFill>
              <a:srgbClr val="008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solidFill>
                  <a:srgbClr val="4C34FE"/>
                </a:solid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51" name="Line 7"/>
          <p:cNvSpPr>
            <a:spLocks noChangeShapeType="1"/>
          </p:cNvSpPr>
          <p:nvPr/>
        </p:nvSpPr>
        <p:spPr bwMode="auto">
          <a:xfrm flipH="1" flipV="1">
            <a:off x="6107113" y="3612153"/>
            <a:ext cx="8751" cy="447769"/>
          </a:xfrm>
          <a:prstGeom prst="line">
            <a:avLst/>
          </a:prstGeom>
          <a:noFill/>
          <a:ln w="31750">
            <a:solidFill>
              <a:srgbClr val="008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 name="文本框 1"/>
          <p:cNvSpPr txBox="1"/>
          <p:nvPr/>
        </p:nvSpPr>
        <p:spPr>
          <a:xfrm>
            <a:off x="4067944" y="1043444"/>
            <a:ext cx="390524" cy="369332"/>
          </a:xfrm>
          <a:prstGeom prst="rect">
            <a:avLst/>
          </a:prstGeom>
          <a:noFill/>
        </p:spPr>
        <p:txBody>
          <a:bodyPr wrap="square" rtlCol="0">
            <a:spAutoFit/>
          </a:bodyPr>
          <a:lstStyle/>
          <a:p>
            <a:r>
              <a:rPr lang="en-US" altLang="zh-CN" dirty="0"/>
              <a:t>P</a:t>
            </a:r>
            <a:endParaRPr lang="zh-CN" altLang="en-US" dirty="0"/>
          </a:p>
        </p:txBody>
      </p:sp>
      <p:sp>
        <p:nvSpPr>
          <p:cNvPr id="53" name="文本框 52"/>
          <p:cNvSpPr txBox="1"/>
          <p:nvPr/>
        </p:nvSpPr>
        <p:spPr>
          <a:xfrm>
            <a:off x="5940152" y="4067780"/>
            <a:ext cx="390524" cy="369332"/>
          </a:xfrm>
          <a:prstGeom prst="rect">
            <a:avLst/>
          </a:prstGeom>
          <a:noFill/>
        </p:spPr>
        <p:txBody>
          <a:bodyPr wrap="square" rtlCol="0">
            <a:spAutoFit/>
          </a:bodyPr>
          <a:lstStyle/>
          <a:p>
            <a:r>
              <a:rPr lang="en-US" altLang="zh-CN" dirty="0"/>
              <a:t>S</a:t>
            </a:r>
            <a:endParaRPr lang="zh-CN" altLang="en-US" dirty="0"/>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91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917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1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9" grpId="0" animBg="1"/>
      <p:bldP spid="51" grpId="0" animBg="1"/>
      <p:bldP spid="5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双向链表的删除</a:t>
            </a:r>
          </a:p>
        </p:txBody>
      </p:sp>
      <p:grpSp>
        <p:nvGrpSpPr>
          <p:cNvPr id="5" name="Group 7"/>
          <p:cNvGrpSpPr/>
          <p:nvPr/>
        </p:nvGrpSpPr>
        <p:grpSpPr>
          <a:xfrm>
            <a:off x="1247775" y="2314575"/>
            <a:ext cx="2133600" cy="609600"/>
            <a:chOff x="576" y="912"/>
            <a:chExt cx="1344" cy="384"/>
          </a:xfrm>
        </p:grpSpPr>
        <p:grpSp>
          <p:nvGrpSpPr>
            <p:cNvPr id="50217" name="Group 8"/>
            <p:cNvGrpSpPr/>
            <p:nvPr/>
          </p:nvGrpSpPr>
          <p:grpSpPr>
            <a:xfrm>
              <a:off x="1152" y="912"/>
              <a:ext cx="768" cy="384"/>
              <a:chOff x="1152" y="912"/>
              <a:chExt cx="768" cy="384"/>
            </a:xfrm>
          </p:grpSpPr>
          <p:sp>
            <p:nvSpPr>
              <p:cNvPr id="50219" name="Rectangle 9"/>
              <p:cNvSpPr/>
              <p:nvPr/>
            </p:nvSpPr>
            <p:spPr>
              <a:xfrm>
                <a:off x="1152" y="912"/>
                <a:ext cx="768" cy="384"/>
              </a:xfrm>
              <a:prstGeom prst="rect">
                <a:avLst/>
              </a:prstGeom>
              <a:solidFill>
                <a:srgbClr val="CCFFCC">
                  <a:alpha val="50195"/>
                </a:srgbClr>
              </a:solidFill>
              <a:ln w="9525" cap="flat" cmpd="sng">
                <a:solidFill>
                  <a:schemeClr val="tx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50220" name="Line 10"/>
              <p:cNvSpPr/>
              <p:nvPr/>
            </p:nvSpPr>
            <p:spPr>
              <a:xfrm>
                <a:off x="1344" y="912"/>
                <a:ext cx="0" cy="384"/>
              </a:xfrm>
              <a:prstGeom prst="line">
                <a:avLst/>
              </a:prstGeom>
              <a:ln w="9525" cap="flat" cmpd="sng">
                <a:solidFill>
                  <a:schemeClr val="tx2"/>
                </a:solidFill>
                <a:prstDash val="solid"/>
                <a:headEnd type="none" w="med" len="med"/>
                <a:tailEnd type="none" w="med" len="med"/>
              </a:ln>
            </p:spPr>
          </p:sp>
          <p:sp>
            <p:nvSpPr>
              <p:cNvPr id="50221" name="Line 11"/>
              <p:cNvSpPr/>
              <p:nvPr/>
            </p:nvSpPr>
            <p:spPr>
              <a:xfrm>
                <a:off x="1728" y="912"/>
                <a:ext cx="0" cy="384"/>
              </a:xfrm>
              <a:prstGeom prst="line">
                <a:avLst/>
              </a:prstGeom>
              <a:ln w="9525" cap="flat" cmpd="sng">
                <a:solidFill>
                  <a:schemeClr val="tx2"/>
                </a:solidFill>
                <a:prstDash val="solid"/>
                <a:headEnd type="none" w="med" len="med"/>
                <a:tailEnd type="none" w="med" len="med"/>
              </a:ln>
            </p:spPr>
          </p:sp>
        </p:grpSp>
        <p:sp>
          <p:nvSpPr>
            <p:cNvPr id="50218" name="Line 12"/>
            <p:cNvSpPr/>
            <p:nvPr/>
          </p:nvSpPr>
          <p:spPr>
            <a:xfrm>
              <a:off x="576" y="1104"/>
              <a:ext cx="576" cy="0"/>
            </a:xfrm>
            <a:prstGeom prst="line">
              <a:avLst/>
            </a:prstGeom>
            <a:ln w="31750" cap="flat" cmpd="sng">
              <a:solidFill>
                <a:schemeClr val="tx2"/>
              </a:solidFill>
              <a:prstDash val="solid"/>
              <a:headEnd type="none" w="med" len="med"/>
              <a:tailEnd type="triangle" w="med" len="lg"/>
            </a:ln>
          </p:spPr>
        </p:sp>
      </p:grpSp>
      <p:grpSp>
        <p:nvGrpSpPr>
          <p:cNvPr id="12" name="Group 14"/>
          <p:cNvGrpSpPr/>
          <p:nvPr/>
        </p:nvGrpSpPr>
        <p:grpSpPr>
          <a:xfrm>
            <a:off x="3228975" y="2314575"/>
            <a:ext cx="2438400" cy="609600"/>
            <a:chOff x="1824" y="912"/>
            <a:chExt cx="1536" cy="384"/>
          </a:xfrm>
        </p:grpSpPr>
        <p:grpSp>
          <p:nvGrpSpPr>
            <p:cNvPr id="50212" name="Group 15"/>
            <p:cNvGrpSpPr/>
            <p:nvPr/>
          </p:nvGrpSpPr>
          <p:grpSpPr>
            <a:xfrm>
              <a:off x="2592" y="912"/>
              <a:ext cx="768" cy="384"/>
              <a:chOff x="1152" y="912"/>
              <a:chExt cx="768" cy="384"/>
            </a:xfrm>
          </p:grpSpPr>
          <p:sp>
            <p:nvSpPr>
              <p:cNvPr id="50214" name="Rectangle 16"/>
              <p:cNvSpPr/>
              <p:nvPr/>
            </p:nvSpPr>
            <p:spPr>
              <a:xfrm>
                <a:off x="1152" y="912"/>
                <a:ext cx="768" cy="384"/>
              </a:xfrm>
              <a:prstGeom prst="rect">
                <a:avLst/>
              </a:prstGeom>
              <a:solidFill>
                <a:srgbClr val="CCFFCC">
                  <a:alpha val="50195"/>
                </a:srgbClr>
              </a:solidFill>
              <a:ln w="9525" cap="flat" cmpd="sng">
                <a:solidFill>
                  <a:schemeClr val="tx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a:t>
                </a:r>
                <a:endParaRPr lang="en-US" altLang="zh-CN" sz="3600" dirty="0">
                  <a:ea typeface="宋体" panose="02010600030101010101" pitchFamily="2" charset="-122"/>
                </a:endParaRPr>
              </a:p>
            </p:txBody>
          </p:sp>
          <p:sp>
            <p:nvSpPr>
              <p:cNvPr id="50215" name="Line 17"/>
              <p:cNvSpPr/>
              <p:nvPr/>
            </p:nvSpPr>
            <p:spPr>
              <a:xfrm>
                <a:off x="1344" y="912"/>
                <a:ext cx="0" cy="384"/>
              </a:xfrm>
              <a:prstGeom prst="line">
                <a:avLst/>
              </a:prstGeom>
              <a:ln w="9525" cap="flat" cmpd="sng">
                <a:solidFill>
                  <a:schemeClr val="tx2"/>
                </a:solidFill>
                <a:prstDash val="solid"/>
                <a:headEnd type="none" w="med" len="med"/>
                <a:tailEnd type="none" w="med" len="med"/>
              </a:ln>
            </p:spPr>
          </p:sp>
          <p:sp>
            <p:nvSpPr>
              <p:cNvPr id="50216" name="Line 18"/>
              <p:cNvSpPr/>
              <p:nvPr/>
            </p:nvSpPr>
            <p:spPr>
              <a:xfrm>
                <a:off x="1728" y="912"/>
                <a:ext cx="0" cy="384"/>
              </a:xfrm>
              <a:prstGeom prst="line">
                <a:avLst/>
              </a:prstGeom>
              <a:ln w="9525" cap="flat" cmpd="sng">
                <a:solidFill>
                  <a:schemeClr val="tx2"/>
                </a:solidFill>
                <a:prstDash val="solid"/>
                <a:headEnd type="none" w="med" len="med"/>
                <a:tailEnd type="none" w="med" len="med"/>
              </a:ln>
            </p:spPr>
          </p:sp>
        </p:grpSp>
        <p:sp>
          <p:nvSpPr>
            <p:cNvPr id="50213" name="Line 19"/>
            <p:cNvSpPr/>
            <p:nvPr/>
          </p:nvSpPr>
          <p:spPr>
            <a:xfrm>
              <a:off x="1824" y="1104"/>
              <a:ext cx="720" cy="0"/>
            </a:xfrm>
            <a:prstGeom prst="line">
              <a:avLst/>
            </a:prstGeom>
            <a:ln w="31750" cap="flat" cmpd="sng">
              <a:solidFill>
                <a:schemeClr val="tx2"/>
              </a:solidFill>
              <a:prstDash val="solid"/>
              <a:headEnd type="none" w="med" len="med"/>
              <a:tailEnd type="triangle" w="med" len="lg"/>
            </a:ln>
          </p:spPr>
        </p:sp>
      </p:grpSp>
      <p:grpSp>
        <p:nvGrpSpPr>
          <p:cNvPr id="50206" name="Group 21"/>
          <p:cNvGrpSpPr/>
          <p:nvPr/>
        </p:nvGrpSpPr>
        <p:grpSpPr>
          <a:xfrm>
            <a:off x="6657975" y="2301875"/>
            <a:ext cx="1219200" cy="609600"/>
            <a:chOff x="1152" y="912"/>
            <a:chExt cx="768" cy="384"/>
          </a:xfrm>
        </p:grpSpPr>
        <p:sp>
          <p:nvSpPr>
            <p:cNvPr id="50209" name="Rectangle 22"/>
            <p:cNvSpPr/>
            <p:nvPr/>
          </p:nvSpPr>
          <p:spPr>
            <a:xfrm>
              <a:off x="1152" y="912"/>
              <a:ext cx="768" cy="384"/>
            </a:xfrm>
            <a:prstGeom prst="rect">
              <a:avLst/>
            </a:prstGeom>
            <a:solidFill>
              <a:srgbClr val="CCFFCC">
                <a:alpha val="50195"/>
              </a:srgbClr>
            </a:solidFill>
            <a:ln w="9525" cap="flat" cmpd="sng">
              <a:solidFill>
                <a:schemeClr val="tx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50210" name="Line 23"/>
            <p:cNvSpPr/>
            <p:nvPr/>
          </p:nvSpPr>
          <p:spPr>
            <a:xfrm>
              <a:off x="1344" y="912"/>
              <a:ext cx="0" cy="384"/>
            </a:xfrm>
            <a:prstGeom prst="line">
              <a:avLst/>
            </a:prstGeom>
            <a:ln w="9525" cap="flat" cmpd="sng">
              <a:solidFill>
                <a:schemeClr val="tx2"/>
              </a:solidFill>
              <a:prstDash val="solid"/>
              <a:headEnd type="none" w="med" len="med"/>
              <a:tailEnd type="none" w="med" len="med"/>
            </a:ln>
          </p:spPr>
        </p:sp>
        <p:sp>
          <p:nvSpPr>
            <p:cNvPr id="50211" name="Line 24"/>
            <p:cNvSpPr/>
            <p:nvPr/>
          </p:nvSpPr>
          <p:spPr>
            <a:xfrm>
              <a:off x="1728" y="912"/>
              <a:ext cx="0" cy="384"/>
            </a:xfrm>
            <a:prstGeom prst="line">
              <a:avLst/>
            </a:prstGeom>
            <a:ln w="9525" cap="flat" cmpd="sng">
              <a:solidFill>
                <a:schemeClr val="tx2"/>
              </a:solidFill>
              <a:prstDash val="solid"/>
              <a:headEnd type="none" w="med" len="med"/>
              <a:tailEnd type="none" w="med" len="med"/>
            </a:ln>
          </p:spPr>
        </p:sp>
      </p:grpSp>
      <p:sp>
        <p:nvSpPr>
          <p:cNvPr id="50207" name="Line 25"/>
          <p:cNvSpPr/>
          <p:nvPr/>
        </p:nvSpPr>
        <p:spPr>
          <a:xfrm>
            <a:off x="5514975" y="2619375"/>
            <a:ext cx="1066800" cy="0"/>
          </a:xfrm>
          <a:prstGeom prst="line">
            <a:avLst/>
          </a:prstGeom>
          <a:ln w="31750" cap="flat" cmpd="sng">
            <a:solidFill>
              <a:schemeClr val="tx2"/>
            </a:solidFill>
            <a:prstDash val="solid"/>
            <a:headEnd type="none" w="med" len="med"/>
            <a:tailEnd type="triangle" w="med" len="lg"/>
          </a:ln>
        </p:spPr>
      </p:sp>
      <p:sp>
        <p:nvSpPr>
          <p:cNvPr id="50208" name="Line 26"/>
          <p:cNvSpPr/>
          <p:nvPr/>
        </p:nvSpPr>
        <p:spPr>
          <a:xfrm>
            <a:off x="7724775" y="2619375"/>
            <a:ext cx="762000" cy="0"/>
          </a:xfrm>
          <a:prstGeom prst="line">
            <a:avLst/>
          </a:prstGeom>
          <a:ln w="31750" cap="flat" cmpd="sng">
            <a:solidFill>
              <a:schemeClr val="tx2"/>
            </a:solidFill>
            <a:prstDash val="solid"/>
            <a:headEnd type="none" w="med" len="med"/>
            <a:tailEnd type="triangle" w="med" len="lg"/>
          </a:ln>
        </p:spPr>
      </p:sp>
      <p:sp>
        <p:nvSpPr>
          <p:cNvPr id="25" name="Text Box 27"/>
          <p:cNvSpPr txBox="1"/>
          <p:nvPr/>
        </p:nvSpPr>
        <p:spPr>
          <a:xfrm>
            <a:off x="2314575" y="4005064"/>
            <a:ext cx="4523995" cy="2031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nSpc>
                <a:spcPct val="150000"/>
              </a:lnSpc>
              <a:spcBef>
                <a:spcPct val="0"/>
              </a:spcBef>
              <a:buClrTx/>
              <a:buNone/>
            </a:pPr>
            <a:r>
              <a:rPr lang="en-US" altLang="zh-CN" sz="2800" b="1" dirty="0">
                <a:ea typeface="宋体" panose="02010600030101010101" pitchFamily="2" charset="-122"/>
              </a:rPr>
              <a:t>s-&gt;prior-&gt;next = s-&gt;next;</a:t>
            </a:r>
          </a:p>
          <a:p>
            <a:pPr marL="0" lvl="0" indent="0">
              <a:lnSpc>
                <a:spcPct val="150000"/>
              </a:lnSpc>
              <a:spcBef>
                <a:spcPct val="0"/>
              </a:spcBef>
              <a:buClrTx/>
              <a:buNone/>
            </a:pPr>
            <a:r>
              <a:rPr lang="en-US" altLang="zh-CN" sz="2800" b="1" dirty="0">
                <a:ea typeface="宋体" panose="02010600030101010101" pitchFamily="2" charset="-122"/>
              </a:rPr>
              <a:t>s-&gt;next-&gt;prior = s-&gt;prior;</a:t>
            </a:r>
          </a:p>
          <a:p>
            <a:pPr marL="0" lvl="0" indent="0">
              <a:lnSpc>
                <a:spcPct val="150000"/>
              </a:lnSpc>
              <a:spcBef>
                <a:spcPct val="0"/>
              </a:spcBef>
              <a:buClrTx/>
              <a:buNone/>
            </a:pPr>
            <a:r>
              <a:rPr lang="en-US" altLang="zh-CN" sz="2800" b="1" dirty="0">
                <a:ea typeface="宋体" panose="02010600030101010101" pitchFamily="2" charset="-122"/>
              </a:rPr>
              <a:t>delete s;</a:t>
            </a:r>
          </a:p>
        </p:txBody>
      </p:sp>
      <p:grpSp>
        <p:nvGrpSpPr>
          <p:cNvPr id="27" name="Group 29"/>
          <p:cNvGrpSpPr/>
          <p:nvPr/>
        </p:nvGrpSpPr>
        <p:grpSpPr>
          <a:xfrm>
            <a:off x="5057775" y="1857375"/>
            <a:ext cx="1752600" cy="762000"/>
            <a:chOff x="2976" y="624"/>
            <a:chExt cx="1104" cy="480"/>
          </a:xfrm>
        </p:grpSpPr>
        <p:sp>
          <p:nvSpPr>
            <p:cNvPr id="50203" name="Line 30"/>
            <p:cNvSpPr/>
            <p:nvPr/>
          </p:nvSpPr>
          <p:spPr>
            <a:xfrm flipH="1">
              <a:off x="2976" y="624"/>
              <a:ext cx="1104" cy="0"/>
            </a:xfrm>
            <a:prstGeom prst="line">
              <a:avLst/>
            </a:prstGeom>
            <a:ln w="31750" cap="flat" cmpd="sng">
              <a:solidFill>
                <a:srgbClr val="993300"/>
              </a:solidFill>
              <a:prstDash val="solid"/>
              <a:headEnd type="none" w="med" len="med"/>
              <a:tailEnd type="none" w="med" len="med"/>
            </a:ln>
          </p:spPr>
        </p:sp>
        <p:sp>
          <p:nvSpPr>
            <p:cNvPr id="50204" name="Line 31"/>
            <p:cNvSpPr/>
            <p:nvPr/>
          </p:nvSpPr>
          <p:spPr>
            <a:xfrm flipV="1">
              <a:off x="4080" y="624"/>
              <a:ext cx="0" cy="480"/>
            </a:xfrm>
            <a:prstGeom prst="line">
              <a:avLst/>
            </a:prstGeom>
            <a:ln w="31750" cap="flat" cmpd="sng">
              <a:solidFill>
                <a:srgbClr val="993300"/>
              </a:solidFill>
              <a:prstDash val="solid"/>
              <a:headEnd type="none" w="med" len="med"/>
              <a:tailEnd type="none" w="med" len="med"/>
            </a:ln>
          </p:spPr>
        </p:sp>
        <p:sp>
          <p:nvSpPr>
            <p:cNvPr id="50205" name="Line 32"/>
            <p:cNvSpPr/>
            <p:nvPr/>
          </p:nvSpPr>
          <p:spPr>
            <a:xfrm>
              <a:off x="2976" y="624"/>
              <a:ext cx="0" cy="288"/>
            </a:xfrm>
            <a:prstGeom prst="line">
              <a:avLst/>
            </a:prstGeom>
            <a:ln w="31750" cap="flat" cmpd="sng">
              <a:solidFill>
                <a:srgbClr val="993300"/>
              </a:solidFill>
              <a:prstDash val="solid"/>
              <a:headEnd type="none" w="med" len="med"/>
              <a:tailEnd type="triangle" w="med" len="lg"/>
            </a:ln>
          </p:spPr>
        </p:sp>
      </p:grpSp>
      <p:sp useBgFill="1">
        <p:nvSpPr>
          <p:cNvPr id="31" name="Rectangle 33"/>
          <p:cNvSpPr/>
          <p:nvPr/>
        </p:nvSpPr>
        <p:spPr>
          <a:xfrm>
            <a:off x="3152775" y="2466975"/>
            <a:ext cx="1219200" cy="304800"/>
          </a:xfrm>
          <a:prstGeom prst="rect">
            <a:avLst/>
          </a:prstGeom>
          <a:ln w="9525">
            <a:noFill/>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endParaRPr lang="zh-CN" altLang="en-US" sz="1800" dirty="0">
              <a:ea typeface="宋体" panose="02010600030101010101" pitchFamily="2" charset="-122"/>
            </a:endParaRPr>
          </a:p>
        </p:txBody>
      </p:sp>
      <p:grpSp>
        <p:nvGrpSpPr>
          <p:cNvPr id="33" name="Group 35"/>
          <p:cNvGrpSpPr/>
          <p:nvPr/>
        </p:nvGrpSpPr>
        <p:grpSpPr>
          <a:xfrm>
            <a:off x="2771775" y="1857375"/>
            <a:ext cx="1828800" cy="762000"/>
            <a:chOff x="1536" y="624"/>
            <a:chExt cx="1152" cy="480"/>
          </a:xfrm>
        </p:grpSpPr>
        <p:sp>
          <p:nvSpPr>
            <p:cNvPr id="50200" name="Line 36"/>
            <p:cNvSpPr/>
            <p:nvPr/>
          </p:nvSpPr>
          <p:spPr>
            <a:xfrm flipV="1">
              <a:off x="2688" y="624"/>
              <a:ext cx="0" cy="480"/>
            </a:xfrm>
            <a:prstGeom prst="line">
              <a:avLst/>
            </a:prstGeom>
            <a:ln w="31750" cap="flat" cmpd="sng">
              <a:solidFill>
                <a:srgbClr val="993300"/>
              </a:solidFill>
              <a:prstDash val="solid"/>
              <a:headEnd type="none" w="med" len="med"/>
              <a:tailEnd type="none" w="med" len="med"/>
            </a:ln>
          </p:spPr>
        </p:sp>
        <p:sp>
          <p:nvSpPr>
            <p:cNvPr id="50201" name="Line 37"/>
            <p:cNvSpPr/>
            <p:nvPr/>
          </p:nvSpPr>
          <p:spPr>
            <a:xfrm flipH="1">
              <a:off x="1536" y="624"/>
              <a:ext cx="1152" cy="0"/>
            </a:xfrm>
            <a:prstGeom prst="line">
              <a:avLst/>
            </a:prstGeom>
            <a:ln w="31750" cap="flat" cmpd="sng">
              <a:solidFill>
                <a:srgbClr val="993300"/>
              </a:solidFill>
              <a:prstDash val="solid"/>
              <a:headEnd type="none" w="med" len="med"/>
              <a:tailEnd type="none" w="med" len="med"/>
            </a:ln>
          </p:spPr>
        </p:sp>
        <p:sp>
          <p:nvSpPr>
            <p:cNvPr id="50202" name="Line 38"/>
            <p:cNvSpPr/>
            <p:nvPr/>
          </p:nvSpPr>
          <p:spPr>
            <a:xfrm>
              <a:off x="1536" y="624"/>
              <a:ext cx="0" cy="288"/>
            </a:xfrm>
            <a:prstGeom prst="line">
              <a:avLst/>
            </a:prstGeom>
            <a:ln w="31750" cap="flat" cmpd="sng">
              <a:solidFill>
                <a:srgbClr val="993300"/>
              </a:solidFill>
              <a:prstDash val="solid"/>
              <a:headEnd type="none" w="med" len="med"/>
              <a:tailEnd type="triangle" w="med" len="lg"/>
            </a:ln>
          </p:spPr>
        </p:sp>
      </p:grpSp>
      <p:grpSp>
        <p:nvGrpSpPr>
          <p:cNvPr id="37" name="Group 39"/>
          <p:cNvGrpSpPr/>
          <p:nvPr/>
        </p:nvGrpSpPr>
        <p:grpSpPr>
          <a:xfrm>
            <a:off x="2162175" y="2314575"/>
            <a:ext cx="1219200" cy="609600"/>
            <a:chOff x="1152" y="912"/>
            <a:chExt cx="768" cy="384"/>
          </a:xfrm>
        </p:grpSpPr>
        <p:sp>
          <p:nvSpPr>
            <p:cNvPr id="50197" name="Rectangle 40"/>
            <p:cNvSpPr/>
            <p:nvPr/>
          </p:nvSpPr>
          <p:spPr>
            <a:xfrm>
              <a:off x="1152" y="912"/>
              <a:ext cx="768" cy="384"/>
            </a:xfrm>
            <a:prstGeom prst="rect">
              <a:avLst/>
            </a:prstGeom>
            <a:solidFill>
              <a:srgbClr val="CCFFCC">
                <a:alpha val="50195"/>
              </a:srgbClr>
            </a:solidFill>
            <a:ln w="9525" cap="flat" cmpd="sng">
              <a:solidFill>
                <a:schemeClr val="tx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lgn="ctr">
                <a:spcBef>
                  <a:spcPct val="0"/>
                </a:spcBef>
                <a:buClrTx/>
                <a:buNone/>
              </a:pPr>
              <a:r>
                <a:rPr lang="en-US" altLang="zh-CN" sz="3600" b="1" dirty="0">
                  <a:ea typeface="宋体" panose="02010600030101010101" pitchFamily="2" charset="-122"/>
                </a:rPr>
                <a:t>a</a:t>
              </a:r>
              <a:r>
                <a:rPr lang="en-US" altLang="zh-CN" sz="3600" b="1" baseline="-25000" dirty="0">
                  <a:ea typeface="宋体" panose="02010600030101010101" pitchFamily="2" charset="-122"/>
                </a:rPr>
                <a:t>i-1</a:t>
              </a:r>
              <a:endParaRPr lang="en-US" altLang="zh-CN" sz="3600" dirty="0">
                <a:ea typeface="宋体" panose="02010600030101010101" pitchFamily="2" charset="-122"/>
              </a:endParaRPr>
            </a:p>
          </p:txBody>
        </p:sp>
        <p:sp>
          <p:nvSpPr>
            <p:cNvPr id="50198" name="Line 41"/>
            <p:cNvSpPr/>
            <p:nvPr/>
          </p:nvSpPr>
          <p:spPr>
            <a:xfrm>
              <a:off x="1344" y="912"/>
              <a:ext cx="0" cy="384"/>
            </a:xfrm>
            <a:prstGeom prst="line">
              <a:avLst/>
            </a:prstGeom>
            <a:ln w="9525" cap="flat" cmpd="sng">
              <a:solidFill>
                <a:schemeClr val="tx2"/>
              </a:solidFill>
              <a:prstDash val="solid"/>
              <a:headEnd type="none" w="med" len="med"/>
              <a:tailEnd type="none" w="med" len="med"/>
            </a:ln>
          </p:spPr>
        </p:sp>
        <p:sp>
          <p:nvSpPr>
            <p:cNvPr id="50199" name="Line 42"/>
            <p:cNvSpPr/>
            <p:nvPr/>
          </p:nvSpPr>
          <p:spPr>
            <a:xfrm>
              <a:off x="1728" y="912"/>
              <a:ext cx="0" cy="384"/>
            </a:xfrm>
            <a:prstGeom prst="line">
              <a:avLst/>
            </a:prstGeom>
            <a:ln w="9525" cap="flat" cmpd="sng">
              <a:solidFill>
                <a:schemeClr val="tx2"/>
              </a:solidFill>
              <a:prstDash val="solid"/>
              <a:headEnd type="none" w="med" len="med"/>
              <a:tailEnd type="none" w="med" len="med"/>
            </a:ln>
          </p:spPr>
        </p:sp>
      </p:grpSp>
      <p:cxnSp>
        <p:nvCxnSpPr>
          <p:cNvPr id="41" name="AutoShape 43"/>
          <p:cNvCxnSpPr>
            <a:endCxn id="50209" idx="2"/>
          </p:cNvCxnSpPr>
          <p:nvPr/>
        </p:nvCxnSpPr>
        <p:spPr>
          <a:xfrm>
            <a:off x="3203575" y="2623820"/>
            <a:ext cx="4064000" cy="287655"/>
          </a:xfrm>
          <a:prstGeom prst="bentConnector4">
            <a:avLst>
              <a:gd name="adj1" fmla="val -78"/>
              <a:gd name="adj2" fmla="val 182781"/>
            </a:avLst>
          </a:prstGeom>
          <a:ln w="31750" cap="flat" cmpd="sng">
            <a:solidFill>
              <a:srgbClr val="008080"/>
            </a:solidFill>
            <a:prstDash val="solid"/>
            <a:miter/>
            <a:headEnd type="none" w="med" len="med"/>
            <a:tailEnd type="triangle" w="med" len="lg"/>
          </a:ln>
        </p:spPr>
      </p:cxnSp>
      <p:grpSp>
        <p:nvGrpSpPr>
          <p:cNvPr id="43" name="Group 45"/>
          <p:cNvGrpSpPr/>
          <p:nvPr/>
        </p:nvGrpSpPr>
        <p:grpSpPr>
          <a:xfrm>
            <a:off x="2771775" y="1628775"/>
            <a:ext cx="4038600" cy="990600"/>
            <a:chOff x="1536" y="480"/>
            <a:chExt cx="2544" cy="624"/>
          </a:xfrm>
        </p:grpSpPr>
        <p:sp>
          <p:nvSpPr>
            <p:cNvPr id="50194" name="Line 46"/>
            <p:cNvSpPr/>
            <p:nvPr/>
          </p:nvSpPr>
          <p:spPr>
            <a:xfrm flipH="1" flipV="1">
              <a:off x="4080" y="480"/>
              <a:ext cx="0" cy="624"/>
            </a:xfrm>
            <a:prstGeom prst="line">
              <a:avLst/>
            </a:prstGeom>
            <a:ln w="34925" cap="flat" cmpd="sng">
              <a:solidFill>
                <a:srgbClr val="FF0000"/>
              </a:solidFill>
              <a:prstDash val="solid"/>
              <a:headEnd type="none" w="med" len="med"/>
              <a:tailEnd type="none" w="med" len="med"/>
            </a:ln>
          </p:spPr>
        </p:sp>
        <p:sp>
          <p:nvSpPr>
            <p:cNvPr id="50195" name="Line 47"/>
            <p:cNvSpPr/>
            <p:nvPr/>
          </p:nvSpPr>
          <p:spPr>
            <a:xfrm flipH="1">
              <a:off x="1536" y="480"/>
              <a:ext cx="2544" cy="0"/>
            </a:xfrm>
            <a:prstGeom prst="line">
              <a:avLst/>
            </a:prstGeom>
            <a:ln w="34925" cap="flat" cmpd="sng">
              <a:solidFill>
                <a:srgbClr val="FF0000"/>
              </a:solidFill>
              <a:prstDash val="solid"/>
              <a:headEnd type="none" w="med" len="med"/>
              <a:tailEnd type="none" w="med" len="med"/>
            </a:ln>
          </p:spPr>
        </p:sp>
        <p:sp>
          <p:nvSpPr>
            <p:cNvPr id="50196" name="Line 48"/>
            <p:cNvSpPr/>
            <p:nvPr/>
          </p:nvSpPr>
          <p:spPr>
            <a:xfrm>
              <a:off x="1536" y="480"/>
              <a:ext cx="0" cy="432"/>
            </a:xfrm>
            <a:prstGeom prst="line">
              <a:avLst/>
            </a:prstGeom>
            <a:ln w="34925" cap="flat" cmpd="sng">
              <a:solidFill>
                <a:srgbClr val="FF0000"/>
              </a:solidFill>
              <a:prstDash val="solid"/>
              <a:headEnd type="none" w="med" len="med"/>
              <a:tailEnd type="triangle" w="lg" len="lg"/>
            </a:ln>
          </p:spPr>
        </p:sp>
      </p:grpSp>
      <p:sp>
        <p:nvSpPr>
          <p:cNvPr id="45" name="Line 7"/>
          <p:cNvSpPr>
            <a:spLocks noChangeShapeType="1"/>
          </p:cNvSpPr>
          <p:nvPr/>
        </p:nvSpPr>
        <p:spPr bwMode="auto">
          <a:xfrm flipH="1" flipV="1">
            <a:off x="5099001" y="2924944"/>
            <a:ext cx="8751" cy="447769"/>
          </a:xfrm>
          <a:prstGeom prst="line">
            <a:avLst/>
          </a:prstGeom>
          <a:noFill/>
          <a:ln w="31750">
            <a:solidFill>
              <a:srgbClr val="008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46" name="文本框 45"/>
          <p:cNvSpPr txBox="1"/>
          <p:nvPr/>
        </p:nvSpPr>
        <p:spPr>
          <a:xfrm>
            <a:off x="4932040" y="3380571"/>
            <a:ext cx="390524" cy="369332"/>
          </a:xfrm>
          <a:prstGeom prst="rect">
            <a:avLst/>
          </a:prstGeom>
          <a:noFill/>
        </p:spPr>
        <p:txBody>
          <a:bodyPr wrap="square" rtlCol="0">
            <a:spAutoFit/>
          </a:bodyPr>
          <a:lstStyle/>
          <a:p>
            <a:r>
              <a:rPr lang="en-US" altLang="zh-CN" dirty="0"/>
              <a:t>S</a:t>
            </a:r>
            <a:endParaRPr lang="zh-CN" altLang="en-US" dirty="0"/>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9"/>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33"/>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5020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线性表的应用</a:t>
            </a:r>
          </a:p>
        </p:txBody>
      </p:sp>
      <p:sp>
        <p:nvSpPr>
          <p:cNvPr id="3" name="内容占位符 2"/>
          <p:cNvSpPr>
            <a:spLocks noGrp="1"/>
          </p:cNvSpPr>
          <p:nvPr>
            <p:ph idx="1"/>
          </p:nvPr>
        </p:nvSpPr>
        <p:spPr/>
        <p:txBody>
          <a:bodyPr/>
          <a:lstStyle/>
          <a:p>
            <a:r>
              <a:rPr lang="zh-CN" altLang="en-US" dirty="0"/>
              <a:t>求并集</a:t>
            </a:r>
            <a:endParaRPr lang="en-US" altLang="zh-CN" dirty="0"/>
          </a:p>
          <a:p>
            <a:r>
              <a:rPr lang="zh-CN" altLang="en-US" dirty="0"/>
              <a:t>有序表的合并</a:t>
            </a:r>
            <a:endParaRPr lang="en-US" altLang="zh-CN" dirty="0"/>
          </a:p>
          <a:p>
            <a:r>
              <a:rPr lang="zh-CN" altLang="en-US" dirty="0"/>
              <a:t>链表就地逆置</a:t>
            </a:r>
            <a:endParaRPr lang="en-US" altLang="zh-CN" dirty="0"/>
          </a:p>
          <a:p>
            <a:r>
              <a:rPr lang="zh-CN" altLang="en-US" dirty="0"/>
              <a:t>一元多项式的运算</a:t>
            </a: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vert="horz" wrap="square" lIns="91440" tIns="45720" rIns="91440" bIns="45720" anchor="ctr"/>
          <a:lstStyle/>
          <a:p>
            <a:r>
              <a:rPr lang="zh-CN" altLang="en-US" dirty="0"/>
              <a:t>求并集</a:t>
            </a:r>
            <a:endParaRPr lang="zh-CN" altLang="en-US" dirty="0">
              <a:latin typeface="+mj-lt"/>
              <a:ea typeface="+mj-ea"/>
              <a:cs typeface="+mj-cs"/>
            </a:endParaRPr>
          </a:p>
        </p:txBody>
      </p:sp>
      <p:sp>
        <p:nvSpPr>
          <p:cNvPr id="51203" name="内容占位符 2"/>
          <p:cNvSpPr>
            <a:spLocks noGrp="1"/>
          </p:cNvSpPr>
          <p:nvPr>
            <p:ph idx="1"/>
          </p:nvPr>
        </p:nvSpPr>
        <p:spPr>
          <a:xfrm>
            <a:off x="468313" y="1125538"/>
            <a:ext cx="8207375" cy="1079500"/>
          </a:xfrm>
        </p:spPr>
        <p:txBody>
          <a:bodyPr vert="horz" wrap="square" lIns="91440" tIns="45720" rIns="91440" bIns="45720" anchor="t"/>
          <a:lstStyle/>
          <a:p>
            <a:r>
              <a:rPr lang="zh-CN" altLang="en-US" dirty="0">
                <a:latin typeface="+mn-lt"/>
                <a:ea typeface="+mn-ea"/>
                <a:cs typeface="+mn-cs"/>
              </a:rPr>
              <a:t>利用两个线性表</a:t>
            </a:r>
            <a:r>
              <a:rPr lang="en-US" altLang="zh-CN" dirty="0">
                <a:latin typeface="+mn-lt"/>
                <a:ea typeface="+mn-ea"/>
                <a:cs typeface="+mn-cs"/>
              </a:rPr>
              <a:t>LA</a:t>
            </a:r>
            <a:r>
              <a:rPr lang="zh-CN" altLang="en-US" dirty="0">
                <a:latin typeface="+mn-lt"/>
                <a:ea typeface="+mn-ea"/>
                <a:cs typeface="+mn-cs"/>
              </a:rPr>
              <a:t>和</a:t>
            </a:r>
            <a:r>
              <a:rPr lang="en-US" altLang="zh-CN" dirty="0">
                <a:latin typeface="+mn-lt"/>
                <a:ea typeface="+mn-ea"/>
                <a:cs typeface="+mn-cs"/>
              </a:rPr>
              <a:t>LB</a:t>
            </a:r>
            <a:r>
              <a:rPr lang="zh-CN" altLang="en-US" dirty="0">
                <a:latin typeface="+mn-lt"/>
                <a:ea typeface="+mn-ea"/>
                <a:cs typeface="+mn-cs"/>
              </a:rPr>
              <a:t>分别表示两个集合</a:t>
            </a:r>
            <a:r>
              <a:rPr lang="en-US" altLang="zh-CN" dirty="0">
                <a:latin typeface="+mn-lt"/>
                <a:ea typeface="+mn-ea"/>
                <a:cs typeface="+mn-cs"/>
              </a:rPr>
              <a:t>A</a:t>
            </a:r>
            <a:r>
              <a:rPr lang="zh-CN" altLang="en-US" dirty="0">
                <a:latin typeface="+mn-lt"/>
                <a:ea typeface="+mn-ea"/>
                <a:cs typeface="+mn-cs"/>
              </a:rPr>
              <a:t>和</a:t>
            </a:r>
            <a:r>
              <a:rPr lang="en-US" altLang="zh-CN" dirty="0">
                <a:latin typeface="+mn-lt"/>
                <a:ea typeface="+mn-ea"/>
                <a:cs typeface="+mn-cs"/>
              </a:rPr>
              <a:t>B</a:t>
            </a:r>
            <a:r>
              <a:rPr lang="zh-CN" altLang="en-US" dirty="0">
                <a:latin typeface="+mn-lt"/>
                <a:ea typeface="+mn-ea"/>
                <a:cs typeface="+mn-cs"/>
              </a:rPr>
              <a:t>，现要求一个新的集合</a:t>
            </a:r>
            <a:r>
              <a:rPr lang="en-US" altLang="zh-CN" dirty="0">
                <a:latin typeface="+mn-lt"/>
                <a:ea typeface="+mn-ea"/>
                <a:cs typeface="+mn-cs"/>
              </a:rPr>
              <a:t>A=A∪B</a:t>
            </a:r>
            <a:endParaRPr lang="zh-CN" altLang="en-US" dirty="0">
              <a:latin typeface="+mn-lt"/>
              <a:ea typeface="+mn-ea"/>
              <a:cs typeface="+mn-cs"/>
            </a:endParaRPr>
          </a:p>
        </p:txBody>
      </p:sp>
      <p:sp>
        <p:nvSpPr>
          <p:cNvPr id="5" name="Text Box 5"/>
          <p:cNvSpPr txBox="1"/>
          <p:nvPr/>
        </p:nvSpPr>
        <p:spPr>
          <a:xfrm>
            <a:off x="1259632" y="2348880"/>
            <a:ext cx="6670416" cy="13849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lvl="0" indent="0">
              <a:spcBef>
                <a:spcPct val="0"/>
              </a:spcBef>
              <a:buClrTx/>
              <a:buNone/>
            </a:pPr>
            <a:r>
              <a:rPr lang="en-US" altLang="zh-CN" sz="2800" b="1" dirty="0">
                <a:ea typeface="楷体_GB2312" pitchFamily="49" charset="-122"/>
              </a:rPr>
              <a:t>1</a:t>
            </a:r>
            <a:r>
              <a:rPr lang="zh-CN" altLang="en-US" sz="2800" b="1" dirty="0">
                <a:ea typeface="楷体_GB2312" pitchFamily="49" charset="-122"/>
              </a:rPr>
              <a:t>．</a:t>
            </a:r>
            <a:r>
              <a:rPr lang="zh-CN" altLang="en-US" sz="2800" dirty="0">
                <a:ea typeface="楷体_GB2312" pitchFamily="49" charset="-122"/>
              </a:rPr>
              <a:t>从线性表</a:t>
            </a:r>
            <a:r>
              <a:rPr lang="en-US" altLang="zh-CN" sz="2800" dirty="0">
                <a:ea typeface="楷体_GB2312" pitchFamily="49" charset="-122"/>
              </a:rPr>
              <a:t>LB</a:t>
            </a:r>
            <a:r>
              <a:rPr lang="zh-CN" altLang="en-US" sz="2800" dirty="0">
                <a:ea typeface="楷体_GB2312" pitchFamily="49" charset="-122"/>
              </a:rPr>
              <a:t>中依次察看每个数据元素 </a:t>
            </a:r>
            <a:endParaRPr lang="en-US" altLang="zh-CN" sz="2800" dirty="0">
              <a:ea typeface="楷体_GB2312" pitchFamily="49" charset="-122"/>
            </a:endParaRPr>
          </a:p>
          <a:p>
            <a:pPr marL="0" lvl="0" indent="0">
              <a:spcBef>
                <a:spcPct val="0"/>
              </a:spcBef>
              <a:buClrTx/>
              <a:buNone/>
            </a:pPr>
            <a:r>
              <a:rPr lang="en-US" altLang="zh-CN" sz="2800" b="1" dirty="0">
                <a:ea typeface="楷体_GB2312" pitchFamily="49" charset="-122"/>
              </a:rPr>
              <a:t>2</a:t>
            </a:r>
            <a:r>
              <a:rPr lang="zh-CN" altLang="en-US" sz="2800" b="1" dirty="0">
                <a:ea typeface="楷体_GB2312" pitchFamily="49" charset="-122"/>
              </a:rPr>
              <a:t>．</a:t>
            </a:r>
            <a:r>
              <a:rPr lang="zh-CN" altLang="en-US" sz="2800" dirty="0">
                <a:ea typeface="楷体_GB2312" pitchFamily="49" charset="-122"/>
              </a:rPr>
              <a:t>依值在线性表</a:t>
            </a:r>
            <a:r>
              <a:rPr lang="en-US" altLang="zh-CN" sz="2800" dirty="0">
                <a:ea typeface="楷体_GB2312" pitchFamily="49" charset="-122"/>
              </a:rPr>
              <a:t>LA</a:t>
            </a:r>
            <a:r>
              <a:rPr lang="zh-CN" altLang="en-US" sz="2800" dirty="0">
                <a:ea typeface="楷体_GB2312" pitchFamily="49" charset="-122"/>
              </a:rPr>
              <a:t>中进行查访</a:t>
            </a:r>
            <a:r>
              <a:rPr lang="en-US" altLang="zh-CN" sz="2800" dirty="0">
                <a:ea typeface="楷体_GB2312" pitchFamily="49" charset="-122"/>
              </a:rPr>
              <a:t> </a:t>
            </a:r>
          </a:p>
          <a:p>
            <a:pPr marL="0" indent="0">
              <a:spcBef>
                <a:spcPct val="0"/>
              </a:spcBef>
              <a:buClrTx/>
              <a:buNone/>
            </a:pPr>
            <a:r>
              <a:rPr lang="en-US" altLang="zh-CN" sz="2800" b="1" dirty="0">
                <a:ea typeface="楷体_GB2312" pitchFamily="49" charset="-122"/>
              </a:rPr>
              <a:t>3</a:t>
            </a:r>
            <a:r>
              <a:rPr lang="zh-CN" altLang="en-US" sz="2800" b="1" dirty="0">
                <a:ea typeface="楷体_GB2312" pitchFamily="49" charset="-122"/>
              </a:rPr>
              <a:t>．</a:t>
            </a:r>
            <a:r>
              <a:rPr lang="zh-CN" altLang="en-US" sz="2800" dirty="0">
                <a:latin typeface="楷体_GB2312" pitchFamily="49" charset="-122"/>
                <a:ea typeface="楷体_GB2312" pitchFamily="49" charset="-122"/>
              </a:rPr>
              <a:t>若不存在，将之插入值</a:t>
            </a:r>
            <a:r>
              <a:rPr lang="en-US" altLang="zh-CN" sz="2800" dirty="0">
                <a:latin typeface="楷体_GB2312" pitchFamily="49" charset="-122"/>
                <a:ea typeface="楷体_GB2312" pitchFamily="49" charset="-122"/>
              </a:rPr>
              <a:t>LA</a:t>
            </a:r>
            <a:r>
              <a:rPr lang="zh-CN" altLang="en-US" sz="2800" dirty="0">
                <a:latin typeface="楷体_GB2312" pitchFamily="49" charset="-122"/>
                <a:ea typeface="楷体_GB2312" pitchFamily="49" charset="-122"/>
              </a:rPr>
              <a:t>末尾</a:t>
            </a:r>
            <a:endParaRPr lang="en-US" altLang="zh-CN" sz="2800" dirty="0">
              <a:latin typeface="楷体_GB2312" pitchFamily="49" charset="-122"/>
              <a:ea typeface="楷体_GB2312" pitchFamily="49" charset="-122"/>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求并集</a:t>
            </a:r>
            <a:r>
              <a:rPr lang="en-US" altLang="zh-CN" dirty="0"/>
              <a:t>-</a:t>
            </a:r>
            <a:r>
              <a:rPr lang="zh-CN" altLang="en-US" dirty="0"/>
              <a:t>顺序实现</a:t>
            </a:r>
          </a:p>
        </p:txBody>
      </p:sp>
      <p:sp>
        <p:nvSpPr>
          <p:cNvPr id="4" name="文本框 3"/>
          <p:cNvSpPr txBox="1"/>
          <p:nvPr/>
        </p:nvSpPr>
        <p:spPr>
          <a:xfrm>
            <a:off x="1514398" y="1484784"/>
            <a:ext cx="6618441" cy="3564053"/>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for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=0;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&lt;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B.length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for (j=0; j&lt;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A.length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j++)</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if(</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B.elem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A.elem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[j]) break;</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if(j==</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A.length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A.elem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[j] =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B.elem</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A.length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8231438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4A1CBA-BEB1-FA4D-90B8-661D2212AFC3}"/>
              </a:ext>
            </a:extLst>
          </p:cNvPr>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6" name="文本框 5">
            <a:extLst>
              <a:ext uri="{FF2B5EF4-FFF2-40B4-BE49-F238E27FC236}">
                <a16:creationId xmlns:a16="http://schemas.microsoft.com/office/drawing/2014/main" id="{B3E23D3F-1FB4-644E-A791-F154FF8D83DA}"/>
              </a:ext>
            </a:extLst>
          </p:cNvPr>
          <p:cNvSpPr txBox="1"/>
          <p:nvPr/>
        </p:nvSpPr>
        <p:spPr>
          <a:xfrm>
            <a:off x="611560" y="980728"/>
            <a:ext cx="7168282" cy="5355312"/>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a:buNone/>
            </a:pPr>
            <a:r>
              <a:rPr lang="en-HK" altLang="zh-CN" sz="1800" dirty="0"/>
              <a:t>pa = A-&gt;next;</a:t>
            </a:r>
            <a:r>
              <a:rPr lang="zh-CN" altLang="en-US" sz="1800" dirty="0"/>
              <a:t>  </a:t>
            </a:r>
            <a:r>
              <a:rPr lang="en-HK" altLang="zh-CN" sz="1800" dirty="0"/>
              <a:t>pb = B-&gt;next;</a:t>
            </a:r>
          </a:p>
          <a:p>
            <a:pPr marL="0" indent="0">
              <a:buNone/>
            </a:pPr>
            <a:r>
              <a:rPr lang="en-HK" altLang="zh-CN" sz="1800" dirty="0"/>
              <a:t>r = A;</a:t>
            </a:r>
          </a:p>
          <a:p>
            <a:pPr marL="0" indent="0">
              <a:buNone/>
            </a:pPr>
            <a:r>
              <a:rPr lang="en-HK" altLang="zh-CN" sz="1800" dirty="0"/>
              <a:t>while(r-&gt;next!=NULL)</a:t>
            </a:r>
            <a:r>
              <a:rPr lang="zh-CN" altLang="en-US" sz="1800" dirty="0"/>
              <a:t> </a:t>
            </a:r>
            <a:r>
              <a:rPr lang="en-HK" altLang="zh-CN" sz="1800" dirty="0"/>
              <a:t>r = r-&gt;next;</a:t>
            </a:r>
          </a:p>
          <a:p>
            <a:pPr marL="0" indent="0">
              <a:buNone/>
            </a:pPr>
            <a:r>
              <a:rPr lang="en-HK" altLang="zh-CN" sz="1800" dirty="0"/>
              <a:t>while(pb!=NULL){</a:t>
            </a:r>
          </a:p>
          <a:p>
            <a:pPr marL="0" indent="0">
              <a:buNone/>
            </a:pPr>
            <a:r>
              <a:rPr lang="en-HK" altLang="zh-CN" sz="1800" dirty="0"/>
              <a:t>	while(pa!=NULL){</a:t>
            </a:r>
          </a:p>
          <a:p>
            <a:pPr marL="0" indent="0">
              <a:buNone/>
            </a:pPr>
            <a:r>
              <a:rPr lang="en-HK" altLang="zh-CN" sz="1800" dirty="0"/>
              <a:t>		if(pa-&gt;data==pb-&gt;data)break;</a:t>
            </a:r>
          </a:p>
          <a:p>
            <a:pPr marL="0" indent="0">
              <a:buNone/>
            </a:pPr>
            <a:r>
              <a:rPr lang="en-HK" altLang="zh-CN" sz="1800" dirty="0"/>
              <a:t>		pa = pa-&gt;next;</a:t>
            </a:r>
          </a:p>
          <a:p>
            <a:pPr marL="0" indent="0">
              <a:buNone/>
            </a:pPr>
            <a:r>
              <a:rPr lang="en-HK" altLang="zh-CN" sz="1800" dirty="0"/>
              <a:t>	}</a:t>
            </a:r>
          </a:p>
          <a:p>
            <a:pPr marL="0" indent="0">
              <a:buNone/>
            </a:pPr>
            <a:r>
              <a:rPr lang="en-HK" altLang="zh-CN" sz="1800" dirty="0"/>
              <a:t>	if(pa==NULL){</a:t>
            </a:r>
          </a:p>
          <a:p>
            <a:pPr marL="0" indent="0">
              <a:buNone/>
            </a:pPr>
            <a:r>
              <a:rPr lang="en-HK" altLang="zh-CN" sz="1800" dirty="0"/>
              <a:t>		r-&gt;next = new </a:t>
            </a:r>
            <a:r>
              <a:rPr lang="en-HK" altLang="zh-CN" sz="1800" dirty="0" err="1"/>
              <a:t>LNode</a:t>
            </a:r>
            <a:r>
              <a:rPr lang="en-HK" altLang="zh-CN" sz="1800" dirty="0"/>
              <a:t> ;</a:t>
            </a:r>
          </a:p>
          <a:p>
            <a:pPr marL="0" indent="0">
              <a:buNone/>
            </a:pPr>
            <a:r>
              <a:rPr lang="en-HK" altLang="zh-CN" sz="1800" dirty="0"/>
              <a:t>		r = r-&gt;next;</a:t>
            </a:r>
          </a:p>
          <a:p>
            <a:pPr marL="0" indent="0">
              <a:buNone/>
            </a:pPr>
            <a:r>
              <a:rPr lang="en-HK" altLang="zh-CN" sz="1800" dirty="0"/>
              <a:t>		r-&gt;data = pb-&gt;data;</a:t>
            </a:r>
          </a:p>
          <a:p>
            <a:pPr marL="0" indent="0">
              <a:buNone/>
            </a:pPr>
            <a:r>
              <a:rPr lang="en-HK" altLang="zh-CN" sz="1800" dirty="0"/>
              <a:t>		r-&gt;next = NULL;</a:t>
            </a:r>
          </a:p>
          <a:p>
            <a:pPr marL="0" indent="0">
              <a:buNone/>
            </a:pPr>
            <a:r>
              <a:rPr lang="en-HK" altLang="zh-CN" sz="1800" dirty="0"/>
              <a:t>	}</a:t>
            </a:r>
          </a:p>
          <a:p>
            <a:pPr marL="0" indent="0">
              <a:buNone/>
            </a:pPr>
            <a:r>
              <a:rPr lang="en-HK" altLang="zh-CN" sz="1800" dirty="0"/>
              <a:t>	pb = pb-&gt;next;</a:t>
            </a:r>
          </a:p>
          <a:p>
            <a:pPr marL="0" indent="0">
              <a:buNone/>
            </a:pPr>
            <a:r>
              <a:rPr lang="en-HK" altLang="zh-CN" sz="1800" dirty="0"/>
              <a:t>}</a:t>
            </a:r>
          </a:p>
        </p:txBody>
      </p:sp>
      <p:sp>
        <p:nvSpPr>
          <p:cNvPr id="7" name="标题 1">
            <a:extLst>
              <a:ext uri="{FF2B5EF4-FFF2-40B4-BE49-F238E27FC236}">
                <a16:creationId xmlns:a16="http://schemas.microsoft.com/office/drawing/2014/main" id="{F10AC97B-7E48-D949-9B3F-5D7AAFB98E3A}"/>
              </a:ext>
            </a:extLst>
          </p:cNvPr>
          <p:cNvSpPr>
            <a:spLocks noGrp="1"/>
          </p:cNvSpPr>
          <p:nvPr>
            <p:ph type="title"/>
          </p:nvPr>
        </p:nvSpPr>
        <p:spPr>
          <a:xfrm>
            <a:off x="971550" y="315913"/>
            <a:ext cx="7704138" cy="592137"/>
          </a:xfrm>
        </p:spPr>
        <p:txBody>
          <a:bodyPr/>
          <a:lstStyle/>
          <a:p>
            <a:r>
              <a:rPr lang="zh-CN" altLang="en-US" dirty="0"/>
              <a:t>求并集</a:t>
            </a:r>
            <a:r>
              <a:rPr lang="en-US" altLang="zh-CN" dirty="0"/>
              <a:t>-</a:t>
            </a:r>
            <a:r>
              <a:rPr lang="zh-CN" altLang="en-US" dirty="0"/>
              <a:t>链表实现</a:t>
            </a:r>
          </a:p>
        </p:txBody>
      </p:sp>
    </p:spTree>
    <p:extLst>
      <p:ext uri="{BB962C8B-B14F-4D97-AF65-F5344CB8AC3E}">
        <p14:creationId xmlns:p14="http://schemas.microsoft.com/office/powerpoint/2010/main" val="605824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vert="horz" wrap="square" lIns="91440" tIns="45720" rIns="91440" bIns="45720" anchor="ctr"/>
          <a:lstStyle/>
          <a:p>
            <a:r>
              <a:rPr lang="zh-CN" altLang="en-US" dirty="0"/>
              <a:t>有</a:t>
            </a:r>
            <a:r>
              <a:rPr lang="zh-CN" altLang="en-US" dirty="0">
                <a:latin typeface="+mj-lt"/>
                <a:ea typeface="+mj-ea"/>
                <a:cs typeface="+mj-cs"/>
              </a:rPr>
              <a:t>序表合并</a:t>
            </a:r>
          </a:p>
        </p:txBody>
      </p:sp>
      <p:sp>
        <p:nvSpPr>
          <p:cNvPr id="52227" name="内容占位符 2"/>
          <p:cNvSpPr>
            <a:spLocks noGrp="1"/>
          </p:cNvSpPr>
          <p:nvPr>
            <p:ph idx="1"/>
          </p:nvPr>
        </p:nvSpPr>
        <p:spPr>
          <a:xfrm>
            <a:off x="468313" y="1125538"/>
            <a:ext cx="8207375" cy="5255790"/>
          </a:xfrm>
        </p:spPr>
        <p:txBody>
          <a:bodyPr vert="horz" wrap="square" lIns="91440" tIns="45720" rIns="91440" bIns="45720" anchor="t"/>
          <a:lstStyle/>
          <a:p>
            <a:r>
              <a:rPr lang="zh-CN" altLang="en-US" dirty="0">
                <a:latin typeface="+mn-lt"/>
                <a:ea typeface="+mn-ea"/>
                <a:cs typeface="+mn-cs"/>
              </a:rPr>
              <a:t>有顺序表</a:t>
            </a:r>
            <a:r>
              <a:rPr lang="en-US" altLang="zh-CN" dirty="0">
                <a:latin typeface="+mn-lt"/>
                <a:ea typeface="+mn-ea"/>
                <a:cs typeface="+mn-cs"/>
              </a:rPr>
              <a:t>LA</a:t>
            </a:r>
            <a:r>
              <a:rPr lang="zh-CN" altLang="en-US" dirty="0">
                <a:latin typeface="+mn-lt"/>
                <a:ea typeface="+mn-ea"/>
                <a:cs typeface="+mn-cs"/>
              </a:rPr>
              <a:t>和</a:t>
            </a:r>
            <a:r>
              <a:rPr lang="en-US" altLang="zh-CN" dirty="0">
                <a:latin typeface="+mn-lt"/>
                <a:ea typeface="+mn-ea"/>
                <a:cs typeface="+mn-cs"/>
              </a:rPr>
              <a:t>LB</a:t>
            </a:r>
            <a:r>
              <a:rPr lang="zh-CN" altLang="en-US" dirty="0">
                <a:latin typeface="+mn-lt"/>
                <a:ea typeface="+mn-ea"/>
                <a:cs typeface="+mn-cs"/>
              </a:rPr>
              <a:t>，其元素值均按从小到大的</a:t>
            </a:r>
            <a:r>
              <a:rPr lang="zh-CN" altLang="en-US" dirty="0">
                <a:solidFill>
                  <a:srgbClr val="4C34FE"/>
                </a:solidFill>
                <a:latin typeface="+mn-lt"/>
                <a:ea typeface="+mn-ea"/>
                <a:cs typeface="+mn-cs"/>
              </a:rPr>
              <a:t>升序排列</a:t>
            </a:r>
            <a:r>
              <a:rPr lang="zh-CN" altLang="en-US" dirty="0">
                <a:latin typeface="+mn-lt"/>
                <a:ea typeface="+mn-ea"/>
                <a:cs typeface="+mn-cs"/>
              </a:rPr>
              <a:t>，要求将它们合并成一个顺序表</a:t>
            </a:r>
            <a:r>
              <a:rPr lang="en-US" altLang="zh-CN" dirty="0">
                <a:latin typeface="+mn-lt"/>
                <a:ea typeface="+mn-ea"/>
                <a:cs typeface="+mn-cs"/>
              </a:rPr>
              <a:t>LC</a:t>
            </a:r>
            <a:r>
              <a:rPr lang="zh-CN" altLang="en-US" dirty="0">
                <a:latin typeface="+mn-lt"/>
                <a:ea typeface="+mn-ea"/>
                <a:cs typeface="+mn-cs"/>
              </a:rPr>
              <a:t>，且</a:t>
            </a:r>
            <a:r>
              <a:rPr lang="en-US" altLang="zh-CN" dirty="0">
                <a:latin typeface="+mn-lt"/>
                <a:ea typeface="+mn-ea"/>
                <a:cs typeface="+mn-cs"/>
              </a:rPr>
              <a:t>LC</a:t>
            </a:r>
            <a:r>
              <a:rPr lang="zh-CN" altLang="en-US" dirty="0">
                <a:latin typeface="+mn-lt"/>
                <a:ea typeface="+mn-ea"/>
                <a:cs typeface="+mn-cs"/>
              </a:rPr>
              <a:t>的元素也是从小到大的升序排列</a:t>
            </a:r>
            <a:r>
              <a:rPr lang="zh-CN" altLang="en-US" dirty="0"/>
              <a:t>。（假设所有元素都不相等）</a:t>
            </a:r>
            <a:endParaRPr lang="zh-CN" altLang="en-US" dirty="0">
              <a:latin typeface="+mn-lt"/>
              <a:ea typeface="+mn-ea"/>
              <a:cs typeface="+mn-cs"/>
            </a:endParaRPr>
          </a:p>
          <a:p>
            <a:r>
              <a:rPr lang="zh-CN" altLang="en-US" dirty="0">
                <a:latin typeface="+mn-lt"/>
                <a:ea typeface="+mn-ea"/>
                <a:cs typeface="+mn-cs"/>
              </a:rPr>
              <a:t>算法思想：</a:t>
            </a:r>
            <a:endParaRPr lang="en-US" altLang="zh-CN" dirty="0">
              <a:latin typeface="+mn-lt"/>
              <a:ea typeface="+mn-ea"/>
              <a:cs typeface="+mn-cs"/>
            </a:endParaRPr>
          </a:p>
          <a:p>
            <a:pPr lvl="1"/>
            <a:r>
              <a:rPr lang="zh-CN" altLang="en-US" dirty="0">
                <a:latin typeface="+mn-lt"/>
                <a:ea typeface="+mn-ea"/>
              </a:rPr>
              <a:t>创建一个空表</a:t>
            </a:r>
            <a:r>
              <a:rPr lang="en-US" altLang="zh-CN" dirty="0">
                <a:latin typeface="+mn-lt"/>
                <a:ea typeface="+mn-ea"/>
              </a:rPr>
              <a:t>LC</a:t>
            </a:r>
          </a:p>
          <a:p>
            <a:pPr lvl="1"/>
            <a:r>
              <a:rPr lang="zh-CN" altLang="en-US" dirty="0">
                <a:latin typeface="+mn-lt"/>
                <a:ea typeface="+mn-ea"/>
              </a:rPr>
              <a:t>依次扫描</a:t>
            </a:r>
            <a:r>
              <a:rPr lang="en-US" altLang="zh-CN" dirty="0">
                <a:latin typeface="+mn-lt"/>
                <a:ea typeface="+mn-ea"/>
              </a:rPr>
              <a:t>LA</a:t>
            </a:r>
            <a:r>
              <a:rPr lang="zh-CN" altLang="en-US" dirty="0">
                <a:latin typeface="+mn-lt"/>
                <a:ea typeface="+mn-ea"/>
              </a:rPr>
              <a:t>和</a:t>
            </a:r>
            <a:r>
              <a:rPr lang="en-US" altLang="zh-CN" dirty="0">
                <a:latin typeface="+mn-lt"/>
                <a:ea typeface="+mn-ea"/>
              </a:rPr>
              <a:t>LB</a:t>
            </a:r>
            <a:r>
              <a:rPr lang="zh-CN" altLang="en-US" dirty="0">
                <a:latin typeface="+mn-lt"/>
                <a:ea typeface="+mn-ea"/>
              </a:rPr>
              <a:t>的元素，比较线性表</a:t>
            </a:r>
            <a:r>
              <a:rPr lang="en-US" altLang="zh-CN" dirty="0">
                <a:latin typeface="+mn-lt"/>
                <a:ea typeface="+mn-ea"/>
              </a:rPr>
              <a:t>LA</a:t>
            </a:r>
            <a:r>
              <a:rPr lang="zh-CN" altLang="en-US" dirty="0">
                <a:latin typeface="+mn-lt"/>
                <a:ea typeface="+mn-ea"/>
              </a:rPr>
              <a:t>和</a:t>
            </a:r>
            <a:r>
              <a:rPr lang="en-US" altLang="zh-CN" dirty="0">
                <a:latin typeface="+mn-lt"/>
                <a:ea typeface="+mn-ea"/>
              </a:rPr>
              <a:t>LB</a:t>
            </a:r>
            <a:r>
              <a:rPr lang="zh-CN" altLang="en-US" dirty="0">
                <a:latin typeface="+mn-lt"/>
                <a:ea typeface="+mn-ea"/>
              </a:rPr>
              <a:t>当前元素的值，将较小值的元素插入到</a:t>
            </a:r>
            <a:r>
              <a:rPr lang="en-US" altLang="zh-CN" dirty="0">
                <a:latin typeface="+mn-lt"/>
                <a:ea typeface="+mn-ea"/>
              </a:rPr>
              <a:t>LC</a:t>
            </a:r>
            <a:r>
              <a:rPr lang="zh-CN" altLang="en-US" dirty="0">
                <a:latin typeface="+mn-lt"/>
                <a:ea typeface="+mn-ea"/>
              </a:rPr>
              <a:t>末尾</a:t>
            </a:r>
            <a:endParaRPr lang="en-US" altLang="zh-CN" dirty="0">
              <a:latin typeface="+mn-lt"/>
              <a:ea typeface="+mn-ea"/>
            </a:endParaRPr>
          </a:p>
          <a:p>
            <a:pPr lvl="1"/>
            <a:r>
              <a:rPr lang="zh-CN" altLang="en-US" dirty="0">
                <a:latin typeface="+mn-lt"/>
                <a:ea typeface="+mn-ea"/>
              </a:rPr>
              <a:t>如此直到一个线性表扫描完毕，然后将未完的那个顺序表中余下部分赋给</a:t>
            </a:r>
            <a:r>
              <a:rPr lang="en-US" altLang="zh-CN" dirty="0">
                <a:latin typeface="+mn-lt"/>
                <a:ea typeface="+mn-ea"/>
              </a:rPr>
              <a:t>LC</a:t>
            </a:r>
            <a:r>
              <a:rPr lang="zh-CN" altLang="en-US" dirty="0">
                <a:latin typeface="+mn-lt"/>
                <a:ea typeface="+mn-ea"/>
              </a:rPr>
              <a:t> </a:t>
            </a:r>
          </a:p>
          <a:p>
            <a:endParaRPr lang="zh-CN" altLang="en-US" dirty="0">
              <a:latin typeface="+mn-lt"/>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有序表合并的顺序实现</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128760101"/>
              </p:ext>
            </p:extLst>
          </p:nvPr>
        </p:nvGraphicFramePr>
        <p:xfrm>
          <a:off x="1475656" y="1772816"/>
          <a:ext cx="5832650" cy="518160"/>
        </p:xfrm>
        <a:graphic>
          <a:graphicData uri="http://schemas.openxmlformats.org/drawingml/2006/table">
            <a:tbl>
              <a:tblPr firstRow="1" bandRow="1">
                <a:tableStyleId>{5940675A-B579-460E-94D1-54222C63F5DA}</a:tableStyleId>
              </a:tblPr>
              <a:tblGrid>
                <a:gridCol w="583265">
                  <a:extLst>
                    <a:ext uri="{9D8B030D-6E8A-4147-A177-3AD203B41FA5}">
                      <a16:colId xmlns:a16="http://schemas.microsoft.com/office/drawing/2014/main" val="20000"/>
                    </a:ext>
                  </a:extLst>
                </a:gridCol>
                <a:gridCol w="583265">
                  <a:extLst>
                    <a:ext uri="{9D8B030D-6E8A-4147-A177-3AD203B41FA5}">
                      <a16:colId xmlns:a16="http://schemas.microsoft.com/office/drawing/2014/main" val="20001"/>
                    </a:ext>
                  </a:extLst>
                </a:gridCol>
                <a:gridCol w="583265">
                  <a:extLst>
                    <a:ext uri="{9D8B030D-6E8A-4147-A177-3AD203B41FA5}">
                      <a16:colId xmlns:a16="http://schemas.microsoft.com/office/drawing/2014/main" val="20002"/>
                    </a:ext>
                  </a:extLst>
                </a:gridCol>
                <a:gridCol w="583265">
                  <a:extLst>
                    <a:ext uri="{9D8B030D-6E8A-4147-A177-3AD203B41FA5}">
                      <a16:colId xmlns:a16="http://schemas.microsoft.com/office/drawing/2014/main" val="20003"/>
                    </a:ext>
                  </a:extLst>
                </a:gridCol>
                <a:gridCol w="583265">
                  <a:extLst>
                    <a:ext uri="{9D8B030D-6E8A-4147-A177-3AD203B41FA5}">
                      <a16:colId xmlns:a16="http://schemas.microsoft.com/office/drawing/2014/main" val="20004"/>
                    </a:ext>
                  </a:extLst>
                </a:gridCol>
                <a:gridCol w="583265">
                  <a:extLst>
                    <a:ext uri="{9D8B030D-6E8A-4147-A177-3AD203B41FA5}">
                      <a16:colId xmlns:a16="http://schemas.microsoft.com/office/drawing/2014/main" val="20005"/>
                    </a:ext>
                  </a:extLst>
                </a:gridCol>
                <a:gridCol w="583265">
                  <a:extLst>
                    <a:ext uri="{9D8B030D-6E8A-4147-A177-3AD203B41FA5}">
                      <a16:colId xmlns:a16="http://schemas.microsoft.com/office/drawing/2014/main" val="20006"/>
                    </a:ext>
                  </a:extLst>
                </a:gridCol>
                <a:gridCol w="583265">
                  <a:extLst>
                    <a:ext uri="{9D8B030D-6E8A-4147-A177-3AD203B41FA5}">
                      <a16:colId xmlns:a16="http://schemas.microsoft.com/office/drawing/2014/main" val="20007"/>
                    </a:ext>
                  </a:extLst>
                </a:gridCol>
                <a:gridCol w="583265">
                  <a:extLst>
                    <a:ext uri="{9D8B030D-6E8A-4147-A177-3AD203B41FA5}">
                      <a16:colId xmlns:a16="http://schemas.microsoft.com/office/drawing/2014/main" val="20008"/>
                    </a:ext>
                  </a:extLst>
                </a:gridCol>
                <a:gridCol w="583265">
                  <a:extLst>
                    <a:ext uri="{9D8B030D-6E8A-4147-A177-3AD203B41FA5}">
                      <a16:colId xmlns:a16="http://schemas.microsoft.com/office/drawing/2014/main" val="20009"/>
                    </a:ext>
                  </a:extLst>
                </a:gridCol>
              </a:tblGrid>
              <a:tr h="370840">
                <a:tc>
                  <a:txBody>
                    <a:bodyPr/>
                    <a:lstStyle/>
                    <a:p>
                      <a:pPr algn="ctr"/>
                      <a:r>
                        <a:rPr lang="en-US" altLang="zh-CN" sz="2800" dirty="0"/>
                        <a:t>1</a:t>
                      </a:r>
                      <a:endParaRPr lang="zh-CN" altLang="en-US" sz="2800" dirty="0"/>
                    </a:p>
                  </a:txBody>
                  <a:tcPr/>
                </a:tc>
                <a:tc>
                  <a:txBody>
                    <a:bodyPr/>
                    <a:lstStyle/>
                    <a:p>
                      <a:pPr algn="ctr"/>
                      <a:r>
                        <a:rPr lang="en-US" altLang="zh-CN" sz="2800" dirty="0"/>
                        <a:t>3</a:t>
                      </a:r>
                      <a:endParaRPr lang="zh-CN" altLang="en-US" sz="2800" dirty="0"/>
                    </a:p>
                  </a:txBody>
                  <a:tcPr/>
                </a:tc>
                <a:tc>
                  <a:txBody>
                    <a:bodyPr/>
                    <a:lstStyle/>
                    <a:p>
                      <a:pPr algn="ctr"/>
                      <a:r>
                        <a:rPr lang="en-US" altLang="zh-CN" sz="2800" dirty="0"/>
                        <a:t>5</a:t>
                      </a:r>
                      <a:endParaRPr lang="zh-CN" altLang="en-US" sz="2800" dirty="0"/>
                    </a:p>
                  </a:txBody>
                  <a:tcPr/>
                </a:tc>
                <a:tc>
                  <a:txBody>
                    <a:bodyPr/>
                    <a:lstStyle/>
                    <a:p>
                      <a:pPr algn="ctr"/>
                      <a:r>
                        <a:rPr lang="en-US" altLang="zh-CN" sz="2800" dirty="0"/>
                        <a:t>7</a:t>
                      </a:r>
                      <a:endParaRPr lang="zh-CN" altLang="en-US" sz="2800" dirty="0"/>
                    </a:p>
                  </a:txBody>
                  <a:tcPr/>
                </a:tc>
                <a:tc>
                  <a:txBody>
                    <a:bodyPr/>
                    <a:lstStyle/>
                    <a:p>
                      <a:pPr algn="ctr"/>
                      <a:r>
                        <a:rPr lang="en-US" altLang="zh-CN" sz="2800" dirty="0"/>
                        <a:t>x</a:t>
                      </a:r>
                      <a:endParaRPr lang="zh-CN" altLang="en-US" sz="2800" dirty="0"/>
                    </a:p>
                  </a:txBody>
                  <a:tcPr/>
                </a:tc>
                <a:tc>
                  <a:txBody>
                    <a:bodyPr/>
                    <a:lstStyle/>
                    <a:p>
                      <a:pPr algn="ctr"/>
                      <a:endParaRPr lang="zh-CN" altLang="en-US" sz="2800" dirty="0"/>
                    </a:p>
                  </a:txBody>
                  <a:tcPr/>
                </a:tc>
                <a:tc>
                  <a:txBody>
                    <a:bodyPr/>
                    <a:lstStyle/>
                    <a:p>
                      <a:pPr algn="ctr"/>
                      <a:endParaRPr lang="zh-CN" altLang="en-US" sz="2800" dirty="0"/>
                    </a:p>
                  </a:txBody>
                  <a:tcPr/>
                </a:tc>
                <a:tc>
                  <a:txBody>
                    <a:bodyPr/>
                    <a:lstStyle/>
                    <a:p>
                      <a:pPr algn="ctr"/>
                      <a:endParaRPr lang="zh-CN" altLang="en-US" sz="2800" dirty="0"/>
                    </a:p>
                  </a:txBody>
                  <a:tcPr/>
                </a:tc>
                <a:tc>
                  <a:txBody>
                    <a:bodyPr/>
                    <a:lstStyle/>
                    <a:p>
                      <a:pPr algn="ctr"/>
                      <a:endParaRPr lang="zh-CN" altLang="en-US" sz="2800" dirty="0"/>
                    </a:p>
                  </a:txBody>
                  <a:tcPr/>
                </a:tc>
                <a:tc>
                  <a:txBody>
                    <a:bodyPr/>
                    <a:lstStyle/>
                    <a:p>
                      <a:pPr algn="ctr"/>
                      <a:endParaRPr lang="zh-CN" altLang="en-US" sz="2800" dirty="0"/>
                    </a:p>
                  </a:txBody>
                  <a:tcPr/>
                </a:tc>
                <a:extLst>
                  <a:ext uri="{0D108BD9-81ED-4DB2-BD59-A6C34878D82A}">
                    <a16:rowId xmlns:a16="http://schemas.microsoft.com/office/drawing/2014/main" val="10000"/>
                  </a:ext>
                </a:extLst>
              </a:tr>
            </a:tbl>
          </a:graphicData>
        </a:graphic>
      </p:graphicFrame>
      <p:graphicFrame>
        <p:nvGraphicFramePr>
          <p:cNvPr id="5" name="内容占位符 3"/>
          <p:cNvGraphicFramePr>
            <a:graphicFrameLocks/>
          </p:cNvGraphicFramePr>
          <p:nvPr>
            <p:extLst>
              <p:ext uri="{D42A27DB-BD31-4B8C-83A1-F6EECF244321}">
                <p14:modId xmlns:p14="http://schemas.microsoft.com/office/powerpoint/2010/main" val="1692209295"/>
              </p:ext>
            </p:extLst>
          </p:nvPr>
        </p:nvGraphicFramePr>
        <p:xfrm>
          <a:off x="1475656" y="2554104"/>
          <a:ext cx="5832650" cy="518160"/>
        </p:xfrm>
        <a:graphic>
          <a:graphicData uri="http://schemas.openxmlformats.org/drawingml/2006/table">
            <a:tbl>
              <a:tblPr firstRow="1" bandRow="1">
                <a:tableStyleId>{5940675A-B579-460E-94D1-54222C63F5DA}</a:tableStyleId>
              </a:tblPr>
              <a:tblGrid>
                <a:gridCol w="583265">
                  <a:extLst>
                    <a:ext uri="{9D8B030D-6E8A-4147-A177-3AD203B41FA5}">
                      <a16:colId xmlns:a16="http://schemas.microsoft.com/office/drawing/2014/main" val="20000"/>
                    </a:ext>
                  </a:extLst>
                </a:gridCol>
                <a:gridCol w="583265">
                  <a:extLst>
                    <a:ext uri="{9D8B030D-6E8A-4147-A177-3AD203B41FA5}">
                      <a16:colId xmlns:a16="http://schemas.microsoft.com/office/drawing/2014/main" val="20001"/>
                    </a:ext>
                  </a:extLst>
                </a:gridCol>
                <a:gridCol w="583265">
                  <a:extLst>
                    <a:ext uri="{9D8B030D-6E8A-4147-A177-3AD203B41FA5}">
                      <a16:colId xmlns:a16="http://schemas.microsoft.com/office/drawing/2014/main" val="20002"/>
                    </a:ext>
                  </a:extLst>
                </a:gridCol>
                <a:gridCol w="583265">
                  <a:extLst>
                    <a:ext uri="{9D8B030D-6E8A-4147-A177-3AD203B41FA5}">
                      <a16:colId xmlns:a16="http://schemas.microsoft.com/office/drawing/2014/main" val="20003"/>
                    </a:ext>
                  </a:extLst>
                </a:gridCol>
                <a:gridCol w="583265">
                  <a:extLst>
                    <a:ext uri="{9D8B030D-6E8A-4147-A177-3AD203B41FA5}">
                      <a16:colId xmlns:a16="http://schemas.microsoft.com/office/drawing/2014/main" val="20004"/>
                    </a:ext>
                  </a:extLst>
                </a:gridCol>
                <a:gridCol w="583265">
                  <a:extLst>
                    <a:ext uri="{9D8B030D-6E8A-4147-A177-3AD203B41FA5}">
                      <a16:colId xmlns:a16="http://schemas.microsoft.com/office/drawing/2014/main" val="20005"/>
                    </a:ext>
                  </a:extLst>
                </a:gridCol>
                <a:gridCol w="583265">
                  <a:extLst>
                    <a:ext uri="{9D8B030D-6E8A-4147-A177-3AD203B41FA5}">
                      <a16:colId xmlns:a16="http://schemas.microsoft.com/office/drawing/2014/main" val="20006"/>
                    </a:ext>
                  </a:extLst>
                </a:gridCol>
                <a:gridCol w="583265">
                  <a:extLst>
                    <a:ext uri="{9D8B030D-6E8A-4147-A177-3AD203B41FA5}">
                      <a16:colId xmlns:a16="http://schemas.microsoft.com/office/drawing/2014/main" val="20007"/>
                    </a:ext>
                  </a:extLst>
                </a:gridCol>
                <a:gridCol w="583265">
                  <a:extLst>
                    <a:ext uri="{9D8B030D-6E8A-4147-A177-3AD203B41FA5}">
                      <a16:colId xmlns:a16="http://schemas.microsoft.com/office/drawing/2014/main" val="20008"/>
                    </a:ext>
                  </a:extLst>
                </a:gridCol>
                <a:gridCol w="583265">
                  <a:extLst>
                    <a:ext uri="{9D8B030D-6E8A-4147-A177-3AD203B41FA5}">
                      <a16:colId xmlns:a16="http://schemas.microsoft.com/office/drawing/2014/main" val="20009"/>
                    </a:ext>
                  </a:extLst>
                </a:gridCol>
              </a:tblGrid>
              <a:tr h="370840">
                <a:tc>
                  <a:txBody>
                    <a:bodyPr/>
                    <a:lstStyle/>
                    <a:p>
                      <a:pPr algn="ctr"/>
                      <a:r>
                        <a:rPr lang="en-US" altLang="zh-CN" sz="2800" dirty="0"/>
                        <a:t>2</a:t>
                      </a:r>
                      <a:endParaRPr lang="zh-CN" altLang="en-US" sz="2800" dirty="0"/>
                    </a:p>
                  </a:txBody>
                  <a:tcPr/>
                </a:tc>
                <a:tc>
                  <a:txBody>
                    <a:bodyPr/>
                    <a:lstStyle/>
                    <a:p>
                      <a:pPr algn="ctr"/>
                      <a:r>
                        <a:rPr lang="en-US" altLang="zh-CN" sz="2800" dirty="0"/>
                        <a:t>4</a:t>
                      </a:r>
                      <a:endParaRPr lang="zh-CN" altLang="en-US" sz="2800" dirty="0"/>
                    </a:p>
                  </a:txBody>
                  <a:tcPr/>
                </a:tc>
                <a:tc>
                  <a:txBody>
                    <a:bodyPr/>
                    <a:lstStyle/>
                    <a:p>
                      <a:pPr algn="ctr"/>
                      <a:r>
                        <a:rPr lang="en-US" altLang="zh-CN" sz="2800" dirty="0"/>
                        <a:t>8</a:t>
                      </a:r>
                      <a:endParaRPr lang="zh-CN" altLang="en-US" sz="2800" dirty="0"/>
                    </a:p>
                  </a:txBody>
                  <a:tcPr/>
                </a:tc>
                <a:tc>
                  <a:txBody>
                    <a:bodyPr/>
                    <a:lstStyle/>
                    <a:p>
                      <a:pPr algn="ctr"/>
                      <a:r>
                        <a:rPr lang="en-US" altLang="zh-CN" sz="2800" dirty="0"/>
                        <a:t>9</a:t>
                      </a:r>
                      <a:endParaRPr lang="zh-CN" altLang="en-US" sz="2800" dirty="0"/>
                    </a:p>
                  </a:txBody>
                  <a:tcPr/>
                </a:tc>
                <a:tc>
                  <a:txBody>
                    <a:bodyPr/>
                    <a:lstStyle/>
                    <a:p>
                      <a:pPr algn="ctr"/>
                      <a:r>
                        <a:rPr lang="en-US" altLang="zh-CN" sz="2800" dirty="0"/>
                        <a:t>10</a:t>
                      </a:r>
                      <a:endParaRPr lang="zh-CN" altLang="en-US" sz="2800" dirty="0"/>
                    </a:p>
                  </a:txBody>
                  <a:tcPr/>
                </a:tc>
                <a:tc>
                  <a:txBody>
                    <a:bodyPr/>
                    <a:lstStyle/>
                    <a:p>
                      <a:pPr algn="ctr"/>
                      <a:r>
                        <a:rPr lang="en-US" altLang="zh-CN" sz="2800" dirty="0"/>
                        <a:t>x</a:t>
                      </a:r>
                      <a:endParaRPr lang="zh-CN" altLang="en-US" sz="2800" dirty="0"/>
                    </a:p>
                  </a:txBody>
                  <a:tcPr/>
                </a:tc>
                <a:tc>
                  <a:txBody>
                    <a:bodyPr/>
                    <a:lstStyle/>
                    <a:p>
                      <a:pPr algn="ctr"/>
                      <a:endParaRPr lang="zh-CN" altLang="en-US" sz="2800" dirty="0"/>
                    </a:p>
                  </a:txBody>
                  <a:tcPr/>
                </a:tc>
                <a:tc>
                  <a:txBody>
                    <a:bodyPr/>
                    <a:lstStyle/>
                    <a:p>
                      <a:pPr algn="ctr"/>
                      <a:endParaRPr lang="zh-CN" altLang="en-US" sz="2800" dirty="0"/>
                    </a:p>
                  </a:txBody>
                  <a:tcPr/>
                </a:tc>
                <a:tc>
                  <a:txBody>
                    <a:bodyPr/>
                    <a:lstStyle/>
                    <a:p>
                      <a:pPr algn="ctr"/>
                      <a:endParaRPr lang="zh-CN" altLang="en-US" sz="2800" dirty="0"/>
                    </a:p>
                  </a:txBody>
                  <a:tcPr/>
                </a:tc>
                <a:tc>
                  <a:txBody>
                    <a:bodyPr/>
                    <a:lstStyle/>
                    <a:p>
                      <a:pPr algn="ctr"/>
                      <a:endParaRPr lang="zh-CN" altLang="en-US" sz="2800" dirty="0"/>
                    </a:p>
                  </a:txBody>
                  <a:tcPr/>
                </a:tc>
                <a:extLst>
                  <a:ext uri="{0D108BD9-81ED-4DB2-BD59-A6C34878D82A}">
                    <a16:rowId xmlns:a16="http://schemas.microsoft.com/office/drawing/2014/main" val="10000"/>
                  </a:ext>
                </a:extLst>
              </a:tr>
            </a:tbl>
          </a:graphicData>
        </a:graphic>
      </p:graphicFrame>
      <p:graphicFrame>
        <p:nvGraphicFramePr>
          <p:cNvPr id="6" name="内容占位符 3"/>
          <p:cNvGraphicFramePr>
            <a:graphicFrameLocks/>
          </p:cNvGraphicFramePr>
          <p:nvPr>
            <p:extLst>
              <p:ext uri="{D42A27DB-BD31-4B8C-83A1-F6EECF244321}">
                <p14:modId xmlns:p14="http://schemas.microsoft.com/office/powerpoint/2010/main" val="2136929078"/>
              </p:ext>
            </p:extLst>
          </p:nvPr>
        </p:nvGraphicFramePr>
        <p:xfrm>
          <a:off x="1476420" y="3778240"/>
          <a:ext cx="5831890" cy="518160"/>
        </p:xfrm>
        <a:graphic>
          <a:graphicData uri="http://schemas.openxmlformats.org/drawingml/2006/table">
            <a:tbl>
              <a:tblPr firstRow="1" bandRow="1">
                <a:tableStyleId>{5940675A-B579-460E-94D1-54222C63F5DA}</a:tableStyleId>
              </a:tblPr>
              <a:tblGrid>
                <a:gridCol w="583189">
                  <a:extLst>
                    <a:ext uri="{9D8B030D-6E8A-4147-A177-3AD203B41FA5}">
                      <a16:colId xmlns:a16="http://schemas.microsoft.com/office/drawing/2014/main" val="20000"/>
                    </a:ext>
                  </a:extLst>
                </a:gridCol>
                <a:gridCol w="583189">
                  <a:extLst>
                    <a:ext uri="{9D8B030D-6E8A-4147-A177-3AD203B41FA5}">
                      <a16:colId xmlns:a16="http://schemas.microsoft.com/office/drawing/2014/main" val="20001"/>
                    </a:ext>
                  </a:extLst>
                </a:gridCol>
                <a:gridCol w="583189">
                  <a:extLst>
                    <a:ext uri="{9D8B030D-6E8A-4147-A177-3AD203B41FA5}">
                      <a16:colId xmlns:a16="http://schemas.microsoft.com/office/drawing/2014/main" val="20002"/>
                    </a:ext>
                  </a:extLst>
                </a:gridCol>
                <a:gridCol w="583189">
                  <a:extLst>
                    <a:ext uri="{9D8B030D-6E8A-4147-A177-3AD203B41FA5}">
                      <a16:colId xmlns:a16="http://schemas.microsoft.com/office/drawing/2014/main" val="20003"/>
                    </a:ext>
                  </a:extLst>
                </a:gridCol>
                <a:gridCol w="583189">
                  <a:extLst>
                    <a:ext uri="{9D8B030D-6E8A-4147-A177-3AD203B41FA5}">
                      <a16:colId xmlns:a16="http://schemas.microsoft.com/office/drawing/2014/main" val="20004"/>
                    </a:ext>
                  </a:extLst>
                </a:gridCol>
                <a:gridCol w="583189">
                  <a:extLst>
                    <a:ext uri="{9D8B030D-6E8A-4147-A177-3AD203B41FA5}">
                      <a16:colId xmlns:a16="http://schemas.microsoft.com/office/drawing/2014/main" val="20005"/>
                    </a:ext>
                  </a:extLst>
                </a:gridCol>
                <a:gridCol w="583189">
                  <a:extLst>
                    <a:ext uri="{9D8B030D-6E8A-4147-A177-3AD203B41FA5}">
                      <a16:colId xmlns:a16="http://schemas.microsoft.com/office/drawing/2014/main" val="20006"/>
                    </a:ext>
                  </a:extLst>
                </a:gridCol>
                <a:gridCol w="583189">
                  <a:extLst>
                    <a:ext uri="{9D8B030D-6E8A-4147-A177-3AD203B41FA5}">
                      <a16:colId xmlns:a16="http://schemas.microsoft.com/office/drawing/2014/main" val="20007"/>
                    </a:ext>
                  </a:extLst>
                </a:gridCol>
                <a:gridCol w="583189">
                  <a:extLst>
                    <a:ext uri="{9D8B030D-6E8A-4147-A177-3AD203B41FA5}">
                      <a16:colId xmlns:a16="http://schemas.microsoft.com/office/drawing/2014/main" val="20008"/>
                    </a:ext>
                  </a:extLst>
                </a:gridCol>
                <a:gridCol w="583189">
                  <a:extLst>
                    <a:ext uri="{9D8B030D-6E8A-4147-A177-3AD203B41FA5}">
                      <a16:colId xmlns:a16="http://schemas.microsoft.com/office/drawing/2014/main" val="20009"/>
                    </a:ext>
                  </a:extLst>
                </a:gridCol>
              </a:tblGrid>
              <a:tr h="370840">
                <a:tc>
                  <a:txBody>
                    <a:bodyPr/>
                    <a:lstStyle/>
                    <a:p>
                      <a:pPr algn="ctr"/>
                      <a:r>
                        <a:rPr lang="en-US" altLang="zh-CN" sz="2800" dirty="0"/>
                        <a:t>1</a:t>
                      </a:r>
                      <a:endParaRPr lang="zh-CN" altLang="en-US" sz="2800" dirty="0"/>
                    </a:p>
                  </a:txBody>
                  <a:tcPr/>
                </a:tc>
                <a:tc>
                  <a:txBody>
                    <a:bodyPr/>
                    <a:lstStyle/>
                    <a:p>
                      <a:pPr algn="ctr"/>
                      <a:r>
                        <a:rPr lang="en-US" altLang="zh-CN" sz="2800" dirty="0"/>
                        <a:t>2</a:t>
                      </a:r>
                      <a:endParaRPr lang="zh-CN" altLang="en-US" sz="2800" dirty="0"/>
                    </a:p>
                  </a:txBody>
                  <a:tcPr/>
                </a:tc>
                <a:tc>
                  <a:txBody>
                    <a:bodyPr/>
                    <a:lstStyle/>
                    <a:p>
                      <a:pPr algn="ctr"/>
                      <a:r>
                        <a:rPr lang="en-US" altLang="zh-CN" sz="2800" dirty="0"/>
                        <a:t>3</a:t>
                      </a:r>
                      <a:endParaRPr lang="zh-CN" altLang="en-US" sz="2800" dirty="0"/>
                    </a:p>
                  </a:txBody>
                  <a:tcPr/>
                </a:tc>
                <a:tc>
                  <a:txBody>
                    <a:bodyPr/>
                    <a:lstStyle/>
                    <a:p>
                      <a:pPr algn="ctr"/>
                      <a:r>
                        <a:rPr lang="en-US" altLang="zh-CN" sz="2800" dirty="0"/>
                        <a:t>4</a:t>
                      </a:r>
                      <a:endParaRPr lang="zh-CN" altLang="en-US" sz="2800" dirty="0"/>
                    </a:p>
                  </a:txBody>
                  <a:tcPr/>
                </a:tc>
                <a:tc>
                  <a:txBody>
                    <a:bodyPr/>
                    <a:lstStyle/>
                    <a:p>
                      <a:pPr algn="ctr"/>
                      <a:r>
                        <a:rPr lang="en-US" altLang="zh-CN" sz="2800" dirty="0"/>
                        <a:t>5</a:t>
                      </a:r>
                      <a:endParaRPr lang="zh-CN" altLang="en-US" sz="2800" dirty="0"/>
                    </a:p>
                  </a:txBody>
                  <a:tcPr/>
                </a:tc>
                <a:tc>
                  <a:txBody>
                    <a:bodyPr/>
                    <a:lstStyle/>
                    <a:p>
                      <a:pPr algn="ctr"/>
                      <a:r>
                        <a:rPr lang="en-US" altLang="zh-CN" sz="2800" dirty="0"/>
                        <a:t>7</a:t>
                      </a:r>
                      <a:endParaRPr lang="zh-CN" altLang="en-US" sz="2800" dirty="0"/>
                    </a:p>
                  </a:txBody>
                  <a:tcPr/>
                </a:tc>
                <a:tc>
                  <a:txBody>
                    <a:bodyPr/>
                    <a:lstStyle/>
                    <a:p>
                      <a:pPr algn="ctr"/>
                      <a:r>
                        <a:rPr lang="en-US" altLang="zh-CN" sz="2800" dirty="0"/>
                        <a:t>8</a:t>
                      </a:r>
                      <a:endParaRPr lang="zh-CN" altLang="en-US" sz="2800" dirty="0"/>
                    </a:p>
                  </a:txBody>
                  <a:tcPr/>
                </a:tc>
                <a:tc>
                  <a:txBody>
                    <a:bodyPr/>
                    <a:lstStyle/>
                    <a:p>
                      <a:pPr algn="ctr"/>
                      <a:r>
                        <a:rPr lang="en-US" altLang="zh-CN" sz="2800" dirty="0"/>
                        <a:t>9</a:t>
                      </a:r>
                      <a:endParaRPr lang="zh-CN" altLang="en-US" sz="2800" dirty="0"/>
                    </a:p>
                  </a:txBody>
                  <a:tcPr/>
                </a:tc>
                <a:tc>
                  <a:txBody>
                    <a:bodyPr/>
                    <a:lstStyle/>
                    <a:p>
                      <a:pPr algn="ctr"/>
                      <a:r>
                        <a:rPr lang="en-US" altLang="zh-CN" sz="2800" dirty="0"/>
                        <a:t>10</a:t>
                      </a:r>
                      <a:endParaRPr lang="zh-CN" altLang="en-US" sz="2800" dirty="0"/>
                    </a:p>
                  </a:txBody>
                  <a:tcPr/>
                </a:tc>
                <a:tc>
                  <a:txBody>
                    <a:bodyPr/>
                    <a:lstStyle/>
                    <a:p>
                      <a:pPr algn="ctr"/>
                      <a:r>
                        <a:rPr lang="en-US" altLang="zh-CN" sz="2800" dirty="0"/>
                        <a:t>x</a:t>
                      </a:r>
                      <a:endParaRPr lang="zh-CN" altLang="en-US" sz="2800" dirty="0"/>
                    </a:p>
                  </a:txBody>
                  <a:tcPr/>
                </a:tc>
                <a:extLst>
                  <a:ext uri="{0D108BD9-81ED-4DB2-BD59-A6C34878D82A}">
                    <a16:rowId xmlns:a16="http://schemas.microsoft.com/office/drawing/2014/main" val="10000"/>
                  </a:ext>
                </a:extLst>
              </a:tr>
            </a:tbl>
          </a:graphicData>
        </a:graphic>
      </p:graphicFrame>
      <p:sp>
        <p:nvSpPr>
          <p:cNvPr id="7" name="文本框 6"/>
          <p:cNvSpPr txBox="1"/>
          <p:nvPr/>
        </p:nvSpPr>
        <p:spPr>
          <a:xfrm>
            <a:off x="611560" y="1772816"/>
            <a:ext cx="720080" cy="523220"/>
          </a:xfrm>
          <a:prstGeom prst="rect">
            <a:avLst/>
          </a:prstGeom>
          <a:noFill/>
        </p:spPr>
        <p:txBody>
          <a:bodyPr wrap="square" rtlCol="0">
            <a:spAutoFit/>
          </a:bodyPr>
          <a:lstStyle/>
          <a:p>
            <a:r>
              <a:rPr lang="en-US" altLang="zh-CN" sz="2800" dirty="0"/>
              <a:t>LA</a:t>
            </a:r>
            <a:endParaRPr lang="zh-CN" altLang="en-US" sz="2800" dirty="0"/>
          </a:p>
        </p:txBody>
      </p:sp>
      <p:sp>
        <p:nvSpPr>
          <p:cNvPr id="8" name="文本框 7"/>
          <p:cNvSpPr txBox="1"/>
          <p:nvPr/>
        </p:nvSpPr>
        <p:spPr>
          <a:xfrm>
            <a:off x="611560" y="2545740"/>
            <a:ext cx="720080" cy="523220"/>
          </a:xfrm>
          <a:prstGeom prst="rect">
            <a:avLst/>
          </a:prstGeom>
          <a:noFill/>
        </p:spPr>
        <p:txBody>
          <a:bodyPr wrap="square" rtlCol="0">
            <a:spAutoFit/>
          </a:bodyPr>
          <a:lstStyle/>
          <a:p>
            <a:r>
              <a:rPr lang="en-US" altLang="zh-CN" sz="2800" dirty="0"/>
              <a:t>LB</a:t>
            </a:r>
            <a:endParaRPr lang="zh-CN" altLang="en-US" sz="2800" dirty="0"/>
          </a:p>
        </p:txBody>
      </p:sp>
      <p:sp>
        <p:nvSpPr>
          <p:cNvPr id="9" name="文本框 8"/>
          <p:cNvSpPr txBox="1"/>
          <p:nvPr/>
        </p:nvSpPr>
        <p:spPr>
          <a:xfrm>
            <a:off x="611560" y="3769876"/>
            <a:ext cx="720080" cy="523220"/>
          </a:xfrm>
          <a:prstGeom prst="rect">
            <a:avLst/>
          </a:prstGeom>
          <a:noFill/>
        </p:spPr>
        <p:txBody>
          <a:bodyPr wrap="square" rtlCol="0">
            <a:spAutoFit/>
          </a:bodyPr>
          <a:lstStyle/>
          <a:p>
            <a:r>
              <a:rPr lang="en-US" altLang="zh-CN" sz="2800" dirty="0"/>
              <a:t>LC</a:t>
            </a:r>
            <a:endParaRPr lang="zh-CN" altLang="en-US" sz="2800" dirty="0"/>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8472672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有序表合并的顺序实现</a:t>
            </a:r>
          </a:p>
        </p:txBody>
      </p:sp>
      <p:sp>
        <p:nvSpPr>
          <p:cNvPr id="4" name="文本框 3"/>
          <p:cNvSpPr txBox="1"/>
          <p:nvPr/>
        </p:nvSpPr>
        <p:spPr>
          <a:xfrm>
            <a:off x="617220" y="1127641"/>
            <a:ext cx="7908925" cy="526097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a=0, b=0, c=0;</a:t>
            </a:r>
          </a:p>
          <a:p>
            <a:pPr marL="0" indent="0" eaLnBrk="0" hangingPunct="0">
              <a:spcBef>
                <a:spcPct val="20000"/>
              </a:spcBef>
              <a:buNone/>
            </a:pPr>
            <a:r>
              <a:rPr lang="en-US" altLang="zh-CN" sz="2400" b="1" dirty="0">
                <a:solidFill>
                  <a:srgbClr val="FF0000"/>
                </a:solidFill>
                <a:latin typeface="Cambria Math" panose="02040503050406030204" pitchFamily="18" charset="0"/>
                <a:ea typeface="Cambria Math" panose="02040503050406030204" pitchFamily="18" charset="0"/>
                <a:cs typeface="Arial Unicode MS" panose="020B0604020202020204" charset="-122"/>
              </a:rPr>
              <a:t>while(a&lt;la.length &amp;&amp; b&lt;lb.length)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eaLnBrk="0" hangingPunct="0">
              <a:spcBef>
                <a:spcPct val="20000"/>
              </a:spcBef>
              <a:buNone/>
            </a:pPr>
            <a:r>
              <a:rPr lang="en-US" altLang="zh-CN" sz="2000" dirty="0">
                <a:latin typeface="Cambria Math" panose="02040503050406030204" pitchFamily="18" charset="0"/>
                <a:ea typeface="Cambria Math" panose="02040503050406030204" pitchFamily="18" charset="0"/>
                <a:cs typeface="Arial Unicode MS" panose="020B0604020202020204" charset="-122"/>
              </a:rPr>
              <a:t>// 向lc的尾部插入la中第a个元素和lb中第b个元素之较小者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if(la.elem[a]&lt;lb.elem[b]){</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lc.elem[c] = la.elem[a];	a++;</a:t>
            </a:r>
            <a:r>
              <a:rPr lang="zh-CN" altLang="en-US"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c++</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else{</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lc.elem[c] = lb.elem[b];	b++;</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c++</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c++;	}</a:t>
            </a:r>
          </a:p>
          <a:p>
            <a:pPr marL="0" indent="0" eaLnBrk="0" hangingPunct="0">
              <a:spcBef>
                <a:spcPct val="20000"/>
              </a:spcBef>
              <a:buNone/>
            </a:pPr>
            <a:r>
              <a:rPr lang="en-US" altLang="zh-CN" sz="2400" b="1" dirty="0">
                <a:solidFill>
                  <a:srgbClr val="FF0000"/>
                </a:solidFill>
                <a:latin typeface="Cambria Math" panose="02040503050406030204" pitchFamily="18" charset="0"/>
                <a:ea typeface="Cambria Math" panose="02040503050406030204" pitchFamily="18" charset="0"/>
                <a:cs typeface="Arial Unicode MS" panose="020B0604020202020204" charset="-122"/>
              </a:rPr>
              <a:t>while(a&lt;la.length)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 la还有剩余元素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lc.elem[c] = la.elem[a];		a++;	c++;	}</a:t>
            </a:r>
          </a:p>
          <a:p>
            <a:pPr marL="0" indent="0" eaLnBrk="0" hangingPunct="0">
              <a:spcBef>
                <a:spcPct val="20000"/>
              </a:spcBef>
              <a:buNone/>
            </a:pPr>
            <a:r>
              <a:rPr lang="en-US" altLang="zh-CN" sz="2400" b="1" dirty="0">
                <a:solidFill>
                  <a:srgbClr val="FF0000"/>
                </a:solidFill>
                <a:latin typeface="Cambria Math" panose="02040503050406030204" pitchFamily="18" charset="0"/>
                <a:ea typeface="Cambria Math" panose="02040503050406030204" pitchFamily="18" charset="0"/>
                <a:cs typeface="Arial Unicode MS" panose="020B0604020202020204" charset="-122"/>
              </a:rPr>
              <a:t>while(b&lt;lb.length)</a:t>
            </a:r>
            <a:r>
              <a:rPr lang="en-US" altLang="zh-CN" sz="2400" dirty="0">
                <a:latin typeface="Cambria Math" panose="02040503050406030204" pitchFamily="18" charset="0"/>
                <a:ea typeface="Cambria Math" panose="02040503050406030204" pitchFamily="18" charset="0"/>
                <a:cs typeface="Arial Unicode MS" panose="020B0604020202020204" charset="-122"/>
              </a:rPr>
              <a:t>{ // lb还有剩余元素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lc.elem[c] = lb.elem[b]; 		b++;	c++;	}</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89</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有序表合并的链式实现</a:t>
            </a:r>
            <a:endParaRPr lang="zh-CN" altLang="en-US" dirty="0"/>
          </a:p>
        </p:txBody>
      </p:sp>
      <p:sp>
        <p:nvSpPr>
          <p:cNvPr id="6" name="Text Box 4"/>
          <p:cNvSpPr txBox="1">
            <a:spLocks noChangeArrowheads="1"/>
          </p:cNvSpPr>
          <p:nvPr/>
        </p:nvSpPr>
        <p:spPr bwMode="auto">
          <a:xfrm>
            <a:off x="1475656" y="1412776"/>
            <a:ext cx="667133" cy="40011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R="0" algn="ctr" defTabSz="914400" eaLnBrk="1" fontAlgn="auto" hangingPunct="1">
              <a:spcBef>
                <a:spcPts val="0"/>
              </a:spcBef>
              <a:spcAft>
                <a:spcPts val="0"/>
              </a:spcAft>
              <a:buClrTx/>
              <a:buSzTx/>
              <a:buFontTx/>
              <a:buNone/>
              <a:defRPr/>
            </a:pPr>
            <a:r>
              <a:rPr kumimoji="1" lang="en-US" altLang="zh-CN" sz="2000" kern="0" dirty="0">
                <a:solidFill>
                  <a:srgbClr val="003366"/>
                </a:solidFill>
                <a:latin typeface="Times New Roman" panose="02020603050405020304" pitchFamily="18" charset="0"/>
              </a:rPr>
              <a:t>LA</a:t>
            </a:r>
            <a:endParaRPr kumimoji="1" lang="en-US" altLang="zh-CN" sz="2000" kern="0" cap="none" spc="0" normalizeH="0" baseline="0" noProof="0" dirty="0">
              <a:solidFill>
                <a:srgbClr val="003366"/>
              </a:solidFill>
              <a:latin typeface="Times New Roman" panose="02020603050405020304" pitchFamily="18" charset="0"/>
              <a:ea typeface="宋体" panose="02010600030101010101" pitchFamily="2" charset="-122"/>
              <a:cs typeface="+mn-cs"/>
            </a:endParaRPr>
          </a:p>
        </p:txBody>
      </p:sp>
      <p:sp>
        <p:nvSpPr>
          <p:cNvPr id="7" name="Line 5"/>
          <p:cNvSpPr>
            <a:spLocks noChangeShapeType="1"/>
          </p:cNvSpPr>
          <p:nvPr/>
        </p:nvSpPr>
        <p:spPr bwMode="auto">
          <a:xfrm>
            <a:off x="2286804" y="1628800"/>
            <a:ext cx="268972"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 name="Line 12"/>
          <p:cNvSpPr>
            <a:spLocks noChangeShapeType="1"/>
          </p:cNvSpPr>
          <p:nvPr/>
        </p:nvSpPr>
        <p:spPr bwMode="auto">
          <a:xfrm>
            <a:off x="3059832" y="1628800"/>
            <a:ext cx="42511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0" name="Rectangle 6"/>
          <p:cNvSpPr>
            <a:spLocks noChangeArrowheads="1"/>
          </p:cNvSpPr>
          <p:nvPr/>
        </p:nvSpPr>
        <p:spPr bwMode="auto">
          <a:xfrm>
            <a:off x="2555776" y="1466875"/>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21" name="Line 7"/>
          <p:cNvSpPr>
            <a:spLocks noChangeShapeType="1"/>
          </p:cNvSpPr>
          <p:nvPr/>
        </p:nvSpPr>
        <p:spPr bwMode="auto">
          <a:xfrm>
            <a:off x="2915816" y="1484784"/>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65" name="文本框 64"/>
          <p:cNvSpPr txBox="1"/>
          <p:nvPr/>
        </p:nvSpPr>
        <p:spPr>
          <a:xfrm>
            <a:off x="2555776" y="1455947"/>
            <a:ext cx="360040" cy="369332"/>
          </a:xfrm>
          <a:prstGeom prst="rect">
            <a:avLst/>
          </a:prstGeom>
          <a:solidFill>
            <a:schemeClr val="bg2">
              <a:lumMod val="75000"/>
            </a:schemeClr>
          </a:solidFill>
        </p:spPr>
        <p:txBody>
          <a:bodyPr wrap="square" rtlCol="0">
            <a:spAutoFit/>
          </a:bodyPr>
          <a:lstStyle/>
          <a:p>
            <a:pPr algn="ctr"/>
            <a:endParaRPr lang="zh-CN" altLang="en-US" dirty="0"/>
          </a:p>
        </p:txBody>
      </p:sp>
      <p:sp>
        <p:nvSpPr>
          <p:cNvPr id="67" name="Rectangle 6"/>
          <p:cNvSpPr>
            <a:spLocks noChangeArrowheads="1"/>
          </p:cNvSpPr>
          <p:nvPr/>
        </p:nvSpPr>
        <p:spPr bwMode="auto">
          <a:xfrm>
            <a:off x="3498812" y="1484784"/>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68" name="Line 7"/>
          <p:cNvSpPr>
            <a:spLocks noChangeShapeType="1"/>
          </p:cNvSpPr>
          <p:nvPr/>
        </p:nvSpPr>
        <p:spPr bwMode="auto">
          <a:xfrm>
            <a:off x="3858852" y="1502693"/>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69" name="文本框 68"/>
          <p:cNvSpPr txBox="1"/>
          <p:nvPr/>
        </p:nvSpPr>
        <p:spPr>
          <a:xfrm>
            <a:off x="3498812" y="1473856"/>
            <a:ext cx="360040" cy="369332"/>
          </a:xfrm>
          <a:prstGeom prst="rect">
            <a:avLst/>
          </a:prstGeom>
          <a:noFill/>
        </p:spPr>
        <p:txBody>
          <a:bodyPr wrap="square" rtlCol="0">
            <a:spAutoFit/>
          </a:bodyPr>
          <a:lstStyle/>
          <a:p>
            <a:pPr algn="ctr"/>
            <a:r>
              <a:rPr lang="en-US" altLang="zh-CN" dirty="0"/>
              <a:t>1</a:t>
            </a:r>
            <a:endParaRPr lang="zh-CN" altLang="en-US" dirty="0"/>
          </a:p>
        </p:txBody>
      </p:sp>
      <p:sp>
        <p:nvSpPr>
          <p:cNvPr id="70" name="Line 12"/>
          <p:cNvSpPr>
            <a:spLocks noChangeShapeType="1"/>
          </p:cNvSpPr>
          <p:nvPr/>
        </p:nvSpPr>
        <p:spPr bwMode="auto">
          <a:xfrm>
            <a:off x="4038167" y="1639728"/>
            <a:ext cx="42511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71" name="Rectangle 6"/>
          <p:cNvSpPr>
            <a:spLocks noChangeArrowheads="1"/>
          </p:cNvSpPr>
          <p:nvPr/>
        </p:nvSpPr>
        <p:spPr bwMode="auto">
          <a:xfrm>
            <a:off x="4477147" y="1495712"/>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72" name="Line 7"/>
          <p:cNvSpPr>
            <a:spLocks noChangeShapeType="1"/>
          </p:cNvSpPr>
          <p:nvPr/>
        </p:nvSpPr>
        <p:spPr bwMode="auto">
          <a:xfrm>
            <a:off x="4837187" y="1513621"/>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73" name="文本框 72"/>
          <p:cNvSpPr txBox="1"/>
          <p:nvPr/>
        </p:nvSpPr>
        <p:spPr>
          <a:xfrm>
            <a:off x="4477147" y="1484784"/>
            <a:ext cx="360040" cy="369332"/>
          </a:xfrm>
          <a:prstGeom prst="rect">
            <a:avLst/>
          </a:prstGeom>
          <a:noFill/>
        </p:spPr>
        <p:txBody>
          <a:bodyPr wrap="square" rtlCol="0">
            <a:spAutoFit/>
          </a:bodyPr>
          <a:lstStyle/>
          <a:p>
            <a:pPr algn="ctr"/>
            <a:r>
              <a:rPr lang="en-US" altLang="zh-CN" dirty="0"/>
              <a:t>5</a:t>
            </a:r>
            <a:endParaRPr lang="zh-CN" altLang="en-US" dirty="0"/>
          </a:p>
        </p:txBody>
      </p:sp>
      <p:sp>
        <p:nvSpPr>
          <p:cNvPr id="74" name="Line 12"/>
          <p:cNvSpPr>
            <a:spLocks noChangeShapeType="1"/>
          </p:cNvSpPr>
          <p:nvPr/>
        </p:nvSpPr>
        <p:spPr bwMode="auto">
          <a:xfrm>
            <a:off x="5004048" y="1639728"/>
            <a:ext cx="42511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75" name="Rectangle 6"/>
          <p:cNvSpPr>
            <a:spLocks noChangeArrowheads="1"/>
          </p:cNvSpPr>
          <p:nvPr/>
        </p:nvSpPr>
        <p:spPr bwMode="auto">
          <a:xfrm>
            <a:off x="5443028" y="1495712"/>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76" name="Line 7"/>
          <p:cNvSpPr>
            <a:spLocks noChangeShapeType="1"/>
          </p:cNvSpPr>
          <p:nvPr/>
        </p:nvSpPr>
        <p:spPr bwMode="auto">
          <a:xfrm>
            <a:off x="5803068" y="1513621"/>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77" name="文本框 76"/>
          <p:cNvSpPr txBox="1"/>
          <p:nvPr/>
        </p:nvSpPr>
        <p:spPr>
          <a:xfrm>
            <a:off x="5443028" y="1484784"/>
            <a:ext cx="360040" cy="369332"/>
          </a:xfrm>
          <a:prstGeom prst="rect">
            <a:avLst/>
          </a:prstGeom>
          <a:noFill/>
        </p:spPr>
        <p:txBody>
          <a:bodyPr wrap="square" rtlCol="0">
            <a:spAutoFit/>
          </a:bodyPr>
          <a:lstStyle/>
          <a:p>
            <a:pPr algn="ctr"/>
            <a:r>
              <a:rPr lang="en-US" altLang="zh-CN" dirty="0"/>
              <a:t>9</a:t>
            </a:r>
            <a:endParaRPr lang="zh-CN" altLang="en-US" dirty="0"/>
          </a:p>
        </p:txBody>
      </p:sp>
      <p:sp>
        <p:nvSpPr>
          <p:cNvPr id="78" name="文本框 77"/>
          <p:cNvSpPr txBox="1"/>
          <p:nvPr/>
        </p:nvSpPr>
        <p:spPr>
          <a:xfrm>
            <a:off x="5796136" y="1484784"/>
            <a:ext cx="360040" cy="369332"/>
          </a:xfrm>
          <a:prstGeom prst="rect">
            <a:avLst/>
          </a:prstGeom>
          <a:noFill/>
        </p:spPr>
        <p:txBody>
          <a:bodyPr wrap="square" rtlCol="0">
            <a:spAutoFit/>
          </a:bodyPr>
          <a:lstStyle/>
          <a:p>
            <a:pPr algn="ctr"/>
            <a:r>
              <a:rPr lang="en-US" altLang="zh-CN" dirty="0"/>
              <a:t>^</a:t>
            </a:r>
            <a:endParaRPr lang="zh-CN" altLang="en-US" dirty="0"/>
          </a:p>
        </p:txBody>
      </p:sp>
      <p:sp>
        <p:nvSpPr>
          <p:cNvPr id="79" name="Text Box 4"/>
          <p:cNvSpPr txBox="1">
            <a:spLocks noChangeArrowheads="1"/>
          </p:cNvSpPr>
          <p:nvPr/>
        </p:nvSpPr>
        <p:spPr bwMode="auto">
          <a:xfrm>
            <a:off x="1475656" y="2267580"/>
            <a:ext cx="667133" cy="40011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R="0" algn="ctr" defTabSz="914400" eaLnBrk="1" fontAlgn="auto" hangingPunct="1">
              <a:spcBef>
                <a:spcPts val="0"/>
              </a:spcBef>
              <a:spcAft>
                <a:spcPts val="0"/>
              </a:spcAft>
              <a:buClrTx/>
              <a:buSzTx/>
              <a:buFontTx/>
              <a:buNone/>
              <a:defRPr/>
            </a:pPr>
            <a:r>
              <a:rPr kumimoji="1" lang="en-US" altLang="zh-CN" sz="2000" kern="0" dirty="0">
                <a:solidFill>
                  <a:srgbClr val="003366"/>
                </a:solidFill>
                <a:latin typeface="Times New Roman" panose="02020603050405020304" pitchFamily="18" charset="0"/>
              </a:rPr>
              <a:t>LB</a:t>
            </a:r>
            <a:endParaRPr kumimoji="1" lang="en-US" altLang="zh-CN" sz="2000" kern="0" cap="none" spc="0" normalizeH="0" baseline="0" noProof="0" dirty="0">
              <a:solidFill>
                <a:srgbClr val="003366"/>
              </a:solidFill>
              <a:latin typeface="Times New Roman" panose="02020603050405020304" pitchFamily="18" charset="0"/>
              <a:ea typeface="宋体" panose="02010600030101010101" pitchFamily="2" charset="-122"/>
              <a:cs typeface="+mn-cs"/>
            </a:endParaRPr>
          </a:p>
        </p:txBody>
      </p:sp>
      <p:sp>
        <p:nvSpPr>
          <p:cNvPr id="80" name="Line 5"/>
          <p:cNvSpPr>
            <a:spLocks noChangeShapeType="1"/>
          </p:cNvSpPr>
          <p:nvPr/>
        </p:nvSpPr>
        <p:spPr bwMode="auto">
          <a:xfrm>
            <a:off x="2286804" y="2483604"/>
            <a:ext cx="268972"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1" name="Line 12"/>
          <p:cNvSpPr>
            <a:spLocks noChangeShapeType="1"/>
          </p:cNvSpPr>
          <p:nvPr/>
        </p:nvSpPr>
        <p:spPr bwMode="auto">
          <a:xfrm>
            <a:off x="3059832" y="2483604"/>
            <a:ext cx="42511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2" name="Rectangle 6"/>
          <p:cNvSpPr>
            <a:spLocks noChangeArrowheads="1"/>
          </p:cNvSpPr>
          <p:nvPr/>
        </p:nvSpPr>
        <p:spPr bwMode="auto">
          <a:xfrm>
            <a:off x="2555776" y="2321679"/>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3" name="Line 7"/>
          <p:cNvSpPr>
            <a:spLocks noChangeShapeType="1"/>
          </p:cNvSpPr>
          <p:nvPr/>
        </p:nvSpPr>
        <p:spPr bwMode="auto">
          <a:xfrm>
            <a:off x="2915816" y="2339588"/>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4" name="文本框 83"/>
          <p:cNvSpPr txBox="1"/>
          <p:nvPr/>
        </p:nvSpPr>
        <p:spPr>
          <a:xfrm>
            <a:off x="2555776" y="2310751"/>
            <a:ext cx="360040" cy="369332"/>
          </a:xfrm>
          <a:prstGeom prst="rect">
            <a:avLst/>
          </a:prstGeom>
          <a:solidFill>
            <a:schemeClr val="bg2">
              <a:lumMod val="75000"/>
            </a:schemeClr>
          </a:solidFill>
        </p:spPr>
        <p:txBody>
          <a:bodyPr wrap="square" rtlCol="0">
            <a:spAutoFit/>
          </a:bodyPr>
          <a:lstStyle/>
          <a:p>
            <a:pPr algn="ctr"/>
            <a:endParaRPr lang="zh-CN" altLang="en-US" dirty="0"/>
          </a:p>
        </p:txBody>
      </p:sp>
      <p:sp>
        <p:nvSpPr>
          <p:cNvPr id="85" name="Rectangle 6"/>
          <p:cNvSpPr>
            <a:spLocks noChangeArrowheads="1"/>
          </p:cNvSpPr>
          <p:nvPr/>
        </p:nvSpPr>
        <p:spPr bwMode="auto">
          <a:xfrm>
            <a:off x="3498812" y="2339588"/>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6" name="Line 7"/>
          <p:cNvSpPr>
            <a:spLocks noChangeShapeType="1"/>
          </p:cNvSpPr>
          <p:nvPr/>
        </p:nvSpPr>
        <p:spPr bwMode="auto">
          <a:xfrm>
            <a:off x="3858852" y="2357497"/>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7" name="文本框 86"/>
          <p:cNvSpPr txBox="1"/>
          <p:nvPr/>
        </p:nvSpPr>
        <p:spPr>
          <a:xfrm>
            <a:off x="3498812" y="2328660"/>
            <a:ext cx="360040" cy="369332"/>
          </a:xfrm>
          <a:prstGeom prst="rect">
            <a:avLst/>
          </a:prstGeom>
          <a:noFill/>
        </p:spPr>
        <p:txBody>
          <a:bodyPr wrap="square" rtlCol="0">
            <a:spAutoFit/>
          </a:bodyPr>
          <a:lstStyle/>
          <a:p>
            <a:pPr algn="ctr"/>
            <a:r>
              <a:rPr lang="en-US" altLang="zh-CN" dirty="0"/>
              <a:t>2</a:t>
            </a:r>
            <a:endParaRPr lang="zh-CN" altLang="en-US" dirty="0"/>
          </a:p>
        </p:txBody>
      </p:sp>
      <p:sp>
        <p:nvSpPr>
          <p:cNvPr id="88" name="Line 12"/>
          <p:cNvSpPr>
            <a:spLocks noChangeShapeType="1"/>
          </p:cNvSpPr>
          <p:nvPr/>
        </p:nvSpPr>
        <p:spPr bwMode="auto">
          <a:xfrm>
            <a:off x="4038167" y="2494532"/>
            <a:ext cx="42511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89" name="Rectangle 6"/>
          <p:cNvSpPr>
            <a:spLocks noChangeArrowheads="1"/>
          </p:cNvSpPr>
          <p:nvPr/>
        </p:nvSpPr>
        <p:spPr bwMode="auto">
          <a:xfrm>
            <a:off x="4477147" y="2350516"/>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0" name="Line 7"/>
          <p:cNvSpPr>
            <a:spLocks noChangeShapeType="1"/>
          </p:cNvSpPr>
          <p:nvPr/>
        </p:nvSpPr>
        <p:spPr bwMode="auto">
          <a:xfrm>
            <a:off x="4837187" y="2368425"/>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1" name="文本框 90"/>
          <p:cNvSpPr txBox="1"/>
          <p:nvPr/>
        </p:nvSpPr>
        <p:spPr>
          <a:xfrm>
            <a:off x="4477147" y="2339588"/>
            <a:ext cx="360040" cy="369332"/>
          </a:xfrm>
          <a:prstGeom prst="rect">
            <a:avLst/>
          </a:prstGeom>
          <a:noFill/>
        </p:spPr>
        <p:txBody>
          <a:bodyPr wrap="square" rtlCol="0">
            <a:spAutoFit/>
          </a:bodyPr>
          <a:lstStyle/>
          <a:p>
            <a:pPr algn="ctr"/>
            <a:r>
              <a:rPr lang="en-US" altLang="zh-CN" dirty="0"/>
              <a:t>3</a:t>
            </a:r>
            <a:endParaRPr lang="zh-CN" altLang="en-US" dirty="0"/>
          </a:p>
        </p:txBody>
      </p:sp>
      <p:sp>
        <p:nvSpPr>
          <p:cNvPr id="92" name="Line 12"/>
          <p:cNvSpPr>
            <a:spLocks noChangeShapeType="1"/>
          </p:cNvSpPr>
          <p:nvPr/>
        </p:nvSpPr>
        <p:spPr bwMode="auto">
          <a:xfrm>
            <a:off x="5004048" y="2494532"/>
            <a:ext cx="42511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3" name="Rectangle 6"/>
          <p:cNvSpPr>
            <a:spLocks noChangeArrowheads="1"/>
          </p:cNvSpPr>
          <p:nvPr/>
        </p:nvSpPr>
        <p:spPr bwMode="auto">
          <a:xfrm>
            <a:off x="6397553" y="2339588"/>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4" name="Line 7"/>
          <p:cNvSpPr>
            <a:spLocks noChangeShapeType="1"/>
          </p:cNvSpPr>
          <p:nvPr/>
        </p:nvSpPr>
        <p:spPr bwMode="auto">
          <a:xfrm>
            <a:off x="6757593" y="2357497"/>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5" name="文本框 94"/>
          <p:cNvSpPr txBox="1"/>
          <p:nvPr/>
        </p:nvSpPr>
        <p:spPr>
          <a:xfrm>
            <a:off x="6397553" y="2328660"/>
            <a:ext cx="360040" cy="369332"/>
          </a:xfrm>
          <a:prstGeom prst="rect">
            <a:avLst/>
          </a:prstGeom>
          <a:noFill/>
        </p:spPr>
        <p:txBody>
          <a:bodyPr wrap="square" rtlCol="0">
            <a:spAutoFit/>
          </a:bodyPr>
          <a:lstStyle/>
          <a:p>
            <a:pPr algn="ctr"/>
            <a:r>
              <a:rPr lang="en-US" altLang="zh-CN" dirty="0"/>
              <a:t>6</a:t>
            </a:r>
            <a:endParaRPr lang="zh-CN" altLang="en-US" dirty="0"/>
          </a:p>
        </p:txBody>
      </p:sp>
      <p:sp>
        <p:nvSpPr>
          <p:cNvPr id="96" name="文本框 95"/>
          <p:cNvSpPr txBox="1"/>
          <p:nvPr/>
        </p:nvSpPr>
        <p:spPr>
          <a:xfrm>
            <a:off x="6750661" y="2328660"/>
            <a:ext cx="360040" cy="369332"/>
          </a:xfrm>
          <a:prstGeom prst="rect">
            <a:avLst/>
          </a:prstGeom>
          <a:noFill/>
        </p:spPr>
        <p:txBody>
          <a:bodyPr wrap="square" rtlCol="0">
            <a:spAutoFit/>
          </a:bodyPr>
          <a:lstStyle/>
          <a:p>
            <a:pPr algn="ctr"/>
            <a:r>
              <a:rPr lang="en-US" altLang="zh-CN" dirty="0"/>
              <a:t>^</a:t>
            </a:r>
            <a:endParaRPr lang="zh-CN" altLang="en-US" dirty="0"/>
          </a:p>
        </p:txBody>
      </p:sp>
      <p:sp>
        <p:nvSpPr>
          <p:cNvPr id="97" name="Rectangle 6"/>
          <p:cNvSpPr>
            <a:spLocks noChangeArrowheads="1"/>
          </p:cNvSpPr>
          <p:nvPr/>
        </p:nvSpPr>
        <p:spPr bwMode="auto">
          <a:xfrm>
            <a:off x="5449960" y="2359808"/>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8" name="Line 7"/>
          <p:cNvSpPr>
            <a:spLocks noChangeShapeType="1"/>
          </p:cNvSpPr>
          <p:nvPr/>
        </p:nvSpPr>
        <p:spPr bwMode="auto">
          <a:xfrm>
            <a:off x="5810000" y="2377717"/>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99" name="文本框 98"/>
          <p:cNvSpPr txBox="1"/>
          <p:nvPr/>
        </p:nvSpPr>
        <p:spPr>
          <a:xfrm>
            <a:off x="5449960" y="2348880"/>
            <a:ext cx="360040" cy="369332"/>
          </a:xfrm>
          <a:prstGeom prst="rect">
            <a:avLst/>
          </a:prstGeom>
          <a:noFill/>
        </p:spPr>
        <p:txBody>
          <a:bodyPr wrap="square" rtlCol="0">
            <a:spAutoFit/>
          </a:bodyPr>
          <a:lstStyle/>
          <a:p>
            <a:pPr algn="ctr"/>
            <a:r>
              <a:rPr lang="en-US" altLang="zh-CN" dirty="0"/>
              <a:t>4</a:t>
            </a:r>
            <a:endParaRPr lang="zh-CN" altLang="en-US" dirty="0"/>
          </a:p>
        </p:txBody>
      </p:sp>
      <p:sp>
        <p:nvSpPr>
          <p:cNvPr id="100" name="Line 12"/>
          <p:cNvSpPr>
            <a:spLocks noChangeShapeType="1"/>
          </p:cNvSpPr>
          <p:nvPr/>
        </p:nvSpPr>
        <p:spPr bwMode="auto">
          <a:xfrm>
            <a:off x="5989315" y="2514752"/>
            <a:ext cx="425116"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103" name="Text Box 4"/>
          <p:cNvSpPr txBox="1">
            <a:spLocks noChangeArrowheads="1"/>
          </p:cNvSpPr>
          <p:nvPr/>
        </p:nvSpPr>
        <p:spPr bwMode="auto">
          <a:xfrm>
            <a:off x="1475656" y="3645024"/>
            <a:ext cx="667133" cy="40011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R="0" algn="ctr" defTabSz="914400" eaLnBrk="1" fontAlgn="auto" hangingPunct="1">
              <a:spcBef>
                <a:spcPts val="0"/>
              </a:spcBef>
              <a:spcAft>
                <a:spcPts val="0"/>
              </a:spcAft>
              <a:buClrTx/>
              <a:buSzTx/>
              <a:buFontTx/>
              <a:buNone/>
              <a:defRPr/>
            </a:pPr>
            <a:r>
              <a:rPr kumimoji="1" lang="en-US" altLang="zh-CN" sz="2000" kern="0" dirty="0">
                <a:solidFill>
                  <a:srgbClr val="003366"/>
                </a:solidFill>
                <a:latin typeface="Times New Roman" panose="02020603050405020304" pitchFamily="18" charset="0"/>
              </a:rPr>
              <a:t>LA</a:t>
            </a:r>
            <a:endParaRPr kumimoji="1" lang="en-US" altLang="zh-CN" sz="2000" kern="0" cap="none" spc="0" normalizeH="0" baseline="0" noProof="0" dirty="0">
              <a:solidFill>
                <a:srgbClr val="003366"/>
              </a:solidFill>
              <a:latin typeface="Times New Roman" panose="02020603050405020304" pitchFamily="18" charset="0"/>
              <a:ea typeface="宋体" panose="02010600030101010101" pitchFamily="2" charset="-122"/>
              <a:cs typeface="+mn-cs"/>
            </a:endParaRPr>
          </a:p>
        </p:txBody>
      </p:sp>
      <p:sp>
        <p:nvSpPr>
          <p:cNvPr id="104" name="Line 5"/>
          <p:cNvSpPr>
            <a:spLocks noChangeShapeType="1"/>
          </p:cNvSpPr>
          <p:nvPr/>
        </p:nvSpPr>
        <p:spPr bwMode="auto">
          <a:xfrm>
            <a:off x="2286804" y="3861048"/>
            <a:ext cx="268972"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22" name="Line 12"/>
          <p:cNvSpPr>
            <a:spLocks noChangeShapeType="1"/>
          </p:cNvSpPr>
          <p:nvPr/>
        </p:nvSpPr>
        <p:spPr bwMode="auto">
          <a:xfrm>
            <a:off x="3059832" y="3861048"/>
            <a:ext cx="425116" cy="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0" name="Rectangle 6"/>
          <p:cNvSpPr>
            <a:spLocks noChangeArrowheads="1"/>
          </p:cNvSpPr>
          <p:nvPr/>
        </p:nvSpPr>
        <p:spPr bwMode="auto">
          <a:xfrm>
            <a:off x="2555776" y="3699123"/>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1" name="Line 7"/>
          <p:cNvSpPr>
            <a:spLocks noChangeShapeType="1"/>
          </p:cNvSpPr>
          <p:nvPr/>
        </p:nvSpPr>
        <p:spPr bwMode="auto">
          <a:xfrm>
            <a:off x="2915816" y="3717032"/>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2" name="文本框 64"/>
          <p:cNvSpPr txBox="1"/>
          <p:nvPr/>
        </p:nvSpPr>
        <p:spPr>
          <a:xfrm>
            <a:off x="2555776" y="3688195"/>
            <a:ext cx="360040" cy="369332"/>
          </a:xfrm>
          <a:prstGeom prst="rect">
            <a:avLst/>
          </a:prstGeom>
          <a:solidFill>
            <a:schemeClr val="bg2">
              <a:lumMod val="75000"/>
            </a:schemeClr>
          </a:solidFill>
        </p:spPr>
        <p:txBody>
          <a:bodyPr wrap="square" rtlCol="0">
            <a:spAutoFit/>
          </a:bodyPr>
          <a:lstStyle/>
          <a:p>
            <a:pPr algn="ctr"/>
            <a:endParaRPr lang="zh-CN" altLang="en-US" dirty="0"/>
          </a:p>
        </p:txBody>
      </p:sp>
      <p:sp>
        <p:nvSpPr>
          <p:cNvPr id="143" name="Rectangle 6"/>
          <p:cNvSpPr>
            <a:spLocks noChangeArrowheads="1"/>
          </p:cNvSpPr>
          <p:nvPr/>
        </p:nvSpPr>
        <p:spPr bwMode="auto">
          <a:xfrm>
            <a:off x="3498812" y="3717032"/>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4" name="Line 7"/>
          <p:cNvSpPr>
            <a:spLocks noChangeShapeType="1"/>
          </p:cNvSpPr>
          <p:nvPr/>
        </p:nvSpPr>
        <p:spPr bwMode="auto">
          <a:xfrm>
            <a:off x="3858852" y="3734941"/>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5" name="文本框 68"/>
          <p:cNvSpPr txBox="1"/>
          <p:nvPr/>
        </p:nvSpPr>
        <p:spPr>
          <a:xfrm>
            <a:off x="3498812" y="3706104"/>
            <a:ext cx="360040" cy="369332"/>
          </a:xfrm>
          <a:prstGeom prst="rect">
            <a:avLst/>
          </a:prstGeom>
          <a:noFill/>
        </p:spPr>
        <p:txBody>
          <a:bodyPr wrap="square" rtlCol="0">
            <a:spAutoFit/>
          </a:bodyPr>
          <a:lstStyle/>
          <a:p>
            <a:pPr algn="ctr"/>
            <a:r>
              <a:rPr lang="en-US" altLang="zh-CN" dirty="0"/>
              <a:t>1</a:t>
            </a:r>
            <a:endParaRPr lang="zh-CN" altLang="en-US" dirty="0"/>
          </a:p>
        </p:txBody>
      </p:sp>
      <p:sp>
        <p:nvSpPr>
          <p:cNvPr id="146" name="Line 12"/>
          <p:cNvSpPr>
            <a:spLocks noChangeShapeType="1"/>
          </p:cNvSpPr>
          <p:nvPr/>
        </p:nvSpPr>
        <p:spPr bwMode="auto">
          <a:xfrm flipH="1">
            <a:off x="4014357" y="3942348"/>
            <a:ext cx="0" cy="648072"/>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7" name="Rectangle 6"/>
          <p:cNvSpPr>
            <a:spLocks noChangeArrowheads="1"/>
          </p:cNvSpPr>
          <p:nvPr/>
        </p:nvSpPr>
        <p:spPr bwMode="auto">
          <a:xfrm>
            <a:off x="5431672" y="3727960"/>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8" name="Line 7"/>
          <p:cNvSpPr>
            <a:spLocks noChangeShapeType="1"/>
          </p:cNvSpPr>
          <p:nvPr/>
        </p:nvSpPr>
        <p:spPr bwMode="auto">
          <a:xfrm>
            <a:off x="5791712" y="3745869"/>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49" name="文本框 72"/>
          <p:cNvSpPr txBox="1"/>
          <p:nvPr/>
        </p:nvSpPr>
        <p:spPr>
          <a:xfrm>
            <a:off x="5431672" y="3717032"/>
            <a:ext cx="360040" cy="369332"/>
          </a:xfrm>
          <a:prstGeom prst="rect">
            <a:avLst/>
          </a:prstGeom>
          <a:noFill/>
        </p:spPr>
        <p:txBody>
          <a:bodyPr wrap="square" rtlCol="0">
            <a:spAutoFit/>
          </a:bodyPr>
          <a:lstStyle/>
          <a:p>
            <a:pPr algn="ctr"/>
            <a:r>
              <a:rPr lang="en-US" altLang="zh-CN" dirty="0"/>
              <a:t>5</a:t>
            </a:r>
            <a:endParaRPr lang="zh-CN" altLang="en-US" dirty="0"/>
          </a:p>
        </p:txBody>
      </p:sp>
      <p:sp>
        <p:nvSpPr>
          <p:cNvPr id="150" name="Line 12"/>
          <p:cNvSpPr>
            <a:spLocks noChangeShapeType="1"/>
          </p:cNvSpPr>
          <p:nvPr/>
        </p:nvSpPr>
        <p:spPr bwMode="auto">
          <a:xfrm flipV="1">
            <a:off x="6966685" y="4086364"/>
            <a:ext cx="0" cy="648072"/>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51" name="Rectangle 6"/>
          <p:cNvSpPr>
            <a:spLocks noChangeArrowheads="1"/>
          </p:cNvSpPr>
          <p:nvPr/>
        </p:nvSpPr>
        <p:spPr bwMode="auto">
          <a:xfrm>
            <a:off x="6829601" y="3727960"/>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52" name="Line 7"/>
          <p:cNvSpPr>
            <a:spLocks noChangeShapeType="1"/>
          </p:cNvSpPr>
          <p:nvPr/>
        </p:nvSpPr>
        <p:spPr bwMode="auto">
          <a:xfrm>
            <a:off x="7189641" y="3745869"/>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53" name="文本框 76"/>
          <p:cNvSpPr txBox="1"/>
          <p:nvPr/>
        </p:nvSpPr>
        <p:spPr>
          <a:xfrm>
            <a:off x="6829601" y="3717032"/>
            <a:ext cx="360040" cy="369332"/>
          </a:xfrm>
          <a:prstGeom prst="rect">
            <a:avLst/>
          </a:prstGeom>
          <a:noFill/>
        </p:spPr>
        <p:txBody>
          <a:bodyPr wrap="square" rtlCol="0">
            <a:spAutoFit/>
          </a:bodyPr>
          <a:lstStyle/>
          <a:p>
            <a:pPr algn="ctr"/>
            <a:r>
              <a:rPr lang="en-US" altLang="zh-CN" dirty="0"/>
              <a:t>9</a:t>
            </a:r>
            <a:endParaRPr lang="zh-CN" altLang="en-US" dirty="0"/>
          </a:p>
        </p:txBody>
      </p:sp>
      <p:sp>
        <p:nvSpPr>
          <p:cNvPr id="154" name="文本框 77"/>
          <p:cNvSpPr txBox="1"/>
          <p:nvPr/>
        </p:nvSpPr>
        <p:spPr>
          <a:xfrm>
            <a:off x="7182709" y="3717032"/>
            <a:ext cx="360040" cy="369332"/>
          </a:xfrm>
          <a:prstGeom prst="rect">
            <a:avLst/>
          </a:prstGeom>
          <a:noFill/>
        </p:spPr>
        <p:txBody>
          <a:bodyPr wrap="square" rtlCol="0">
            <a:spAutoFit/>
          </a:bodyPr>
          <a:lstStyle/>
          <a:p>
            <a:pPr algn="ctr"/>
            <a:r>
              <a:rPr lang="en-US" altLang="zh-CN" dirty="0"/>
              <a:t>^</a:t>
            </a:r>
            <a:endParaRPr lang="zh-CN" altLang="en-US" dirty="0"/>
          </a:p>
        </p:txBody>
      </p:sp>
      <p:sp>
        <p:nvSpPr>
          <p:cNvPr id="155" name="Text Box 4"/>
          <p:cNvSpPr txBox="1">
            <a:spLocks noChangeArrowheads="1"/>
          </p:cNvSpPr>
          <p:nvPr/>
        </p:nvSpPr>
        <p:spPr bwMode="auto">
          <a:xfrm>
            <a:off x="1475656" y="4499828"/>
            <a:ext cx="667133" cy="40011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R="0" algn="ctr" defTabSz="914400" eaLnBrk="1" fontAlgn="auto" hangingPunct="1">
              <a:spcBef>
                <a:spcPts val="0"/>
              </a:spcBef>
              <a:spcAft>
                <a:spcPts val="0"/>
              </a:spcAft>
              <a:buClrTx/>
              <a:buSzTx/>
              <a:buFontTx/>
              <a:buNone/>
              <a:defRPr/>
            </a:pPr>
            <a:r>
              <a:rPr kumimoji="1" lang="en-US" altLang="zh-CN" sz="2000" kern="0" dirty="0">
                <a:solidFill>
                  <a:srgbClr val="003366"/>
                </a:solidFill>
                <a:latin typeface="Times New Roman" panose="02020603050405020304" pitchFamily="18" charset="0"/>
              </a:rPr>
              <a:t>LB</a:t>
            </a:r>
            <a:endParaRPr kumimoji="1" lang="en-US" altLang="zh-CN" sz="2000" kern="0" cap="none" spc="0" normalizeH="0" baseline="0" noProof="0" dirty="0">
              <a:solidFill>
                <a:srgbClr val="003366"/>
              </a:solidFill>
              <a:latin typeface="Times New Roman" panose="02020603050405020304" pitchFamily="18" charset="0"/>
              <a:ea typeface="宋体" panose="02010600030101010101" pitchFamily="2" charset="-122"/>
              <a:cs typeface="+mn-cs"/>
            </a:endParaRPr>
          </a:p>
        </p:txBody>
      </p:sp>
      <p:sp>
        <p:nvSpPr>
          <p:cNvPr id="156" name="Line 5"/>
          <p:cNvSpPr>
            <a:spLocks noChangeShapeType="1"/>
          </p:cNvSpPr>
          <p:nvPr/>
        </p:nvSpPr>
        <p:spPr bwMode="auto">
          <a:xfrm>
            <a:off x="2286804" y="4715852"/>
            <a:ext cx="268972" cy="0"/>
          </a:xfrm>
          <a:prstGeom prst="line">
            <a:avLst/>
          </a:prstGeom>
          <a:noFill/>
          <a:ln w="9525">
            <a:solidFill>
              <a:srgbClr val="0033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57" name="Line 12"/>
          <p:cNvSpPr>
            <a:spLocks noChangeShapeType="1"/>
          </p:cNvSpPr>
          <p:nvPr/>
        </p:nvSpPr>
        <p:spPr bwMode="auto">
          <a:xfrm>
            <a:off x="3059832" y="4715852"/>
            <a:ext cx="425116" cy="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58" name="Rectangle 6"/>
          <p:cNvSpPr>
            <a:spLocks noChangeArrowheads="1"/>
          </p:cNvSpPr>
          <p:nvPr/>
        </p:nvSpPr>
        <p:spPr bwMode="auto">
          <a:xfrm>
            <a:off x="2555776" y="4553927"/>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59" name="Line 7"/>
          <p:cNvSpPr>
            <a:spLocks noChangeShapeType="1"/>
          </p:cNvSpPr>
          <p:nvPr/>
        </p:nvSpPr>
        <p:spPr bwMode="auto">
          <a:xfrm>
            <a:off x="2915816" y="4571836"/>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0" name="文本框 83"/>
          <p:cNvSpPr txBox="1"/>
          <p:nvPr/>
        </p:nvSpPr>
        <p:spPr>
          <a:xfrm>
            <a:off x="2555776" y="4542999"/>
            <a:ext cx="360040" cy="369332"/>
          </a:xfrm>
          <a:prstGeom prst="rect">
            <a:avLst/>
          </a:prstGeom>
          <a:solidFill>
            <a:schemeClr val="bg2">
              <a:lumMod val="75000"/>
            </a:schemeClr>
          </a:solidFill>
        </p:spPr>
        <p:txBody>
          <a:bodyPr wrap="square" rtlCol="0">
            <a:spAutoFit/>
          </a:bodyPr>
          <a:lstStyle/>
          <a:p>
            <a:pPr algn="ctr"/>
            <a:endParaRPr lang="zh-CN" altLang="en-US" dirty="0"/>
          </a:p>
        </p:txBody>
      </p:sp>
      <p:sp>
        <p:nvSpPr>
          <p:cNvPr id="161" name="Rectangle 6"/>
          <p:cNvSpPr>
            <a:spLocks noChangeArrowheads="1"/>
          </p:cNvSpPr>
          <p:nvPr/>
        </p:nvSpPr>
        <p:spPr bwMode="auto">
          <a:xfrm>
            <a:off x="3498812" y="4571836"/>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2" name="Line 7"/>
          <p:cNvSpPr>
            <a:spLocks noChangeShapeType="1"/>
          </p:cNvSpPr>
          <p:nvPr/>
        </p:nvSpPr>
        <p:spPr bwMode="auto">
          <a:xfrm>
            <a:off x="3858852" y="4589745"/>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3" name="文本框 86"/>
          <p:cNvSpPr txBox="1"/>
          <p:nvPr/>
        </p:nvSpPr>
        <p:spPr>
          <a:xfrm>
            <a:off x="3498812" y="4560908"/>
            <a:ext cx="360040" cy="369332"/>
          </a:xfrm>
          <a:prstGeom prst="rect">
            <a:avLst/>
          </a:prstGeom>
          <a:noFill/>
        </p:spPr>
        <p:txBody>
          <a:bodyPr wrap="square" rtlCol="0">
            <a:spAutoFit/>
          </a:bodyPr>
          <a:lstStyle/>
          <a:p>
            <a:pPr algn="ctr"/>
            <a:r>
              <a:rPr lang="en-US" altLang="zh-CN" dirty="0"/>
              <a:t>2</a:t>
            </a:r>
            <a:endParaRPr lang="zh-CN" altLang="en-US" dirty="0"/>
          </a:p>
        </p:txBody>
      </p:sp>
      <p:sp>
        <p:nvSpPr>
          <p:cNvPr id="164" name="Line 12"/>
          <p:cNvSpPr>
            <a:spLocks noChangeShapeType="1"/>
          </p:cNvSpPr>
          <p:nvPr/>
        </p:nvSpPr>
        <p:spPr bwMode="auto">
          <a:xfrm>
            <a:off x="4038167" y="4726780"/>
            <a:ext cx="425116" cy="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5" name="Rectangle 6"/>
          <p:cNvSpPr>
            <a:spLocks noChangeArrowheads="1"/>
          </p:cNvSpPr>
          <p:nvPr/>
        </p:nvSpPr>
        <p:spPr bwMode="auto">
          <a:xfrm>
            <a:off x="4477147" y="4582764"/>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6" name="Line 7"/>
          <p:cNvSpPr>
            <a:spLocks noChangeShapeType="1"/>
          </p:cNvSpPr>
          <p:nvPr/>
        </p:nvSpPr>
        <p:spPr bwMode="auto">
          <a:xfrm>
            <a:off x="4837187" y="4600673"/>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7" name="文本框 90"/>
          <p:cNvSpPr txBox="1"/>
          <p:nvPr/>
        </p:nvSpPr>
        <p:spPr>
          <a:xfrm>
            <a:off x="4477147" y="4571836"/>
            <a:ext cx="360040" cy="369332"/>
          </a:xfrm>
          <a:prstGeom prst="rect">
            <a:avLst/>
          </a:prstGeom>
          <a:noFill/>
        </p:spPr>
        <p:txBody>
          <a:bodyPr wrap="square" rtlCol="0">
            <a:spAutoFit/>
          </a:bodyPr>
          <a:lstStyle/>
          <a:p>
            <a:pPr algn="ctr"/>
            <a:r>
              <a:rPr lang="en-US" altLang="zh-CN" dirty="0"/>
              <a:t>3</a:t>
            </a:r>
            <a:endParaRPr lang="zh-CN" altLang="en-US" dirty="0"/>
          </a:p>
        </p:txBody>
      </p:sp>
      <p:sp>
        <p:nvSpPr>
          <p:cNvPr id="168" name="Line 12"/>
          <p:cNvSpPr>
            <a:spLocks noChangeShapeType="1"/>
          </p:cNvSpPr>
          <p:nvPr/>
        </p:nvSpPr>
        <p:spPr bwMode="auto">
          <a:xfrm>
            <a:off x="5004048" y="4726780"/>
            <a:ext cx="425116" cy="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69" name="Rectangle 6"/>
          <p:cNvSpPr>
            <a:spLocks noChangeArrowheads="1"/>
          </p:cNvSpPr>
          <p:nvPr/>
        </p:nvSpPr>
        <p:spPr bwMode="auto">
          <a:xfrm>
            <a:off x="6397553" y="4571836"/>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70" name="Line 7"/>
          <p:cNvSpPr>
            <a:spLocks noChangeShapeType="1"/>
          </p:cNvSpPr>
          <p:nvPr/>
        </p:nvSpPr>
        <p:spPr bwMode="auto">
          <a:xfrm>
            <a:off x="6757593" y="4589745"/>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71" name="文本框 94"/>
          <p:cNvSpPr txBox="1"/>
          <p:nvPr/>
        </p:nvSpPr>
        <p:spPr>
          <a:xfrm>
            <a:off x="6397553" y="4560908"/>
            <a:ext cx="360040" cy="369332"/>
          </a:xfrm>
          <a:prstGeom prst="rect">
            <a:avLst/>
          </a:prstGeom>
          <a:noFill/>
        </p:spPr>
        <p:txBody>
          <a:bodyPr wrap="square" rtlCol="0">
            <a:spAutoFit/>
          </a:bodyPr>
          <a:lstStyle/>
          <a:p>
            <a:pPr algn="ctr"/>
            <a:r>
              <a:rPr lang="en-US" altLang="zh-CN" dirty="0"/>
              <a:t>6</a:t>
            </a:r>
            <a:endParaRPr lang="zh-CN" altLang="en-US" dirty="0"/>
          </a:p>
        </p:txBody>
      </p:sp>
      <p:sp>
        <p:nvSpPr>
          <p:cNvPr id="173" name="Rectangle 6"/>
          <p:cNvSpPr>
            <a:spLocks noChangeArrowheads="1"/>
          </p:cNvSpPr>
          <p:nvPr/>
        </p:nvSpPr>
        <p:spPr bwMode="auto">
          <a:xfrm>
            <a:off x="5449960" y="4592056"/>
            <a:ext cx="670917" cy="323850"/>
          </a:xfrm>
          <a:prstGeom prst="rect">
            <a:avLst/>
          </a:prstGeom>
          <a:noFill/>
          <a:ln w="9525">
            <a:solidFill>
              <a:srgbClr val="003366"/>
            </a:solidFill>
            <a:miter lim="800000"/>
          </a:ln>
          <a:effectLst/>
          <a:extLst>
            <a:ext uri="{909E8E84-426E-40DD-AFC4-6F175D3DCCD1}">
              <a14:hiddenFill xmlns:a14="http://schemas.microsoft.com/office/drawing/2010/main">
                <a:solidFill>
                  <a:srgbClr val="FCFDC6"/>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74" name="Line 7"/>
          <p:cNvSpPr>
            <a:spLocks noChangeShapeType="1"/>
          </p:cNvSpPr>
          <p:nvPr/>
        </p:nvSpPr>
        <p:spPr bwMode="auto">
          <a:xfrm>
            <a:off x="5810000" y="4609965"/>
            <a:ext cx="0" cy="305941"/>
          </a:xfrm>
          <a:prstGeom prst="line">
            <a:avLst/>
          </a:prstGeom>
          <a:noFill/>
          <a:ln w="9525">
            <a:solidFill>
              <a:srgbClr val="003366"/>
            </a:solidFill>
            <a:round/>
          </a:ln>
          <a:effectLst>
            <a:outerShdw dist="107763" dir="2700000" algn="ctr" rotWithShape="0">
              <a:srgbClr val="E3E2C7"/>
            </a:outerShdw>
          </a:effectLst>
          <a:extLst>
            <a:ext uri="{909E8E84-426E-40DD-AFC4-6F175D3DCCD1}">
              <a14:hiddenFill xmlns:a14="http://schemas.microsoft.com/office/drawing/2010/main">
                <a:noFill/>
              </a14:hiddenFill>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sp>
        <p:nvSpPr>
          <p:cNvPr id="175" name="文本框 98"/>
          <p:cNvSpPr txBox="1"/>
          <p:nvPr/>
        </p:nvSpPr>
        <p:spPr>
          <a:xfrm>
            <a:off x="5449960" y="4581128"/>
            <a:ext cx="360040" cy="369332"/>
          </a:xfrm>
          <a:prstGeom prst="rect">
            <a:avLst/>
          </a:prstGeom>
          <a:noFill/>
        </p:spPr>
        <p:txBody>
          <a:bodyPr wrap="square" rtlCol="0">
            <a:spAutoFit/>
          </a:bodyPr>
          <a:lstStyle/>
          <a:p>
            <a:pPr algn="ctr"/>
            <a:r>
              <a:rPr lang="en-US" altLang="zh-CN" dirty="0"/>
              <a:t>4</a:t>
            </a:r>
            <a:endParaRPr lang="zh-CN" altLang="en-US" dirty="0"/>
          </a:p>
        </p:txBody>
      </p:sp>
      <p:sp>
        <p:nvSpPr>
          <p:cNvPr id="176" name="Line 12"/>
          <p:cNvSpPr>
            <a:spLocks noChangeShapeType="1"/>
          </p:cNvSpPr>
          <p:nvPr/>
        </p:nvSpPr>
        <p:spPr bwMode="auto">
          <a:xfrm flipH="1" flipV="1">
            <a:off x="5958573" y="4086364"/>
            <a:ext cx="0" cy="72008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3366"/>
              </a:solidFill>
              <a:effectLst/>
              <a:uLnTx/>
              <a:uFillTx/>
              <a:latin typeface="Times New Roman" panose="02020603050405020304" pitchFamily="18" charset="0"/>
              <a:ea typeface="宋体" panose="02010600030101010101" pitchFamily="2" charset="-122"/>
              <a:cs typeface="+mn-cs"/>
            </a:endParaRPr>
          </a:p>
        </p:txBody>
      </p:sp>
      <p:cxnSp>
        <p:nvCxnSpPr>
          <p:cNvPr id="180" name="形状 179"/>
          <p:cNvCxnSpPr>
            <a:endCxn id="171" idx="0"/>
          </p:cNvCxnSpPr>
          <p:nvPr/>
        </p:nvCxnSpPr>
        <p:spPr bwMode="auto">
          <a:xfrm>
            <a:off x="5958573" y="3942348"/>
            <a:ext cx="619000" cy="618560"/>
          </a:xfrm>
          <a:prstGeom prst="bentConnector2">
            <a:avLst/>
          </a:prstGeom>
          <a:solidFill>
            <a:schemeClr val="accent1"/>
          </a:solidFill>
          <a:ln w="9525" cap="flat" cmpd="sng" algn="ctr">
            <a:solidFill>
              <a:srgbClr val="FF0000"/>
            </a:solidFill>
            <a:prstDash val="solid"/>
            <a:round/>
            <a:headEnd type="none" w="med" len="med"/>
            <a:tailEnd type="triangle" w="med" len="med"/>
          </a:ln>
        </p:spPr>
      </p:cxnSp>
    </p:spTree>
    <p:extLst>
      <p:ext uri="{BB962C8B-B14F-4D97-AF65-F5344CB8AC3E}">
        <p14:creationId xmlns:p14="http://schemas.microsoft.com/office/powerpoint/2010/main" val="35600471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有序表合并的链式实现</a:t>
            </a:r>
            <a:endParaRPr lang="zh-CN" altLang="en-US" dirty="0"/>
          </a:p>
        </p:txBody>
      </p:sp>
      <p:sp>
        <p:nvSpPr>
          <p:cNvPr id="4" name="文本框 3"/>
          <p:cNvSpPr txBox="1"/>
          <p:nvPr/>
        </p:nvSpPr>
        <p:spPr>
          <a:xfrm>
            <a:off x="617220" y="1127641"/>
            <a:ext cx="7908925" cy="5336846"/>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将lb中的元素按顺序合并到la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pa = A-&gt;next; pb = B-&gt;next; pre = A; // pa的前驱 </a:t>
            </a:r>
          </a:p>
          <a:p>
            <a:pPr marL="0" indent="0" eaLnBrk="0" hangingPunct="0">
              <a:spcBef>
                <a:spcPct val="20000"/>
              </a:spcBef>
              <a:buNone/>
            </a:pPr>
            <a:r>
              <a:rPr lang="en-US" altLang="zh-CN" sz="2400" dirty="0">
                <a:solidFill>
                  <a:srgbClr val="FF0000"/>
                </a:solidFill>
                <a:latin typeface="Cambria Math" panose="02040503050406030204" pitchFamily="18" charset="0"/>
                <a:ea typeface="Cambria Math" panose="02040503050406030204" pitchFamily="18" charset="0"/>
                <a:cs typeface="Arial Unicode MS" panose="020B0604020202020204" charset="-122"/>
              </a:rPr>
              <a:t>while(pa &amp;&amp; pb)</a:t>
            </a:r>
            <a:r>
              <a:rPr lang="en-US" altLang="zh-CN" sz="2400" dirty="0">
                <a:latin typeface="Cambria Math" panose="02040503050406030204" pitchFamily="18" charset="0"/>
                <a:ea typeface="Cambria Math" panose="02040503050406030204" pitchFamily="18" charset="0"/>
                <a:cs typeface="Arial Unicode MS" panose="020B0604020202020204" charset="-122"/>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if(pa-&gt;data&lt;=pb-&gt;data){</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zh-CN" altLang="en-US" sz="2400" dirty="0">
                <a:latin typeface="Cambria Math" panose="02040503050406030204" pitchFamily="18" charset="0"/>
                <a:ea typeface="Cambria Math" panose="02040503050406030204" pitchFamily="18" charset="0"/>
                <a:cs typeface="Arial Unicode MS" panose="020B0604020202020204" charset="-122"/>
              </a:rPr>
              <a:t>将</a:t>
            </a:r>
            <a:r>
              <a:rPr lang="en-US" altLang="zh-CN" sz="2400" dirty="0">
                <a:latin typeface="Cambria Math" panose="02040503050406030204" pitchFamily="18" charset="0"/>
                <a:ea typeface="Cambria Math" panose="02040503050406030204" pitchFamily="18" charset="0"/>
                <a:cs typeface="Arial Unicode MS" panose="020B0604020202020204" charset="-122"/>
              </a:rPr>
              <a:t>pre</a:t>
            </a:r>
            <a:r>
              <a:rPr lang="zh-CN" altLang="en-US" sz="2400" dirty="0">
                <a:latin typeface="Cambria Math" panose="02040503050406030204" pitchFamily="18" charset="0"/>
                <a:ea typeface="Cambria Math" panose="02040503050406030204" pitchFamily="18" charset="0"/>
                <a:cs typeface="Arial Unicode MS" panose="020B0604020202020204" charset="-122"/>
              </a:rPr>
              <a:t>接到</a:t>
            </a:r>
            <a:r>
              <a:rPr lang="en-US" altLang="zh-CN" sz="2400" dirty="0">
                <a:latin typeface="Cambria Math" panose="02040503050406030204" pitchFamily="18" charset="0"/>
                <a:ea typeface="Cambria Math" panose="02040503050406030204" pitchFamily="18" charset="0"/>
                <a:cs typeface="Arial Unicode MS" panose="020B0604020202020204" charset="-122"/>
              </a:rPr>
              <a:t>pa</a:t>
            </a:r>
            <a:r>
              <a:rPr lang="zh-CN" altLang="en-US" sz="2400" dirty="0">
                <a:latin typeface="Cambria Math" panose="02040503050406030204" pitchFamily="18" charset="0"/>
                <a:ea typeface="Cambria Math" panose="02040503050406030204" pitchFamily="18" charset="0"/>
                <a:cs typeface="Arial Unicode MS" panose="020B0604020202020204" charset="-122"/>
              </a:rPr>
              <a:t>，更新</a:t>
            </a:r>
            <a:r>
              <a:rPr lang="en-US" altLang="zh-CN" sz="2400" dirty="0">
                <a:latin typeface="Cambria Math" panose="02040503050406030204" pitchFamily="18" charset="0"/>
                <a:ea typeface="Cambria Math" panose="02040503050406030204" pitchFamily="18" charset="0"/>
                <a:cs typeface="Arial Unicode MS" panose="020B0604020202020204" charset="-122"/>
              </a:rPr>
              <a:t>pre</a:t>
            </a:r>
            <a:r>
              <a:rPr lang="zh-CN" altLang="en-US" sz="2400" dirty="0">
                <a:latin typeface="Cambria Math" panose="02040503050406030204" pitchFamily="18" charset="0"/>
                <a:ea typeface="Cambria Math" panose="02040503050406030204" pitchFamily="18" charset="0"/>
                <a:cs typeface="Arial Unicode MS" panose="020B0604020202020204" charset="-122"/>
              </a:rPr>
              <a:t>和</a:t>
            </a:r>
            <a:r>
              <a:rPr lang="en-US" altLang="zh-CN" sz="2400" dirty="0">
                <a:latin typeface="Cambria Math" panose="02040503050406030204" pitchFamily="18" charset="0"/>
                <a:ea typeface="Cambria Math" panose="02040503050406030204" pitchFamily="18" charset="0"/>
                <a:cs typeface="Arial Unicode MS" panose="020B0604020202020204" charset="-122"/>
              </a:rPr>
              <a:t>pa</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pre-&gt;next = pa;   pre = pa; 	pa = pa-&gt;next;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else{</a:t>
            </a:r>
          </a:p>
          <a:p>
            <a:pPr marL="0" indent="0">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zh-CN" altLang="en-US" sz="2400" dirty="0">
                <a:latin typeface="Cambria Math" panose="02040503050406030204" pitchFamily="18" charset="0"/>
                <a:ea typeface="Cambria Math" panose="02040503050406030204" pitchFamily="18" charset="0"/>
                <a:cs typeface="Arial Unicode MS" panose="020B0604020202020204" charset="-122"/>
              </a:rPr>
              <a:t>将</a:t>
            </a:r>
            <a:r>
              <a:rPr lang="en-US" altLang="zh-CN" sz="2400" dirty="0">
                <a:latin typeface="Cambria Math" panose="02040503050406030204" pitchFamily="18" charset="0"/>
                <a:ea typeface="Cambria Math" panose="02040503050406030204" pitchFamily="18" charset="0"/>
                <a:cs typeface="Arial Unicode MS" panose="020B0604020202020204" charset="-122"/>
              </a:rPr>
              <a:t>pre</a:t>
            </a:r>
            <a:r>
              <a:rPr lang="zh-CN" altLang="en-US" sz="2400" dirty="0">
                <a:latin typeface="Cambria Math" panose="02040503050406030204" pitchFamily="18" charset="0"/>
                <a:ea typeface="Cambria Math" panose="02040503050406030204" pitchFamily="18" charset="0"/>
                <a:cs typeface="Arial Unicode MS" panose="020B0604020202020204" charset="-122"/>
              </a:rPr>
              <a:t>接到</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pb</a:t>
            </a:r>
            <a:r>
              <a:rPr lang="zh-CN" altLang="en-US" sz="2400" dirty="0">
                <a:latin typeface="Cambria Math" panose="02040503050406030204" pitchFamily="18" charset="0"/>
                <a:ea typeface="Cambria Math" panose="02040503050406030204" pitchFamily="18" charset="0"/>
                <a:cs typeface="Arial Unicode MS" panose="020B0604020202020204" charset="-122"/>
              </a:rPr>
              <a:t>，更新</a:t>
            </a:r>
            <a:r>
              <a:rPr lang="en-US" altLang="zh-CN" sz="2400" dirty="0">
                <a:latin typeface="Cambria Math" panose="02040503050406030204" pitchFamily="18" charset="0"/>
                <a:ea typeface="Cambria Math" panose="02040503050406030204" pitchFamily="18" charset="0"/>
                <a:cs typeface="Arial Unicode MS" panose="020B0604020202020204" charset="-122"/>
              </a:rPr>
              <a:t>pre</a:t>
            </a:r>
            <a:r>
              <a:rPr lang="zh-CN" altLang="en-US" sz="2400" dirty="0">
                <a:latin typeface="Cambria Math" panose="02040503050406030204" pitchFamily="18" charset="0"/>
                <a:ea typeface="Cambria Math" panose="02040503050406030204" pitchFamily="18" charset="0"/>
                <a:cs typeface="Arial Unicode MS" panose="020B0604020202020204" charset="-122"/>
              </a:rPr>
              <a:t>和</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pb</a:t>
            </a:r>
            <a:endParaRPr lang="en-US" altLang="zh-CN" sz="2400" dirty="0">
              <a:latin typeface="Cambria Math" panose="02040503050406030204" pitchFamily="18" charset="0"/>
              <a:ea typeface="Cambria Math" panose="02040503050406030204" pitchFamily="18" charset="0"/>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pre -&gt;next =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rPr>
              <a:t>;  pre =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rPr>
              <a:t> =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rPr>
              <a:t>-&gt;next;}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if(pa)	 pre-&gt;next = pa;  // </a:t>
            </a:r>
            <a:r>
              <a:rPr lang="zh-CN" altLang="en-US" sz="2400" dirty="0">
                <a:latin typeface="Cambria Math" panose="02040503050406030204" pitchFamily="18" charset="0"/>
                <a:ea typeface="宋体" panose="02010600030101010101" pitchFamily="2" charset="-122"/>
                <a:cs typeface="Arial Unicode MS" panose="020B0604020202020204" charset="-122"/>
              </a:rPr>
              <a:t> 将</a:t>
            </a:r>
            <a:r>
              <a:rPr lang="en-US" altLang="zh-CN" sz="2400" dirty="0">
                <a:latin typeface="Cambria Math" panose="02040503050406030204" pitchFamily="18" charset="0"/>
                <a:ea typeface="宋体" panose="02010600030101010101" pitchFamily="2" charset="-122"/>
                <a:cs typeface="Arial Unicode MS" panose="020B0604020202020204" charset="-122"/>
              </a:rPr>
              <a:t>pre</a:t>
            </a:r>
            <a:r>
              <a:rPr lang="zh-CN" altLang="en-US" sz="2400" dirty="0">
                <a:latin typeface="Cambria Math" panose="02040503050406030204" pitchFamily="18" charset="0"/>
                <a:ea typeface="宋体" panose="02010600030101010101" pitchFamily="2" charset="-122"/>
                <a:cs typeface="Arial Unicode MS" panose="020B0604020202020204" charset="-122"/>
              </a:rPr>
              <a:t>接到</a:t>
            </a:r>
            <a:r>
              <a:rPr lang="en-US" altLang="zh-CN" sz="2400" dirty="0">
                <a:latin typeface="Cambria Math" panose="02040503050406030204" pitchFamily="18" charset="0"/>
                <a:ea typeface="宋体" panose="02010600030101010101" pitchFamily="2" charset="-122"/>
                <a:cs typeface="Arial Unicode MS" panose="020B0604020202020204" charset="-122"/>
              </a:rPr>
              <a:t>pa</a:t>
            </a:r>
          </a:p>
          <a:p>
            <a:pPr marL="0" indent="0" eaLnBrk="0" hangingPunct="0">
              <a:spcBef>
                <a:spcPct val="20000"/>
              </a:spcBef>
              <a:buNone/>
            </a:pPr>
            <a:r>
              <a:rPr lang="en-US" altLang="zh-CN" sz="2400" dirty="0">
                <a:latin typeface="Cambria Math" panose="02040503050406030204" pitchFamily="18" charset="0"/>
                <a:ea typeface="宋体" panose="02010600030101010101" pitchFamily="2" charset="-122"/>
                <a:cs typeface="Arial Unicode MS" panose="020B0604020202020204" charset="-122"/>
              </a:rPr>
              <a:t>else pre-&gt;next = </a:t>
            </a:r>
            <a:r>
              <a:rPr lang="en-US" altLang="zh-CN" sz="2400" dirty="0" err="1">
                <a:latin typeface="Cambria Math" panose="02040503050406030204" pitchFamily="18" charset="0"/>
                <a:ea typeface="宋体" panose="02010600030101010101" pitchFamily="2" charset="-122"/>
                <a:cs typeface="Arial Unicode MS" panose="020B0604020202020204" charset="-122"/>
              </a:rPr>
              <a:t>pb</a:t>
            </a:r>
            <a:r>
              <a:rPr lang="en-US" altLang="zh-CN" sz="2400" dirty="0">
                <a:latin typeface="Cambria Math" panose="02040503050406030204" pitchFamily="18" charset="0"/>
                <a:ea typeface="宋体" panose="02010600030101010101" pitchFamily="2" charset="-122"/>
                <a:cs typeface="Arial Unicode MS" panose="020B0604020202020204" charset="-122"/>
              </a:rPr>
              <a:t>;	 // </a:t>
            </a:r>
            <a:r>
              <a:rPr lang="zh-CN" altLang="en-US" sz="2400" dirty="0">
                <a:latin typeface="Cambria Math" panose="02040503050406030204" pitchFamily="18" charset="0"/>
                <a:ea typeface="宋体" panose="02010600030101010101" pitchFamily="2" charset="-122"/>
                <a:cs typeface="Arial Unicode MS" panose="020B0604020202020204" charset="-122"/>
              </a:rPr>
              <a:t>将</a:t>
            </a:r>
            <a:r>
              <a:rPr lang="en-US" altLang="zh-CN" sz="2400" dirty="0">
                <a:latin typeface="Cambria Math" panose="02040503050406030204" pitchFamily="18" charset="0"/>
                <a:ea typeface="宋体" panose="02010600030101010101" pitchFamily="2" charset="-122"/>
                <a:cs typeface="Arial Unicode MS" panose="020B0604020202020204" charset="-122"/>
              </a:rPr>
              <a:t>pre</a:t>
            </a:r>
            <a:r>
              <a:rPr lang="zh-CN" altLang="en-US" sz="2400" dirty="0">
                <a:latin typeface="Cambria Math" panose="02040503050406030204" pitchFamily="18" charset="0"/>
                <a:ea typeface="宋体" panose="02010600030101010101" pitchFamily="2" charset="-122"/>
                <a:cs typeface="Arial Unicode MS" panose="020B0604020202020204" charset="-122"/>
              </a:rPr>
              <a:t>接到</a:t>
            </a:r>
            <a:r>
              <a:rPr lang="en-US" altLang="zh-CN" sz="2400" dirty="0" err="1">
                <a:latin typeface="Cambria Math" panose="02040503050406030204" pitchFamily="18" charset="0"/>
                <a:ea typeface="宋体" panose="02010600030101010101" pitchFamily="2" charset="-122"/>
                <a:cs typeface="Arial Unicode MS" panose="020B0604020202020204" charset="-122"/>
              </a:rPr>
              <a:t>pb</a:t>
            </a:r>
            <a:endParaRPr lang="zh-CN" altLang="en-US" sz="2400" dirty="0">
              <a:latin typeface="Cambria Math" panose="02040503050406030204" pitchFamily="18" charset="0"/>
              <a:ea typeface="宋体" panose="02010600030101010101" pitchFamily="2" charset="-122"/>
              <a:cs typeface="Arial Unicode MS" panose="020B0604020202020204" charset="-122"/>
            </a:endParaRP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delete lb; </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单链表就地逆置</a:t>
            </a:r>
          </a:p>
        </p:txBody>
      </p:sp>
      <p:sp>
        <p:nvSpPr>
          <p:cNvPr id="53251" name="内容占位符 2"/>
          <p:cNvSpPr>
            <a:spLocks noGrp="1"/>
          </p:cNvSpPr>
          <p:nvPr>
            <p:ph idx="1"/>
          </p:nvPr>
        </p:nvSpPr>
        <p:spPr/>
        <p:txBody>
          <a:bodyPr vert="horz" wrap="square" lIns="91440" tIns="45720" rIns="91440" bIns="45720" anchor="t"/>
          <a:lstStyle/>
          <a:p>
            <a:r>
              <a:rPr lang="zh-CN" altLang="en-US" dirty="0">
                <a:solidFill>
                  <a:srgbClr val="FF0000"/>
                </a:solidFill>
                <a:latin typeface="+mn-lt"/>
                <a:ea typeface="+mn-ea"/>
                <a:cs typeface="+mn-cs"/>
              </a:rPr>
              <a:t>不创建新结点</a:t>
            </a:r>
            <a:endParaRPr lang="en-US" altLang="zh-CN" dirty="0">
              <a:solidFill>
                <a:srgbClr val="FF0000"/>
              </a:solidFill>
              <a:latin typeface="+mn-lt"/>
              <a:ea typeface="+mn-ea"/>
              <a:cs typeface="+mn-cs"/>
            </a:endParaRPr>
          </a:p>
          <a:p>
            <a:r>
              <a:rPr lang="zh-CN" altLang="en-US" dirty="0">
                <a:latin typeface="+mn-lt"/>
                <a:ea typeface="+mn-ea"/>
                <a:cs typeface="+mn-cs"/>
              </a:rPr>
              <a:t>算法思路：</a:t>
            </a:r>
            <a:endParaRPr lang="en-US" altLang="zh-CN" dirty="0">
              <a:latin typeface="+mn-lt"/>
              <a:ea typeface="+mn-ea"/>
              <a:cs typeface="+mn-cs"/>
            </a:endParaRPr>
          </a:p>
          <a:p>
            <a:pPr lvl="1"/>
            <a:r>
              <a:rPr lang="zh-CN" altLang="en-US" dirty="0">
                <a:latin typeface="+mn-lt"/>
                <a:ea typeface="+mn-ea"/>
              </a:rPr>
              <a:t>首先将单链表拆开成一个空表</a:t>
            </a:r>
            <a:r>
              <a:rPr lang="en-US" altLang="zh-CN" dirty="0">
                <a:latin typeface="+mn-lt"/>
                <a:ea typeface="+mn-ea"/>
              </a:rPr>
              <a:t>L</a:t>
            </a:r>
            <a:r>
              <a:rPr lang="zh-CN" altLang="en-US" dirty="0">
                <a:latin typeface="+mn-lt"/>
                <a:ea typeface="+mn-ea"/>
              </a:rPr>
              <a:t>和一个不带头结点的单链表</a:t>
            </a:r>
            <a:r>
              <a:rPr lang="en-US" altLang="zh-CN" dirty="0">
                <a:latin typeface="+mn-lt"/>
                <a:ea typeface="+mn-ea"/>
              </a:rPr>
              <a:t>H</a:t>
            </a:r>
          </a:p>
          <a:p>
            <a:pPr lvl="1"/>
            <a:r>
              <a:rPr lang="zh-CN" altLang="en-US" dirty="0">
                <a:sym typeface="+mn-ea"/>
              </a:rPr>
              <a:t>依次取出</a:t>
            </a:r>
            <a:r>
              <a:rPr lang="en-US" altLang="zh-CN" dirty="0">
                <a:latin typeface="+mn-lt"/>
                <a:ea typeface="+mn-ea"/>
              </a:rPr>
              <a:t>H</a:t>
            </a:r>
            <a:r>
              <a:rPr lang="zh-CN" altLang="en-US" dirty="0">
                <a:latin typeface="+mn-lt"/>
                <a:ea typeface="+mn-ea"/>
              </a:rPr>
              <a:t>的第一个结点，将其插入到单链表的第一个位置</a:t>
            </a:r>
          </a:p>
          <a:p>
            <a:endParaRPr lang="zh-CN" altLang="en-US" dirty="0">
              <a:latin typeface="+mn-lt"/>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单链表就地逆置</a:t>
            </a:r>
          </a:p>
        </p:txBody>
      </p:sp>
      <p:sp>
        <p:nvSpPr>
          <p:cNvPr id="3" name="内容占位符 2"/>
          <p:cNvSpPr>
            <a:spLocks noGrp="1"/>
          </p:cNvSpPr>
          <p:nvPr>
            <p:ph idx="1"/>
          </p:nvPr>
        </p:nvSpPr>
        <p:spPr>
          <a:xfrm>
            <a:off x="468313" y="1125538"/>
            <a:ext cx="8207375" cy="1181939"/>
          </a:xfrm>
        </p:spPr>
        <p:txBody>
          <a:bodyPr/>
          <a:lstStyle/>
          <a:p>
            <a:r>
              <a:rPr lang="zh-CN" altLang="en-US" dirty="0"/>
              <a:t>将单链表拆开成一个空表</a:t>
            </a:r>
            <a:r>
              <a:rPr lang="en-US" altLang="zh-CN" dirty="0"/>
              <a:t>L</a:t>
            </a:r>
            <a:r>
              <a:rPr lang="zh-CN" altLang="en-US" dirty="0"/>
              <a:t>和一个不带头结点的单链表</a:t>
            </a:r>
            <a:r>
              <a:rPr lang="en-US" altLang="zh-CN" dirty="0"/>
              <a:t>H</a:t>
            </a:r>
          </a:p>
        </p:txBody>
      </p:sp>
      <p:graphicFrame>
        <p:nvGraphicFramePr>
          <p:cNvPr id="9" name="表格 8"/>
          <p:cNvGraphicFramePr>
            <a:graphicFrameLocks noGrp="1"/>
          </p:cNvGraphicFramePr>
          <p:nvPr>
            <p:extLst>
              <p:ext uri="{D42A27DB-BD31-4B8C-83A1-F6EECF244321}">
                <p14:modId xmlns:p14="http://schemas.microsoft.com/office/powerpoint/2010/main" val="2008844409"/>
              </p:ext>
            </p:extLst>
          </p:nvPr>
        </p:nvGraphicFramePr>
        <p:xfrm>
          <a:off x="1212304"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baseline="-25000" dirty="0"/>
                    </a:p>
                  </a:txBody>
                  <a:tcPr>
                    <a:solidFill>
                      <a:schemeClr val="bg2">
                        <a:lumMod val="75000"/>
                      </a:schemeClr>
                    </a:solid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14" name="直接箭头连接符 13"/>
          <p:cNvCxnSpPr/>
          <p:nvPr/>
        </p:nvCxnSpPr>
        <p:spPr bwMode="auto">
          <a:xfrm>
            <a:off x="1860376"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22" name="表格 21"/>
          <p:cNvGraphicFramePr>
            <a:graphicFrameLocks noGrp="1"/>
          </p:cNvGraphicFramePr>
          <p:nvPr>
            <p:extLst>
              <p:ext uri="{D42A27DB-BD31-4B8C-83A1-F6EECF244321}">
                <p14:modId xmlns:p14="http://schemas.microsoft.com/office/powerpoint/2010/main" val="2520768859"/>
              </p:ext>
            </p:extLst>
          </p:nvPr>
        </p:nvGraphicFramePr>
        <p:xfrm>
          <a:off x="2100064"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23" name="直接箭头连接符 22"/>
          <p:cNvCxnSpPr/>
          <p:nvPr/>
        </p:nvCxnSpPr>
        <p:spPr bwMode="auto">
          <a:xfrm>
            <a:off x="2748136"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24" name="表格 23"/>
          <p:cNvGraphicFramePr>
            <a:graphicFrameLocks noGrp="1"/>
          </p:cNvGraphicFramePr>
          <p:nvPr>
            <p:extLst>
              <p:ext uri="{D42A27DB-BD31-4B8C-83A1-F6EECF244321}">
                <p14:modId xmlns:p14="http://schemas.microsoft.com/office/powerpoint/2010/main" val="163790389"/>
              </p:ext>
            </p:extLst>
          </p:nvPr>
        </p:nvGraphicFramePr>
        <p:xfrm>
          <a:off x="3587552" y="2564904"/>
          <a:ext cx="888776" cy="370840"/>
        </p:xfrm>
        <a:graphic>
          <a:graphicData uri="http://schemas.openxmlformats.org/drawingml/2006/table">
            <a:tbl>
              <a:tblPr firstRow="1" bandRow="1">
                <a:tableStyleId>{5940675A-B579-460E-94D1-54222C63F5DA}</a:tableStyleId>
              </a:tblPr>
              <a:tblGrid>
                <a:gridCol w="602348">
                  <a:extLst>
                    <a:ext uri="{9D8B030D-6E8A-4147-A177-3AD203B41FA5}">
                      <a16:colId xmlns:a16="http://schemas.microsoft.com/office/drawing/2014/main" val="20000"/>
                    </a:ext>
                  </a:extLst>
                </a:gridCol>
                <a:gridCol w="28642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25" name="直接箭头连接符 24"/>
          <p:cNvCxnSpPr/>
          <p:nvPr/>
        </p:nvCxnSpPr>
        <p:spPr bwMode="auto">
          <a:xfrm>
            <a:off x="4380656"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26" name="表格 25"/>
          <p:cNvGraphicFramePr>
            <a:graphicFrameLocks noGrp="1"/>
          </p:cNvGraphicFramePr>
          <p:nvPr>
            <p:extLst>
              <p:ext uri="{D42A27DB-BD31-4B8C-83A1-F6EECF244321}">
                <p14:modId xmlns:p14="http://schemas.microsoft.com/office/powerpoint/2010/main" val="4050224446"/>
              </p:ext>
            </p:extLst>
          </p:nvPr>
        </p:nvGraphicFramePr>
        <p:xfrm>
          <a:off x="4620344"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err="1"/>
                        <a:t>a</a:t>
                      </a:r>
                      <a:r>
                        <a:rPr lang="en-US" altLang="zh-CN" baseline="-25000" dirty="0" err="1"/>
                        <a:t>i</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27" name="直接箭头连接符 26"/>
          <p:cNvCxnSpPr/>
          <p:nvPr/>
        </p:nvCxnSpPr>
        <p:spPr bwMode="auto">
          <a:xfrm>
            <a:off x="5268416"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28" name="表格 27"/>
          <p:cNvGraphicFramePr>
            <a:graphicFrameLocks noGrp="1"/>
          </p:cNvGraphicFramePr>
          <p:nvPr>
            <p:extLst>
              <p:ext uri="{D42A27DB-BD31-4B8C-83A1-F6EECF244321}">
                <p14:modId xmlns:p14="http://schemas.microsoft.com/office/powerpoint/2010/main" val="917234328"/>
              </p:ext>
            </p:extLst>
          </p:nvPr>
        </p:nvGraphicFramePr>
        <p:xfrm>
          <a:off x="5532784" y="2564904"/>
          <a:ext cx="743744" cy="370840"/>
        </p:xfrm>
        <a:graphic>
          <a:graphicData uri="http://schemas.openxmlformats.org/drawingml/2006/table">
            <a:tbl>
              <a:tblPr firstRow="1" bandRow="1">
                <a:tableStyleId>{5940675A-B579-460E-94D1-54222C63F5DA}</a:tableStyleId>
              </a:tblPr>
              <a:tblGrid>
                <a:gridCol w="535464">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29" name="直接箭头连接符 28"/>
          <p:cNvCxnSpPr/>
          <p:nvPr/>
        </p:nvCxnSpPr>
        <p:spPr bwMode="auto">
          <a:xfrm>
            <a:off x="6180856"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30" name="表格 29"/>
          <p:cNvGraphicFramePr>
            <a:graphicFrameLocks noGrp="1"/>
          </p:cNvGraphicFramePr>
          <p:nvPr>
            <p:extLst>
              <p:ext uri="{D42A27DB-BD31-4B8C-83A1-F6EECF244321}">
                <p14:modId xmlns:p14="http://schemas.microsoft.com/office/powerpoint/2010/main" val="3079876710"/>
              </p:ext>
            </p:extLst>
          </p:nvPr>
        </p:nvGraphicFramePr>
        <p:xfrm>
          <a:off x="7068616"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n</a:t>
                      </a:r>
                      <a:endParaRPr lang="zh-CN" altLang="en-US" baseline="-25000" dirty="0"/>
                    </a:p>
                  </a:txBody>
                  <a:tcPr>
                    <a:noFill/>
                  </a:tcPr>
                </a:tc>
                <a:tc>
                  <a:txBody>
                    <a:bodyPr/>
                    <a:lstStyle/>
                    <a:p>
                      <a:pPr algn="ct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33" name="直接箭头连接符 32"/>
          <p:cNvCxnSpPr/>
          <p:nvPr/>
        </p:nvCxnSpPr>
        <p:spPr bwMode="auto">
          <a:xfrm>
            <a:off x="6852592"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5" name="直接箭头连接符 34"/>
          <p:cNvCxnSpPr/>
          <p:nvPr/>
        </p:nvCxnSpPr>
        <p:spPr bwMode="auto">
          <a:xfrm>
            <a:off x="3347864"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36" name="文本框 35"/>
          <p:cNvSpPr txBox="1"/>
          <p:nvPr/>
        </p:nvSpPr>
        <p:spPr>
          <a:xfrm>
            <a:off x="3036168" y="2492896"/>
            <a:ext cx="432048" cy="369332"/>
          </a:xfrm>
          <a:prstGeom prst="rect">
            <a:avLst/>
          </a:prstGeom>
          <a:noFill/>
        </p:spPr>
        <p:txBody>
          <a:bodyPr wrap="square" rtlCol="0">
            <a:spAutoFit/>
          </a:bodyPr>
          <a:lstStyle/>
          <a:p>
            <a:pPr algn="ctr"/>
            <a:r>
              <a:rPr lang="en-US" altLang="zh-CN" dirty="0"/>
              <a:t>…</a:t>
            </a:r>
            <a:endParaRPr lang="zh-CN" altLang="en-US" dirty="0"/>
          </a:p>
        </p:txBody>
      </p:sp>
      <p:sp>
        <p:nvSpPr>
          <p:cNvPr id="37" name="文本框 36"/>
          <p:cNvSpPr txBox="1"/>
          <p:nvPr/>
        </p:nvSpPr>
        <p:spPr>
          <a:xfrm>
            <a:off x="6420544" y="2492896"/>
            <a:ext cx="432048" cy="369332"/>
          </a:xfrm>
          <a:prstGeom prst="rect">
            <a:avLst/>
          </a:prstGeom>
          <a:noFill/>
        </p:spPr>
        <p:txBody>
          <a:bodyPr wrap="square" rtlCol="0">
            <a:spAutoFit/>
          </a:bodyPr>
          <a:lstStyle/>
          <a:p>
            <a:pPr algn="ctr"/>
            <a:r>
              <a:rPr lang="en-US" altLang="zh-CN" dirty="0"/>
              <a:t>…</a:t>
            </a:r>
            <a:endParaRPr lang="zh-CN" altLang="en-US" dirty="0"/>
          </a:p>
        </p:txBody>
      </p:sp>
      <p:cxnSp>
        <p:nvCxnSpPr>
          <p:cNvPr id="38" name="直接箭头连接符 37"/>
          <p:cNvCxnSpPr/>
          <p:nvPr/>
        </p:nvCxnSpPr>
        <p:spPr bwMode="auto">
          <a:xfrm>
            <a:off x="971600" y="278092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39" name="文本框 38"/>
          <p:cNvSpPr txBox="1"/>
          <p:nvPr/>
        </p:nvSpPr>
        <p:spPr>
          <a:xfrm>
            <a:off x="564232" y="2564904"/>
            <a:ext cx="407318" cy="369332"/>
          </a:xfrm>
          <a:prstGeom prst="rect">
            <a:avLst/>
          </a:prstGeom>
          <a:noFill/>
        </p:spPr>
        <p:txBody>
          <a:bodyPr wrap="square" rtlCol="0">
            <a:spAutoFit/>
          </a:bodyPr>
          <a:lstStyle/>
          <a:p>
            <a:pPr algn="ctr"/>
            <a:r>
              <a:rPr lang="en-US" altLang="zh-CN" dirty="0"/>
              <a:t>L</a:t>
            </a:r>
            <a:endParaRPr lang="zh-CN" altLang="en-US" dirty="0"/>
          </a:p>
        </p:txBody>
      </p:sp>
      <p:graphicFrame>
        <p:nvGraphicFramePr>
          <p:cNvPr id="57" name="表格 56"/>
          <p:cNvGraphicFramePr>
            <a:graphicFrameLocks noGrp="1"/>
          </p:cNvGraphicFramePr>
          <p:nvPr>
            <p:extLst>
              <p:ext uri="{D42A27DB-BD31-4B8C-83A1-F6EECF244321}">
                <p14:modId xmlns:p14="http://schemas.microsoft.com/office/powerpoint/2010/main" val="3476043484"/>
              </p:ext>
            </p:extLst>
          </p:nvPr>
        </p:nvGraphicFramePr>
        <p:xfrm>
          <a:off x="1212304" y="3562216"/>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baseline="-25000" dirty="0"/>
                    </a:p>
                  </a:txBody>
                  <a:tcPr>
                    <a:solidFill>
                      <a:schemeClr val="bg2">
                        <a:lumMod val="75000"/>
                      </a:schemeClr>
                    </a:solidFill>
                  </a:tcPr>
                </a:tc>
                <a:tc>
                  <a:txBody>
                    <a:bodyPr/>
                    <a:lstStyle/>
                    <a:p>
                      <a:pPr algn="ct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58" name="直接箭头连接符 57"/>
          <p:cNvCxnSpPr/>
          <p:nvPr/>
        </p:nvCxnSpPr>
        <p:spPr bwMode="auto">
          <a:xfrm>
            <a:off x="2292424" y="3747636"/>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59" name="表格 58"/>
          <p:cNvGraphicFramePr>
            <a:graphicFrameLocks noGrp="1"/>
          </p:cNvGraphicFramePr>
          <p:nvPr>
            <p:extLst>
              <p:ext uri="{D42A27DB-BD31-4B8C-83A1-F6EECF244321}">
                <p14:modId xmlns:p14="http://schemas.microsoft.com/office/powerpoint/2010/main" val="3297459625"/>
              </p:ext>
            </p:extLst>
          </p:nvPr>
        </p:nvGraphicFramePr>
        <p:xfrm>
          <a:off x="2532112" y="3562216"/>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60" name="直接箭头连接符 59"/>
          <p:cNvCxnSpPr/>
          <p:nvPr/>
        </p:nvCxnSpPr>
        <p:spPr bwMode="auto">
          <a:xfrm>
            <a:off x="3180184" y="3747636"/>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61" name="表格 60"/>
          <p:cNvGraphicFramePr>
            <a:graphicFrameLocks noGrp="1"/>
          </p:cNvGraphicFramePr>
          <p:nvPr>
            <p:extLst>
              <p:ext uri="{D42A27DB-BD31-4B8C-83A1-F6EECF244321}">
                <p14:modId xmlns:p14="http://schemas.microsoft.com/office/powerpoint/2010/main" val="959013890"/>
              </p:ext>
            </p:extLst>
          </p:nvPr>
        </p:nvGraphicFramePr>
        <p:xfrm>
          <a:off x="4019600" y="3562216"/>
          <a:ext cx="888776" cy="370840"/>
        </p:xfrm>
        <a:graphic>
          <a:graphicData uri="http://schemas.openxmlformats.org/drawingml/2006/table">
            <a:tbl>
              <a:tblPr firstRow="1" bandRow="1">
                <a:tableStyleId>{5940675A-B579-460E-94D1-54222C63F5DA}</a:tableStyleId>
              </a:tblPr>
              <a:tblGrid>
                <a:gridCol w="602348">
                  <a:extLst>
                    <a:ext uri="{9D8B030D-6E8A-4147-A177-3AD203B41FA5}">
                      <a16:colId xmlns:a16="http://schemas.microsoft.com/office/drawing/2014/main" val="20000"/>
                    </a:ext>
                  </a:extLst>
                </a:gridCol>
                <a:gridCol w="28642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62" name="直接箭头连接符 61"/>
          <p:cNvCxnSpPr/>
          <p:nvPr/>
        </p:nvCxnSpPr>
        <p:spPr bwMode="auto">
          <a:xfrm>
            <a:off x="4812704" y="3747636"/>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63" name="表格 62"/>
          <p:cNvGraphicFramePr>
            <a:graphicFrameLocks noGrp="1"/>
          </p:cNvGraphicFramePr>
          <p:nvPr>
            <p:extLst>
              <p:ext uri="{D42A27DB-BD31-4B8C-83A1-F6EECF244321}">
                <p14:modId xmlns:p14="http://schemas.microsoft.com/office/powerpoint/2010/main" val="1539794220"/>
              </p:ext>
            </p:extLst>
          </p:nvPr>
        </p:nvGraphicFramePr>
        <p:xfrm>
          <a:off x="5052392" y="3562216"/>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err="1"/>
                        <a:t>a</a:t>
                      </a:r>
                      <a:r>
                        <a:rPr lang="en-US" altLang="zh-CN" baseline="-25000" dirty="0" err="1"/>
                        <a:t>i</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64" name="直接箭头连接符 63"/>
          <p:cNvCxnSpPr/>
          <p:nvPr/>
        </p:nvCxnSpPr>
        <p:spPr bwMode="auto">
          <a:xfrm>
            <a:off x="5700464" y="3747636"/>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65" name="表格 64"/>
          <p:cNvGraphicFramePr>
            <a:graphicFrameLocks noGrp="1"/>
          </p:cNvGraphicFramePr>
          <p:nvPr>
            <p:extLst>
              <p:ext uri="{D42A27DB-BD31-4B8C-83A1-F6EECF244321}">
                <p14:modId xmlns:p14="http://schemas.microsoft.com/office/powerpoint/2010/main" val="3934368429"/>
              </p:ext>
            </p:extLst>
          </p:nvPr>
        </p:nvGraphicFramePr>
        <p:xfrm>
          <a:off x="5964832" y="3562216"/>
          <a:ext cx="743744" cy="370840"/>
        </p:xfrm>
        <a:graphic>
          <a:graphicData uri="http://schemas.openxmlformats.org/drawingml/2006/table">
            <a:tbl>
              <a:tblPr firstRow="1" bandRow="1">
                <a:tableStyleId>{5940675A-B579-460E-94D1-54222C63F5DA}</a:tableStyleId>
              </a:tblPr>
              <a:tblGrid>
                <a:gridCol w="535464">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66" name="直接箭头连接符 65"/>
          <p:cNvCxnSpPr/>
          <p:nvPr/>
        </p:nvCxnSpPr>
        <p:spPr bwMode="auto">
          <a:xfrm>
            <a:off x="6612904" y="3747636"/>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67" name="表格 66"/>
          <p:cNvGraphicFramePr>
            <a:graphicFrameLocks noGrp="1"/>
          </p:cNvGraphicFramePr>
          <p:nvPr>
            <p:extLst>
              <p:ext uri="{D42A27DB-BD31-4B8C-83A1-F6EECF244321}">
                <p14:modId xmlns:p14="http://schemas.microsoft.com/office/powerpoint/2010/main" val="913600419"/>
              </p:ext>
            </p:extLst>
          </p:nvPr>
        </p:nvGraphicFramePr>
        <p:xfrm>
          <a:off x="7500664" y="3562216"/>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n</a:t>
                      </a:r>
                      <a:endParaRPr lang="zh-CN" altLang="en-US" baseline="-25000" dirty="0"/>
                    </a:p>
                  </a:txBody>
                  <a:tcPr>
                    <a:noFill/>
                  </a:tcPr>
                </a:tc>
                <a:tc>
                  <a:txBody>
                    <a:bodyPr/>
                    <a:lstStyle/>
                    <a:p>
                      <a:pPr algn="ct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68" name="直接箭头连接符 67"/>
          <p:cNvCxnSpPr/>
          <p:nvPr/>
        </p:nvCxnSpPr>
        <p:spPr bwMode="auto">
          <a:xfrm>
            <a:off x="7284640" y="3747636"/>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69" name="直接箭头连接符 68"/>
          <p:cNvCxnSpPr/>
          <p:nvPr/>
        </p:nvCxnSpPr>
        <p:spPr bwMode="auto">
          <a:xfrm>
            <a:off x="3779912" y="3747636"/>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70" name="文本框 69"/>
          <p:cNvSpPr txBox="1"/>
          <p:nvPr/>
        </p:nvSpPr>
        <p:spPr>
          <a:xfrm>
            <a:off x="3468216" y="3490208"/>
            <a:ext cx="432048" cy="369332"/>
          </a:xfrm>
          <a:prstGeom prst="rect">
            <a:avLst/>
          </a:prstGeom>
          <a:noFill/>
        </p:spPr>
        <p:txBody>
          <a:bodyPr wrap="square" rtlCol="0">
            <a:spAutoFit/>
          </a:bodyPr>
          <a:lstStyle/>
          <a:p>
            <a:pPr algn="ctr"/>
            <a:r>
              <a:rPr lang="en-US" altLang="zh-CN" dirty="0"/>
              <a:t>…</a:t>
            </a:r>
            <a:endParaRPr lang="zh-CN" altLang="en-US" dirty="0"/>
          </a:p>
        </p:txBody>
      </p:sp>
      <p:sp>
        <p:nvSpPr>
          <p:cNvPr id="71" name="文本框 70"/>
          <p:cNvSpPr txBox="1"/>
          <p:nvPr/>
        </p:nvSpPr>
        <p:spPr>
          <a:xfrm>
            <a:off x="6852592" y="3490208"/>
            <a:ext cx="432048" cy="369332"/>
          </a:xfrm>
          <a:prstGeom prst="rect">
            <a:avLst/>
          </a:prstGeom>
          <a:noFill/>
        </p:spPr>
        <p:txBody>
          <a:bodyPr wrap="square" rtlCol="0">
            <a:spAutoFit/>
          </a:bodyPr>
          <a:lstStyle/>
          <a:p>
            <a:pPr algn="ctr"/>
            <a:r>
              <a:rPr lang="en-US" altLang="zh-CN" dirty="0"/>
              <a:t>…</a:t>
            </a:r>
            <a:endParaRPr lang="zh-CN" altLang="en-US" dirty="0"/>
          </a:p>
        </p:txBody>
      </p:sp>
      <p:cxnSp>
        <p:nvCxnSpPr>
          <p:cNvPr id="72" name="直接箭头连接符 71"/>
          <p:cNvCxnSpPr/>
          <p:nvPr/>
        </p:nvCxnSpPr>
        <p:spPr bwMode="auto">
          <a:xfrm>
            <a:off x="971600" y="3778240"/>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73" name="文本框 72"/>
          <p:cNvSpPr txBox="1"/>
          <p:nvPr/>
        </p:nvSpPr>
        <p:spPr>
          <a:xfrm>
            <a:off x="564232" y="3562216"/>
            <a:ext cx="407318" cy="369332"/>
          </a:xfrm>
          <a:prstGeom prst="rect">
            <a:avLst/>
          </a:prstGeom>
          <a:noFill/>
        </p:spPr>
        <p:txBody>
          <a:bodyPr wrap="square" rtlCol="0">
            <a:spAutoFit/>
          </a:bodyPr>
          <a:lstStyle/>
          <a:p>
            <a:pPr algn="ctr"/>
            <a:r>
              <a:rPr lang="en-US" altLang="zh-CN" dirty="0"/>
              <a:t>L</a:t>
            </a:r>
            <a:endParaRPr lang="zh-CN" altLang="en-US" dirty="0"/>
          </a:p>
        </p:txBody>
      </p:sp>
      <p:sp>
        <p:nvSpPr>
          <p:cNvPr id="74" name="文本框 73"/>
          <p:cNvSpPr txBox="1"/>
          <p:nvPr/>
        </p:nvSpPr>
        <p:spPr>
          <a:xfrm>
            <a:off x="2004442" y="3563724"/>
            <a:ext cx="407318" cy="369332"/>
          </a:xfrm>
          <a:prstGeom prst="rect">
            <a:avLst/>
          </a:prstGeom>
          <a:noFill/>
        </p:spPr>
        <p:txBody>
          <a:bodyPr wrap="square" rtlCol="0">
            <a:spAutoFit/>
          </a:bodyPr>
          <a:lstStyle/>
          <a:p>
            <a:pPr algn="ctr"/>
            <a:r>
              <a:rPr lang="en-US" altLang="zh-CN" dirty="0"/>
              <a:t>H</a:t>
            </a:r>
            <a:endParaRPr lang="zh-CN" altLang="en-US" dirty="0"/>
          </a:p>
        </p:txBody>
      </p:sp>
      <p:sp>
        <p:nvSpPr>
          <p:cNvPr id="75" name="文本框 74"/>
          <p:cNvSpPr txBox="1"/>
          <p:nvPr/>
        </p:nvSpPr>
        <p:spPr>
          <a:xfrm>
            <a:off x="1211288" y="4509120"/>
            <a:ext cx="2568624" cy="707886"/>
          </a:xfrm>
          <a:prstGeom prst="rect">
            <a:avLst/>
          </a:prstGeom>
          <a:noFill/>
        </p:spPr>
        <p:txBody>
          <a:bodyPr wrap="square" rtlCol="0">
            <a:spAutoFit/>
          </a:bodyPr>
          <a:lstStyle/>
          <a:p>
            <a:r>
              <a:rPr lang="en-US" altLang="zh-CN" sz="2000" dirty="0">
                <a:latin typeface="Cambria Math" panose="02040503050406030204" pitchFamily="18" charset="0"/>
                <a:ea typeface="Cambria Math" panose="02040503050406030204" pitchFamily="18" charset="0"/>
              </a:rPr>
              <a:t>H = L-&gt;next;</a:t>
            </a:r>
          </a:p>
          <a:p>
            <a:r>
              <a:rPr lang="en-US" altLang="zh-CN" sz="2000" dirty="0">
                <a:latin typeface="Cambria Math" panose="02040503050406030204" pitchFamily="18" charset="0"/>
                <a:ea typeface="Cambria Math" panose="02040503050406030204" pitchFamily="18" charset="0"/>
              </a:rPr>
              <a:t>L-&gt;next = NULL;</a:t>
            </a:r>
            <a:endParaRPr lang="zh-CN" altLang="en-US" sz="2000" dirty="0">
              <a:latin typeface="Cambria Math" panose="02040503050406030204" pitchFamily="18" charset="0"/>
            </a:endParaRPr>
          </a:p>
        </p:txBody>
      </p:sp>
      <p:sp>
        <p:nvSpPr>
          <p:cNvPr id="4" name="灯片编号占位符 3"/>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07871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5">
                                            <p:txEl>
                                              <p:pRg st="0" end="0"/>
                                            </p:txEl>
                                          </p:spTgt>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9" grpId="0"/>
      <p:bldP spid="70" grpId="0"/>
      <p:bldP spid="71" grpId="0"/>
      <p:bldP spid="73" grpId="0"/>
      <p:bldP spid="7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单链表就地逆置</a:t>
            </a:r>
          </a:p>
        </p:txBody>
      </p:sp>
      <p:sp>
        <p:nvSpPr>
          <p:cNvPr id="3" name="内容占位符 2"/>
          <p:cNvSpPr>
            <a:spLocks noGrp="1"/>
          </p:cNvSpPr>
          <p:nvPr>
            <p:ph idx="1"/>
          </p:nvPr>
        </p:nvSpPr>
        <p:spPr>
          <a:xfrm>
            <a:off x="468313" y="1125538"/>
            <a:ext cx="8207375" cy="1212543"/>
          </a:xfrm>
        </p:spPr>
        <p:txBody>
          <a:bodyPr/>
          <a:lstStyle/>
          <a:p>
            <a:r>
              <a:rPr lang="zh-CN" altLang="en-US" dirty="0">
                <a:sym typeface="+mn-ea"/>
              </a:rPr>
              <a:t>依次取出</a:t>
            </a:r>
            <a:r>
              <a:rPr lang="en-US" altLang="zh-CN" dirty="0"/>
              <a:t>H</a:t>
            </a:r>
            <a:r>
              <a:rPr lang="zh-CN" altLang="en-US" dirty="0"/>
              <a:t>的第一个结点，将其插入到单链表的第一个位置</a:t>
            </a:r>
          </a:p>
        </p:txBody>
      </p:sp>
      <p:cxnSp>
        <p:nvCxnSpPr>
          <p:cNvPr id="9" name="直接箭头连接符 8"/>
          <p:cNvCxnSpPr/>
          <p:nvPr/>
        </p:nvCxnSpPr>
        <p:spPr bwMode="auto">
          <a:xfrm>
            <a:off x="5172744"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10" name="表格 9"/>
          <p:cNvGraphicFramePr>
            <a:graphicFrameLocks noGrp="1"/>
          </p:cNvGraphicFramePr>
          <p:nvPr>
            <p:extLst>
              <p:ext uri="{D42A27DB-BD31-4B8C-83A1-F6EECF244321}">
                <p14:modId xmlns:p14="http://schemas.microsoft.com/office/powerpoint/2010/main" val="3629467420"/>
              </p:ext>
            </p:extLst>
          </p:nvPr>
        </p:nvGraphicFramePr>
        <p:xfrm>
          <a:off x="5412432"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err="1"/>
                        <a:t>a</a:t>
                      </a:r>
                      <a:r>
                        <a:rPr lang="en-US" altLang="zh-CN" baseline="-25000" dirty="0" err="1"/>
                        <a:t>i</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11" name="直接箭头连接符 10"/>
          <p:cNvCxnSpPr/>
          <p:nvPr/>
        </p:nvCxnSpPr>
        <p:spPr bwMode="auto">
          <a:xfrm>
            <a:off x="6060504"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12" name="表格 11"/>
          <p:cNvGraphicFramePr>
            <a:graphicFrameLocks noGrp="1"/>
          </p:cNvGraphicFramePr>
          <p:nvPr>
            <p:extLst>
              <p:ext uri="{D42A27DB-BD31-4B8C-83A1-F6EECF244321}">
                <p14:modId xmlns:p14="http://schemas.microsoft.com/office/powerpoint/2010/main" val="1011123859"/>
              </p:ext>
            </p:extLst>
          </p:nvPr>
        </p:nvGraphicFramePr>
        <p:xfrm>
          <a:off x="6324872" y="2564904"/>
          <a:ext cx="743744" cy="370840"/>
        </p:xfrm>
        <a:graphic>
          <a:graphicData uri="http://schemas.openxmlformats.org/drawingml/2006/table">
            <a:tbl>
              <a:tblPr firstRow="1" bandRow="1">
                <a:tableStyleId>{5940675A-B579-460E-94D1-54222C63F5DA}</a:tableStyleId>
              </a:tblPr>
              <a:tblGrid>
                <a:gridCol w="535464">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13" name="直接箭头连接符 12"/>
          <p:cNvCxnSpPr/>
          <p:nvPr/>
        </p:nvCxnSpPr>
        <p:spPr bwMode="auto">
          <a:xfrm>
            <a:off x="6972944"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14" name="表格 13"/>
          <p:cNvGraphicFramePr>
            <a:graphicFrameLocks noGrp="1"/>
          </p:cNvGraphicFramePr>
          <p:nvPr>
            <p:extLst>
              <p:ext uri="{D42A27DB-BD31-4B8C-83A1-F6EECF244321}">
                <p14:modId xmlns:p14="http://schemas.microsoft.com/office/powerpoint/2010/main" val="2976850508"/>
              </p:ext>
            </p:extLst>
          </p:nvPr>
        </p:nvGraphicFramePr>
        <p:xfrm>
          <a:off x="7860704"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n</a:t>
                      </a:r>
                      <a:endParaRPr lang="zh-CN" altLang="en-US" baseline="-25000" dirty="0"/>
                    </a:p>
                  </a:txBody>
                  <a:tcPr>
                    <a:noFill/>
                  </a:tcPr>
                </a:tc>
                <a:tc>
                  <a:txBody>
                    <a:bodyPr/>
                    <a:lstStyle/>
                    <a:p>
                      <a:pPr algn="ct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15" name="直接箭头连接符 14"/>
          <p:cNvCxnSpPr/>
          <p:nvPr/>
        </p:nvCxnSpPr>
        <p:spPr bwMode="auto">
          <a:xfrm>
            <a:off x="7644680"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18" name="文本框 17"/>
          <p:cNvSpPr txBox="1"/>
          <p:nvPr/>
        </p:nvSpPr>
        <p:spPr>
          <a:xfrm>
            <a:off x="7212632" y="2492896"/>
            <a:ext cx="432048" cy="369332"/>
          </a:xfrm>
          <a:prstGeom prst="rect">
            <a:avLst/>
          </a:prstGeom>
          <a:noFill/>
        </p:spPr>
        <p:txBody>
          <a:bodyPr wrap="square" rtlCol="0">
            <a:spAutoFit/>
          </a:bodyPr>
          <a:lstStyle/>
          <a:p>
            <a:pPr algn="ctr"/>
            <a:r>
              <a:rPr lang="en-US" altLang="zh-CN" dirty="0"/>
              <a:t>…</a:t>
            </a:r>
            <a:endParaRPr lang="zh-CN" altLang="en-US" dirty="0"/>
          </a:p>
        </p:txBody>
      </p:sp>
      <p:sp>
        <p:nvSpPr>
          <p:cNvPr id="21" name="文本框 20"/>
          <p:cNvSpPr txBox="1"/>
          <p:nvPr/>
        </p:nvSpPr>
        <p:spPr>
          <a:xfrm>
            <a:off x="4860032" y="2564904"/>
            <a:ext cx="407318" cy="369332"/>
          </a:xfrm>
          <a:prstGeom prst="rect">
            <a:avLst/>
          </a:prstGeom>
          <a:noFill/>
        </p:spPr>
        <p:txBody>
          <a:bodyPr wrap="square" rtlCol="0">
            <a:spAutoFit/>
          </a:bodyPr>
          <a:lstStyle/>
          <a:p>
            <a:pPr algn="ctr"/>
            <a:r>
              <a:rPr lang="en-US" altLang="zh-CN" dirty="0"/>
              <a:t>H</a:t>
            </a:r>
            <a:endParaRPr lang="zh-CN" altLang="en-US" dirty="0"/>
          </a:p>
        </p:txBody>
      </p:sp>
      <p:graphicFrame>
        <p:nvGraphicFramePr>
          <p:cNvPr id="22" name="表格 21"/>
          <p:cNvGraphicFramePr>
            <a:graphicFrameLocks noGrp="1"/>
          </p:cNvGraphicFramePr>
          <p:nvPr>
            <p:extLst>
              <p:ext uri="{D42A27DB-BD31-4B8C-83A1-F6EECF244321}">
                <p14:modId xmlns:p14="http://schemas.microsoft.com/office/powerpoint/2010/main" val="1445686368"/>
              </p:ext>
            </p:extLst>
          </p:nvPr>
        </p:nvGraphicFramePr>
        <p:xfrm>
          <a:off x="1043608"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baseline="-25000" dirty="0"/>
                    </a:p>
                  </a:txBody>
                  <a:tcPr>
                    <a:solidFill>
                      <a:schemeClr val="bg2">
                        <a:lumMod val="75000"/>
                      </a:schemeClr>
                    </a:solid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23" name="直接箭头连接符 22"/>
          <p:cNvCxnSpPr/>
          <p:nvPr/>
        </p:nvCxnSpPr>
        <p:spPr bwMode="auto">
          <a:xfrm>
            <a:off x="1691680"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24" name="表格 23"/>
          <p:cNvGraphicFramePr>
            <a:graphicFrameLocks noGrp="1"/>
          </p:cNvGraphicFramePr>
          <p:nvPr>
            <p:extLst>
              <p:ext uri="{D42A27DB-BD31-4B8C-83A1-F6EECF244321}">
                <p14:modId xmlns:p14="http://schemas.microsoft.com/office/powerpoint/2010/main" val="2644499105"/>
              </p:ext>
            </p:extLst>
          </p:nvPr>
        </p:nvGraphicFramePr>
        <p:xfrm>
          <a:off x="3612232" y="2564904"/>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1</a:t>
                      </a:r>
                      <a:endParaRPr lang="zh-CN" altLang="en-US" baseline="-25000"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25" name="直接箭头连接符 24"/>
          <p:cNvCxnSpPr/>
          <p:nvPr/>
        </p:nvCxnSpPr>
        <p:spPr bwMode="auto">
          <a:xfrm>
            <a:off x="3372544"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26" name="表格 25"/>
          <p:cNvGraphicFramePr>
            <a:graphicFrameLocks noGrp="1"/>
          </p:cNvGraphicFramePr>
          <p:nvPr>
            <p:extLst>
              <p:ext uri="{D42A27DB-BD31-4B8C-83A1-F6EECF244321}">
                <p14:modId xmlns:p14="http://schemas.microsoft.com/office/powerpoint/2010/main" val="2319395244"/>
              </p:ext>
            </p:extLst>
          </p:nvPr>
        </p:nvGraphicFramePr>
        <p:xfrm>
          <a:off x="1955032" y="2564904"/>
          <a:ext cx="888776" cy="370840"/>
        </p:xfrm>
        <a:graphic>
          <a:graphicData uri="http://schemas.openxmlformats.org/drawingml/2006/table">
            <a:tbl>
              <a:tblPr firstRow="1" bandRow="1">
                <a:tableStyleId>{5940675A-B579-460E-94D1-54222C63F5DA}</a:tableStyleId>
              </a:tblPr>
              <a:tblGrid>
                <a:gridCol w="602348">
                  <a:extLst>
                    <a:ext uri="{9D8B030D-6E8A-4147-A177-3AD203B41FA5}">
                      <a16:colId xmlns:a16="http://schemas.microsoft.com/office/drawing/2014/main" val="20000"/>
                    </a:ext>
                  </a:extLst>
                </a:gridCol>
                <a:gridCol w="28642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27" name="直接箭头连接符 26"/>
          <p:cNvCxnSpPr/>
          <p:nvPr/>
        </p:nvCxnSpPr>
        <p:spPr bwMode="auto">
          <a:xfrm>
            <a:off x="4740696" y="3603620"/>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28" name="表格 27"/>
          <p:cNvGraphicFramePr>
            <a:graphicFrameLocks noGrp="1"/>
          </p:cNvGraphicFramePr>
          <p:nvPr>
            <p:extLst>
              <p:ext uri="{D42A27DB-BD31-4B8C-83A1-F6EECF244321}">
                <p14:modId xmlns:p14="http://schemas.microsoft.com/office/powerpoint/2010/main" val="1421502215"/>
              </p:ext>
            </p:extLst>
          </p:nvPr>
        </p:nvGraphicFramePr>
        <p:xfrm>
          <a:off x="4980384" y="3418200"/>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err="1"/>
                        <a:t>a</a:t>
                      </a:r>
                      <a:r>
                        <a:rPr lang="en-US" altLang="zh-CN" baseline="-25000" dirty="0" err="1"/>
                        <a:t>i</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29" name="直接箭头连接符 28"/>
          <p:cNvCxnSpPr/>
          <p:nvPr/>
        </p:nvCxnSpPr>
        <p:spPr bwMode="auto">
          <a:xfrm>
            <a:off x="6060504" y="3603620"/>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30" name="表格 29"/>
          <p:cNvGraphicFramePr>
            <a:graphicFrameLocks noGrp="1"/>
          </p:cNvGraphicFramePr>
          <p:nvPr>
            <p:extLst>
              <p:ext uri="{D42A27DB-BD31-4B8C-83A1-F6EECF244321}">
                <p14:modId xmlns:p14="http://schemas.microsoft.com/office/powerpoint/2010/main" val="1193556321"/>
              </p:ext>
            </p:extLst>
          </p:nvPr>
        </p:nvGraphicFramePr>
        <p:xfrm>
          <a:off x="6324872" y="3418200"/>
          <a:ext cx="743744" cy="370840"/>
        </p:xfrm>
        <a:graphic>
          <a:graphicData uri="http://schemas.openxmlformats.org/drawingml/2006/table">
            <a:tbl>
              <a:tblPr firstRow="1" bandRow="1">
                <a:tableStyleId>{5940675A-B579-460E-94D1-54222C63F5DA}</a:tableStyleId>
              </a:tblPr>
              <a:tblGrid>
                <a:gridCol w="535464">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31" name="直接箭头连接符 30"/>
          <p:cNvCxnSpPr/>
          <p:nvPr/>
        </p:nvCxnSpPr>
        <p:spPr bwMode="auto">
          <a:xfrm>
            <a:off x="6972944" y="3603620"/>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32" name="表格 31"/>
          <p:cNvGraphicFramePr>
            <a:graphicFrameLocks noGrp="1"/>
          </p:cNvGraphicFramePr>
          <p:nvPr>
            <p:extLst>
              <p:ext uri="{D42A27DB-BD31-4B8C-83A1-F6EECF244321}">
                <p14:modId xmlns:p14="http://schemas.microsoft.com/office/powerpoint/2010/main" val="1164413168"/>
              </p:ext>
            </p:extLst>
          </p:nvPr>
        </p:nvGraphicFramePr>
        <p:xfrm>
          <a:off x="7860704" y="3418200"/>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n</a:t>
                      </a:r>
                      <a:endParaRPr lang="zh-CN" altLang="en-US" baseline="-25000" dirty="0"/>
                    </a:p>
                  </a:txBody>
                  <a:tcPr>
                    <a:noFill/>
                  </a:tcPr>
                </a:tc>
                <a:tc>
                  <a:txBody>
                    <a:bodyPr/>
                    <a:lstStyle/>
                    <a:p>
                      <a:pPr algn="ct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33" name="直接箭头连接符 32"/>
          <p:cNvCxnSpPr/>
          <p:nvPr/>
        </p:nvCxnSpPr>
        <p:spPr bwMode="auto">
          <a:xfrm>
            <a:off x="7644680" y="3603620"/>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cxnSp>
        <p:nvCxnSpPr>
          <p:cNvPr id="34" name="直接箭头连接符 33"/>
          <p:cNvCxnSpPr/>
          <p:nvPr/>
        </p:nvCxnSpPr>
        <p:spPr bwMode="auto">
          <a:xfrm>
            <a:off x="2748136" y="2750324"/>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35" name="文本框 34"/>
          <p:cNvSpPr txBox="1"/>
          <p:nvPr/>
        </p:nvSpPr>
        <p:spPr>
          <a:xfrm>
            <a:off x="2987824" y="2492896"/>
            <a:ext cx="432048" cy="369332"/>
          </a:xfrm>
          <a:prstGeom prst="rect">
            <a:avLst/>
          </a:prstGeom>
          <a:noFill/>
        </p:spPr>
        <p:txBody>
          <a:bodyPr wrap="square" rtlCol="0">
            <a:spAutoFit/>
          </a:bodyPr>
          <a:lstStyle/>
          <a:p>
            <a:pPr algn="ctr"/>
            <a:r>
              <a:rPr lang="en-US" altLang="zh-CN" dirty="0"/>
              <a:t>…</a:t>
            </a:r>
            <a:endParaRPr lang="zh-CN" altLang="en-US" dirty="0"/>
          </a:p>
        </p:txBody>
      </p:sp>
      <p:sp>
        <p:nvSpPr>
          <p:cNvPr id="36" name="文本框 35"/>
          <p:cNvSpPr txBox="1"/>
          <p:nvPr/>
        </p:nvSpPr>
        <p:spPr>
          <a:xfrm>
            <a:off x="7212632" y="3346192"/>
            <a:ext cx="432048" cy="369332"/>
          </a:xfrm>
          <a:prstGeom prst="rect">
            <a:avLst/>
          </a:prstGeom>
          <a:noFill/>
        </p:spPr>
        <p:txBody>
          <a:bodyPr wrap="square" rtlCol="0">
            <a:spAutoFit/>
          </a:bodyPr>
          <a:lstStyle/>
          <a:p>
            <a:pPr algn="ctr"/>
            <a:r>
              <a:rPr lang="en-US" altLang="zh-CN" dirty="0"/>
              <a:t>…</a:t>
            </a:r>
            <a:endParaRPr lang="zh-CN" altLang="en-US" dirty="0"/>
          </a:p>
        </p:txBody>
      </p:sp>
      <p:cxnSp>
        <p:nvCxnSpPr>
          <p:cNvPr id="37" name="直接箭头连接符 36"/>
          <p:cNvCxnSpPr/>
          <p:nvPr/>
        </p:nvCxnSpPr>
        <p:spPr bwMode="auto">
          <a:xfrm>
            <a:off x="803920" y="279172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38" name="文本框 37"/>
          <p:cNvSpPr txBox="1"/>
          <p:nvPr/>
        </p:nvSpPr>
        <p:spPr>
          <a:xfrm>
            <a:off x="395536" y="2564904"/>
            <a:ext cx="407318" cy="369332"/>
          </a:xfrm>
          <a:prstGeom prst="rect">
            <a:avLst/>
          </a:prstGeom>
          <a:noFill/>
        </p:spPr>
        <p:txBody>
          <a:bodyPr wrap="square" rtlCol="0">
            <a:spAutoFit/>
          </a:bodyPr>
          <a:lstStyle/>
          <a:p>
            <a:pPr algn="ctr"/>
            <a:r>
              <a:rPr lang="en-US" altLang="zh-CN" dirty="0"/>
              <a:t>L</a:t>
            </a:r>
            <a:endParaRPr lang="zh-CN" altLang="en-US" dirty="0"/>
          </a:p>
        </p:txBody>
      </p:sp>
      <p:sp>
        <p:nvSpPr>
          <p:cNvPr id="39" name="文本框 38"/>
          <p:cNvSpPr txBox="1"/>
          <p:nvPr/>
        </p:nvSpPr>
        <p:spPr>
          <a:xfrm>
            <a:off x="4427984" y="3418200"/>
            <a:ext cx="407318" cy="369332"/>
          </a:xfrm>
          <a:prstGeom prst="rect">
            <a:avLst/>
          </a:prstGeom>
          <a:noFill/>
        </p:spPr>
        <p:txBody>
          <a:bodyPr wrap="square" rtlCol="0">
            <a:spAutoFit/>
          </a:bodyPr>
          <a:lstStyle/>
          <a:p>
            <a:pPr algn="ctr"/>
            <a:r>
              <a:rPr lang="en-US" altLang="zh-CN" dirty="0"/>
              <a:t>p</a:t>
            </a:r>
            <a:endParaRPr lang="zh-CN" altLang="en-US" dirty="0"/>
          </a:p>
        </p:txBody>
      </p:sp>
      <p:sp>
        <p:nvSpPr>
          <p:cNvPr id="40" name="文本框 39"/>
          <p:cNvSpPr txBox="1"/>
          <p:nvPr/>
        </p:nvSpPr>
        <p:spPr>
          <a:xfrm>
            <a:off x="5748858" y="3419708"/>
            <a:ext cx="407318" cy="369332"/>
          </a:xfrm>
          <a:prstGeom prst="rect">
            <a:avLst/>
          </a:prstGeom>
          <a:noFill/>
        </p:spPr>
        <p:txBody>
          <a:bodyPr wrap="square" rtlCol="0">
            <a:spAutoFit/>
          </a:bodyPr>
          <a:lstStyle/>
          <a:p>
            <a:pPr algn="ctr"/>
            <a:r>
              <a:rPr lang="en-US" altLang="zh-CN" dirty="0"/>
              <a:t>H</a:t>
            </a:r>
            <a:endParaRPr lang="zh-CN" altLang="en-US" dirty="0"/>
          </a:p>
        </p:txBody>
      </p:sp>
      <p:graphicFrame>
        <p:nvGraphicFramePr>
          <p:cNvPr id="41" name="表格 40"/>
          <p:cNvGraphicFramePr>
            <a:graphicFrameLocks noGrp="1"/>
          </p:cNvGraphicFramePr>
          <p:nvPr>
            <p:extLst>
              <p:ext uri="{D42A27DB-BD31-4B8C-83A1-F6EECF244321}">
                <p14:modId xmlns:p14="http://schemas.microsoft.com/office/powerpoint/2010/main" val="3705212610"/>
              </p:ext>
            </p:extLst>
          </p:nvPr>
        </p:nvGraphicFramePr>
        <p:xfrm>
          <a:off x="1043608" y="4210288"/>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baseline="-25000" dirty="0"/>
                    </a:p>
                  </a:txBody>
                  <a:tcPr>
                    <a:solidFill>
                      <a:schemeClr val="bg2">
                        <a:lumMod val="75000"/>
                      </a:schemeClr>
                    </a:solid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42" name="直接箭头连接符 41"/>
          <p:cNvCxnSpPr/>
          <p:nvPr/>
        </p:nvCxnSpPr>
        <p:spPr bwMode="auto">
          <a:xfrm>
            <a:off x="1691680" y="439570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47" name="表格 46"/>
          <p:cNvGraphicFramePr>
            <a:graphicFrameLocks noGrp="1"/>
          </p:cNvGraphicFramePr>
          <p:nvPr>
            <p:extLst>
              <p:ext uri="{D42A27DB-BD31-4B8C-83A1-F6EECF244321}">
                <p14:modId xmlns:p14="http://schemas.microsoft.com/office/powerpoint/2010/main" val="1110129989"/>
              </p:ext>
            </p:extLst>
          </p:nvPr>
        </p:nvGraphicFramePr>
        <p:xfrm>
          <a:off x="1931368" y="4221088"/>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err="1"/>
                        <a:t>a</a:t>
                      </a:r>
                      <a:r>
                        <a:rPr lang="en-US" altLang="zh-CN" baseline="-25000" dirty="0" err="1"/>
                        <a:t>i</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48" name="直接箭头连接符 47"/>
          <p:cNvCxnSpPr/>
          <p:nvPr/>
        </p:nvCxnSpPr>
        <p:spPr bwMode="auto">
          <a:xfrm>
            <a:off x="6060504" y="439570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49" name="表格 48"/>
          <p:cNvGraphicFramePr>
            <a:graphicFrameLocks noGrp="1"/>
          </p:cNvGraphicFramePr>
          <p:nvPr>
            <p:extLst>
              <p:ext uri="{D42A27DB-BD31-4B8C-83A1-F6EECF244321}">
                <p14:modId xmlns:p14="http://schemas.microsoft.com/office/powerpoint/2010/main" val="177904043"/>
              </p:ext>
            </p:extLst>
          </p:nvPr>
        </p:nvGraphicFramePr>
        <p:xfrm>
          <a:off x="6324872" y="4210288"/>
          <a:ext cx="743744" cy="370840"/>
        </p:xfrm>
        <a:graphic>
          <a:graphicData uri="http://schemas.openxmlformats.org/drawingml/2006/table">
            <a:tbl>
              <a:tblPr firstRow="1" bandRow="1">
                <a:tableStyleId>{5940675A-B579-460E-94D1-54222C63F5DA}</a:tableStyleId>
              </a:tblPr>
              <a:tblGrid>
                <a:gridCol w="535464">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50" name="直接箭头连接符 49"/>
          <p:cNvCxnSpPr/>
          <p:nvPr/>
        </p:nvCxnSpPr>
        <p:spPr bwMode="auto">
          <a:xfrm>
            <a:off x="6972944" y="439570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51" name="表格 50"/>
          <p:cNvGraphicFramePr>
            <a:graphicFrameLocks noGrp="1"/>
          </p:cNvGraphicFramePr>
          <p:nvPr>
            <p:extLst>
              <p:ext uri="{D42A27DB-BD31-4B8C-83A1-F6EECF244321}">
                <p14:modId xmlns:p14="http://schemas.microsoft.com/office/powerpoint/2010/main" val="1851258393"/>
              </p:ext>
            </p:extLst>
          </p:nvPr>
        </p:nvGraphicFramePr>
        <p:xfrm>
          <a:off x="7860704" y="4210288"/>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n</a:t>
                      </a:r>
                      <a:endParaRPr lang="zh-CN" altLang="en-US" baseline="-25000" dirty="0"/>
                    </a:p>
                  </a:txBody>
                  <a:tcPr>
                    <a:noFill/>
                  </a:tcPr>
                </a:tc>
                <a:tc>
                  <a:txBody>
                    <a:bodyPr/>
                    <a:lstStyle/>
                    <a:p>
                      <a:pPr algn="ct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52" name="直接箭头连接符 51"/>
          <p:cNvCxnSpPr/>
          <p:nvPr/>
        </p:nvCxnSpPr>
        <p:spPr bwMode="auto">
          <a:xfrm>
            <a:off x="7644680" y="439570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55" name="文本框 54"/>
          <p:cNvSpPr txBox="1"/>
          <p:nvPr/>
        </p:nvSpPr>
        <p:spPr>
          <a:xfrm>
            <a:off x="7212632" y="4138280"/>
            <a:ext cx="432048" cy="369332"/>
          </a:xfrm>
          <a:prstGeom prst="rect">
            <a:avLst/>
          </a:prstGeom>
          <a:noFill/>
        </p:spPr>
        <p:txBody>
          <a:bodyPr wrap="square" rtlCol="0">
            <a:spAutoFit/>
          </a:bodyPr>
          <a:lstStyle/>
          <a:p>
            <a:pPr algn="ctr"/>
            <a:r>
              <a:rPr lang="en-US" altLang="zh-CN" dirty="0"/>
              <a:t>…</a:t>
            </a:r>
            <a:endParaRPr lang="zh-CN" altLang="en-US" dirty="0"/>
          </a:p>
        </p:txBody>
      </p:sp>
      <p:cxnSp>
        <p:nvCxnSpPr>
          <p:cNvPr id="56" name="直接箭头连接符 55"/>
          <p:cNvCxnSpPr/>
          <p:nvPr/>
        </p:nvCxnSpPr>
        <p:spPr bwMode="auto">
          <a:xfrm>
            <a:off x="802904" y="4426312"/>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57" name="文本框 56"/>
          <p:cNvSpPr txBox="1"/>
          <p:nvPr/>
        </p:nvSpPr>
        <p:spPr>
          <a:xfrm>
            <a:off x="395536" y="4210288"/>
            <a:ext cx="407318" cy="369332"/>
          </a:xfrm>
          <a:prstGeom prst="rect">
            <a:avLst/>
          </a:prstGeom>
          <a:noFill/>
        </p:spPr>
        <p:txBody>
          <a:bodyPr wrap="square" rtlCol="0">
            <a:spAutoFit/>
          </a:bodyPr>
          <a:lstStyle/>
          <a:p>
            <a:pPr algn="ctr"/>
            <a:r>
              <a:rPr lang="en-US" altLang="zh-CN" dirty="0"/>
              <a:t>L</a:t>
            </a:r>
            <a:endParaRPr lang="zh-CN" altLang="en-US" dirty="0"/>
          </a:p>
        </p:txBody>
      </p:sp>
      <p:grpSp>
        <p:nvGrpSpPr>
          <p:cNvPr id="70" name="组合 69"/>
          <p:cNvGrpSpPr/>
          <p:nvPr/>
        </p:nvGrpSpPr>
        <p:grpSpPr>
          <a:xfrm>
            <a:off x="1643336" y="4581128"/>
            <a:ext cx="480392" cy="369332"/>
            <a:chOff x="1643336" y="4581128"/>
            <a:chExt cx="480392" cy="369332"/>
          </a:xfrm>
        </p:grpSpPr>
        <p:cxnSp>
          <p:nvCxnSpPr>
            <p:cNvPr id="46" name="直接箭头连接符 45"/>
            <p:cNvCxnSpPr/>
            <p:nvPr/>
          </p:nvCxnSpPr>
          <p:spPr bwMode="auto">
            <a:xfrm flipV="1">
              <a:off x="1956048" y="4591928"/>
              <a:ext cx="167680" cy="17462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58" name="文本框 57"/>
            <p:cNvSpPr txBox="1"/>
            <p:nvPr/>
          </p:nvSpPr>
          <p:spPr>
            <a:xfrm>
              <a:off x="1643336" y="4581128"/>
              <a:ext cx="407318" cy="369332"/>
            </a:xfrm>
            <a:prstGeom prst="rect">
              <a:avLst/>
            </a:prstGeom>
            <a:noFill/>
          </p:spPr>
          <p:txBody>
            <a:bodyPr wrap="square" rtlCol="0">
              <a:spAutoFit/>
            </a:bodyPr>
            <a:lstStyle/>
            <a:p>
              <a:pPr algn="ctr"/>
              <a:r>
                <a:rPr lang="en-US" altLang="zh-CN" dirty="0"/>
                <a:t>p</a:t>
              </a:r>
              <a:endParaRPr lang="zh-CN" altLang="en-US" dirty="0"/>
            </a:p>
          </p:txBody>
        </p:sp>
      </p:grpSp>
      <p:sp>
        <p:nvSpPr>
          <p:cNvPr id="59" name="文本框 58"/>
          <p:cNvSpPr txBox="1"/>
          <p:nvPr/>
        </p:nvSpPr>
        <p:spPr>
          <a:xfrm>
            <a:off x="5748858" y="4211796"/>
            <a:ext cx="407318" cy="369332"/>
          </a:xfrm>
          <a:prstGeom prst="rect">
            <a:avLst/>
          </a:prstGeom>
          <a:noFill/>
        </p:spPr>
        <p:txBody>
          <a:bodyPr wrap="square" rtlCol="0">
            <a:spAutoFit/>
          </a:bodyPr>
          <a:lstStyle/>
          <a:p>
            <a:pPr algn="ctr"/>
            <a:r>
              <a:rPr lang="en-US" altLang="zh-CN" dirty="0"/>
              <a:t>H</a:t>
            </a:r>
            <a:endParaRPr lang="zh-CN" altLang="en-US" dirty="0"/>
          </a:p>
        </p:txBody>
      </p:sp>
      <p:cxnSp>
        <p:nvCxnSpPr>
          <p:cNvPr id="60" name="直接箭头连接符 59"/>
          <p:cNvCxnSpPr/>
          <p:nvPr/>
        </p:nvCxnSpPr>
        <p:spPr bwMode="auto">
          <a:xfrm>
            <a:off x="5317826" y="2308984"/>
            <a:ext cx="238647" cy="245874"/>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61" name="文本框 60"/>
          <p:cNvSpPr txBox="1"/>
          <p:nvPr/>
        </p:nvSpPr>
        <p:spPr>
          <a:xfrm>
            <a:off x="5005114" y="2123564"/>
            <a:ext cx="407318" cy="369332"/>
          </a:xfrm>
          <a:prstGeom prst="rect">
            <a:avLst/>
          </a:prstGeom>
          <a:noFill/>
        </p:spPr>
        <p:txBody>
          <a:bodyPr wrap="square" rtlCol="0">
            <a:spAutoFit/>
          </a:bodyPr>
          <a:lstStyle/>
          <a:p>
            <a:pPr algn="ctr"/>
            <a:r>
              <a:rPr lang="en-US" altLang="zh-CN" dirty="0"/>
              <a:t>p</a:t>
            </a:r>
            <a:endParaRPr lang="zh-CN" altLang="en-US" dirty="0"/>
          </a:p>
        </p:txBody>
      </p:sp>
      <p:graphicFrame>
        <p:nvGraphicFramePr>
          <p:cNvPr id="63" name="表格 62"/>
          <p:cNvGraphicFramePr>
            <a:graphicFrameLocks noGrp="1"/>
          </p:cNvGraphicFramePr>
          <p:nvPr>
            <p:extLst>
              <p:ext uri="{D42A27DB-BD31-4B8C-83A1-F6EECF244321}">
                <p14:modId xmlns:p14="http://schemas.microsoft.com/office/powerpoint/2010/main" val="2791450375"/>
              </p:ext>
            </p:extLst>
          </p:nvPr>
        </p:nvGraphicFramePr>
        <p:xfrm>
          <a:off x="4501008" y="4210288"/>
          <a:ext cx="743744" cy="370840"/>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20000"/>
                    </a:ext>
                  </a:extLst>
                </a:gridCol>
                <a:gridCol w="23968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1</a:t>
                      </a:r>
                      <a:endParaRPr lang="zh-CN" altLang="en-US" baseline="-25000"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tc>
                <a:extLst>
                  <a:ext uri="{0D108BD9-81ED-4DB2-BD59-A6C34878D82A}">
                    <a16:rowId xmlns:a16="http://schemas.microsoft.com/office/drawing/2014/main" val="10000"/>
                  </a:ext>
                </a:extLst>
              </a:tr>
            </a:tbl>
          </a:graphicData>
        </a:graphic>
      </p:graphicFrame>
      <p:cxnSp>
        <p:nvCxnSpPr>
          <p:cNvPr id="64" name="直接箭头连接符 63"/>
          <p:cNvCxnSpPr/>
          <p:nvPr/>
        </p:nvCxnSpPr>
        <p:spPr bwMode="auto">
          <a:xfrm>
            <a:off x="4261320" y="439570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graphicFrame>
        <p:nvGraphicFramePr>
          <p:cNvPr id="65" name="表格 64"/>
          <p:cNvGraphicFramePr>
            <a:graphicFrameLocks noGrp="1"/>
          </p:cNvGraphicFramePr>
          <p:nvPr>
            <p:extLst>
              <p:ext uri="{D42A27DB-BD31-4B8C-83A1-F6EECF244321}">
                <p14:modId xmlns:p14="http://schemas.microsoft.com/office/powerpoint/2010/main" val="2318742183"/>
              </p:ext>
            </p:extLst>
          </p:nvPr>
        </p:nvGraphicFramePr>
        <p:xfrm>
          <a:off x="2843808" y="4210288"/>
          <a:ext cx="888776" cy="370840"/>
        </p:xfrm>
        <a:graphic>
          <a:graphicData uri="http://schemas.openxmlformats.org/drawingml/2006/table">
            <a:tbl>
              <a:tblPr firstRow="1" bandRow="1">
                <a:tableStyleId>{5940675A-B579-460E-94D1-54222C63F5DA}</a:tableStyleId>
              </a:tblPr>
              <a:tblGrid>
                <a:gridCol w="602348">
                  <a:extLst>
                    <a:ext uri="{9D8B030D-6E8A-4147-A177-3AD203B41FA5}">
                      <a16:colId xmlns:a16="http://schemas.microsoft.com/office/drawing/2014/main" val="20000"/>
                    </a:ext>
                  </a:extLst>
                </a:gridCol>
                <a:gridCol w="286428">
                  <a:extLst>
                    <a:ext uri="{9D8B030D-6E8A-4147-A177-3AD203B41FA5}">
                      <a16:colId xmlns:a16="http://schemas.microsoft.com/office/drawing/2014/main" val="20001"/>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a:t>
                      </a:r>
                      <a:r>
                        <a:rPr lang="en-US" altLang="zh-CN" baseline="-25000" dirty="0"/>
                        <a:t>i-1</a:t>
                      </a:r>
                      <a:endParaRPr lang="zh-CN" altLang="en-US" baseline="-25000" dirty="0"/>
                    </a:p>
                  </a:txBody>
                  <a:tcPr>
                    <a:noFill/>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cxnSp>
        <p:nvCxnSpPr>
          <p:cNvPr id="66" name="直接箭头连接符 65"/>
          <p:cNvCxnSpPr/>
          <p:nvPr/>
        </p:nvCxnSpPr>
        <p:spPr bwMode="auto">
          <a:xfrm>
            <a:off x="3636912" y="439570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67" name="文本框 66"/>
          <p:cNvSpPr txBox="1"/>
          <p:nvPr/>
        </p:nvSpPr>
        <p:spPr>
          <a:xfrm>
            <a:off x="3876600" y="4138280"/>
            <a:ext cx="432048" cy="369332"/>
          </a:xfrm>
          <a:prstGeom prst="rect">
            <a:avLst/>
          </a:prstGeom>
          <a:noFill/>
        </p:spPr>
        <p:txBody>
          <a:bodyPr wrap="square" rtlCol="0">
            <a:spAutoFit/>
          </a:bodyPr>
          <a:lstStyle/>
          <a:p>
            <a:pPr algn="ctr"/>
            <a:r>
              <a:rPr lang="en-US" altLang="zh-CN" dirty="0"/>
              <a:t>…</a:t>
            </a:r>
            <a:endParaRPr lang="zh-CN" altLang="en-US" dirty="0"/>
          </a:p>
        </p:txBody>
      </p:sp>
      <p:cxnSp>
        <p:nvCxnSpPr>
          <p:cNvPr id="68" name="直接箭头连接符 67"/>
          <p:cNvCxnSpPr/>
          <p:nvPr/>
        </p:nvCxnSpPr>
        <p:spPr bwMode="auto">
          <a:xfrm>
            <a:off x="2604120" y="4406508"/>
            <a:ext cx="239688" cy="0"/>
          </a:xfrm>
          <a:prstGeom prst="straightConnector1">
            <a:avLst/>
          </a:prstGeom>
          <a:solidFill>
            <a:schemeClr val="accent1"/>
          </a:solidFill>
          <a:ln w="9525" cap="flat" cmpd="sng" algn="ctr">
            <a:solidFill>
              <a:schemeClr val="tx1"/>
            </a:solidFill>
            <a:prstDash val="solid"/>
            <a:round/>
            <a:headEnd type="none" w="med" len="med"/>
            <a:tailEnd type="triangle"/>
          </a:ln>
        </p:spPr>
      </p:cxnSp>
      <p:sp>
        <p:nvSpPr>
          <p:cNvPr id="74" name="文本框 73"/>
          <p:cNvSpPr txBox="1"/>
          <p:nvPr/>
        </p:nvSpPr>
        <p:spPr>
          <a:xfrm>
            <a:off x="2306248" y="4898751"/>
            <a:ext cx="3656501" cy="1631216"/>
          </a:xfrm>
          <a:prstGeom prst="rect">
            <a:avLst/>
          </a:prstGeom>
          <a:noFill/>
        </p:spPr>
        <p:txBody>
          <a:bodyPr wrap="square" rtlCol="0">
            <a:spAutoFit/>
          </a:bodyPr>
          <a:lstStyle/>
          <a:p>
            <a:r>
              <a:rPr lang="en-US" altLang="zh-CN" sz="2000" dirty="0">
                <a:latin typeface="Cambria Math" panose="02040503050406030204" pitchFamily="18" charset="0"/>
                <a:ea typeface="Cambria Math" panose="02040503050406030204" pitchFamily="18" charset="0"/>
              </a:rPr>
              <a:t>while(H){</a:t>
            </a:r>
          </a:p>
          <a:p>
            <a:r>
              <a:rPr lang="en-US" altLang="zh-CN" sz="2000" dirty="0">
                <a:latin typeface="Cambria Math" panose="02040503050406030204" pitchFamily="18" charset="0"/>
                <a:ea typeface="Cambria Math" panose="02040503050406030204" pitchFamily="18" charset="0"/>
              </a:rPr>
              <a:t>      p = H;	H = H-&gt;next;</a:t>
            </a:r>
          </a:p>
          <a:p>
            <a:r>
              <a:rPr lang="en-US" altLang="zh-CN" sz="2000" dirty="0">
                <a:latin typeface="Cambria Math" panose="02040503050406030204" pitchFamily="18" charset="0"/>
                <a:ea typeface="Cambria Math" panose="02040503050406030204" pitchFamily="18" charset="0"/>
              </a:rPr>
              <a:t>      p-next = L-&gt;next;	    </a:t>
            </a:r>
          </a:p>
          <a:p>
            <a:r>
              <a:rPr lang="en-US" altLang="zh-CN" sz="2000" dirty="0">
                <a:latin typeface="Cambria Math" panose="02040503050406030204" pitchFamily="18" charset="0"/>
                <a:ea typeface="Cambria Math" panose="02040503050406030204" pitchFamily="18" charset="0"/>
              </a:rPr>
              <a:t>      L-&gt;next = p;</a:t>
            </a:r>
          </a:p>
          <a:p>
            <a:r>
              <a:rPr lang="en-US" altLang="zh-CN" sz="2000" dirty="0">
                <a:latin typeface="Cambria Math" panose="02040503050406030204" pitchFamily="18" charset="0"/>
                <a:ea typeface="Cambria Math" panose="02040503050406030204" pitchFamily="18" charset="0"/>
              </a:rPr>
              <a:t>}</a:t>
            </a:r>
          </a:p>
        </p:txBody>
      </p:sp>
      <p:sp>
        <p:nvSpPr>
          <p:cNvPr id="43" name="灯片编号占位符 4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267361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4">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7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74">
                                            <p:txEl>
                                              <p:pRg st="2" end="2"/>
                                            </p:txEl>
                                          </p:spTgt>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74">
                                            <p:txEl>
                                              <p:pRg st="3" end="3"/>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74">
                                            <p:txEl>
                                              <p:pRg st="0" end="0"/>
                                            </p:txEl>
                                          </p:spTgt>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7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35" grpId="0"/>
      <p:bldP spid="36" grpId="0"/>
      <p:bldP spid="38" grpId="0"/>
      <p:bldP spid="39" grpId="0"/>
      <p:bldP spid="40" grpId="0"/>
      <p:bldP spid="55" grpId="0"/>
      <p:bldP spid="57" grpId="0"/>
      <p:bldP spid="59" grpId="0"/>
      <p:bldP spid="61" grpId="0"/>
      <p:bldP spid="6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多项式</a:t>
            </a:r>
            <a:r>
              <a:rPr lang="zh-CN" altLang="en-US" dirty="0"/>
              <a:t>的表示</a:t>
            </a:r>
            <a:endParaRPr lang="zh-CN" altLang="en-US" dirty="0">
              <a:latin typeface="+mj-lt"/>
              <a:ea typeface="+mj-ea"/>
              <a:cs typeface="+mj-cs"/>
            </a:endParaRPr>
          </a:p>
        </p:txBody>
      </p:sp>
      <p:sp>
        <p:nvSpPr>
          <p:cNvPr id="54275" name="内容占位符 2"/>
          <p:cNvSpPr>
            <a:spLocks noGrp="1"/>
          </p:cNvSpPr>
          <p:nvPr>
            <p:ph idx="1"/>
          </p:nvPr>
        </p:nvSpPr>
        <p:spPr>
          <a:xfrm>
            <a:off x="468313" y="1125538"/>
            <a:ext cx="8207375" cy="5327650"/>
          </a:xfrm>
        </p:spPr>
        <p:txBody>
          <a:bodyPr vert="horz" wrap="square" lIns="91440" tIns="45720" rIns="91440" bIns="45720" numCol="1" anchor="t" anchorCtr="0" compatLnSpc="1"/>
          <a:lstStyle/>
          <a:p>
            <a:pPr lvl="0">
              <a:defRPr/>
            </a:pPr>
            <a:r>
              <a:rPr lang="zh-CN" altLang="en-US" dirty="0"/>
              <a:t>可以用线性表</a:t>
            </a:r>
            <a:r>
              <a:rPr lang="en-US" altLang="zh-CN" dirty="0">
                <a:latin typeface="Cambria Math" panose="02040503050406030204" pitchFamily="18" charset="0"/>
                <a:ea typeface="Cambria Math" panose="02040503050406030204" pitchFamily="18" charset="0"/>
              </a:rPr>
              <a:t>P = (p</a:t>
            </a:r>
            <a:r>
              <a:rPr lang="en-US" altLang="zh-CN" baseline="-25000" dirty="0">
                <a:latin typeface="Cambria Math" panose="02040503050406030204" pitchFamily="18" charset="0"/>
                <a:ea typeface="Cambria Math" panose="02040503050406030204" pitchFamily="18" charset="0"/>
              </a:rPr>
              <a:t>0</a:t>
            </a:r>
            <a:r>
              <a:rPr lang="en-US" altLang="zh-CN" dirty="0">
                <a:latin typeface="Cambria Math" panose="02040503050406030204" pitchFamily="18" charset="0"/>
                <a:ea typeface="Cambria Math" panose="02040503050406030204" pitchFamily="18" charset="0"/>
              </a:rPr>
              <a:t>,p</a:t>
            </a:r>
            <a:r>
              <a:rPr lang="en-US" altLang="zh-CN" baseline="-25000" dirty="0">
                <a:latin typeface="Cambria Math" panose="02040503050406030204" pitchFamily="18" charset="0"/>
                <a:ea typeface="Cambria Math" panose="02040503050406030204" pitchFamily="18" charset="0"/>
              </a:rPr>
              <a:t>1</a:t>
            </a:r>
            <a:r>
              <a:rPr lang="en-US" altLang="zh-CN" dirty="0">
                <a:latin typeface="Cambria Math" panose="02040503050406030204" pitchFamily="18" charset="0"/>
                <a:ea typeface="Cambria Math" panose="02040503050406030204" pitchFamily="18" charset="0"/>
              </a:rPr>
              <a:t>,p</a:t>
            </a:r>
            <a:r>
              <a:rPr lang="en-US" altLang="zh-CN" baseline="-25000" dirty="0">
                <a:latin typeface="Cambria Math" panose="02040503050406030204" pitchFamily="18" charset="0"/>
                <a:ea typeface="Cambria Math" panose="02040503050406030204" pitchFamily="18" charset="0"/>
              </a:rPr>
              <a:t>2</a:t>
            </a:r>
            <a:r>
              <a:rPr lang="en-US" altLang="zh-CN" dirty="0">
                <a:latin typeface="Cambria Math" panose="02040503050406030204" pitchFamily="18" charset="0"/>
                <a:ea typeface="Cambria Math" panose="02040503050406030204" pitchFamily="18" charset="0"/>
              </a:rPr>
              <a:t>,…,</a:t>
            </a:r>
            <a:r>
              <a:rPr lang="en-US" altLang="zh-CN" dirty="0" err="1">
                <a:latin typeface="Cambria Math" panose="02040503050406030204" pitchFamily="18" charset="0"/>
                <a:ea typeface="Cambria Math" panose="02040503050406030204" pitchFamily="18" charset="0"/>
              </a:rPr>
              <a:t>p</a:t>
            </a:r>
            <a:r>
              <a:rPr lang="en-US" altLang="zh-CN" baseline="-25000" dirty="0" err="1">
                <a:latin typeface="Cambria Math" panose="02040503050406030204" pitchFamily="18" charset="0"/>
                <a:ea typeface="Cambria Math" panose="02040503050406030204" pitchFamily="18" charset="0"/>
              </a:rPr>
              <a:t>n</a:t>
            </a:r>
            <a:r>
              <a:rPr lang="en-US" altLang="zh-CN" dirty="0">
                <a:latin typeface="Cambria Math" panose="02040503050406030204" pitchFamily="18" charset="0"/>
                <a:ea typeface="Cambria Math" panose="02040503050406030204" pitchFamily="18" charset="0"/>
              </a:rPr>
              <a:t>)</a:t>
            </a:r>
            <a:r>
              <a:rPr lang="zh-CN" altLang="en-US" dirty="0"/>
              <a:t>来表示一元多项式</a:t>
            </a:r>
            <a:r>
              <a:rPr kumimoji="1" lang="en-US" altLang="zh-CN" i="1" kern="1200" dirty="0" err="1">
                <a:solidFill>
                  <a:srgbClr val="000000"/>
                </a:solidFill>
                <a:latin typeface="Cambria Math" panose="02040503050406030204" pitchFamily="18" charset="0"/>
                <a:ea typeface="Cambria Math" panose="02040503050406030204" pitchFamily="18" charset="0"/>
              </a:rPr>
              <a:t>P</a:t>
            </a:r>
            <a:r>
              <a:rPr kumimoji="1" lang="en-US" altLang="zh-CN" i="1" kern="1200" baseline="-25000" dirty="0" err="1">
                <a:solidFill>
                  <a:srgbClr val="000000"/>
                </a:solidFill>
                <a:latin typeface="Cambria Math" panose="02040503050406030204" pitchFamily="18" charset="0"/>
                <a:ea typeface="Cambria Math" panose="02040503050406030204" pitchFamily="18" charset="0"/>
              </a:rPr>
              <a:t>n</a:t>
            </a:r>
            <a:r>
              <a:rPr kumimoji="1" lang="en-US" altLang="zh-CN" kern="1200" dirty="0">
                <a:solidFill>
                  <a:srgbClr val="000000"/>
                </a:solidFill>
                <a:latin typeface="Cambria Math" panose="02040503050406030204" pitchFamily="18" charset="0"/>
                <a:ea typeface="Cambria Math" panose="02040503050406030204" pitchFamily="18" charset="0"/>
              </a:rPr>
              <a:t>(</a:t>
            </a:r>
            <a:r>
              <a:rPr kumimoji="1" lang="en-US" altLang="zh-CN" i="1" kern="1200" dirty="0">
                <a:solidFill>
                  <a:srgbClr val="000000"/>
                </a:solidFill>
                <a:latin typeface="Cambria Math" panose="02040503050406030204" pitchFamily="18" charset="0"/>
                <a:ea typeface="Cambria Math" panose="02040503050406030204" pitchFamily="18" charset="0"/>
              </a:rPr>
              <a:t>x</a:t>
            </a:r>
            <a:r>
              <a:rPr kumimoji="1" lang="en-US" altLang="zh-CN" kern="1200" dirty="0">
                <a:solidFill>
                  <a:srgbClr val="000000"/>
                </a:solidFill>
                <a:latin typeface="Cambria Math" panose="02040503050406030204" pitchFamily="18" charset="0"/>
                <a:ea typeface="Cambria Math" panose="02040503050406030204" pitchFamily="18" charset="0"/>
              </a:rPr>
              <a:t>) = </a:t>
            </a:r>
            <a:r>
              <a:rPr kumimoji="1" lang="en-US" altLang="zh-CN" i="1" kern="1200" dirty="0">
                <a:solidFill>
                  <a:srgbClr val="000000"/>
                </a:solidFill>
                <a:latin typeface="Cambria Math" panose="02040503050406030204" pitchFamily="18" charset="0"/>
                <a:ea typeface="Cambria Math" panose="02040503050406030204" pitchFamily="18" charset="0"/>
              </a:rPr>
              <a:t>p</a:t>
            </a:r>
            <a:r>
              <a:rPr kumimoji="1" lang="en-US" altLang="zh-CN" kern="1200" baseline="-25000" dirty="0">
                <a:solidFill>
                  <a:srgbClr val="000000"/>
                </a:solidFill>
                <a:latin typeface="Cambria Math" panose="02040503050406030204" pitchFamily="18" charset="0"/>
                <a:ea typeface="Cambria Math" panose="02040503050406030204" pitchFamily="18" charset="0"/>
              </a:rPr>
              <a:t>0</a:t>
            </a:r>
            <a:r>
              <a:rPr kumimoji="1" lang="en-US" altLang="zh-CN" kern="1200" dirty="0">
                <a:solidFill>
                  <a:srgbClr val="000000"/>
                </a:solidFill>
                <a:latin typeface="Cambria Math" panose="02040503050406030204" pitchFamily="18" charset="0"/>
                <a:ea typeface="Cambria Math" panose="02040503050406030204" pitchFamily="18" charset="0"/>
              </a:rPr>
              <a:t> + </a:t>
            </a:r>
            <a:r>
              <a:rPr kumimoji="1" lang="en-US" altLang="zh-CN" i="1" kern="1200" dirty="0">
                <a:solidFill>
                  <a:srgbClr val="000000"/>
                </a:solidFill>
                <a:latin typeface="Cambria Math" panose="02040503050406030204" pitchFamily="18" charset="0"/>
                <a:ea typeface="Cambria Math" panose="02040503050406030204" pitchFamily="18" charset="0"/>
              </a:rPr>
              <a:t>p</a:t>
            </a:r>
            <a:r>
              <a:rPr kumimoji="1" lang="en-US" altLang="zh-CN" kern="1200" baseline="-25000" dirty="0">
                <a:solidFill>
                  <a:srgbClr val="000000"/>
                </a:solidFill>
                <a:latin typeface="Cambria Math" panose="02040503050406030204" pitchFamily="18" charset="0"/>
                <a:ea typeface="Cambria Math" panose="02040503050406030204" pitchFamily="18" charset="0"/>
              </a:rPr>
              <a:t>1</a:t>
            </a:r>
            <a:r>
              <a:rPr kumimoji="1" lang="en-US" altLang="zh-CN" kern="1200" dirty="0">
                <a:solidFill>
                  <a:srgbClr val="000000"/>
                </a:solidFill>
                <a:latin typeface="Cambria Math" panose="02040503050406030204" pitchFamily="18" charset="0"/>
                <a:ea typeface="Cambria Math" panose="02040503050406030204" pitchFamily="18" charset="0"/>
              </a:rPr>
              <a:t>x + </a:t>
            </a:r>
            <a:r>
              <a:rPr kumimoji="1" lang="en-US" altLang="zh-CN" i="1" kern="1200" dirty="0">
                <a:solidFill>
                  <a:srgbClr val="000000"/>
                </a:solidFill>
                <a:latin typeface="Cambria Math" panose="02040503050406030204" pitchFamily="18" charset="0"/>
                <a:ea typeface="Cambria Math" panose="02040503050406030204" pitchFamily="18" charset="0"/>
              </a:rPr>
              <a:t>p</a:t>
            </a:r>
            <a:r>
              <a:rPr kumimoji="1" lang="en-US" altLang="zh-CN" kern="1200" baseline="-25000" dirty="0">
                <a:solidFill>
                  <a:srgbClr val="000000"/>
                </a:solidFill>
                <a:latin typeface="Cambria Math" panose="02040503050406030204" pitchFamily="18" charset="0"/>
                <a:ea typeface="Cambria Math" panose="02040503050406030204" pitchFamily="18" charset="0"/>
              </a:rPr>
              <a:t>2</a:t>
            </a:r>
            <a:r>
              <a:rPr kumimoji="1" lang="en-US" altLang="zh-CN" i="1" kern="1200" dirty="0">
                <a:solidFill>
                  <a:srgbClr val="000000"/>
                </a:solidFill>
                <a:latin typeface="Cambria Math" panose="02040503050406030204" pitchFamily="18" charset="0"/>
                <a:ea typeface="Cambria Math" panose="02040503050406030204" pitchFamily="18" charset="0"/>
              </a:rPr>
              <a:t>x</a:t>
            </a:r>
            <a:r>
              <a:rPr kumimoji="1" lang="en-US" altLang="zh-CN" kern="1200" baseline="30000" dirty="0">
                <a:solidFill>
                  <a:srgbClr val="000000"/>
                </a:solidFill>
                <a:latin typeface="Cambria Math" panose="02040503050406030204" pitchFamily="18" charset="0"/>
                <a:ea typeface="Cambria Math" panose="02040503050406030204" pitchFamily="18" charset="0"/>
              </a:rPr>
              <a:t>2</a:t>
            </a:r>
            <a:r>
              <a:rPr kumimoji="1" lang="en-US" altLang="zh-CN" kern="1200" dirty="0">
                <a:solidFill>
                  <a:srgbClr val="000000"/>
                </a:solidFill>
                <a:latin typeface="Cambria Math" panose="02040503050406030204" pitchFamily="18" charset="0"/>
                <a:ea typeface="Cambria Math" panose="02040503050406030204" pitchFamily="18" charset="0"/>
              </a:rPr>
              <a:t> + … + </a:t>
            </a:r>
            <a:r>
              <a:rPr kumimoji="1" lang="en-US" altLang="zh-CN" i="1" kern="1200" dirty="0" err="1">
                <a:solidFill>
                  <a:srgbClr val="000000"/>
                </a:solidFill>
                <a:latin typeface="Cambria Math" panose="02040503050406030204" pitchFamily="18" charset="0"/>
                <a:ea typeface="Cambria Math" panose="02040503050406030204" pitchFamily="18" charset="0"/>
              </a:rPr>
              <a:t>p</a:t>
            </a:r>
            <a:r>
              <a:rPr kumimoji="1" lang="en-US" altLang="zh-CN" i="1" kern="1200" baseline="-25000" dirty="0" err="1">
                <a:solidFill>
                  <a:srgbClr val="000000"/>
                </a:solidFill>
                <a:latin typeface="Cambria Math" panose="02040503050406030204" pitchFamily="18" charset="0"/>
                <a:ea typeface="Cambria Math" panose="02040503050406030204" pitchFamily="18" charset="0"/>
              </a:rPr>
              <a:t>n</a:t>
            </a:r>
            <a:r>
              <a:rPr kumimoji="1" lang="en-US" altLang="zh-CN" i="1" kern="1200" dirty="0" err="1">
                <a:solidFill>
                  <a:srgbClr val="000000"/>
                </a:solidFill>
                <a:latin typeface="Cambria Math" panose="02040503050406030204" pitchFamily="18" charset="0"/>
                <a:ea typeface="Cambria Math" panose="02040503050406030204" pitchFamily="18" charset="0"/>
              </a:rPr>
              <a:t>x</a:t>
            </a:r>
            <a:r>
              <a:rPr kumimoji="1" lang="en-US" altLang="zh-CN" i="1" kern="1200" baseline="30000" dirty="0" err="1">
                <a:solidFill>
                  <a:srgbClr val="000000"/>
                </a:solidFill>
                <a:latin typeface="Cambria Math" panose="02040503050406030204" pitchFamily="18" charset="0"/>
                <a:ea typeface="Cambria Math" panose="02040503050406030204" pitchFamily="18" charset="0"/>
              </a:rPr>
              <a:t>n</a:t>
            </a:r>
            <a:endParaRPr lang="en-US" altLang="zh-CN" sz="3600" dirty="0">
              <a:latin typeface="Cambria Math" panose="02040503050406030204" pitchFamily="18" charset="0"/>
              <a:ea typeface="Cambria Math" panose="02040503050406030204" pitchFamily="18" charset="0"/>
            </a:endParaRPr>
          </a:p>
          <a:p>
            <a:pPr lvl="0">
              <a:defRPr/>
            </a:pPr>
            <a:r>
              <a:rPr kumimoji="0" lang="zh-CN" altLang="en-US" sz="3200" b="0" i="0" u="none" strike="noStrike" kern="0" cap="none" spc="0" normalizeH="0" baseline="0" noProof="0" dirty="0">
                <a:ln>
                  <a:noFill/>
                </a:ln>
                <a:solidFill>
                  <a:schemeClr val="tx1"/>
                </a:solidFill>
                <a:effectLst/>
                <a:uLnTx/>
                <a:uFillTx/>
                <a:latin typeface="+mn-lt"/>
                <a:ea typeface="+mn-ea"/>
                <a:cs typeface="+mn-cs"/>
              </a:rPr>
              <a:t>两个多项式相加的结果</a:t>
            </a: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n"/>
              <a:defRPr/>
            </a:pP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P = (p</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0</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 p</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1</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 …</a:t>
            </a:r>
            <a:r>
              <a:rPr kumimoji="0" lang="zh-CN" altLang="en-US" sz="2800" b="0" i="0" u="none" strike="noStrike" kern="0" cap="none" spc="0" normalizeH="0" baseline="0" noProof="0" dirty="0">
                <a:ln>
                  <a:noFill/>
                </a:ln>
                <a:solidFill>
                  <a:schemeClr val="tx1"/>
                </a:solidFill>
                <a:effectLst/>
                <a:uLnTx/>
                <a:uFillTx/>
                <a:latin typeface="+mn-lt"/>
                <a:ea typeface="楷体_GB2312" pitchFamily="49" charset="-122"/>
              </a:rPr>
              <a:t>，</a:t>
            </a:r>
            <a:r>
              <a:rPr kumimoji="0" lang="en-US" altLang="zh-CN" sz="2800" b="0" i="0" u="none" strike="noStrike" kern="0" cap="none" spc="0" normalizeH="0" baseline="0" noProof="0" dirty="0" err="1">
                <a:ln>
                  <a:noFill/>
                </a:ln>
                <a:solidFill>
                  <a:schemeClr val="tx1"/>
                </a:solidFill>
                <a:effectLst/>
                <a:uLnTx/>
                <a:uFillTx/>
                <a:latin typeface="+mn-lt"/>
                <a:ea typeface="楷体_GB2312" pitchFamily="49" charset="-122"/>
              </a:rPr>
              <a:t>p</a:t>
            </a:r>
            <a:r>
              <a:rPr kumimoji="0" lang="en-US" altLang="zh-CN" sz="2800" b="0" i="0" u="none" strike="noStrike" kern="0" cap="none" spc="0" normalizeH="0" baseline="-25000" noProof="0" dirty="0" err="1">
                <a:ln>
                  <a:noFill/>
                </a:ln>
                <a:solidFill>
                  <a:schemeClr val="tx1"/>
                </a:solidFill>
                <a:effectLst/>
                <a:uLnTx/>
                <a:uFillTx/>
                <a:latin typeface="+mn-lt"/>
                <a:ea typeface="楷体_GB2312" pitchFamily="49" charset="-122"/>
              </a:rPr>
              <a:t>n</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a:t>
            </a:r>
          </a:p>
          <a:p>
            <a:pPr marL="742950" marR="0" lvl="1" indent="-28575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n"/>
              <a:defRPr/>
            </a:pP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Q = (q</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0</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 q</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1</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 …</a:t>
            </a:r>
            <a:r>
              <a:rPr kumimoji="0" lang="zh-CN" altLang="en-US" sz="2800" b="0" i="0" u="none" strike="noStrike" kern="0" cap="none" spc="0" normalizeH="0" baseline="0" noProof="0" dirty="0">
                <a:ln>
                  <a:noFill/>
                </a:ln>
                <a:solidFill>
                  <a:schemeClr val="tx1"/>
                </a:solidFill>
                <a:effectLst/>
                <a:uLnTx/>
                <a:uFillTx/>
                <a:latin typeface="+mn-lt"/>
                <a:ea typeface="楷体_GB2312" pitchFamily="49" charset="-122"/>
              </a:rPr>
              <a:t>，</a:t>
            </a:r>
            <a:r>
              <a:rPr kumimoji="0" lang="en-US" altLang="zh-CN" sz="2800" b="0" i="0" u="none" strike="noStrike" kern="0" cap="none" spc="0" normalizeH="0" baseline="0" noProof="0" dirty="0" err="1">
                <a:ln>
                  <a:noFill/>
                </a:ln>
                <a:solidFill>
                  <a:schemeClr val="tx1"/>
                </a:solidFill>
                <a:effectLst/>
                <a:uLnTx/>
                <a:uFillTx/>
                <a:latin typeface="+mn-lt"/>
                <a:ea typeface="楷体_GB2312" pitchFamily="49" charset="-122"/>
              </a:rPr>
              <a:t>q</a:t>
            </a:r>
            <a:r>
              <a:rPr kumimoji="0" lang="en-US" altLang="zh-CN" sz="2800" b="0" i="0" u="none" strike="noStrike" kern="0" cap="none" spc="0" normalizeH="0" baseline="-25000" noProof="0" dirty="0" err="1">
                <a:ln>
                  <a:noFill/>
                </a:ln>
                <a:solidFill>
                  <a:schemeClr val="tx1"/>
                </a:solidFill>
                <a:effectLst/>
                <a:uLnTx/>
                <a:uFillTx/>
                <a:latin typeface="+mn-lt"/>
                <a:ea typeface="楷体_GB2312" pitchFamily="49" charset="-122"/>
              </a:rPr>
              <a:t>n</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a:t>
            </a:r>
            <a:endParaRPr kumimoji="0" lang="zh-CN" altLang="en-US" sz="2800" b="0"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n"/>
              <a:defRPr/>
            </a:pP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R = (p</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0</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+q</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0</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 p</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1</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+q</a:t>
            </a:r>
            <a:r>
              <a:rPr kumimoji="0" lang="en-US" altLang="zh-CN" sz="2800" b="0" i="0" u="none" strike="noStrike" kern="0" cap="none" spc="0" normalizeH="0" baseline="-25000" noProof="0" dirty="0">
                <a:ln>
                  <a:noFill/>
                </a:ln>
                <a:solidFill>
                  <a:schemeClr val="tx1"/>
                </a:solidFill>
                <a:effectLst/>
                <a:uLnTx/>
                <a:uFillTx/>
                <a:latin typeface="+mn-lt"/>
                <a:ea typeface="楷体_GB2312" pitchFamily="49" charset="-122"/>
              </a:rPr>
              <a:t>1</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 …</a:t>
            </a:r>
            <a:r>
              <a:rPr kumimoji="0" lang="zh-CN" altLang="en-US" sz="2800" b="0" i="0" u="none" strike="noStrike" kern="0" cap="none" spc="0" normalizeH="0" baseline="0" noProof="0" dirty="0">
                <a:ln>
                  <a:noFill/>
                </a:ln>
                <a:solidFill>
                  <a:schemeClr val="tx1"/>
                </a:solidFill>
                <a:effectLst/>
                <a:uLnTx/>
                <a:uFillTx/>
                <a:latin typeface="+mn-lt"/>
                <a:ea typeface="楷体_GB2312" pitchFamily="49" charset="-122"/>
              </a:rPr>
              <a:t>，</a:t>
            </a:r>
            <a:r>
              <a:rPr kumimoji="0" lang="en-US" altLang="zh-CN" sz="2800" b="0" i="0" u="none" strike="noStrike" kern="0" cap="none" spc="0" normalizeH="0" baseline="0" noProof="0" dirty="0" err="1">
                <a:ln>
                  <a:noFill/>
                </a:ln>
                <a:solidFill>
                  <a:schemeClr val="tx1"/>
                </a:solidFill>
                <a:effectLst/>
                <a:uLnTx/>
                <a:uFillTx/>
                <a:latin typeface="+mn-lt"/>
                <a:ea typeface="楷体_GB2312" pitchFamily="49" charset="-122"/>
              </a:rPr>
              <a:t>p</a:t>
            </a:r>
            <a:r>
              <a:rPr kumimoji="0" lang="en-US" altLang="zh-CN" sz="2800" b="0" i="0" u="none" strike="noStrike" kern="0" cap="none" spc="0" normalizeH="0" baseline="-25000" noProof="0" dirty="0" err="1">
                <a:ln>
                  <a:noFill/>
                </a:ln>
                <a:solidFill>
                  <a:schemeClr val="tx1"/>
                </a:solidFill>
                <a:effectLst/>
                <a:uLnTx/>
                <a:uFillTx/>
                <a:latin typeface="+mn-lt"/>
                <a:ea typeface="楷体_GB2312" pitchFamily="49" charset="-122"/>
              </a:rPr>
              <a:t>n</a:t>
            </a:r>
            <a:r>
              <a:rPr kumimoji="0" lang="en-US" altLang="zh-CN" sz="2800" b="0" i="0" u="none" strike="noStrike" kern="0" cap="none" spc="0" normalizeH="0" baseline="0" noProof="0" dirty="0" err="1">
                <a:ln>
                  <a:noFill/>
                </a:ln>
                <a:solidFill>
                  <a:schemeClr val="tx1"/>
                </a:solidFill>
                <a:effectLst/>
                <a:uLnTx/>
                <a:uFillTx/>
                <a:latin typeface="+mn-lt"/>
                <a:ea typeface="楷体_GB2312" pitchFamily="49" charset="-122"/>
              </a:rPr>
              <a:t>+q</a:t>
            </a:r>
            <a:r>
              <a:rPr kumimoji="0" lang="en-US" altLang="zh-CN" sz="2800" b="0" i="0" u="none" strike="noStrike" kern="0" cap="none" spc="0" normalizeH="0" baseline="-25000" noProof="0" dirty="0" err="1">
                <a:ln>
                  <a:noFill/>
                </a:ln>
                <a:solidFill>
                  <a:schemeClr val="tx1"/>
                </a:solidFill>
                <a:effectLst/>
                <a:uLnTx/>
                <a:uFillTx/>
                <a:latin typeface="+mn-lt"/>
                <a:ea typeface="楷体_GB2312" pitchFamily="49" charset="-122"/>
              </a:rPr>
              <a:t>n</a:t>
            </a:r>
            <a:r>
              <a:rPr kumimoji="0" lang="en-US" altLang="zh-CN" sz="2800" b="0" i="0" u="none" strike="noStrike" kern="0" cap="none" spc="0" normalizeH="0" baseline="0" noProof="0" dirty="0">
                <a:ln>
                  <a:noFill/>
                </a:ln>
                <a:solidFill>
                  <a:schemeClr val="tx1"/>
                </a:solidFill>
                <a:effectLst/>
                <a:uLnTx/>
                <a:uFillTx/>
                <a:latin typeface="+mn-lt"/>
                <a:ea typeface="楷体_GB2312" pitchFamily="49" charset="-122"/>
              </a:rPr>
              <a:t>)</a:t>
            </a:r>
          </a:p>
          <a:p>
            <a:pPr marL="342900" marR="0" lvl="0" indent="-34290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mn-lt"/>
                <a:ea typeface="+mn-ea"/>
                <a:cs typeface="+mn-cs"/>
              </a:rPr>
              <a:t>可以用顺序表存储</a:t>
            </a: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mn-lt"/>
                <a:ea typeface="+mn-ea"/>
                <a:cs typeface="+mn-cs"/>
              </a:rPr>
              <a:t>如果多项式的次数很高且变化较大时，链式存储可以节省内存空间</a:t>
            </a:r>
          </a:p>
          <a:p>
            <a:pPr marL="342900" marR="0" lvl="0" indent="-34290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n"/>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vert="horz" wrap="square" lIns="91440" tIns="45720" rIns="91440" bIns="45720" anchor="ctr"/>
          <a:lstStyle/>
          <a:p>
            <a:r>
              <a:rPr lang="zh-CN" altLang="en-US" dirty="0">
                <a:latin typeface="+mj-lt"/>
                <a:ea typeface="+mj-ea"/>
                <a:cs typeface="+mj-cs"/>
              </a:rPr>
              <a:t>多项式</a:t>
            </a:r>
            <a:r>
              <a:rPr lang="zh-CN" altLang="en-US" dirty="0"/>
              <a:t>的表示</a:t>
            </a:r>
            <a:endParaRPr lang="zh-CN" altLang="en-US" dirty="0">
              <a:latin typeface="+mj-lt"/>
              <a:ea typeface="+mj-ea"/>
              <a:cs typeface="+mj-cs"/>
            </a:endParaRPr>
          </a:p>
        </p:txBody>
      </p:sp>
      <p:sp>
        <p:nvSpPr>
          <p:cNvPr id="54275" name="内容占位符 2"/>
          <p:cNvSpPr>
            <a:spLocks noGrp="1"/>
          </p:cNvSpPr>
          <p:nvPr>
            <p:ph idx="1"/>
          </p:nvPr>
        </p:nvSpPr>
        <p:spPr>
          <a:xfrm>
            <a:off x="468630" y="1125855"/>
            <a:ext cx="8207375" cy="71501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mn-lt"/>
                <a:ea typeface="+mn-ea"/>
                <a:cs typeface="+mn-cs"/>
              </a:rPr>
              <a:t>多项式链表结点的数据结构定义</a:t>
            </a:r>
          </a:p>
        </p:txBody>
      </p:sp>
      <p:sp>
        <p:nvSpPr>
          <p:cNvPr id="54277" name="文本框 1"/>
          <p:cNvSpPr txBox="1"/>
          <p:nvPr/>
        </p:nvSpPr>
        <p:spPr>
          <a:xfrm>
            <a:off x="1853435" y="1875383"/>
            <a:ext cx="5940368" cy="2234458"/>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1" hangingPunct="1">
              <a:buNone/>
            </a:pPr>
            <a:r>
              <a:rPr lang="en-US" altLang="zh-CN" sz="2400" dirty="0" err="1">
                <a:latin typeface="Cambria Math" panose="02040503050406030204" pitchFamily="18" charset="0"/>
                <a:ea typeface="Cambria Math" panose="02040503050406030204" pitchFamily="18" charset="0"/>
                <a:cs typeface="Arial Unicode MS" panose="020B0604020202020204" charset="-122"/>
              </a:rPr>
              <a:t>typedef</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a:p>
            <a:pPr marL="0" indent="0" eaLnBrk="1" hangingPunct="1">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float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coef</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zh-CN" altLang="en-US" sz="2400" dirty="0">
                <a:latin typeface="Cambria Math" panose="02040503050406030204" pitchFamily="18" charset="0"/>
                <a:ea typeface="Cambria Math" panose="02040503050406030204" pitchFamily="18" charset="0"/>
                <a:cs typeface="Arial Unicode MS" panose="020B0604020202020204" charset="-122"/>
              </a:rPr>
              <a:t>系数 </a:t>
            </a:r>
          </a:p>
          <a:p>
            <a:pPr marL="0" indent="0" eaLnBrk="1" hangingPunct="1">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int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expn</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zh-CN" altLang="en-US" sz="2400" dirty="0">
                <a:latin typeface="Cambria Math" panose="02040503050406030204" pitchFamily="18" charset="0"/>
                <a:ea typeface="Cambria Math" panose="02040503050406030204" pitchFamily="18" charset="0"/>
                <a:cs typeface="Arial Unicode MS" panose="020B0604020202020204" charset="-122"/>
              </a:rPr>
              <a:t>指数 </a:t>
            </a:r>
          </a:p>
          <a:p>
            <a:pPr marL="0" indent="0" eaLnBrk="1" hangingPunct="1">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struct</a:t>
            </a:r>
            <a:r>
              <a:rPr lang="en-US" altLang="zh-CN" sz="2400" dirty="0">
                <a:latin typeface="Cambria Math" panose="02040503050406030204" pitchFamily="18" charset="0"/>
                <a:ea typeface="Cambria Math" panose="02040503050406030204" pitchFamily="18" charset="0"/>
                <a:cs typeface="Arial Unicode MS" panose="020B0604020202020204" charset="-122"/>
              </a:rPr>
              <a:t> </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  *next;	//</a:t>
            </a:r>
            <a:r>
              <a:rPr lang="zh-CN" altLang="en-US" sz="2400" dirty="0">
                <a:latin typeface="Cambria Math" panose="02040503050406030204" pitchFamily="18" charset="0"/>
                <a:ea typeface="Cambria Math" panose="02040503050406030204" pitchFamily="18" charset="0"/>
                <a:cs typeface="Arial Unicode MS" panose="020B0604020202020204" charset="-122"/>
              </a:rPr>
              <a:t>指针域</a:t>
            </a:r>
          </a:p>
          <a:p>
            <a:pPr marL="0" indent="0" eaLnBrk="1" hangingPunct="1">
              <a:buNone/>
            </a:pPr>
            <a:r>
              <a:rPr lang="en-US" altLang="zh-CN" sz="2400" dirty="0">
                <a:latin typeface="Cambria Math" panose="02040503050406030204" pitchFamily="18" charset="0"/>
                <a:ea typeface="Cambria Math" panose="02040503050406030204" pitchFamily="18" charset="0"/>
                <a:cs typeface="Arial Unicode MS" panose="020B0604020202020204" charset="-122"/>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rPr>
              <a:t>PNode</a:t>
            </a:r>
            <a:r>
              <a:rPr lang="en-US" altLang="zh-CN" sz="2400" dirty="0">
                <a:latin typeface="Cambria Math" panose="02040503050406030204" pitchFamily="18" charset="0"/>
                <a:ea typeface="Cambria Math" panose="02040503050406030204" pitchFamily="18" charset="0"/>
                <a:cs typeface="Arial Unicode MS" panose="020B0604020202020204" charset="-122"/>
              </a:rPr>
              <a:t>,*Poly;  </a:t>
            </a:r>
            <a:endParaRPr lang="zh-CN" altLang="en-US" sz="2400" dirty="0">
              <a:latin typeface="Cambria Math" panose="02040503050406030204" pitchFamily="18" charset="0"/>
              <a:ea typeface="Cambria Math" panose="02040503050406030204" pitchFamily="18" charset="0"/>
              <a:cs typeface="Arial Unicode MS" panose="020B0604020202020204" charset="-122"/>
            </a:endParaRPr>
          </a:p>
        </p:txBody>
      </p:sp>
      <p:sp>
        <p:nvSpPr>
          <p:cNvPr id="7" name="内容占位符 2"/>
          <p:cNvSpPr txBox="1">
            <a:spLocks/>
          </p:cNvSpPr>
          <p:nvPr/>
        </p:nvSpPr>
        <p:spPr>
          <a:xfrm>
            <a:off x="467544" y="4869160"/>
            <a:ext cx="8207375" cy="1440160"/>
          </a:xfrm>
          <a:prstGeom prst="rect">
            <a:avLst/>
          </a:prstGeom>
          <a:noFill/>
          <a:ln w="9525">
            <a:noFill/>
          </a:ln>
        </p:spPr>
        <p:txBody>
          <a:bodyPr vert="horz" wrap="square" lIns="91440" tIns="45720" rIns="91440" bIns="45720" numCol="1" anchor="t" anchorCtr="0" compatLnSpc="1"/>
          <a:lstStyle>
            <a:lvl1pPr marL="342900" indent="-342900" algn="l" rtl="0" eaLnBrk="0" fontAlgn="base" hangingPunct="0">
              <a:spcBef>
                <a:spcPts val="600"/>
              </a:spcBef>
              <a:spcAft>
                <a:spcPts val="60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600"/>
              </a:spcBef>
              <a:spcAft>
                <a:spcPts val="6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ts val="600"/>
              </a:spcBef>
              <a:spcAft>
                <a:spcPts val="60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600"/>
              </a:spcBef>
              <a:spcAft>
                <a:spcPts val="6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ts val="600"/>
              </a:spcBef>
              <a:spcAft>
                <a:spcPts val="60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a:lstStyle>
          <a:p>
            <a:pPr>
              <a:defRPr/>
            </a:pPr>
            <a:r>
              <a:rPr lang="zh-CN" altLang="en-US" kern="0" dirty="0"/>
              <a:t>多项式链表通常是按指数有序排列的</a:t>
            </a:r>
            <a:endParaRPr lang="en-US" altLang="zh-CN" kern="0" dirty="0"/>
          </a:p>
          <a:p>
            <a:pPr lvl="1">
              <a:defRPr/>
            </a:pPr>
            <a:r>
              <a:rPr lang="zh-CN" altLang="en-US" kern="0" dirty="0"/>
              <a:t>其创建与链表创建相似</a:t>
            </a:r>
          </a:p>
        </p:txBody>
      </p:sp>
      <p:sp>
        <p:nvSpPr>
          <p:cNvPr id="2" name="灯片编号占位符 1"/>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5" name="Text Box 3"/>
          <p:cNvSpPr txBox="1">
            <a:spLocks noChangeArrowheads="1"/>
          </p:cNvSpPr>
          <p:nvPr/>
        </p:nvSpPr>
        <p:spPr bwMode="auto">
          <a:xfrm>
            <a:off x="793750" y="1340768"/>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A</a:t>
            </a:r>
            <a:r>
              <a:rPr lang="en-US" altLang="zh-CN" baseline="-25000" dirty="0">
                <a:latin typeface="Tahoma" panose="020B0604030504040204" pitchFamily="34" charset="0"/>
              </a:rPr>
              <a:t>17</a:t>
            </a:r>
            <a:r>
              <a:rPr lang="en-US" altLang="zh-CN" dirty="0">
                <a:latin typeface="Tahoma" panose="020B0604030504040204" pitchFamily="34" charset="0"/>
              </a:rPr>
              <a:t>(x)=7+3x+9x</a:t>
            </a:r>
            <a:r>
              <a:rPr lang="en-US" altLang="zh-CN" baseline="30000" dirty="0">
                <a:latin typeface="Tahoma" panose="020B0604030504040204" pitchFamily="34" charset="0"/>
              </a:rPr>
              <a:t>8</a:t>
            </a:r>
            <a:r>
              <a:rPr lang="en-US" altLang="zh-CN" dirty="0">
                <a:latin typeface="Tahoma" panose="020B0604030504040204" pitchFamily="34" charset="0"/>
              </a:rPr>
              <a:t>+5x</a:t>
            </a:r>
            <a:r>
              <a:rPr lang="en-US" altLang="zh-CN" baseline="30000" dirty="0">
                <a:latin typeface="Tahoma" panose="020B0604030504040204" pitchFamily="34" charset="0"/>
              </a:rPr>
              <a:t>17</a:t>
            </a:r>
          </a:p>
        </p:txBody>
      </p:sp>
      <p:sp>
        <p:nvSpPr>
          <p:cNvPr id="6" name="Text Box 4"/>
          <p:cNvSpPr txBox="1">
            <a:spLocks noChangeArrowheads="1"/>
          </p:cNvSpPr>
          <p:nvPr/>
        </p:nvSpPr>
        <p:spPr bwMode="auto">
          <a:xfrm>
            <a:off x="793750" y="2026568"/>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B</a:t>
            </a:r>
            <a:r>
              <a:rPr lang="en-US" altLang="zh-CN" baseline="-25000" dirty="0">
                <a:latin typeface="Tahoma" panose="020B0604030504040204" pitchFamily="34" charset="0"/>
              </a:rPr>
              <a:t>8</a:t>
            </a:r>
            <a:r>
              <a:rPr lang="en-US" altLang="zh-CN" dirty="0">
                <a:latin typeface="Tahoma" panose="020B0604030504040204" pitchFamily="34" charset="0"/>
              </a:rPr>
              <a:t>(x)=8x+22x</a:t>
            </a:r>
            <a:r>
              <a:rPr lang="en-US" altLang="zh-CN" baseline="30000" dirty="0">
                <a:latin typeface="Tahoma" panose="020B0604030504040204" pitchFamily="34" charset="0"/>
              </a:rPr>
              <a:t>7</a:t>
            </a:r>
            <a:r>
              <a:rPr lang="en-US" altLang="zh-CN" dirty="0">
                <a:latin typeface="Tahoma" panose="020B0604030504040204" pitchFamily="34" charset="0"/>
              </a:rPr>
              <a:t>-9x</a:t>
            </a:r>
            <a:r>
              <a:rPr lang="en-US" altLang="zh-CN" baseline="30000" dirty="0">
                <a:latin typeface="Tahoma" panose="020B0604030504040204" pitchFamily="34" charset="0"/>
              </a:rPr>
              <a:t>8</a:t>
            </a:r>
          </a:p>
        </p:txBody>
      </p:sp>
      <p:grpSp>
        <p:nvGrpSpPr>
          <p:cNvPr id="58" name="组合 57"/>
          <p:cNvGrpSpPr/>
          <p:nvPr/>
        </p:nvGrpSpPr>
        <p:grpSpPr>
          <a:xfrm>
            <a:off x="346075" y="3550568"/>
            <a:ext cx="8451850" cy="1531938"/>
            <a:chOff x="346075" y="3550568"/>
            <a:chExt cx="8451850" cy="1531938"/>
          </a:xfrm>
        </p:grpSpPr>
        <p:sp>
          <p:nvSpPr>
            <p:cNvPr id="56" name="Rectangle 6" descr="深色上对角线"/>
            <p:cNvSpPr>
              <a:spLocks noChangeArrowheads="1"/>
            </p:cNvSpPr>
            <p:nvPr/>
          </p:nvSpPr>
          <p:spPr bwMode="auto">
            <a:xfrm>
              <a:off x="1386398" y="3653756"/>
              <a:ext cx="405380" cy="439295"/>
            </a:xfrm>
            <a:prstGeom prst="rect">
              <a:avLst/>
            </a:prstGeom>
            <a:no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14" name="Rectangle 6" descr="深色上对角线"/>
            <p:cNvSpPr>
              <a:spLocks noChangeArrowheads="1"/>
            </p:cNvSpPr>
            <p:nvPr/>
          </p:nvSpPr>
          <p:spPr bwMode="auto">
            <a:xfrm>
              <a:off x="969963" y="3653756"/>
              <a:ext cx="419100" cy="438150"/>
            </a:xfrm>
            <a:prstGeom prst="rect">
              <a:avLst/>
            </a:prstGeom>
            <a:no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16" name="Rectangle 8" descr="深色上对角线"/>
            <p:cNvSpPr>
              <a:spLocks noChangeArrowheads="1"/>
            </p:cNvSpPr>
            <p:nvPr/>
          </p:nvSpPr>
          <p:spPr bwMode="auto">
            <a:xfrm>
              <a:off x="1774825" y="3653756"/>
              <a:ext cx="431800" cy="438150"/>
            </a:xfrm>
            <a:prstGeom prst="rect">
              <a:avLst/>
            </a:prstGeom>
            <a:no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7" name="Rectangle 9" descr="深色上对角线"/>
            <p:cNvSpPr>
              <a:spLocks noChangeArrowheads="1"/>
            </p:cNvSpPr>
            <p:nvPr/>
          </p:nvSpPr>
          <p:spPr bwMode="auto">
            <a:xfrm>
              <a:off x="25749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8" name="Rectangle 10" descr="深色上对角线"/>
            <p:cNvSpPr>
              <a:spLocks noChangeArrowheads="1"/>
            </p:cNvSpPr>
            <p:nvPr/>
          </p:nvSpPr>
          <p:spPr bwMode="auto">
            <a:xfrm>
              <a:off x="29940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9" name="Rectangle 11" descr="深色上对角线"/>
            <p:cNvSpPr>
              <a:spLocks noChangeArrowheads="1"/>
            </p:cNvSpPr>
            <p:nvPr/>
          </p:nvSpPr>
          <p:spPr bwMode="auto">
            <a:xfrm>
              <a:off x="34258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0" name="Rectangle 12" descr="深色上对角线"/>
            <p:cNvSpPr>
              <a:spLocks noChangeArrowheads="1"/>
            </p:cNvSpPr>
            <p:nvPr/>
          </p:nvSpPr>
          <p:spPr bwMode="auto">
            <a:xfrm>
              <a:off x="42259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3</a:t>
              </a:r>
            </a:p>
          </p:txBody>
        </p:sp>
        <p:sp>
          <p:nvSpPr>
            <p:cNvPr id="21" name="Rectangle 13" descr="深色上对角线"/>
            <p:cNvSpPr>
              <a:spLocks noChangeArrowheads="1"/>
            </p:cNvSpPr>
            <p:nvPr/>
          </p:nvSpPr>
          <p:spPr bwMode="auto">
            <a:xfrm>
              <a:off x="46450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2" name="Rectangle 14" descr="深色上对角线"/>
            <p:cNvSpPr>
              <a:spLocks noChangeArrowheads="1"/>
            </p:cNvSpPr>
            <p:nvPr/>
          </p:nvSpPr>
          <p:spPr bwMode="auto">
            <a:xfrm>
              <a:off x="50768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3" name="Rectangle 15" descr="深色上对角线"/>
            <p:cNvSpPr>
              <a:spLocks noChangeArrowheads="1"/>
            </p:cNvSpPr>
            <p:nvPr/>
          </p:nvSpPr>
          <p:spPr bwMode="auto">
            <a:xfrm>
              <a:off x="58515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24" name="Rectangle 16" descr="深色上对角线"/>
            <p:cNvSpPr>
              <a:spLocks noChangeArrowheads="1"/>
            </p:cNvSpPr>
            <p:nvPr/>
          </p:nvSpPr>
          <p:spPr bwMode="auto">
            <a:xfrm>
              <a:off x="62706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8</a:t>
              </a:r>
            </a:p>
          </p:txBody>
        </p:sp>
        <p:sp>
          <p:nvSpPr>
            <p:cNvPr id="25" name="Rectangle 17" descr="深色上对角线"/>
            <p:cNvSpPr>
              <a:spLocks noChangeArrowheads="1"/>
            </p:cNvSpPr>
            <p:nvPr/>
          </p:nvSpPr>
          <p:spPr bwMode="auto">
            <a:xfrm>
              <a:off x="67024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6" name="Rectangle 18" descr="深色上对角线"/>
            <p:cNvSpPr>
              <a:spLocks noChangeArrowheads="1"/>
            </p:cNvSpPr>
            <p:nvPr/>
          </p:nvSpPr>
          <p:spPr bwMode="auto">
            <a:xfrm>
              <a:off x="75152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27" name="Rectangle 19" descr="深色上对角线"/>
            <p:cNvSpPr>
              <a:spLocks noChangeArrowheads="1"/>
            </p:cNvSpPr>
            <p:nvPr/>
          </p:nvSpPr>
          <p:spPr bwMode="auto">
            <a:xfrm>
              <a:off x="79343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8" name="Rectangle 20" descr="深色上对角线"/>
            <p:cNvSpPr>
              <a:spLocks noChangeArrowheads="1"/>
            </p:cNvSpPr>
            <p:nvPr/>
          </p:nvSpPr>
          <p:spPr bwMode="auto">
            <a:xfrm>
              <a:off x="83661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Line 21"/>
            <p:cNvSpPr>
              <a:spLocks noChangeShapeType="1"/>
            </p:cNvSpPr>
            <p:nvPr/>
          </p:nvSpPr>
          <p:spPr bwMode="auto">
            <a:xfrm flipH="1">
              <a:off x="8505825" y="3787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22"/>
            <p:cNvSpPr>
              <a:spLocks noChangeShapeType="1"/>
            </p:cNvSpPr>
            <p:nvPr/>
          </p:nvSpPr>
          <p:spPr bwMode="auto">
            <a:xfrm>
              <a:off x="8582025" y="3787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Rectangle 23" descr="深色上对角线"/>
            <p:cNvSpPr>
              <a:spLocks noChangeArrowheads="1"/>
            </p:cNvSpPr>
            <p:nvPr/>
          </p:nvSpPr>
          <p:spPr bwMode="auto">
            <a:xfrm>
              <a:off x="923925" y="46443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33" name="Rectangle 25" descr="深色上对角线"/>
            <p:cNvSpPr>
              <a:spLocks noChangeArrowheads="1"/>
            </p:cNvSpPr>
            <p:nvPr/>
          </p:nvSpPr>
          <p:spPr bwMode="auto">
            <a:xfrm>
              <a:off x="1774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4" name="Rectangle 26" descr="深色上对角线"/>
            <p:cNvSpPr>
              <a:spLocks noChangeArrowheads="1"/>
            </p:cNvSpPr>
            <p:nvPr/>
          </p:nvSpPr>
          <p:spPr bwMode="auto">
            <a:xfrm>
              <a:off x="25749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5" name="Rectangle 27" descr="深色上对角线"/>
            <p:cNvSpPr>
              <a:spLocks noChangeArrowheads="1"/>
            </p:cNvSpPr>
            <p:nvPr/>
          </p:nvSpPr>
          <p:spPr bwMode="auto">
            <a:xfrm>
              <a:off x="29940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36" name="Rectangle 28" descr="深色上对角线"/>
            <p:cNvSpPr>
              <a:spLocks noChangeArrowheads="1"/>
            </p:cNvSpPr>
            <p:nvPr/>
          </p:nvSpPr>
          <p:spPr bwMode="auto">
            <a:xfrm>
              <a:off x="3425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7" name="Rectangle 29" descr="深色上对角线"/>
            <p:cNvSpPr>
              <a:spLocks noChangeArrowheads="1"/>
            </p:cNvSpPr>
            <p:nvPr/>
          </p:nvSpPr>
          <p:spPr bwMode="auto">
            <a:xfrm>
              <a:off x="42259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22</a:t>
              </a:r>
            </a:p>
          </p:txBody>
        </p:sp>
        <p:sp>
          <p:nvSpPr>
            <p:cNvPr id="38" name="Rectangle 30" descr="深色上对角线"/>
            <p:cNvSpPr>
              <a:spLocks noChangeArrowheads="1"/>
            </p:cNvSpPr>
            <p:nvPr/>
          </p:nvSpPr>
          <p:spPr bwMode="auto">
            <a:xfrm>
              <a:off x="46450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39" name="Rectangle 31" descr="深色上对角线"/>
            <p:cNvSpPr>
              <a:spLocks noChangeArrowheads="1"/>
            </p:cNvSpPr>
            <p:nvPr/>
          </p:nvSpPr>
          <p:spPr bwMode="auto">
            <a:xfrm>
              <a:off x="5076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40" name="Rectangle 32" descr="深色上对角线"/>
            <p:cNvSpPr>
              <a:spLocks noChangeArrowheads="1"/>
            </p:cNvSpPr>
            <p:nvPr/>
          </p:nvSpPr>
          <p:spPr bwMode="auto">
            <a:xfrm>
              <a:off x="58515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41" name="Rectangle 33" descr="深色上对角线"/>
            <p:cNvSpPr>
              <a:spLocks noChangeArrowheads="1"/>
            </p:cNvSpPr>
            <p:nvPr/>
          </p:nvSpPr>
          <p:spPr bwMode="auto">
            <a:xfrm>
              <a:off x="62706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42" name="Rectangle 34" descr="深色上对角线"/>
            <p:cNvSpPr>
              <a:spLocks noChangeArrowheads="1"/>
            </p:cNvSpPr>
            <p:nvPr/>
          </p:nvSpPr>
          <p:spPr bwMode="auto">
            <a:xfrm>
              <a:off x="67024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43" name="Line 35"/>
            <p:cNvSpPr>
              <a:spLocks noChangeShapeType="1"/>
            </p:cNvSpPr>
            <p:nvPr/>
          </p:nvSpPr>
          <p:spPr bwMode="auto">
            <a:xfrm flipH="1">
              <a:off x="6829425" y="4803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36"/>
            <p:cNvSpPr>
              <a:spLocks noChangeShapeType="1"/>
            </p:cNvSpPr>
            <p:nvPr/>
          </p:nvSpPr>
          <p:spPr bwMode="auto">
            <a:xfrm>
              <a:off x="6905625" y="4803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37"/>
            <p:cNvSpPr>
              <a:spLocks noChangeShapeType="1"/>
            </p:cNvSpPr>
            <p:nvPr/>
          </p:nvSpPr>
          <p:spPr bwMode="auto">
            <a:xfrm>
              <a:off x="428625" y="38633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38"/>
            <p:cNvSpPr>
              <a:spLocks noChangeShapeType="1"/>
            </p:cNvSpPr>
            <p:nvPr/>
          </p:nvSpPr>
          <p:spPr bwMode="auto">
            <a:xfrm>
              <a:off x="428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39"/>
            <p:cNvSpPr>
              <a:spLocks noChangeShapeType="1"/>
            </p:cNvSpPr>
            <p:nvPr/>
          </p:nvSpPr>
          <p:spPr bwMode="auto">
            <a:xfrm>
              <a:off x="2073275" y="38760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40"/>
            <p:cNvSpPr>
              <a:spLocks noChangeShapeType="1"/>
            </p:cNvSpPr>
            <p:nvPr/>
          </p:nvSpPr>
          <p:spPr bwMode="auto">
            <a:xfrm>
              <a:off x="3724275" y="38760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41"/>
            <p:cNvSpPr>
              <a:spLocks noChangeShapeType="1"/>
            </p:cNvSpPr>
            <p:nvPr/>
          </p:nvSpPr>
          <p:spPr bwMode="auto">
            <a:xfrm>
              <a:off x="5362575" y="388235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42"/>
            <p:cNvSpPr>
              <a:spLocks noChangeShapeType="1"/>
            </p:cNvSpPr>
            <p:nvPr/>
          </p:nvSpPr>
          <p:spPr bwMode="auto">
            <a:xfrm>
              <a:off x="7026275" y="38887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43"/>
            <p:cNvSpPr>
              <a:spLocks noChangeShapeType="1"/>
            </p:cNvSpPr>
            <p:nvPr/>
          </p:nvSpPr>
          <p:spPr bwMode="auto">
            <a:xfrm>
              <a:off x="2079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44"/>
            <p:cNvSpPr>
              <a:spLocks noChangeShapeType="1"/>
            </p:cNvSpPr>
            <p:nvPr/>
          </p:nvSpPr>
          <p:spPr bwMode="auto">
            <a:xfrm>
              <a:off x="3730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45"/>
            <p:cNvSpPr>
              <a:spLocks noChangeShapeType="1"/>
            </p:cNvSpPr>
            <p:nvPr/>
          </p:nvSpPr>
          <p:spPr bwMode="auto">
            <a:xfrm>
              <a:off x="5368925" y="487295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 name="Text Box 46"/>
            <p:cNvSpPr txBox="1">
              <a:spLocks noChangeArrowheads="1"/>
            </p:cNvSpPr>
            <p:nvPr/>
          </p:nvSpPr>
          <p:spPr bwMode="auto">
            <a:xfrm>
              <a:off x="361950" y="3550568"/>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A</a:t>
              </a:r>
            </a:p>
          </p:txBody>
        </p:sp>
        <p:sp>
          <p:nvSpPr>
            <p:cNvPr id="55" name="Text Box 47"/>
            <p:cNvSpPr txBox="1">
              <a:spLocks noChangeArrowheads="1"/>
            </p:cNvSpPr>
            <p:nvPr/>
          </p:nvSpPr>
          <p:spPr bwMode="auto">
            <a:xfrm>
              <a:off x="346075" y="4555456"/>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sp>
          <p:nvSpPr>
            <p:cNvPr id="57" name="Rectangle 6" descr="深色上对角线"/>
            <p:cNvSpPr>
              <a:spLocks noChangeArrowheads="1"/>
            </p:cNvSpPr>
            <p:nvPr/>
          </p:nvSpPr>
          <p:spPr bwMode="auto">
            <a:xfrm>
              <a:off x="1350814" y="46443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grpSp>
      <p:sp>
        <p:nvSpPr>
          <p:cNvPr id="59" name="文本框 58"/>
          <p:cNvSpPr txBox="1"/>
          <p:nvPr/>
        </p:nvSpPr>
        <p:spPr>
          <a:xfrm>
            <a:off x="4945188" y="1332431"/>
            <a:ext cx="3674937" cy="830997"/>
          </a:xfrm>
          <a:prstGeom prst="rect">
            <a:avLst/>
          </a:prstGeom>
          <a:noFill/>
        </p:spPr>
        <p:txBody>
          <a:bodyPr wrap="square" rtlCol="0">
            <a:spAutoFit/>
          </a:bodyPr>
          <a:lstStyle/>
          <a:p>
            <a:r>
              <a:rPr lang="zh-CN" altLang="en-US" sz="2400" dirty="0"/>
              <a:t>需要考虑相加后，</a:t>
            </a:r>
            <a:endParaRPr lang="en-US" altLang="zh-CN" sz="2400" dirty="0"/>
          </a:p>
          <a:p>
            <a:r>
              <a:rPr lang="zh-CN" altLang="en-US" sz="2400" dirty="0"/>
              <a:t>多项式</a:t>
            </a:r>
            <a:r>
              <a:rPr lang="en-US" altLang="zh-CN" sz="2400" dirty="0"/>
              <a:t>A</a:t>
            </a:r>
            <a:r>
              <a:rPr lang="zh-CN" altLang="en-US" sz="2400" dirty="0"/>
              <a:t>和</a:t>
            </a:r>
            <a:r>
              <a:rPr lang="en-US" altLang="zh-CN" sz="2400" dirty="0"/>
              <a:t>B</a:t>
            </a:r>
            <a:r>
              <a:rPr lang="zh-CN" altLang="en-US" sz="2400" dirty="0"/>
              <a:t>是否要保留？</a:t>
            </a:r>
          </a:p>
        </p:txBody>
      </p:sp>
      <p:sp>
        <p:nvSpPr>
          <p:cNvPr id="63" name="Rectangle 6" descr="深色上对角线"/>
          <p:cNvSpPr>
            <a:spLocks noChangeArrowheads="1"/>
          </p:cNvSpPr>
          <p:nvPr/>
        </p:nvSpPr>
        <p:spPr bwMode="auto">
          <a:xfrm>
            <a:off x="970104" y="36537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4" name="Rectangle 6" descr="深色上对角线"/>
          <p:cNvSpPr>
            <a:spLocks noChangeArrowheads="1"/>
          </p:cNvSpPr>
          <p:nvPr/>
        </p:nvSpPr>
        <p:spPr bwMode="auto">
          <a:xfrm>
            <a:off x="1374321" y="36537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5" name="文本框 64"/>
          <p:cNvSpPr txBox="1"/>
          <p:nvPr/>
        </p:nvSpPr>
        <p:spPr>
          <a:xfrm>
            <a:off x="4903066" y="2145834"/>
            <a:ext cx="3674937" cy="830997"/>
          </a:xfrm>
          <a:prstGeom prst="rect">
            <a:avLst/>
          </a:prstGeom>
          <a:noFill/>
        </p:spPr>
        <p:txBody>
          <a:bodyPr wrap="square" rtlCol="0">
            <a:spAutoFit/>
          </a:bodyPr>
          <a:lstStyle/>
          <a:p>
            <a:r>
              <a:rPr lang="zh-CN" altLang="en-US" sz="2400" dirty="0"/>
              <a:t>不保留</a:t>
            </a:r>
            <a:r>
              <a:rPr lang="en-US" altLang="zh-CN" sz="2400" dirty="0"/>
              <a:t>A</a:t>
            </a:r>
            <a:r>
              <a:rPr lang="zh-CN" altLang="en-US" sz="2400" dirty="0"/>
              <a:t>和</a:t>
            </a:r>
            <a:r>
              <a:rPr lang="en-US" altLang="zh-CN" sz="2400" dirty="0"/>
              <a:t>B</a:t>
            </a:r>
          </a:p>
          <a:p>
            <a:r>
              <a:rPr lang="en-US" altLang="zh-CN" sz="2400" dirty="0"/>
              <a:t>C = </a:t>
            </a:r>
            <a:r>
              <a:rPr lang="zh-CN" altLang="en-US" sz="2400" dirty="0"/>
              <a:t>更新后的</a:t>
            </a:r>
            <a:r>
              <a:rPr lang="en-US" altLang="zh-CN" sz="2400" dirty="0"/>
              <a:t>A</a:t>
            </a:r>
            <a:endParaRPr lang="zh-CN" altLang="en-US" sz="2400" dirty="0"/>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97</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155206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1000" fill="hold"/>
                                        <p:tgtEl>
                                          <p:spTgt spid="59"/>
                                        </p:tgtEl>
                                        <p:attrNameLst>
                                          <p:attrName>ppt_w</p:attrName>
                                        </p:attrNameLst>
                                      </p:cBhvr>
                                      <p:tavLst>
                                        <p:tav tm="0">
                                          <p:val>
                                            <p:fltVal val="0"/>
                                          </p:val>
                                        </p:tav>
                                        <p:tav tm="100000">
                                          <p:val>
                                            <p:strVal val="#ppt_w"/>
                                          </p:val>
                                        </p:tav>
                                      </p:tavLst>
                                    </p:anim>
                                    <p:anim calcmode="lin" valueType="num">
                                      <p:cBhvr>
                                        <p:cTn id="8" dur="1000" fill="hold"/>
                                        <p:tgtEl>
                                          <p:spTgt spid="59"/>
                                        </p:tgtEl>
                                        <p:attrNameLst>
                                          <p:attrName>ppt_h</p:attrName>
                                        </p:attrNameLst>
                                      </p:cBhvr>
                                      <p:tavLst>
                                        <p:tav tm="0">
                                          <p:val>
                                            <p:fltVal val="0"/>
                                          </p:val>
                                        </p:tav>
                                        <p:tav tm="100000">
                                          <p:val>
                                            <p:strVal val="#ppt_h"/>
                                          </p:val>
                                        </p:tav>
                                      </p:tavLst>
                                    </p:anim>
                                    <p:anim calcmode="lin" valueType="num">
                                      <p:cBhvr>
                                        <p:cTn id="9" dur="1000" fill="hold"/>
                                        <p:tgtEl>
                                          <p:spTgt spid="59"/>
                                        </p:tgtEl>
                                        <p:attrNameLst>
                                          <p:attrName>style.rotation</p:attrName>
                                        </p:attrNameLst>
                                      </p:cBhvr>
                                      <p:tavLst>
                                        <p:tav tm="0">
                                          <p:val>
                                            <p:fltVal val="90"/>
                                          </p:val>
                                        </p:tav>
                                        <p:tav tm="100000">
                                          <p:val>
                                            <p:fltVal val="0"/>
                                          </p:val>
                                        </p:tav>
                                      </p:tavLst>
                                    </p:anim>
                                    <p:animEffect transition="in" filter="fade">
                                      <p:cBhvr>
                                        <p:cTn id="10" dur="1000"/>
                                        <p:tgtEl>
                                          <p:spTgt spid="59"/>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anim calcmode="lin" valueType="num">
                                      <p:cBhvr>
                                        <p:cTn id="15" dur="500" fill="hold"/>
                                        <p:tgtEl>
                                          <p:spTgt spid="65"/>
                                        </p:tgtEl>
                                        <p:attrNameLst>
                                          <p:attrName>ppt_w</p:attrName>
                                        </p:attrNameLst>
                                      </p:cBhvr>
                                      <p:tavLst>
                                        <p:tav tm="0">
                                          <p:val>
                                            <p:fltVal val="0"/>
                                          </p:val>
                                        </p:tav>
                                        <p:tav tm="100000">
                                          <p:val>
                                            <p:strVal val="#ppt_w"/>
                                          </p:val>
                                        </p:tav>
                                      </p:tavLst>
                                    </p:anim>
                                    <p:anim calcmode="lin" valueType="num">
                                      <p:cBhvr>
                                        <p:cTn id="16" dur="500" fill="hold"/>
                                        <p:tgtEl>
                                          <p:spTgt spid="65"/>
                                        </p:tgtEl>
                                        <p:attrNameLst>
                                          <p:attrName>ppt_h</p:attrName>
                                        </p:attrNameLst>
                                      </p:cBhvr>
                                      <p:tavLst>
                                        <p:tav tm="0">
                                          <p:val>
                                            <p:fltVal val="0"/>
                                          </p:val>
                                        </p:tav>
                                        <p:tav tm="100000">
                                          <p:val>
                                            <p:strVal val="#ppt_h"/>
                                          </p:val>
                                        </p:tav>
                                      </p:tavLst>
                                    </p:anim>
                                    <p:animEffect transition="in" filter="fade">
                                      <p:cBhvr>
                                        <p:cTn id="1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5" name="Text Box 3"/>
          <p:cNvSpPr txBox="1">
            <a:spLocks noChangeArrowheads="1"/>
          </p:cNvSpPr>
          <p:nvPr/>
        </p:nvSpPr>
        <p:spPr bwMode="auto">
          <a:xfrm>
            <a:off x="539552" y="15040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A</a:t>
            </a:r>
            <a:r>
              <a:rPr lang="en-US" altLang="zh-CN" baseline="-25000" dirty="0">
                <a:latin typeface="Tahoma" panose="020B0604030504040204" pitchFamily="34" charset="0"/>
              </a:rPr>
              <a:t>17</a:t>
            </a:r>
            <a:r>
              <a:rPr lang="en-US" altLang="zh-CN" dirty="0">
                <a:latin typeface="Tahoma" panose="020B0604030504040204" pitchFamily="34" charset="0"/>
              </a:rPr>
              <a:t>(x)=7+3x+9x</a:t>
            </a:r>
            <a:r>
              <a:rPr lang="en-US" altLang="zh-CN" baseline="30000" dirty="0">
                <a:latin typeface="Tahoma" panose="020B0604030504040204" pitchFamily="34" charset="0"/>
              </a:rPr>
              <a:t>8</a:t>
            </a:r>
            <a:r>
              <a:rPr lang="en-US" altLang="zh-CN" dirty="0">
                <a:latin typeface="Tahoma" panose="020B0604030504040204" pitchFamily="34" charset="0"/>
              </a:rPr>
              <a:t>+5x</a:t>
            </a:r>
            <a:r>
              <a:rPr lang="en-US" altLang="zh-CN" baseline="30000" dirty="0">
                <a:latin typeface="Tahoma" panose="020B0604030504040204" pitchFamily="34" charset="0"/>
              </a:rPr>
              <a:t>17</a:t>
            </a:r>
          </a:p>
        </p:txBody>
      </p:sp>
      <p:sp>
        <p:nvSpPr>
          <p:cNvPr id="6" name="Text Box 4"/>
          <p:cNvSpPr txBox="1">
            <a:spLocks noChangeArrowheads="1"/>
          </p:cNvSpPr>
          <p:nvPr/>
        </p:nvSpPr>
        <p:spPr bwMode="auto">
          <a:xfrm>
            <a:off x="539552" y="21898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B</a:t>
            </a:r>
            <a:r>
              <a:rPr lang="en-US" altLang="zh-CN" baseline="-25000" dirty="0">
                <a:latin typeface="Tahoma" panose="020B0604030504040204" pitchFamily="34" charset="0"/>
              </a:rPr>
              <a:t>8</a:t>
            </a:r>
            <a:r>
              <a:rPr lang="en-US" altLang="zh-CN" dirty="0">
                <a:latin typeface="Tahoma" panose="020B0604030504040204" pitchFamily="34" charset="0"/>
              </a:rPr>
              <a:t>(x)=8x+22x</a:t>
            </a:r>
            <a:r>
              <a:rPr lang="en-US" altLang="zh-CN" baseline="30000" dirty="0">
                <a:latin typeface="Tahoma" panose="020B0604030504040204" pitchFamily="34" charset="0"/>
              </a:rPr>
              <a:t>7</a:t>
            </a:r>
            <a:r>
              <a:rPr lang="en-US" altLang="zh-CN" dirty="0">
                <a:latin typeface="Tahoma" panose="020B0604030504040204" pitchFamily="34" charset="0"/>
              </a:rPr>
              <a:t>-9x</a:t>
            </a:r>
            <a:r>
              <a:rPr lang="en-US" altLang="zh-CN" baseline="30000" dirty="0">
                <a:latin typeface="Tahoma" panose="020B0604030504040204" pitchFamily="34" charset="0"/>
              </a:rPr>
              <a:t>8</a:t>
            </a:r>
          </a:p>
        </p:txBody>
      </p:sp>
      <p:grpSp>
        <p:nvGrpSpPr>
          <p:cNvPr id="58" name="组合 57"/>
          <p:cNvGrpSpPr/>
          <p:nvPr/>
        </p:nvGrpSpPr>
        <p:grpSpPr>
          <a:xfrm>
            <a:off x="440630" y="3222327"/>
            <a:ext cx="8451850" cy="3375025"/>
            <a:chOff x="346075" y="2613943"/>
            <a:chExt cx="8451850" cy="3375025"/>
          </a:xfrm>
        </p:grpSpPr>
        <p:sp>
          <p:nvSpPr>
            <p:cNvPr id="56" name="Rectangle 6" descr="深色上对角线"/>
            <p:cNvSpPr>
              <a:spLocks noChangeArrowheads="1"/>
            </p:cNvSpPr>
            <p:nvPr/>
          </p:nvSpPr>
          <p:spPr bwMode="auto">
            <a:xfrm>
              <a:off x="1386398" y="3653756"/>
              <a:ext cx="405380" cy="439295"/>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14" name="Rectangle 6" descr="深色上对角线"/>
            <p:cNvSpPr>
              <a:spLocks noChangeArrowheads="1"/>
            </p:cNvSpPr>
            <p:nvPr/>
          </p:nvSpPr>
          <p:spPr bwMode="auto">
            <a:xfrm>
              <a:off x="969963" y="3653756"/>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16" name="Rectangle 8" descr="深色上对角线"/>
            <p:cNvSpPr>
              <a:spLocks noChangeArrowheads="1"/>
            </p:cNvSpPr>
            <p:nvPr/>
          </p:nvSpPr>
          <p:spPr bwMode="auto">
            <a:xfrm>
              <a:off x="1774825" y="3653756"/>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7" name="Rectangle 9" descr="深色上对角线"/>
            <p:cNvSpPr>
              <a:spLocks noChangeArrowheads="1"/>
            </p:cNvSpPr>
            <p:nvPr/>
          </p:nvSpPr>
          <p:spPr bwMode="auto">
            <a:xfrm>
              <a:off x="25749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8" name="Rectangle 10" descr="深色上对角线"/>
            <p:cNvSpPr>
              <a:spLocks noChangeArrowheads="1"/>
            </p:cNvSpPr>
            <p:nvPr/>
          </p:nvSpPr>
          <p:spPr bwMode="auto">
            <a:xfrm>
              <a:off x="29940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9" name="Rectangle 11" descr="深色上对角线"/>
            <p:cNvSpPr>
              <a:spLocks noChangeArrowheads="1"/>
            </p:cNvSpPr>
            <p:nvPr/>
          </p:nvSpPr>
          <p:spPr bwMode="auto">
            <a:xfrm>
              <a:off x="34258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0" name="Rectangle 12" descr="深色上对角线"/>
            <p:cNvSpPr>
              <a:spLocks noChangeArrowheads="1"/>
            </p:cNvSpPr>
            <p:nvPr/>
          </p:nvSpPr>
          <p:spPr bwMode="auto">
            <a:xfrm>
              <a:off x="42259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3</a:t>
              </a:r>
            </a:p>
          </p:txBody>
        </p:sp>
        <p:sp>
          <p:nvSpPr>
            <p:cNvPr id="21" name="Rectangle 13" descr="深色上对角线"/>
            <p:cNvSpPr>
              <a:spLocks noChangeArrowheads="1"/>
            </p:cNvSpPr>
            <p:nvPr/>
          </p:nvSpPr>
          <p:spPr bwMode="auto">
            <a:xfrm>
              <a:off x="46450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2" name="Rectangle 14" descr="深色上对角线"/>
            <p:cNvSpPr>
              <a:spLocks noChangeArrowheads="1"/>
            </p:cNvSpPr>
            <p:nvPr/>
          </p:nvSpPr>
          <p:spPr bwMode="auto">
            <a:xfrm>
              <a:off x="50768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3" name="Rectangle 15" descr="深色上对角线"/>
            <p:cNvSpPr>
              <a:spLocks noChangeArrowheads="1"/>
            </p:cNvSpPr>
            <p:nvPr/>
          </p:nvSpPr>
          <p:spPr bwMode="auto">
            <a:xfrm>
              <a:off x="58515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24" name="Rectangle 16" descr="深色上对角线"/>
            <p:cNvSpPr>
              <a:spLocks noChangeArrowheads="1"/>
            </p:cNvSpPr>
            <p:nvPr/>
          </p:nvSpPr>
          <p:spPr bwMode="auto">
            <a:xfrm>
              <a:off x="62706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8</a:t>
              </a:r>
            </a:p>
          </p:txBody>
        </p:sp>
        <p:sp>
          <p:nvSpPr>
            <p:cNvPr id="25" name="Rectangle 17" descr="深色上对角线"/>
            <p:cNvSpPr>
              <a:spLocks noChangeArrowheads="1"/>
            </p:cNvSpPr>
            <p:nvPr/>
          </p:nvSpPr>
          <p:spPr bwMode="auto">
            <a:xfrm>
              <a:off x="67024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6" name="Rectangle 18" descr="深色上对角线"/>
            <p:cNvSpPr>
              <a:spLocks noChangeArrowheads="1"/>
            </p:cNvSpPr>
            <p:nvPr/>
          </p:nvSpPr>
          <p:spPr bwMode="auto">
            <a:xfrm>
              <a:off x="75152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27" name="Rectangle 19" descr="深色上对角线"/>
            <p:cNvSpPr>
              <a:spLocks noChangeArrowheads="1"/>
            </p:cNvSpPr>
            <p:nvPr/>
          </p:nvSpPr>
          <p:spPr bwMode="auto">
            <a:xfrm>
              <a:off x="79343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8" name="Rectangle 20" descr="深色上对角线"/>
            <p:cNvSpPr>
              <a:spLocks noChangeArrowheads="1"/>
            </p:cNvSpPr>
            <p:nvPr/>
          </p:nvSpPr>
          <p:spPr bwMode="auto">
            <a:xfrm>
              <a:off x="83661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Line 21"/>
            <p:cNvSpPr>
              <a:spLocks noChangeShapeType="1"/>
            </p:cNvSpPr>
            <p:nvPr/>
          </p:nvSpPr>
          <p:spPr bwMode="auto">
            <a:xfrm flipH="1">
              <a:off x="8505825" y="3787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22"/>
            <p:cNvSpPr>
              <a:spLocks noChangeShapeType="1"/>
            </p:cNvSpPr>
            <p:nvPr/>
          </p:nvSpPr>
          <p:spPr bwMode="auto">
            <a:xfrm>
              <a:off x="8582025" y="3787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Rectangle 23" descr="深色上对角线"/>
            <p:cNvSpPr>
              <a:spLocks noChangeArrowheads="1"/>
            </p:cNvSpPr>
            <p:nvPr/>
          </p:nvSpPr>
          <p:spPr bwMode="auto">
            <a:xfrm>
              <a:off x="923925" y="46443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33" name="Rectangle 25" descr="深色上对角线"/>
            <p:cNvSpPr>
              <a:spLocks noChangeArrowheads="1"/>
            </p:cNvSpPr>
            <p:nvPr/>
          </p:nvSpPr>
          <p:spPr bwMode="auto">
            <a:xfrm>
              <a:off x="1774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4" name="Rectangle 26" descr="深色上对角线"/>
            <p:cNvSpPr>
              <a:spLocks noChangeArrowheads="1"/>
            </p:cNvSpPr>
            <p:nvPr/>
          </p:nvSpPr>
          <p:spPr bwMode="auto">
            <a:xfrm>
              <a:off x="25749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5" name="Rectangle 27" descr="深色上对角线"/>
            <p:cNvSpPr>
              <a:spLocks noChangeArrowheads="1"/>
            </p:cNvSpPr>
            <p:nvPr/>
          </p:nvSpPr>
          <p:spPr bwMode="auto">
            <a:xfrm>
              <a:off x="29940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36" name="Rectangle 28" descr="深色上对角线"/>
            <p:cNvSpPr>
              <a:spLocks noChangeArrowheads="1"/>
            </p:cNvSpPr>
            <p:nvPr/>
          </p:nvSpPr>
          <p:spPr bwMode="auto">
            <a:xfrm>
              <a:off x="3425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7" name="Rectangle 29" descr="深色上对角线"/>
            <p:cNvSpPr>
              <a:spLocks noChangeArrowheads="1"/>
            </p:cNvSpPr>
            <p:nvPr/>
          </p:nvSpPr>
          <p:spPr bwMode="auto">
            <a:xfrm>
              <a:off x="42259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22</a:t>
              </a:r>
            </a:p>
          </p:txBody>
        </p:sp>
        <p:sp>
          <p:nvSpPr>
            <p:cNvPr id="38" name="Rectangle 30" descr="深色上对角线"/>
            <p:cNvSpPr>
              <a:spLocks noChangeArrowheads="1"/>
            </p:cNvSpPr>
            <p:nvPr/>
          </p:nvSpPr>
          <p:spPr bwMode="auto">
            <a:xfrm>
              <a:off x="46450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39" name="Rectangle 31" descr="深色上对角线"/>
            <p:cNvSpPr>
              <a:spLocks noChangeArrowheads="1"/>
            </p:cNvSpPr>
            <p:nvPr/>
          </p:nvSpPr>
          <p:spPr bwMode="auto">
            <a:xfrm>
              <a:off x="5076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40" name="Rectangle 32" descr="深色上对角线"/>
            <p:cNvSpPr>
              <a:spLocks noChangeArrowheads="1"/>
            </p:cNvSpPr>
            <p:nvPr/>
          </p:nvSpPr>
          <p:spPr bwMode="auto">
            <a:xfrm>
              <a:off x="58515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41" name="Rectangle 33" descr="深色上对角线"/>
            <p:cNvSpPr>
              <a:spLocks noChangeArrowheads="1"/>
            </p:cNvSpPr>
            <p:nvPr/>
          </p:nvSpPr>
          <p:spPr bwMode="auto">
            <a:xfrm>
              <a:off x="62706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42" name="Rectangle 34" descr="深色上对角线"/>
            <p:cNvSpPr>
              <a:spLocks noChangeArrowheads="1"/>
            </p:cNvSpPr>
            <p:nvPr/>
          </p:nvSpPr>
          <p:spPr bwMode="auto">
            <a:xfrm>
              <a:off x="67024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43" name="Line 35"/>
            <p:cNvSpPr>
              <a:spLocks noChangeShapeType="1"/>
            </p:cNvSpPr>
            <p:nvPr/>
          </p:nvSpPr>
          <p:spPr bwMode="auto">
            <a:xfrm flipH="1">
              <a:off x="6829425" y="4803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36"/>
            <p:cNvSpPr>
              <a:spLocks noChangeShapeType="1"/>
            </p:cNvSpPr>
            <p:nvPr/>
          </p:nvSpPr>
          <p:spPr bwMode="auto">
            <a:xfrm>
              <a:off x="6905625" y="4803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37"/>
            <p:cNvSpPr>
              <a:spLocks noChangeShapeType="1"/>
            </p:cNvSpPr>
            <p:nvPr/>
          </p:nvSpPr>
          <p:spPr bwMode="auto">
            <a:xfrm>
              <a:off x="428625" y="38633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38"/>
            <p:cNvSpPr>
              <a:spLocks noChangeShapeType="1"/>
            </p:cNvSpPr>
            <p:nvPr/>
          </p:nvSpPr>
          <p:spPr bwMode="auto">
            <a:xfrm>
              <a:off x="428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39"/>
            <p:cNvSpPr>
              <a:spLocks noChangeShapeType="1"/>
            </p:cNvSpPr>
            <p:nvPr/>
          </p:nvSpPr>
          <p:spPr bwMode="auto">
            <a:xfrm>
              <a:off x="2073275" y="38760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40"/>
            <p:cNvSpPr>
              <a:spLocks noChangeShapeType="1"/>
            </p:cNvSpPr>
            <p:nvPr/>
          </p:nvSpPr>
          <p:spPr bwMode="auto">
            <a:xfrm>
              <a:off x="3724275" y="38760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41"/>
            <p:cNvSpPr>
              <a:spLocks noChangeShapeType="1"/>
            </p:cNvSpPr>
            <p:nvPr/>
          </p:nvSpPr>
          <p:spPr bwMode="auto">
            <a:xfrm>
              <a:off x="5362575" y="388235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42"/>
            <p:cNvSpPr>
              <a:spLocks noChangeShapeType="1"/>
            </p:cNvSpPr>
            <p:nvPr/>
          </p:nvSpPr>
          <p:spPr bwMode="auto">
            <a:xfrm>
              <a:off x="7026275" y="38887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43"/>
            <p:cNvSpPr>
              <a:spLocks noChangeShapeType="1"/>
            </p:cNvSpPr>
            <p:nvPr/>
          </p:nvSpPr>
          <p:spPr bwMode="auto">
            <a:xfrm>
              <a:off x="2079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44"/>
            <p:cNvSpPr>
              <a:spLocks noChangeShapeType="1"/>
            </p:cNvSpPr>
            <p:nvPr/>
          </p:nvSpPr>
          <p:spPr bwMode="auto">
            <a:xfrm>
              <a:off x="3730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45"/>
            <p:cNvSpPr>
              <a:spLocks noChangeShapeType="1"/>
            </p:cNvSpPr>
            <p:nvPr/>
          </p:nvSpPr>
          <p:spPr bwMode="auto">
            <a:xfrm>
              <a:off x="5368925" y="487295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 name="Text Box 46"/>
            <p:cNvSpPr txBox="1">
              <a:spLocks noChangeArrowheads="1"/>
            </p:cNvSpPr>
            <p:nvPr/>
          </p:nvSpPr>
          <p:spPr bwMode="auto">
            <a:xfrm>
              <a:off x="361950" y="3550568"/>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A</a:t>
              </a:r>
            </a:p>
          </p:txBody>
        </p:sp>
        <p:sp>
          <p:nvSpPr>
            <p:cNvPr id="55" name="Text Box 47"/>
            <p:cNvSpPr txBox="1">
              <a:spLocks noChangeArrowheads="1"/>
            </p:cNvSpPr>
            <p:nvPr/>
          </p:nvSpPr>
          <p:spPr bwMode="auto">
            <a:xfrm>
              <a:off x="346075" y="4555456"/>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grpSp>
          <p:nvGrpSpPr>
            <p:cNvPr id="8" name="Group 48"/>
            <p:cNvGrpSpPr>
              <a:grpSpLocks/>
            </p:cNvGrpSpPr>
            <p:nvPr/>
          </p:nvGrpSpPr>
          <p:grpSpPr bwMode="auto">
            <a:xfrm>
              <a:off x="3195639" y="2613943"/>
              <a:ext cx="512763" cy="936625"/>
              <a:chOff x="1887" y="1762"/>
              <a:chExt cx="323" cy="590"/>
            </a:xfrm>
          </p:grpSpPr>
          <p:sp>
            <p:nvSpPr>
              <p:cNvPr id="12" name="Line 49"/>
              <p:cNvSpPr>
                <a:spLocks noChangeShapeType="1"/>
              </p:cNvSpPr>
              <p:nvPr/>
            </p:nvSpPr>
            <p:spPr bwMode="auto">
              <a:xfrm>
                <a:off x="2031" y="2064"/>
                <a:ext cx="0" cy="28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 name="Text Box 50"/>
              <p:cNvSpPr txBox="1">
                <a:spLocks noChangeArrowheads="1"/>
              </p:cNvSpPr>
              <p:nvPr/>
            </p:nvSpPr>
            <p:spPr bwMode="auto">
              <a:xfrm>
                <a:off x="1887" y="176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pa</a:t>
                </a:r>
              </a:p>
            </p:txBody>
          </p:sp>
        </p:grpSp>
        <p:grpSp>
          <p:nvGrpSpPr>
            <p:cNvPr id="9" name="Group 51"/>
            <p:cNvGrpSpPr>
              <a:grpSpLocks/>
            </p:cNvGrpSpPr>
            <p:nvPr/>
          </p:nvGrpSpPr>
          <p:grpSpPr bwMode="auto">
            <a:xfrm>
              <a:off x="2943225" y="5150768"/>
              <a:ext cx="520700" cy="838200"/>
              <a:chOff x="1728" y="3360"/>
              <a:chExt cx="328" cy="528"/>
            </a:xfrm>
          </p:grpSpPr>
          <p:sp>
            <p:nvSpPr>
              <p:cNvPr id="10" name="Line 52"/>
              <p:cNvSpPr>
                <a:spLocks noChangeShapeType="1"/>
              </p:cNvSpPr>
              <p:nvPr/>
            </p:nvSpPr>
            <p:spPr bwMode="auto">
              <a:xfrm flipV="1">
                <a:off x="1872" y="3360"/>
                <a:ext cx="0" cy="28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Text Box 53"/>
              <p:cNvSpPr txBox="1">
                <a:spLocks noChangeArrowheads="1"/>
              </p:cNvSpPr>
              <p:nvPr/>
            </p:nvSpPr>
            <p:spPr bwMode="auto">
              <a:xfrm>
                <a:off x="1728" y="3600"/>
                <a:ext cx="3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a:solidFill>
                      <a:srgbClr val="FF0000"/>
                    </a:solidFill>
                    <a:latin typeface="Tahoma" panose="020B0604030504040204" pitchFamily="34" charset="0"/>
                  </a:rPr>
                  <a:t>pb</a:t>
                </a:r>
              </a:p>
            </p:txBody>
          </p:sp>
        </p:grpSp>
        <p:sp>
          <p:nvSpPr>
            <p:cNvPr id="57" name="Rectangle 6" descr="深色上对角线"/>
            <p:cNvSpPr>
              <a:spLocks noChangeArrowheads="1"/>
            </p:cNvSpPr>
            <p:nvPr/>
          </p:nvSpPr>
          <p:spPr bwMode="auto">
            <a:xfrm>
              <a:off x="1350814" y="46443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grpSp>
      <p:cxnSp>
        <p:nvCxnSpPr>
          <p:cNvPr id="4" name="直接箭头连接符 3"/>
          <p:cNvCxnSpPr/>
          <p:nvPr/>
        </p:nvCxnSpPr>
        <p:spPr bwMode="auto">
          <a:xfrm>
            <a:off x="950021" y="3726383"/>
            <a:ext cx="247848" cy="44078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60" name="Text Box 46"/>
          <p:cNvSpPr txBox="1">
            <a:spLocks noChangeArrowheads="1"/>
          </p:cNvSpPr>
          <p:nvPr/>
        </p:nvSpPr>
        <p:spPr bwMode="auto">
          <a:xfrm>
            <a:off x="683568" y="3438351"/>
            <a:ext cx="308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C</a:t>
            </a:r>
          </a:p>
        </p:txBody>
      </p:sp>
      <p:sp>
        <p:nvSpPr>
          <p:cNvPr id="61" name="Line 49"/>
          <p:cNvSpPr>
            <a:spLocks noChangeShapeType="1"/>
          </p:cNvSpPr>
          <p:nvPr/>
        </p:nvSpPr>
        <p:spPr bwMode="auto">
          <a:xfrm>
            <a:off x="1942827" y="3715989"/>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 name="Text Box 50"/>
          <p:cNvSpPr txBox="1">
            <a:spLocks noChangeArrowheads="1"/>
          </p:cNvSpPr>
          <p:nvPr/>
        </p:nvSpPr>
        <p:spPr bwMode="auto">
          <a:xfrm>
            <a:off x="1714227" y="3236564"/>
            <a:ext cx="497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pc</a:t>
            </a:r>
          </a:p>
        </p:txBody>
      </p:sp>
      <p:sp>
        <p:nvSpPr>
          <p:cNvPr id="3" name="文本框 2"/>
          <p:cNvSpPr txBox="1"/>
          <p:nvPr/>
        </p:nvSpPr>
        <p:spPr>
          <a:xfrm>
            <a:off x="5311080" y="1454235"/>
            <a:ext cx="3289300" cy="1200329"/>
          </a:xfrm>
          <a:prstGeom prst="rect">
            <a:avLst/>
          </a:prstGeom>
          <a:noFill/>
        </p:spPr>
        <p:txBody>
          <a:bodyPr wrap="square" rtlCol="0">
            <a:spAutoFit/>
          </a:bodyPr>
          <a:lstStyle/>
          <a:p>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pa=A-&gt;next; 	</a:t>
            </a:r>
          </a:p>
          <a:p>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=B-&gt;next;        C=pc=A;</a:t>
            </a:r>
            <a:endParaRPr lang="zh-CN" altLang="en-US" dirty="0"/>
          </a:p>
        </p:txBody>
      </p:sp>
      <p:sp>
        <p:nvSpPr>
          <p:cNvPr id="7" name="灯片编号占位符 6"/>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98</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41751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5" name="Text Box 3"/>
          <p:cNvSpPr txBox="1">
            <a:spLocks noChangeArrowheads="1"/>
          </p:cNvSpPr>
          <p:nvPr/>
        </p:nvSpPr>
        <p:spPr bwMode="auto">
          <a:xfrm>
            <a:off x="539552" y="15040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A</a:t>
            </a:r>
            <a:r>
              <a:rPr lang="en-US" altLang="zh-CN" baseline="-25000" dirty="0">
                <a:latin typeface="Tahoma" panose="020B0604030504040204" pitchFamily="34" charset="0"/>
              </a:rPr>
              <a:t>17</a:t>
            </a:r>
            <a:r>
              <a:rPr lang="en-US" altLang="zh-CN" dirty="0">
                <a:latin typeface="Tahoma" panose="020B0604030504040204" pitchFamily="34" charset="0"/>
              </a:rPr>
              <a:t>(x)=7+3x+9x</a:t>
            </a:r>
            <a:r>
              <a:rPr lang="en-US" altLang="zh-CN" baseline="30000" dirty="0">
                <a:latin typeface="Tahoma" panose="020B0604030504040204" pitchFamily="34" charset="0"/>
              </a:rPr>
              <a:t>8</a:t>
            </a:r>
            <a:r>
              <a:rPr lang="en-US" altLang="zh-CN" dirty="0">
                <a:latin typeface="Tahoma" panose="020B0604030504040204" pitchFamily="34" charset="0"/>
              </a:rPr>
              <a:t>+5x</a:t>
            </a:r>
            <a:r>
              <a:rPr lang="en-US" altLang="zh-CN" baseline="30000" dirty="0">
                <a:latin typeface="Tahoma" panose="020B0604030504040204" pitchFamily="34" charset="0"/>
              </a:rPr>
              <a:t>17</a:t>
            </a:r>
          </a:p>
        </p:txBody>
      </p:sp>
      <p:sp>
        <p:nvSpPr>
          <p:cNvPr id="6" name="Text Box 4"/>
          <p:cNvSpPr txBox="1">
            <a:spLocks noChangeArrowheads="1"/>
          </p:cNvSpPr>
          <p:nvPr/>
        </p:nvSpPr>
        <p:spPr bwMode="auto">
          <a:xfrm>
            <a:off x="539552" y="21898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B</a:t>
            </a:r>
            <a:r>
              <a:rPr lang="en-US" altLang="zh-CN" baseline="-25000" dirty="0">
                <a:latin typeface="Tahoma" panose="020B0604030504040204" pitchFamily="34" charset="0"/>
              </a:rPr>
              <a:t>8</a:t>
            </a:r>
            <a:r>
              <a:rPr lang="en-US" altLang="zh-CN" dirty="0">
                <a:latin typeface="Tahoma" panose="020B0604030504040204" pitchFamily="34" charset="0"/>
              </a:rPr>
              <a:t>(x)=8x+22x</a:t>
            </a:r>
            <a:r>
              <a:rPr lang="en-US" altLang="zh-CN" baseline="30000" dirty="0">
                <a:latin typeface="Tahoma" panose="020B0604030504040204" pitchFamily="34" charset="0"/>
              </a:rPr>
              <a:t>7</a:t>
            </a:r>
            <a:r>
              <a:rPr lang="en-US" altLang="zh-CN" dirty="0">
                <a:latin typeface="Tahoma" panose="020B0604030504040204" pitchFamily="34" charset="0"/>
              </a:rPr>
              <a:t>-9x</a:t>
            </a:r>
            <a:r>
              <a:rPr lang="en-US" altLang="zh-CN" baseline="30000" dirty="0">
                <a:latin typeface="Tahoma" panose="020B0604030504040204" pitchFamily="34" charset="0"/>
              </a:rPr>
              <a:t>8</a:t>
            </a:r>
          </a:p>
        </p:txBody>
      </p:sp>
      <p:grpSp>
        <p:nvGrpSpPr>
          <p:cNvPr id="58" name="组合 57"/>
          <p:cNvGrpSpPr/>
          <p:nvPr/>
        </p:nvGrpSpPr>
        <p:grpSpPr>
          <a:xfrm>
            <a:off x="440630" y="3222327"/>
            <a:ext cx="8451850" cy="3375025"/>
            <a:chOff x="346075" y="2613943"/>
            <a:chExt cx="8451850" cy="3375025"/>
          </a:xfrm>
        </p:grpSpPr>
        <p:sp>
          <p:nvSpPr>
            <p:cNvPr id="56" name="Rectangle 6" descr="深色上对角线"/>
            <p:cNvSpPr>
              <a:spLocks noChangeArrowheads="1"/>
            </p:cNvSpPr>
            <p:nvPr/>
          </p:nvSpPr>
          <p:spPr bwMode="auto">
            <a:xfrm>
              <a:off x="1386398" y="3653756"/>
              <a:ext cx="405380" cy="439295"/>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14" name="Rectangle 6" descr="深色上对角线"/>
            <p:cNvSpPr>
              <a:spLocks noChangeArrowheads="1"/>
            </p:cNvSpPr>
            <p:nvPr/>
          </p:nvSpPr>
          <p:spPr bwMode="auto">
            <a:xfrm>
              <a:off x="969963" y="3653756"/>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16" name="Rectangle 8" descr="深色上对角线"/>
            <p:cNvSpPr>
              <a:spLocks noChangeArrowheads="1"/>
            </p:cNvSpPr>
            <p:nvPr/>
          </p:nvSpPr>
          <p:spPr bwMode="auto">
            <a:xfrm>
              <a:off x="1774825" y="3653756"/>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7" name="Rectangle 9" descr="深色上对角线"/>
            <p:cNvSpPr>
              <a:spLocks noChangeArrowheads="1"/>
            </p:cNvSpPr>
            <p:nvPr/>
          </p:nvSpPr>
          <p:spPr bwMode="auto">
            <a:xfrm>
              <a:off x="25749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8" name="Rectangle 10" descr="深色上对角线"/>
            <p:cNvSpPr>
              <a:spLocks noChangeArrowheads="1"/>
            </p:cNvSpPr>
            <p:nvPr/>
          </p:nvSpPr>
          <p:spPr bwMode="auto">
            <a:xfrm>
              <a:off x="29940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9" name="Rectangle 11" descr="深色上对角线"/>
            <p:cNvSpPr>
              <a:spLocks noChangeArrowheads="1"/>
            </p:cNvSpPr>
            <p:nvPr/>
          </p:nvSpPr>
          <p:spPr bwMode="auto">
            <a:xfrm>
              <a:off x="34258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0" name="Rectangle 12" descr="深色上对角线"/>
            <p:cNvSpPr>
              <a:spLocks noChangeArrowheads="1"/>
            </p:cNvSpPr>
            <p:nvPr/>
          </p:nvSpPr>
          <p:spPr bwMode="auto">
            <a:xfrm>
              <a:off x="42259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3</a:t>
              </a:r>
            </a:p>
          </p:txBody>
        </p:sp>
        <p:sp>
          <p:nvSpPr>
            <p:cNvPr id="21" name="Rectangle 13" descr="深色上对角线"/>
            <p:cNvSpPr>
              <a:spLocks noChangeArrowheads="1"/>
            </p:cNvSpPr>
            <p:nvPr/>
          </p:nvSpPr>
          <p:spPr bwMode="auto">
            <a:xfrm>
              <a:off x="46450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2" name="Rectangle 14" descr="深色上对角线"/>
            <p:cNvSpPr>
              <a:spLocks noChangeArrowheads="1"/>
            </p:cNvSpPr>
            <p:nvPr/>
          </p:nvSpPr>
          <p:spPr bwMode="auto">
            <a:xfrm>
              <a:off x="50768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3" name="Rectangle 15" descr="深色上对角线"/>
            <p:cNvSpPr>
              <a:spLocks noChangeArrowheads="1"/>
            </p:cNvSpPr>
            <p:nvPr/>
          </p:nvSpPr>
          <p:spPr bwMode="auto">
            <a:xfrm>
              <a:off x="58515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24" name="Rectangle 16" descr="深色上对角线"/>
            <p:cNvSpPr>
              <a:spLocks noChangeArrowheads="1"/>
            </p:cNvSpPr>
            <p:nvPr/>
          </p:nvSpPr>
          <p:spPr bwMode="auto">
            <a:xfrm>
              <a:off x="62706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8</a:t>
              </a:r>
            </a:p>
          </p:txBody>
        </p:sp>
        <p:sp>
          <p:nvSpPr>
            <p:cNvPr id="25" name="Rectangle 17" descr="深色上对角线"/>
            <p:cNvSpPr>
              <a:spLocks noChangeArrowheads="1"/>
            </p:cNvSpPr>
            <p:nvPr/>
          </p:nvSpPr>
          <p:spPr bwMode="auto">
            <a:xfrm>
              <a:off x="67024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6" name="Rectangle 18" descr="深色上对角线"/>
            <p:cNvSpPr>
              <a:spLocks noChangeArrowheads="1"/>
            </p:cNvSpPr>
            <p:nvPr/>
          </p:nvSpPr>
          <p:spPr bwMode="auto">
            <a:xfrm>
              <a:off x="7515225" y="36537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27" name="Rectangle 19" descr="深色上对角线"/>
            <p:cNvSpPr>
              <a:spLocks noChangeArrowheads="1"/>
            </p:cNvSpPr>
            <p:nvPr/>
          </p:nvSpPr>
          <p:spPr bwMode="auto">
            <a:xfrm>
              <a:off x="79343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8" name="Rectangle 20" descr="深色上对角线"/>
            <p:cNvSpPr>
              <a:spLocks noChangeArrowheads="1"/>
            </p:cNvSpPr>
            <p:nvPr/>
          </p:nvSpPr>
          <p:spPr bwMode="auto">
            <a:xfrm>
              <a:off x="8366125" y="36537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Line 21"/>
            <p:cNvSpPr>
              <a:spLocks noChangeShapeType="1"/>
            </p:cNvSpPr>
            <p:nvPr/>
          </p:nvSpPr>
          <p:spPr bwMode="auto">
            <a:xfrm flipH="1">
              <a:off x="8505825" y="3787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0" name="Line 22"/>
            <p:cNvSpPr>
              <a:spLocks noChangeShapeType="1"/>
            </p:cNvSpPr>
            <p:nvPr/>
          </p:nvSpPr>
          <p:spPr bwMode="auto">
            <a:xfrm>
              <a:off x="8582025" y="3787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Rectangle 23" descr="深色上对角线"/>
            <p:cNvSpPr>
              <a:spLocks noChangeArrowheads="1"/>
            </p:cNvSpPr>
            <p:nvPr/>
          </p:nvSpPr>
          <p:spPr bwMode="auto">
            <a:xfrm>
              <a:off x="923925" y="46443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33" name="Rectangle 25" descr="深色上对角线"/>
            <p:cNvSpPr>
              <a:spLocks noChangeArrowheads="1"/>
            </p:cNvSpPr>
            <p:nvPr/>
          </p:nvSpPr>
          <p:spPr bwMode="auto">
            <a:xfrm>
              <a:off x="1774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4" name="Rectangle 26" descr="深色上对角线"/>
            <p:cNvSpPr>
              <a:spLocks noChangeArrowheads="1"/>
            </p:cNvSpPr>
            <p:nvPr/>
          </p:nvSpPr>
          <p:spPr bwMode="auto">
            <a:xfrm>
              <a:off x="25749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5" name="Rectangle 27" descr="深色上对角线"/>
            <p:cNvSpPr>
              <a:spLocks noChangeArrowheads="1"/>
            </p:cNvSpPr>
            <p:nvPr/>
          </p:nvSpPr>
          <p:spPr bwMode="auto">
            <a:xfrm>
              <a:off x="29940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36" name="Rectangle 28" descr="深色上对角线"/>
            <p:cNvSpPr>
              <a:spLocks noChangeArrowheads="1"/>
            </p:cNvSpPr>
            <p:nvPr/>
          </p:nvSpPr>
          <p:spPr bwMode="auto">
            <a:xfrm>
              <a:off x="3425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7" name="Rectangle 29" descr="深色上对角线"/>
            <p:cNvSpPr>
              <a:spLocks noChangeArrowheads="1"/>
            </p:cNvSpPr>
            <p:nvPr/>
          </p:nvSpPr>
          <p:spPr bwMode="auto">
            <a:xfrm>
              <a:off x="42259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22</a:t>
              </a:r>
            </a:p>
          </p:txBody>
        </p:sp>
        <p:sp>
          <p:nvSpPr>
            <p:cNvPr id="38" name="Rectangle 30" descr="深色上对角线"/>
            <p:cNvSpPr>
              <a:spLocks noChangeArrowheads="1"/>
            </p:cNvSpPr>
            <p:nvPr/>
          </p:nvSpPr>
          <p:spPr bwMode="auto">
            <a:xfrm>
              <a:off x="46450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39" name="Rectangle 31" descr="深色上对角线"/>
            <p:cNvSpPr>
              <a:spLocks noChangeArrowheads="1"/>
            </p:cNvSpPr>
            <p:nvPr/>
          </p:nvSpPr>
          <p:spPr bwMode="auto">
            <a:xfrm>
              <a:off x="50768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40" name="Rectangle 32" descr="深色上对角线"/>
            <p:cNvSpPr>
              <a:spLocks noChangeArrowheads="1"/>
            </p:cNvSpPr>
            <p:nvPr/>
          </p:nvSpPr>
          <p:spPr bwMode="auto">
            <a:xfrm>
              <a:off x="5851525" y="4644356"/>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41" name="Rectangle 33" descr="深色上对角线"/>
            <p:cNvSpPr>
              <a:spLocks noChangeArrowheads="1"/>
            </p:cNvSpPr>
            <p:nvPr/>
          </p:nvSpPr>
          <p:spPr bwMode="auto">
            <a:xfrm>
              <a:off x="62706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42" name="Rectangle 34" descr="深色上对角线"/>
            <p:cNvSpPr>
              <a:spLocks noChangeArrowheads="1"/>
            </p:cNvSpPr>
            <p:nvPr/>
          </p:nvSpPr>
          <p:spPr bwMode="auto">
            <a:xfrm>
              <a:off x="6702425" y="4644356"/>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43" name="Line 35"/>
            <p:cNvSpPr>
              <a:spLocks noChangeShapeType="1"/>
            </p:cNvSpPr>
            <p:nvPr/>
          </p:nvSpPr>
          <p:spPr bwMode="auto">
            <a:xfrm flipH="1">
              <a:off x="6829425" y="4803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36"/>
            <p:cNvSpPr>
              <a:spLocks noChangeShapeType="1"/>
            </p:cNvSpPr>
            <p:nvPr/>
          </p:nvSpPr>
          <p:spPr bwMode="auto">
            <a:xfrm>
              <a:off x="6905625" y="4803106"/>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37"/>
            <p:cNvSpPr>
              <a:spLocks noChangeShapeType="1"/>
            </p:cNvSpPr>
            <p:nvPr/>
          </p:nvSpPr>
          <p:spPr bwMode="auto">
            <a:xfrm>
              <a:off x="428625" y="38633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Line 38"/>
            <p:cNvSpPr>
              <a:spLocks noChangeShapeType="1"/>
            </p:cNvSpPr>
            <p:nvPr/>
          </p:nvSpPr>
          <p:spPr bwMode="auto">
            <a:xfrm>
              <a:off x="428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7" name="Line 39"/>
            <p:cNvSpPr>
              <a:spLocks noChangeShapeType="1"/>
            </p:cNvSpPr>
            <p:nvPr/>
          </p:nvSpPr>
          <p:spPr bwMode="auto">
            <a:xfrm>
              <a:off x="2073275" y="38760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8" name="Line 40"/>
            <p:cNvSpPr>
              <a:spLocks noChangeShapeType="1"/>
            </p:cNvSpPr>
            <p:nvPr/>
          </p:nvSpPr>
          <p:spPr bwMode="auto">
            <a:xfrm>
              <a:off x="3724275" y="38760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Line 41"/>
            <p:cNvSpPr>
              <a:spLocks noChangeShapeType="1"/>
            </p:cNvSpPr>
            <p:nvPr/>
          </p:nvSpPr>
          <p:spPr bwMode="auto">
            <a:xfrm>
              <a:off x="5362575" y="388235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 name="Line 42"/>
            <p:cNvSpPr>
              <a:spLocks noChangeShapeType="1"/>
            </p:cNvSpPr>
            <p:nvPr/>
          </p:nvSpPr>
          <p:spPr bwMode="auto">
            <a:xfrm>
              <a:off x="7026275" y="38887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Line 43"/>
            <p:cNvSpPr>
              <a:spLocks noChangeShapeType="1"/>
            </p:cNvSpPr>
            <p:nvPr/>
          </p:nvSpPr>
          <p:spPr bwMode="auto">
            <a:xfrm>
              <a:off x="2079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2" name="Line 44"/>
            <p:cNvSpPr>
              <a:spLocks noChangeShapeType="1"/>
            </p:cNvSpPr>
            <p:nvPr/>
          </p:nvSpPr>
          <p:spPr bwMode="auto">
            <a:xfrm>
              <a:off x="3730625" y="486660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 name="Line 45"/>
            <p:cNvSpPr>
              <a:spLocks noChangeShapeType="1"/>
            </p:cNvSpPr>
            <p:nvPr/>
          </p:nvSpPr>
          <p:spPr bwMode="auto">
            <a:xfrm>
              <a:off x="5368925" y="4872956"/>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 name="Text Box 46"/>
            <p:cNvSpPr txBox="1">
              <a:spLocks noChangeArrowheads="1"/>
            </p:cNvSpPr>
            <p:nvPr/>
          </p:nvSpPr>
          <p:spPr bwMode="auto">
            <a:xfrm>
              <a:off x="361950" y="3550568"/>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A</a:t>
              </a:r>
            </a:p>
          </p:txBody>
        </p:sp>
        <p:sp>
          <p:nvSpPr>
            <p:cNvPr id="55" name="Text Box 47"/>
            <p:cNvSpPr txBox="1">
              <a:spLocks noChangeArrowheads="1"/>
            </p:cNvSpPr>
            <p:nvPr/>
          </p:nvSpPr>
          <p:spPr bwMode="auto">
            <a:xfrm>
              <a:off x="346075" y="4555456"/>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grpSp>
          <p:nvGrpSpPr>
            <p:cNvPr id="8" name="Group 48"/>
            <p:cNvGrpSpPr>
              <a:grpSpLocks/>
            </p:cNvGrpSpPr>
            <p:nvPr/>
          </p:nvGrpSpPr>
          <p:grpSpPr bwMode="auto">
            <a:xfrm>
              <a:off x="3195639" y="2613943"/>
              <a:ext cx="512763" cy="936625"/>
              <a:chOff x="1887" y="1762"/>
              <a:chExt cx="323" cy="590"/>
            </a:xfrm>
          </p:grpSpPr>
          <p:sp>
            <p:nvSpPr>
              <p:cNvPr id="12" name="Line 49"/>
              <p:cNvSpPr>
                <a:spLocks noChangeShapeType="1"/>
              </p:cNvSpPr>
              <p:nvPr/>
            </p:nvSpPr>
            <p:spPr bwMode="auto">
              <a:xfrm>
                <a:off x="2031" y="2064"/>
                <a:ext cx="0" cy="28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 name="Text Box 50"/>
              <p:cNvSpPr txBox="1">
                <a:spLocks noChangeArrowheads="1"/>
              </p:cNvSpPr>
              <p:nvPr/>
            </p:nvSpPr>
            <p:spPr bwMode="auto">
              <a:xfrm>
                <a:off x="1887" y="176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pa</a:t>
                </a:r>
              </a:p>
            </p:txBody>
          </p:sp>
        </p:grpSp>
        <p:grpSp>
          <p:nvGrpSpPr>
            <p:cNvPr id="9" name="Group 51"/>
            <p:cNvGrpSpPr>
              <a:grpSpLocks/>
            </p:cNvGrpSpPr>
            <p:nvPr/>
          </p:nvGrpSpPr>
          <p:grpSpPr bwMode="auto">
            <a:xfrm>
              <a:off x="2943225" y="5150768"/>
              <a:ext cx="520700" cy="838200"/>
              <a:chOff x="1728" y="3360"/>
              <a:chExt cx="328" cy="528"/>
            </a:xfrm>
          </p:grpSpPr>
          <p:sp>
            <p:nvSpPr>
              <p:cNvPr id="10" name="Line 52"/>
              <p:cNvSpPr>
                <a:spLocks noChangeShapeType="1"/>
              </p:cNvSpPr>
              <p:nvPr/>
            </p:nvSpPr>
            <p:spPr bwMode="auto">
              <a:xfrm flipV="1">
                <a:off x="1872" y="3360"/>
                <a:ext cx="0" cy="288"/>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Text Box 53"/>
              <p:cNvSpPr txBox="1">
                <a:spLocks noChangeArrowheads="1"/>
              </p:cNvSpPr>
              <p:nvPr/>
            </p:nvSpPr>
            <p:spPr bwMode="auto">
              <a:xfrm>
                <a:off x="1728" y="3600"/>
                <a:ext cx="3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a:solidFill>
                      <a:srgbClr val="FF0000"/>
                    </a:solidFill>
                    <a:latin typeface="Tahoma" panose="020B0604030504040204" pitchFamily="34" charset="0"/>
                  </a:rPr>
                  <a:t>pb</a:t>
                </a:r>
              </a:p>
            </p:txBody>
          </p:sp>
        </p:grpSp>
        <p:sp>
          <p:nvSpPr>
            <p:cNvPr id="57" name="Rectangle 6" descr="深色上对角线"/>
            <p:cNvSpPr>
              <a:spLocks noChangeArrowheads="1"/>
            </p:cNvSpPr>
            <p:nvPr/>
          </p:nvSpPr>
          <p:spPr bwMode="auto">
            <a:xfrm>
              <a:off x="1350814" y="4644356"/>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grpSp>
      <p:cxnSp>
        <p:nvCxnSpPr>
          <p:cNvPr id="4" name="直接箭头连接符 3"/>
          <p:cNvCxnSpPr/>
          <p:nvPr/>
        </p:nvCxnSpPr>
        <p:spPr bwMode="auto">
          <a:xfrm>
            <a:off x="950021" y="3726383"/>
            <a:ext cx="247848" cy="44078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60" name="Text Box 46"/>
          <p:cNvSpPr txBox="1">
            <a:spLocks noChangeArrowheads="1"/>
          </p:cNvSpPr>
          <p:nvPr/>
        </p:nvSpPr>
        <p:spPr bwMode="auto">
          <a:xfrm>
            <a:off x="683568" y="3438351"/>
            <a:ext cx="308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C</a:t>
            </a:r>
          </a:p>
        </p:txBody>
      </p:sp>
      <p:sp>
        <p:nvSpPr>
          <p:cNvPr id="61" name="Line 49"/>
          <p:cNvSpPr>
            <a:spLocks noChangeShapeType="1"/>
          </p:cNvSpPr>
          <p:nvPr/>
        </p:nvSpPr>
        <p:spPr bwMode="auto">
          <a:xfrm>
            <a:off x="1942827" y="3715989"/>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 name="Text Box 50"/>
          <p:cNvSpPr txBox="1">
            <a:spLocks noChangeArrowheads="1"/>
          </p:cNvSpPr>
          <p:nvPr/>
        </p:nvSpPr>
        <p:spPr bwMode="auto">
          <a:xfrm>
            <a:off x="1714227" y="3236564"/>
            <a:ext cx="497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pc</a:t>
            </a:r>
          </a:p>
        </p:txBody>
      </p:sp>
      <p:sp>
        <p:nvSpPr>
          <p:cNvPr id="59" name="文本框 58"/>
          <p:cNvSpPr txBox="1"/>
          <p:nvPr/>
        </p:nvSpPr>
        <p:spPr>
          <a:xfrm>
            <a:off x="4963418" y="1124744"/>
            <a:ext cx="3929062" cy="2234458"/>
          </a:xfrm>
          <a:prstGeom prst="rect">
            <a:avLst/>
          </a:prstGeom>
          <a:noFill/>
        </p:spPr>
        <p:txBody>
          <a:bodyPr wrap="square" rtlCol="0">
            <a:spAutoFit/>
          </a:bodyPr>
          <a:lstStyle/>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if(pa-&gt;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&lt;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pc-&gt;next = pa;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pa=pa-&gt;next;</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pc</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pc-&gt;next;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99</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83036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4" name="Text Box 3"/>
          <p:cNvSpPr txBox="1">
            <a:spLocks noChangeArrowheads="1"/>
          </p:cNvSpPr>
          <p:nvPr/>
        </p:nvSpPr>
        <p:spPr bwMode="auto">
          <a:xfrm>
            <a:off x="539552" y="15040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A</a:t>
            </a:r>
            <a:r>
              <a:rPr lang="en-US" altLang="zh-CN" baseline="-25000" dirty="0">
                <a:latin typeface="Tahoma" panose="020B0604030504040204" pitchFamily="34" charset="0"/>
              </a:rPr>
              <a:t>17</a:t>
            </a:r>
            <a:r>
              <a:rPr lang="en-US" altLang="zh-CN" dirty="0">
                <a:latin typeface="Tahoma" panose="020B0604030504040204" pitchFamily="34" charset="0"/>
              </a:rPr>
              <a:t>(x)=7+3x+9x</a:t>
            </a:r>
            <a:r>
              <a:rPr lang="en-US" altLang="zh-CN" baseline="30000" dirty="0">
                <a:latin typeface="Tahoma" panose="020B0604030504040204" pitchFamily="34" charset="0"/>
              </a:rPr>
              <a:t>8</a:t>
            </a:r>
            <a:r>
              <a:rPr lang="en-US" altLang="zh-CN" dirty="0">
                <a:latin typeface="Tahoma" panose="020B0604030504040204" pitchFamily="34" charset="0"/>
              </a:rPr>
              <a:t>+5x</a:t>
            </a:r>
            <a:r>
              <a:rPr lang="en-US" altLang="zh-CN" baseline="30000" dirty="0">
                <a:latin typeface="Tahoma" panose="020B0604030504040204" pitchFamily="34" charset="0"/>
              </a:rPr>
              <a:t>17</a:t>
            </a:r>
          </a:p>
        </p:txBody>
      </p:sp>
      <p:sp>
        <p:nvSpPr>
          <p:cNvPr id="5" name="Text Box 4"/>
          <p:cNvSpPr txBox="1">
            <a:spLocks noChangeArrowheads="1"/>
          </p:cNvSpPr>
          <p:nvPr/>
        </p:nvSpPr>
        <p:spPr bwMode="auto">
          <a:xfrm>
            <a:off x="539552" y="21898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B</a:t>
            </a:r>
            <a:r>
              <a:rPr lang="en-US" altLang="zh-CN" baseline="-25000" dirty="0">
                <a:latin typeface="Tahoma" panose="020B0604030504040204" pitchFamily="34" charset="0"/>
              </a:rPr>
              <a:t>8</a:t>
            </a:r>
            <a:r>
              <a:rPr lang="en-US" altLang="zh-CN" dirty="0">
                <a:latin typeface="Tahoma" panose="020B0604030504040204" pitchFamily="34" charset="0"/>
              </a:rPr>
              <a:t>(x)=8x+22x</a:t>
            </a:r>
            <a:r>
              <a:rPr lang="en-US" altLang="zh-CN" baseline="30000" dirty="0">
                <a:latin typeface="Tahoma" panose="020B0604030504040204" pitchFamily="34" charset="0"/>
              </a:rPr>
              <a:t>7</a:t>
            </a:r>
            <a:r>
              <a:rPr lang="en-US" altLang="zh-CN" dirty="0">
                <a:latin typeface="Tahoma" panose="020B0604030504040204" pitchFamily="34" charset="0"/>
              </a:rPr>
              <a:t>-9x</a:t>
            </a:r>
            <a:r>
              <a:rPr lang="en-US" altLang="zh-CN" baseline="30000" dirty="0">
                <a:latin typeface="Tahoma" panose="020B0604030504040204" pitchFamily="34" charset="0"/>
              </a:rPr>
              <a:t>8</a:t>
            </a:r>
          </a:p>
        </p:txBody>
      </p:sp>
      <p:sp>
        <p:nvSpPr>
          <p:cNvPr id="6" name="Rectangle 5" descr="深色上对角线"/>
          <p:cNvSpPr>
            <a:spLocks noChangeArrowheads="1"/>
          </p:cNvSpPr>
          <p:nvPr/>
        </p:nvSpPr>
        <p:spPr bwMode="auto">
          <a:xfrm>
            <a:off x="1018480" y="42621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7" name="Rectangle 6" descr="深色上对角线"/>
          <p:cNvSpPr>
            <a:spLocks noChangeArrowheads="1"/>
          </p:cNvSpPr>
          <p:nvPr/>
        </p:nvSpPr>
        <p:spPr bwMode="auto">
          <a:xfrm>
            <a:off x="1437580" y="42621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8" name="Rectangle 7" descr="深色上对角线"/>
          <p:cNvSpPr>
            <a:spLocks noChangeArrowheads="1"/>
          </p:cNvSpPr>
          <p:nvPr/>
        </p:nvSpPr>
        <p:spPr bwMode="auto">
          <a:xfrm>
            <a:off x="1869380" y="42621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9" name="Rectangle 8"/>
          <p:cNvSpPr>
            <a:spLocks noChangeArrowheads="1"/>
          </p:cNvSpPr>
          <p:nvPr/>
        </p:nvSpPr>
        <p:spPr bwMode="auto">
          <a:xfrm>
            <a:off x="2669480" y="42621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0" name="Rectangle 9"/>
          <p:cNvSpPr>
            <a:spLocks noChangeArrowheads="1"/>
          </p:cNvSpPr>
          <p:nvPr/>
        </p:nvSpPr>
        <p:spPr bwMode="auto">
          <a:xfrm>
            <a:off x="30885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1" name="Rectangle 10"/>
          <p:cNvSpPr>
            <a:spLocks noChangeArrowheads="1"/>
          </p:cNvSpPr>
          <p:nvPr/>
        </p:nvSpPr>
        <p:spPr bwMode="auto">
          <a:xfrm>
            <a:off x="35203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2" name="Rectangle 11" descr="深色上对角线"/>
          <p:cNvSpPr>
            <a:spLocks noChangeArrowheads="1"/>
          </p:cNvSpPr>
          <p:nvPr/>
        </p:nvSpPr>
        <p:spPr bwMode="auto">
          <a:xfrm>
            <a:off x="4320480" y="42621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3</a:t>
            </a:r>
          </a:p>
        </p:txBody>
      </p:sp>
      <p:sp>
        <p:nvSpPr>
          <p:cNvPr id="13" name="Rectangle 12" descr="深色上对角线"/>
          <p:cNvSpPr>
            <a:spLocks noChangeArrowheads="1"/>
          </p:cNvSpPr>
          <p:nvPr/>
        </p:nvSpPr>
        <p:spPr bwMode="auto">
          <a:xfrm>
            <a:off x="47395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14" name="Rectangle 13" descr="深色上对角线"/>
          <p:cNvSpPr>
            <a:spLocks noChangeArrowheads="1"/>
          </p:cNvSpPr>
          <p:nvPr/>
        </p:nvSpPr>
        <p:spPr bwMode="auto">
          <a:xfrm>
            <a:off x="51713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5" name="Rectangle 14" descr="深色上对角线"/>
          <p:cNvSpPr>
            <a:spLocks noChangeArrowheads="1"/>
          </p:cNvSpPr>
          <p:nvPr/>
        </p:nvSpPr>
        <p:spPr bwMode="auto">
          <a:xfrm>
            <a:off x="5946080" y="42621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16" name="Rectangle 15" descr="深色上对角线"/>
          <p:cNvSpPr>
            <a:spLocks noChangeArrowheads="1"/>
          </p:cNvSpPr>
          <p:nvPr/>
        </p:nvSpPr>
        <p:spPr bwMode="auto">
          <a:xfrm>
            <a:off x="63651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17" name="Rectangle 16" descr="深色上对角线"/>
          <p:cNvSpPr>
            <a:spLocks noChangeArrowheads="1"/>
          </p:cNvSpPr>
          <p:nvPr/>
        </p:nvSpPr>
        <p:spPr bwMode="auto">
          <a:xfrm>
            <a:off x="67969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8" name="Rectangle 17" descr="深色上对角线"/>
          <p:cNvSpPr>
            <a:spLocks noChangeArrowheads="1"/>
          </p:cNvSpPr>
          <p:nvPr/>
        </p:nvSpPr>
        <p:spPr bwMode="auto">
          <a:xfrm>
            <a:off x="7609780" y="42621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19" name="Rectangle 18" descr="深色上对角线"/>
          <p:cNvSpPr>
            <a:spLocks noChangeArrowheads="1"/>
          </p:cNvSpPr>
          <p:nvPr/>
        </p:nvSpPr>
        <p:spPr bwMode="auto">
          <a:xfrm>
            <a:off x="80288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0" name="Rectangle 19" descr="深色上对角线"/>
          <p:cNvSpPr>
            <a:spLocks noChangeArrowheads="1"/>
          </p:cNvSpPr>
          <p:nvPr/>
        </p:nvSpPr>
        <p:spPr bwMode="auto">
          <a:xfrm>
            <a:off x="84606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1" name="Line 20"/>
          <p:cNvSpPr>
            <a:spLocks noChangeShapeType="1"/>
          </p:cNvSpPr>
          <p:nvPr/>
        </p:nvSpPr>
        <p:spPr bwMode="auto">
          <a:xfrm flipH="1">
            <a:off x="8600380" y="4395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1"/>
          <p:cNvSpPr>
            <a:spLocks noChangeShapeType="1"/>
          </p:cNvSpPr>
          <p:nvPr/>
        </p:nvSpPr>
        <p:spPr bwMode="auto">
          <a:xfrm>
            <a:off x="8676580" y="4395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3" name="Rectangle 22" descr="深色上对角线"/>
          <p:cNvSpPr>
            <a:spLocks noChangeArrowheads="1"/>
          </p:cNvSpPr>
          <p:nvPr/>
        </p:nvSpPr>
        <p:spPr bwMode="auto">
          <a:xfrm>
            <a:off x="1018480" y="5252740"/>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24" name="Rectangle 23" descr="深色上对角线"/>
          <p:cNvSpPr>
            <a:spLocks noChangeArrowheads="1"/>
          </p:cNvSpPr>
          <p:nvPr/>
        </p:nvSpPr>
        <p:spPr bwMode="auto">
          <a:xfrm>
            <a:off x="1437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25" name="Rectangle 24" descr="深色上对角线"/>
          <p:cNvSpPr>
            <a:spLocks noChangeArrowheads="1"/>
          </p:cNvSpPr>
          <p:nvPr/>
        </p:nvSpPr>
        <p:spPr bwMode="auto">
          <a:xfrm>
            <a:off x="1869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6" name="Rectangle 25" descr="深色上对角线"/>
          <p:cNvSpPr>
            <a:spLocks noChangeArrowheads="1"/>
          </p:cNvSpPr>
          <p:nvPr/>
        </p:nvSpPr>
        <p:spPr bwMode="auto">
          <a:xfrm>
            <a:off x="26694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27" name="Rectangle 26" descr="深色上对角线"/>
          <p:cNvSpPr>
            <a:spLocks noChangeArrowheads="1"/>
          </p:cNvSpPr>
          <p:nvPr/>
        </p:nvSpPr>
        <p:spPr bwMode="auto">
          <a:xfrm>
            <a:off x="3088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8" name="Rectangle 27" descr="深色上对角线"/>
          <p:cNvSpPr>
            <a:spLocks noChangeArrowheads="1"/>
          </p:cNvSpPr>
          <p:nvPr/>
        </p:nvSpPr>
        <p:spPr bwMode="auto">
          <a:xfrm>
            <a:off x="3520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Rectangle 28" descr="深色上对角线"/>
          <p:cNvSpPr>
            <a:spLocks noChangeArrowheads="1"/>
          </p:cNvSpPr>
          <p:nvPr/>
        </p:nvSpPr>
        <p:spPr bwMode="auto">
          <a:xfrm>
            <a:off x="43204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22</a:t>
            </a:r>
          </a:p>
        </p:txBody>
      </p:sp>
      <p:sp>
        <p:nvSpPr>
          <p:cNvPr id="30" name="Rectangle 29" descr="深色上对角线"/>
          <p:cNvSpPr>
            <a:spLocks noChangeArrowheads="1"/>
          </p:cNvSpPr>
          <p:nvPr/>
        </p:nvSpPr>
        <p:spPr bwMode="auto">
          <a:xfrm>
            <a:off x="4739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31" name="Rectangle 30" descr="深色上对角线"/>
          <p:cNvSpPr>
            <a:spLocks noChangeArrowheads="1"/>
          </p:cNvSpPr>
          <p:nvPr/>
        </p:nvSpPr>
        <p:spPr bwMode="auto">
          <a:xfrm>
            <a:off x="5171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2" name="Rectangle 31" descr="深色上对角线"/>
          <p:cNvSpPr>
            <a:spLocks noChangeArrowheads="1"/>
          </p:cNvSpPr>
          <p:nvPr/>
        </p:nvSpPr>
        <p:spPr bwMode="auto">
          <a:xfrm>
            <a:off x="59460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33" name="Rectangle 32" descr="深色上对角线"/>
          <p:cNvSpPr>
            <a:spLocks noChangeArrowheads="1"/>
          </p:cNvSpPr>
          <p:nvPr/>
        </p:nvSpPr>
        <p:spPr bwMode="auto">
          <a:xfrm>
            <a:off x="63651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4" name="Rectangle 33" descr="深色上对角线"/>
          <p:cNvSpPr>
            <a:spLocks noChangeArrowheads="1"/>
          </p:cNvSpPr>
          <p:nvPr/>
        </p:nvSpPr>
        <p:spPr bwMode="auto">
          <a:xfrm>
            <a:off x="67969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5" name="Line 34"/>
          <p:cNvSpPr>
            <a:spLocks noChangeShapeType="1"/>
          </p:cNvSpPr>
          <p:nvPr/>
        </p:nvSpPr>
        <p:spPr bwMode="auto">
          <a:xfrm flipH="1">
            <a:off x="6923980" y="5411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5"/>
          <p:cNvSpPr>
            <a:spLocks noChangeShapeType="1"/>
          </p:cNvSpPr>
          <p:nvPr/>
        </p:nvSpPr>
        <p:spPr bwMode="auto">
          <a:xfrm>
            <a:off x="7000180" y="5411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6"/>
          <p:cNvSpPr>
            <a:spLocks noChangeShapeType="1"/>
          </p:cNvSpPr>
          <p:nvPr/>
        </p:nvSpPr>
        <p:spPr bwMode="auto">
          <a:xfrm>
            <a:off x="523180" y="44716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37"/>
          <p:cNvSpPr>
            <a:spLocks noChangeShapeType="1"/>
          </p:cNvSpPr>
          <p:nvPr/>
        </p:nvSpPr>
        <p:spPr bwMode="auto">
          <a:xfrm>
            <a:off x="523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38"/>
          <p:cNvSpPr>
            <a:spLocks noChangeShapeType="1"/>
          </p:cNvSpPr>
          <p:nvPr/>
        </p:nvSpPr>
        <p:spPr bwMode="auto">
          <a:xfrm>
            <a:off x="2167830" y="44843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39"/>
          <p:cNvSpPr>
            <a:spLocks noChangeShapeType="1"/>
          </p:cNvSpPr>
          <p:nvPr/>
        </p:nvSpPr>
        <p:spPr bwMode="auto">
          <a:xfrm>
            <a:off x="3818830" y="44843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40"/>
          <p:cNvSpPr>
            <a:spLocks noChangeShapeType="1"/>
          </p:cNvSpPr>
          <p:nvPr/>
        </p:nvSpPr>
        <p:spPr bwMode="auto">
          <a:xfrm>
            <a:off x="5457130" y="449074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41"/>
          <p:cNvSpPr>
            <a:spLocks noChangeShapeType="1"/>
          </p:cNvSpPr>
          <p:nvPr/>
        </p:nvSpPr>
        <p:spPr bwMode="auto">
          <a:xfrm>
            <a:off x="7120830" y="44970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42"/>
          <p:cNvSpPr>
            <a:spLocks noChangeShapeType="1"/>
          </p:cNvSpPr>
          <p:nvPr/>
        </p:nvSpPr>
        <p:spPr bwMode="auto">
          <a:xfrm>
            <a:off x="2174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43"/>
          <p:cNvSpPr>
            <a:spLocks noChangeShapeType="1"/>
          </p:cNvSpPr>
          <p:nvPr/>
        </p:nvSpPr>
        <p:spPr bwMode="auto">
          <a:xfrm>
            <a:off x="3825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44"/>
          <p:cNvSpPr>
            <a:spLocks noChangeShapeType="1"/>
          </p:cNvSpPr>
          <p:nvPr/>
        </p:nvSpPr>
        <p:spPr bwMode="auto">
          <a:xfrm>
            <a:off x="5463480" y="548134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45"/>
          <p:cNvSpPr txBox="1">
            <a:spLocks noChangeArrowheads="1"/>
          </p:cNvSpPr>
          <p:nvPr/>
        </p:nvSpPr>
        <p:spPr bwMode="auto">
          <a:xfrm>
            <a:off x="456505" y="4158952"/>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A</a:t>
            </a:r>
          </a:p>
        </p:txBody>
      </p:sp>
      <p:sp>
        <p:nvSpPr>
          <p:cNvPr id="47" name="Text Box 46"/>
          <p:cNvSpPr txBox="1">
            <a:spLocks noChangeArrowheads="1"/>
          </p:cNvSpPr>
          <p:nvPr/>
        </p:nvSpPr>
        <p:spPr bwMode="auto">
          <a:xfrm>
            <a:off x="440630" y="5163840"/>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sp>
        <p:nvSpPr>
          <p:cNvPr id="48" name="Line 47"/>
          <p:cNvSpPr>
            <a:spLocks noChangeShapeType="1"/>
          </p:cNvSpPr>
          <p:nvPr/>
        </p:nvSpPr>
        <p:spPr bwMode="auto">
          <a:xfrm>
            <a:off x="4963418" y="37017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Text Box 48"/>
          <p:cNvSpPr txBox="1">
            <a:spLocks noChangeArrowheads="1"/>
          </p:cNvSpPr>
          <p:nvPr/>
        </p:nvSpPr>
        <p:spPr bwMode="auto">
          <a:xfrm>
            <a:off x="4734818" y="3222327"/>
            <a:ext cx="512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a:solidFill>
                  <a:srgbClr val="FF0000"/>
                </a:solidFill>
                <a:latin typeface="Tahoma" panose="020B0604030504040204" pitchFamily="34" charset="0"/>
              </a:rPr>
              <a:t>pa</a:t>
            </a:r>
          </a:p>
        </p:txBody>
      </p:sp>
      <p:sp>
        <p:nvSpPr>
          <p:cNvPr id="50" name="Line 49"/>
          <p:cNvSpPr>
            <a:spLocks noChangeShapeType="1"/>
          </p:cNvSpPr>
          <p:nvPr/>
        </p:nvSpPr>
        <p:spPr bwMode="auto">
          <a:xfrm flipV="1">
            <a:off x="3266380" y="57591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Text Box 50"/>
          <p:cNvSpPr txBox="1">
            <a:spLocks noChangeArrowheads="1"/>
          </p:cNvSpPr>
          <p:nvPr/>
        </p:nvSpPr>
        <p:spPr bwMode="auto">
          <a:xfrm>
            <a:off x="3037780" y="6140152"/>
            <a:ext cx="52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a:solidFill>
                  <a:srgbClr val="FF0000"/>
                </a:solidFill>
                <a:latin typeface="Tahoma" panose="020B0604030504040204" pitchFamily="34" charset="0"/>
              </a:rPr>
              <a:t>pb</a:t>
            </a:r>
          </a:p>
        </p:txBody>
      </p:sp>
      <p:sp>
        <p:nvSpPr>
          <p:cNvPr id="54" name="Line 49"/>
          <p:cNvSpPr>
            <a:spLocks noChangeShapeType="1"/>
          </p:cNvSpPr>
          <p:nvPr/>
        </p:nvSpPr>
        <p:spPr bwMode="auto">
          <a:xfrm>
            <a:off x="3223228" y="3724721"/>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5" name="Text Box 50"/>
          <p:cNvSpPr txBox="1">
            <a:spLocks noChangeArrowheads="1"/>
          </p:cNvSpPr>
          <p:nvPr/>
        </p:nvSpPr>
        <p:spPr bwMode="auto">
          <a:xfrm>
            <a:off x="2994628" y="3245296"/>
            <a:ext cx="497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pc</a:t>
            </a:r>
          </a:p>
        </p:txBody>
      </p:sp>
      <p:sp>
        <p:nvSpPr>
          <p:cNvPr id="58" name="Rectangle 22" descr="深色上对角线"/>
          <p:cNvSpPr>
            <a:spLocks noChangeArrowheads="1"/>
          </p:cNvSpPr>
          <p:nvPr/>
        </p:nvSpPr>
        <p:spPr bwMode="auto">
          <a:xfrm>
            <a:off x="1431230" y="5252740"/>
            <a:ext cx="45085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cxnSp>
        <p:nvCxnSpPr>
          <p:cNvPr id="59" name="直接箭头连接符 58"/>
          <p:cNvCxnSpPr/>
          <p:nvPr/>
        </p:nvCxnSpPr>
        <p:spPr bwMode="auto">
          <a:xfrm>
            <a:off x="931665" y="3749352"/>
            <a:ext cx="247848" cy="44078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60" name="Text Box 46"/>
          <p:cNvSpPr txBox="1">
            <a:spLocks noChangeArrowheads="1"/>
          </p:cNvSpPr>
          <p:nvPr/>
        </p:nvSpPr>
        <p:spPr bwMode="auto">
          <a:xfrm>
            <a:off x="665212" y="3461320"/>
            <a:ext cx="308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C</a:t>
            </a:r>
          </a:p>
        </p:txBody>
      </p:sp>
      <p:sp>
        <p:nvSpPr>
          <p:cNvPr id="57" name="文本框 56"/>
          <p:cNvSpPr txBox="1"/>
          <p:nvPr/>
        </p:nvSpPr>
        <p:spPr>
          <a:xfrm>
            <a:off x="4427984" y="1052736"/>
            <a:ext cx="4385684" cy="2677656"/>
          </a:xfrm>
          <a:prstGeom prst="rect">
            <a:avLst/>
          </a:prstGeom>
          <a:noFill/>
        </p:spPr>
        <p:txBody>
          <a:bodyPr wrap="square" rtlCol="0">
            <a:spAutoFit/>
          </a:bodyPr>
          <a:lstStyle/>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if (pa-&gt;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sum = pa-&gt;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coef</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coef</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if(sum!=0)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pa-&gt;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coef</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=sum;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pa,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pc</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均向后移 </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endParaRP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100</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86691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4" name="Text Box 3"/>
          <p:cNvSpPr txBox="1">
            <a:spLocks noChangeArrowheads="1"/>
          </p:cNvSpPr>
          <p:nvPr/>
        </p:nvSpPr>
        <p:spPr bwMode="auto">
          <a:xfrm>
            <a:off x="539552" y="15040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A</a:t>
            </a:r>
            <a:r>
              <a:rPr lang="en-US" altLang="zh-CN" baseline="-25000" dirty="0">
                <a:latin typeface="Tahoma" panose="020B0604030504040204" pitchFamily="34" charset="0"/>
              </a:rPr>
              <a:t>17</a:t>
            </a:r>
            <a:r>
              <a:rPr lang="en-US" altLang="zh-CN" dirty="0">
                <a:latin typeface="Tahoma" panose="020B0604030504040204" pitchFamily="34" charset="0"/>
              </a:rPr>
              <a:t>(x)=7+3x+9x</a:t>
            </a:r>
            <a:r>
              <a:rPr lang="en-US" altLang="zh-CN" baseline="30000" dirty="0">
                <a:latin typeface="Tahoma" panose="020B0604030504040204" pitchFamily="34" charset="0"/>
              </a:rPr>
              <a:t>8</a:t>
            </a:r>
            <a:r>
              <a:rPr lang="en-US" altLang="zh-CN" dirty="0">
                <a:latin typeface="Tahoma" panose="020B0604030504040204" pitchFamily="34" charset="0"/>
              </a:rPr>
              <a:t>+5x</a:t>
            </a:r>
            <a:r>
              <a:rPr lang="en-US" altLang="zh-CN" baseline="30000" dirty="0">
                <a:latin typeface="Tahoma" panose="020B0604030504040204" pitchFamily="34" charset="0"/>
              </a:rPr>
              <a:t>17</a:t>
            </a:r>
          </a:p>
        </p:txBody>
      </p:sp>
      <p:sp>
        <p:nvSpPr>
          <p:cNvPr id="5" name="Text Box 4"/>
          <p:cNvSpPr txBox="1">
            <a:spLocks noChangeArrowheads="1"/>
          </p:cNvSpPr>
          <p:nvPr/>
        </p:nvSpPr>
        <p:spPr bwMode="auto">
          <a:xfrm>
            <a:off x="539552" y="21898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a:latin typeface="Tahoma" panose="020B0604030504040204" pitchFamily="34" charset="0"/>
              </a:rPr>
              <a:t>B</a:t>
            </a:r>
            <a:r>
              <a:rPr lang="en-US" altLang="zh-CN" baseline="-25000">
                <a:latin typeface="Tahoma" panose="020B0604030504040204" pitchFamily="34" charset="0"/>
              </a:rPr>
              <a:t>8</a:t>
            </a:r>
            <a:r>
              <a:rPr lang="en-US" altLang="zh-CN">
                <a:latin typeface="Tahoma" panose="020B0604030504040204" pitchFamily="34" charset="0"/>
              </a:rPr>
              <a:t>(x)=8x+22x</a:t>
            </a:r>
            <a:r>
              <a:rPr lang="en-US" altLang="zh-CN" baseline="30000">
                <a:latin typeface="Tahoma" panose="020B0604030504040204" pitchFamily="34" charset="0"/>
              </a:rPr>
              <a:t>7</a:t>
            </a:r>
            <a:r>
              <a:rPr lang="en-US" altLang="zh-CN">
                <a:latin typeface="Tahoma" panose="020B0604030504040204" pitchFamily="34" charset="0"/>
              </a:rPr>
              <a:t>-9x</a:t>
            </a:r>
            <a:r>
              <a:rPr lang="en-US" altLang="zh-CN" baseline="30000">
                <a:latin typeface="Tahoma" panose="020B0604030504040204" pitchFamily="34" charset="0"/>
              </a:rPr>
              <a:t>8</a:t>
            </a:r>
          </a:p>
        </p:txBody>
      </p:sp>
      <p:sp>
        <p:nvSpPr>
          <p:cNvPr id="9" name="Rectangle 8"/>
          <p:cNvSpPr>
            <a:spLocks noChangeArrowheads="1"/>
          </p:cNvSpPr>
          <p:nvPr/>
        </p:nvSpPr>
        <p:spPr bwMode="auto">
          <a:xfrm>
            <a:off x="2669480" y="42621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0" name="Rectangle 9"/>
          <p:cNvSpPr>
            <a:spLocks noChangeArrowheads="1"/>
          </p:cNvSpPr>
          <p:nvPr/>
        </p:nvSpPr>
        <p:spPr bwMode="auto">
          <a:xfrm>
            <a:off x="30885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1" name="Rectangle 10"/>
          <p:cNvSpPr>
            <a:spLocks noChangeArrowheads="1"/>
          </p:cNvSpPr>
          <p:nvPr/>
        </p:nvSpPr>
        <p:spPr bwMode="auto">
          <a:xfrm>
            <a:off x="35203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2" name="Rectangle 11"/>
          <p:cNvSpPr>
            <a:spLocks noChangeArrowheads="1"/>
          </p:cNvSpPr>
          <p:nvPr/>
        </p:nvSpPr>
        <p:spPr bwMode="auto">
          <a:xfrm>
            <a:off x="4320480" y="42621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11</a:t>
            </a:r>
          </a:p>
        </p:txBody>
      </p:sp>
      <p:sp>
        <p:nvSpPr>
          <p:cNvPr id="13" name="Rectangle 12"/>
          <p:cNvSpPr>
            <a:spLocks noChangeArrowheads="1"/>
          </p:cNvSpPr>
          <p:nvPr/>
        </p:nvSpPr>
        <p:spPr bwMode="auto">
          <a:xfrm>
            <a:off x="47395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14" name="Rectangle 13"/>
          <p:cNvSpPr>
            <a:spLocks noChangeArrowheads="1"/>
          </p:cNvSpPr>
          <p:nvPr/>
        </p:nvSpPr>
        <p:spPr bwMode="auto">
          <a:xfrm>
            <a:off x="51713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5" name="Rectangle 14" descr="深色上对角线"/>
          <p:cNvSpPr>
            <a:spLocks noChangeArrowheads="1"/>
          </p:cNvSpPr>
          <p:nvPr/>
        </p:nvSpPr>
        <p:spPr bwMode="auto">
          <a:xfrm>
            <a:off x="5946080" y="42621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16" name="Rectangle 15" descr="深色上对角线"/>
          <p:cNvSpPr>
            <a:spLocks noChangeArrowheads="1"/>
          </p:cNvSpPr>
          <p:nvPr/>
        </p:nvSpPr>
        <p:spPr bwMode="auto">
          <a:xfrm>
            <a:off x="63651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17" name="Rectangle 16" descr="深色上对角线"/>
          <p:cNvSpPr>
            <a:spLocks noChangeArrowheads="1"/>
          </p:cNvSpPr>
          <p:nvPr/>
        </p:nvSpPr>
        <p:spPr bwMode="auto">
          <a:xfrm>
            <a:off x="67969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8" name="Rectangle 17" descr="深色上对角线"/>
          <p:cNvSpPr>
            <a:spLocks noChangeArrowheads="1"/>
          </p:cNvSpPr>
          <p:nvPr/>
        </p:nvSpPr>
        <p:spPr bwMode="auto">
          <a:xfrm>
            <a:off x="7609780" y="42621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19" name="Rectangle 18" descr="深色上对角线"/>
          <p:cNvSpPr>
            <a:spLocks noChangeArrowheads="1"/>
          </p:cNvSpPr>
          <p:nvPr/>
        </p:nvSpPr>
        <p:spPr bwMode="auto">
          <a:xfrm>
            <a:off x="80288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0" name="Rectangle 19" descr="深色上对角线"/>
          <p:cNvSpPr>
            <a:spLocks noChangeArrowheads="1"/>
          </p:cNvSpPr>
          <p:nvPr/>
        </p:nvSpPr>
        <p:spPr bwMode="auto">
          <a:xfrm>
            <a:off x="84606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1" name="Line 20"/>
          <p:cNvSpPr>
            <a:spLocks noChangeShapeType="1"/>
          </p:cNvSpPr>
          <p:nvPr/>
        </p:nvSpPr>
        <p:spPr bwMode="auto">
          <a:xfrm flipH="1">
            <a:off x="8600380" y="4395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1"/>
          <p:cNvSpPr>
            <a:spLocks noChangeShapeType="1"/>
          </p:cNvSpPr>
          <p:nvPr/>
        </p:nvSpPr>
        <p:spPr bwMode="auto">
          <a:xfrm>
            <a:off x="8676580" y="4395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Rectangle 25" descr="深色上对角线"/>
          <p:cNvSpPr>
            <a:spLocks noChangeArrowheads="1"/>
          </p:cNvSpPr>
          <p:nvPr/>
        </p:nvSpPr>
        <p:spPr bwMode="auto">
          <a:xfrm>
            <a:off x="26694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27" name="Rectangle 26" descr="深色上对角线"/>
          <p:cNvSpPr>
            <a:spLocks noChangeArrowheads="1"/>
          </p:cNvSpPr>
          <p:nvPr/>
        </p:nvSpPr>
        <p:spPr bwMode="auto">
          <a:xfrm>
            <a:off x="3088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8" name="Rectangle 27" descr="深色上对角线"/>
          <p:cNvSpPr>
            <a:spLocks noChangeArrowheads="1"/>
          </p:cNvSpPr>
          <p:nvPr/>
        </p:nvSpPr>
        <p:spPr bwMode="auto">
          <a:xfrm>
            <a:off x="3520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Rectangle 28" descr="深色上对角线"/>
          <p:cNvSpPr>
            <a:spLocks noChangeArrowheads="1"/>
          </p:cNvSpPr>
          <p:nvPr/>
        </p:nvSpPr>
        <p:spPr bwMode="auto">
          <a:xfrm>
            <a:off x="43204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22</a:t>
            </a:r>
          </a:p>
        </p:txBody>
      </p:sp>
      <p:sp>
        <p:nvSpPr>
          <p:cNvPr id="30" name="Rectangle 29" descr="深色上对角线"/>
          <p:cNvSpPr>
            <a:spLocks noChangeArrowheads="1"/>
          </p:cNvSpPr>
          <p:nvPr/>
        </p:nvSpPr>
        <p:spPr bwMode="auto">
          <a:xfrm>
            <a:off x="4739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31" name="Rectangle 30" descr="深色上对角线"/>
          <p:cNvSpPr>
            <a:spLocks noChangeArrowheads="1"/>
          </p:cNvSpPr>
          <p:nvPr/>
        </p:nvSpPr>
        <p:spPr bwMode="auto">
          <a:xfrm>
            <a:off x="5171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2" name="Rectangle 31" descr="深色上对角线"/>
          <p:cNvSpPr>
            <a:spLocks noChangeArrowheads="1"/>
          </p:cNvSpPr>
          <p:nvPr/>
        </p:nvSpPr>
        <p:spPr bwMode="auto">
          <a:xfrm>
            <a:off x="59460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33" name="Rectangle 32" descr="深色上对角线"/>
          <p:cNvSpPr>
            <a:spLocks noChangeArrowheads="1"/>
          </p:cNvSpPr>
          <p:nvPr/>
        </p:nvSpPr>
        <p:spPr bwMode="auto">
          <a:xfrm>
            <a:off x="63651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4" name="Rectangle 33" descr="深色上对角线"/>
          <p:cNvSpPr>
            <a:spLocks noChangeArrowheads="1"/>
          </p:cNvSpPr>
          <p:nvPr/>
        </p:nvSpPr>
        <p:spPr bwMode="auto">
          <a:xfrm>
            <a:off x="67969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5" name="Line 34"/>
          <p:cNvSpPr>
            <a:spLocks noChangeShapeType="1"/>
          </p:cNvSpPr>
          <p:nvPr/>
        </p:nvSpPr>
        <p:spPr bwMode="auto">
          <a:xfrm flipH="1">
            <a:off x="6923980" y="5411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5"/>
          <p:cNvSpPr>
            <a:spLocks noChangeShapeType="1"/>
          </p:cNvSpPr>
          <p:nvPr/>
        </p:nvSpPr>
        <p:spPr bwMode="auto">
          <a:xfrm>
            <a:off x="7000180" y="5411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6"/>
          <p:cNvSpPr>
            <a:spLocks noChangeShapeType="1"/>
          </p:cNvSpPr>
          <p:nvPr/>
        </p:nvSpPr>
        <p:spPr bwMode="auto">
          <a:xfrm>
            <a:off x="523180" y="44716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37"/>
          <p:cNvSpPr>
            <a:spLocks noChangeShapeType="1"/>
          </p:cNvSpPr>
          <p:nvPr/>
        </p:nvSpPr>
        <p:spPr bwMode="auto">
          <a:xfrm>
            <a:off x="523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38"/>
          <p:cNvSpPr>
            <a:spLocks noChangeShapeType="1"/>
          </p:cNvSpPr>
          <p:nvPr/>
        </p:nvSpPr>
        <p:spPr bwMode="auto">
          <a:xfrm>
            <a:off x="2167830" y="44843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39"/>
          <p:cNvSpPr>
            <a:spLocks noChangeShapeType="1"/>
          </p:cNvSpPr>
          <p:nvPr/>
        </p:nvSpPr>
        <p:spPr bwMode="auto">
          <a:xfrm>
            <a:off x="3818830" y="44843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40"/>
          <p:cNvSpPr>
            <a:spLocks noChangeShapeType="1"/>
          </p:cNvSpPr>
          <p:nvPr/>
        </p:nvSpPr>
        <p:spPr bwMode="auto">
          <a:xfrm>
            <a:off x="5457130" y="449074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41"/>
          <p:cNvSpPr>
            <a:spLocks noChangeShapeType="1"/>
          </p:cNvSpPr>
          <p:nvPr/>
        </p:nvSpPr>
        <p:spPr bwMode="auto">
          <a:xfrm>
            <a:off x="7120830" y="44970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42"/>
          <p:cNvSpPr>
            <a:spLocks noChangeShapeType="1"/>
          </p:cNvSpPr>
          <p:nvPr/>
        </p:nvSpPr>
        <p:spPr bwMode="auto">
          <a:xfrm>
            <a:off x="2174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43"/>
          <p:cNvSpPr>
            <a:spLocks noChangeShapeType="1"/>
          </p:cNvSpPr>
          <p:nvPr/>
        </p:nvSpPr>
        <p:spPr bwMode="auto">
          <a:xfrm>
            <a:off x="3825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44"/>
          <p:cNvSpPr>
            <a:spLocks noChangeShapeType="1"/>
          </p:cNvSpPr>
          <p:nvPr/>
        </p:nvSpPr>
        <p:spPr bwMode="auto">
          <a:xfrm>
            <a:off x="5463480" y="548134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45"/>
          <p:cNvSpPr txBox="1">
            <a:spLocks noChangeArrowheads="1"/>
          </p:cNvSpPr>
          <p:nvPr/>
        </p:nvSpPr>
        <p:spPr bwMode="auto">
          <a:xfrm>
            <a:off x="456505" y="4158952"/>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A</a:t>
            </a:r>
          </a:p>
        </p:txBody>
      </p:sp>
      <p:sp>
        <p:nvSpPr>
          <p:cNvPr id="47" name="Text Box 46"/>
          <p:cNvSpPr txBox="1">
            <a:spLocks noChangeArrowheads="1"/>
          </p:cNvSpPr>
          <p:nvPr/>
        </p:nvSpPr>
        <p:spPr bwMode="auto">
          <a:xfrm>
            <a:off x="440630" y="5163840"/>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sp>
        <p:nvSpPr>
          <p:cNvPr id="48" name="Line 47"/>
          <p:cNvSpPr>
            <a:spLocks noChangeShapeType="1"/>
          </p:cNvSpPr>
          <p:nvPr/>
        </p:nvSpPr>
        <p:spPr bwMode="auto">
          <a:xfrm>
            <a:off x="6563618" y="37017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Text Box 48"/>
          <p:cNvSpPr txBox="1">
            <a:spLocks noChangeArrowheads="1"/>
          </p:cNvSpPr>
          <p:nvPr/>
        </p:nvSpPr>
        <p:spPr bwMode="auto">
          <a:xfrm>
            <a:off x="6335018" y="3222327"/>
            <a:ext cx="512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a:solidFill>
                  <a:srgbClr val="FF0000"/>
                </a:solidFill>
                <a:latin typeface="Tahoma" panose="020B0604030504040204" pitchFamily="34" charset="0"/>
              </a:rPr>
              <a:t>pa</a:t>
            </a:r>
          </a:p>
        </p:txBody>
      </p:sp>
      <p:sp>
        <p:nvSpPr>
          <p:cNvPr id="50" name="Line 49"/>
          <p:cNvSpPr>
            <a:spLocks noChangeShapeType="1"/>
          </p:cNvSpPr>
          <p:nvPr/>
        </p:nvSpPr>
        <p:spPr bwMode="auto">
          <a:xfrm flipV="1">
            <a:off x="4955480" y="57591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Text Box 50"/>
          <p:cNvSpPr txBox="1">
            <a:spLocks noChangeArrowheads="1"/>
          </p:cNvSpPr>
          <p:nvPr/>
        </p:nvSpPr>
        <p:spPr bwMode="auto">
          <a:xfrm>
            <a:off x="4726880" y="6140152"/>
            <a:ext cx="52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err="1">
                <a:solidFill>
                  <a:srgbClr val="FF0000"/>
                </a:solidFill>
                <a:latin typeface="Tahoma" panose="020B0604030504040204" pitchFamily="34" charset="0"/>
              </a:rPr>
              <a:t>pb</a:t>
            </a:r>
            <a:endParaRPr lang="en-US" altLang="zh-CN" sz="2400" dirty="0">
              <a:solidFill>
                <a:srgbClr val="FF0000"/>
              </a:solidFill>
              <a:latin typeface="Tahoma" panose="020B0604030504040204" pitchFamily="34" charset="0"/>
            </a:endParaRPr>
          </a:p>
        </p:txBody>
      </p:sp>
      <p:sp>
        <p:nvSpPr>
          <p:cNvPr id="52" name="Line 49"/>
          <p:cNvSpPr>
            <a:spLocks noChangeShapeType="1"/>
          </p:cNvSpPr>
          <p:nvPr/>
        </p:nvSpPr>
        <p:spPr bwMode="auto">
          <a:xfrm>
            <a:off x="4879412" y="3724200"/>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 name="Text Box 50"/>
          <p:cNvSpPr txBox="1">
            <a:spLocks noChangeArrowheads="1"/>
          </p:cNvSpPr>
          <p:nvPr/>
        </p:nvSpPr>
        <p:spPr bwMode="auto">
          <a:xfrm>
            <a:off x="4650812" y="3244775"/>
            <a:ext cx="497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pc</a:t>
            </a:r>
          </a:p>
        </p:txBody>
      </p:sp>
      <p:cxnSp>
        <p:nvCxnSpPr>
          <p:cNvPr id="54" name="直接箭头连接符 53"/>
          <p:cNvCxnSpPr/>
          <p:nvPr/>
        </p:nvCxnSpPr>
        <p:spPr bwMode="auto">
          <a:xfrm>
            <a:off x="931665" y="3749352"/>
            <a:ext cx="247848" cy="44078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55" name="Text Box 46"/>
          <p:cNvSpPr txBox="1">
            <a:spLocks noChangeArrowheads="1"/>
          </p:cNvSpPr>
          <p:nvPr/>
        </p:nvSpPr>
        <p:spPr bwMode="auto">
          <a:xfrm>
            <a:off x="665212" y="3461320"/>
            <a:ext cx="308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C</a:t>
            </a:r>
          </a:p>
        </p:txBody>
      </p:sp>
      <p:sp>
        <p:nvSpPr>
          <p:cNvPr id="56" name="Rectangle 5" descr="深色上对角线"/>
          <p:cNvSpPr>
            <a:spLocks noChangeArrowheads="1"/>
          </p:cNvSpPr>
          <p:nvPr/>
        </p:nvSpPr>
        <p:spPr bwMode="auto">
          <a:xfrm>
            <a:off x="1018480" y="42621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57" name="Rectangle 6" descr="深色上对角线"/>
          <p:cNvSpPr>
            <a:spLocks noChangeArrowheads="1"/>
          </p:cNvSpPr>
          <p:nvPr/>
        </p:nvSpPr>
        <p:spPr bwMode="auto">
          <a:xfrm>
            <a:off x="1437580" y="42621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58" name="Rectangle 7" descr="深色上对角线"/>
          <p:cNvSpPr>
            <a:spLocks noChangeArrowheads="1"/>
          </p:cNvSpPr>
          <p:nvPr/>
        </p:nvSpPr>
        <p:spPr bwMode="auto">
          <a:xfrm>
            <a:off x="1869380" y="42621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59" name="Rectangle 22" descr="深色上对角线"/>
          <p:cNvSpPr>
            <a:spLocks noChangeArrowheads="1"/>
          </p:cNvSpPr>
          <p:nvPr/>
        </p:nvSpPr>
        <p:spPr bwMode="auto">
          <a:xfrm>
            <a:off x="1018480" y="5252740"/>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0" name="Rectangle 23" descr="深色上对角线"/>
          <p:cNvSpPr>
            <a:spLocks noChangeArrowheads="1"/>
          </p:cNvSpPr>
          <p:nvPr/>
        </p:nvSpPr>
        <p:spPr bwMode="auto">
          <a:xfrm>
            <a:off x="1437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61" name="Rectangle 24" descr="深色上对角线"/>
          <p:cNvSpPr>
            <a:spLocks noChangeArrowheads="1"/>
          </p:cNvSpPr>
          <p:nvPr/>
        </p:nvSpPr>
        <p:spPr bwMode="auto">
          <a:xfrm>
            <a:off x="1869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62" name="Rectangle 22" descr="深色上对角线"/>
          <p:cNvSpPr>
            <a:spLocks noChangeArrowheads="1"/>
          </p:cNvSpPr>
          <p:nvPr/>
        </p:nvSpPr>
        <p:spPr bwMode="auto">
          <a:xfrm>
            <a:off x="1431230" y="5252740"/>
            <a:ext cx="45085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3" name="文本框 62"/>
          <p:cNvSpPr txBox="1"/>
          <p:nvPr/>
        </p:nvSpPr>
        <p:spPr>
          <a:xfrm>
            <a:off x="4963418" y="1124744"/>
            <a:ext cx="3929062" cy="2234458"/>
          </a:xfrm>
          <a:prstGeom prst="rect">
            <a:avLst/>
          </a:prstGeom>
          <a:noFill/>
        </p:spPr>
        <p:txBody>
          <a:bodyPr wrap="square" rtlCol="0">
            <a:spAutoFit/>
          </a:bodyPr>
          <a:lstStyle/>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if(pa-&gt;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&gt;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pc-&gt;next =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-&gt;next;</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pc</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pc-&gt;next;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101</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80193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4" name="Text Box 3"/>
          <p:cNvSpPr txBox="1">
            <a:spLocks noChangeArrowheads="1"/>
          </p:cNvSpPr>
          <p:nvPr/>
        </p:nvSpPr>
        <p:spPr bwMode="auto">
          <a:xfrm>
            <a:off x="539552" y="15040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dirty="0">
                <a:latin typeface="Tahoma" panose="020B0604030504040204" pitchFamily="34" charset="0"/>
              </a:rPr>
              <a:t>A</a:t>
            </a:r>
            <a:r>
              <a:rPr lang="en-US" altLang="zh-CN" baseline="-25000" dirty="0">
                <a:latin typeface="Tahoma" panose="020B0604030504040204" pitchFamily="34" charset="0"/>
              </a:rPr>
              <a:t>17</a:t>
            </a:r>
            <a:r>
              <a:rPr lang="en-US" altLang="zh-CN" dirty="0">
                <a:latin typeface="Tahoma" panose="020B0604030504040204" pitchFamily="34" charset="0"/>
              </a:rPr>
              <a:t>(x)=7+3x+9x</a:t>
            </a:r>
            <a:r>
              <a:rPr lang="en-US" altLang="zh-CN" baseline="30000" dirty="0">
                <a:latin typeface="Tahoma" panose="020B0604030504040204" pitchFamily="34" charset="0"/>
              </a:rPr>
              <a:t>8</a:t>
            </a:r>
            <a:r>
              <a:rPr lang="en-US" altLang="zh-CN" dirty="0">
                <a:latin typeface="Tahoma" panose="020B0604030504040204" pitchFamily="34" charset="0"/>
              </a:rPr>
              <a:t>+5x</a:t>
            </a:r>
            <a:r>
              <a:rPr lang="en-US" altLang="zh-CN" baseline="30000" dirty="0">
                <a:latin typeface="Tahoma" panose="020B0604030504040204" pitchFamily="34" charset="0"/>
              </a:rPr>
              <a:t>17</a:t>
            </a:r>
          </a:p>
        </p:txBody>
      </p:sp>
      <p:sp>
        <p:nvSpPr>
          <p:cNvPr id="5" name="Text Box 4"/>
          <p:cNvSpPr txBox="1">
            <a:spLocks noChangeArrowheads="1"/>
          </p:cNvSpPr>
          <p:nvPr/>
        </p:nvSpPr>
        <p:spPr bwMode="auto">
          <a:xfrm>
            <a:off x="539552" y="2189807"/>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a:latin typeface="Tahoma" panose="020B0604030504040204" pitchFamily="34" charset="0"/>
              </a:rPr>
              <a:t>B</a:t>
            </a:r>
            <a:r>
              <a:rPr lang="en-US" altLang="zh-CN" baseline="-25000">
                <a:latin typeface="Tahoma" panose="020B0604030504040204" pitchFamily="34" charset="0"/>
              </a:rPr>
              <a:t>8</a:t>
            </a:r>
            <a:r>
              <a:rPr lang="en-US" altLang="zh-CN">
                <a:latin typeface="Tahoma" panose="020B0604030504040204" pitchFamily="34" charset="0"/>
              </a:rPr>
              <a:t>(x)=8x+22x</a:t>
            </a:r>
            <a:r>
              <a:rPr lang="en-US" altLang="zh-CN" baseline="30000">
                <a:latin typeface="Tahoma" panose="020B0604030504040204" pitchFamily="34" charset="0"/>
              </a:rPr>
              <a:t>7</a:t>
            </a:r>
            <a:r>
              <a:rPr lang="en-US" altLang="zh-CN">
                <a:latin typeface="Tahoma" panose="020B0604030504040204" pitchFamily="34" charset="0"/>
              </a:rPr>
              <a:t>-9x</a:t>
            </a:r>
            <a:r>
              <a:rPr lang="en-US" altLang="zh-CN" baseline="30000">
                <a:latin typeface="Tahoma" panose="020B0604030504040204" pitchFamily="34" charset="0"/>
              </a:rPr>
              <a:t>8</a:t>
            </a:r>
          </a:p>
        </p:txBody>
      </p:sp>
      <p:sp>
        <p:nvSpPr>
          <p:cNvPr id="9" name="Rectangle 8"/>
          <p:cNvSpPr>
            <a:spLocks noChangeArrowheads="1"/>
          </p:cNvSpPr>
          <p:nvPr/>
        </p:nvSpPr>
        <p:spPr bwMode="auto">
          <a:xfrm>
            <a:off x="2669480" y="42621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0" name="Rectangle 9"/>
          <p:cNvSpPr>
            <a:spLocks noChangeArrowheads="1"/>
          </p:cNvSpPr>
          <p:nvPr/>
        </p:nvSpPr>
        <p:spPr bwMode="auto">
          <a:xfrm>
            <a:off x="30885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1" name="Rectangle 10"/>
          <p:cNvSpPr>
            <a:spLocks noChangeArrowheads="1"/>
          </p:cNvSpPr>
          <p:nvPr/>
        </p:nvSpPr>
        <p:spPr bwMode="auto">
          <a:xfrm>
            <a:off x="35203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2" name="Rectangle 11"/>
          <p:cNvSpPr>
            <a:spLocks noChangeArrowheads="1"/>
          </p:cNvSpPr>
          <p:nvPr/>
        </p:nvSpPr>
        <p:spPr bwMode="auto">
          <a:xfrm>
            <a:off x="4320480" y="42621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11</a:t>
            </a:r>
          </a:p>
        </p:txBody>
      </p:sp>
      <p:sp>
        <p:nvSpPr>
          <p:cNvPr id="13" name="Rectangle 12"/>
          <p:cNvSpPr>
            <a:spLocks noChangeArrowheads="1"/>
          </p:cNvSpPr>
          <p:nvPr/>
        </p:nvSpPr>
        <p:spPr bwMode="auto">
          <a:xfrm>
            <a:off x="47395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14" name="Rectangle 13"/>
          <p:cNvSpPr>
            <a:spLocks noChangeArrowheads="1"/>
          </p:cNvSpPr>
          <p:nvPr/>
        </p:nvSpPr>
        <p:spPr bwMode="auto">
          <a:xfrm>
            <a:off x="5171380" y="42621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5" name="Rectangle 14" descr="深色上对角线"/>
          <p:cNvSpPr>
            <a:spLocks noChangeArrowheads="1"/>
          </p:cNvSpPr>
          <p:nvPr/>
        </p:nvSpPr>
        <p:spPr bwMode="auto">
          <a:xfrm>
            <a:off x="5946080" y="42621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16" name="Rectangle 15" descr="深色上对角线"/>
          <p:cNvSpPr>
            <a:spLocks noChangeArrowheads="1"/>
          </p:cNvSpPr>
          <p:nvPr/>
        </p:nvSpPr>
        <p:spPr bwMode="auto">
          <a:xfrm>
            <a:off x="63651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17" name="Rectangle 16" descr="深色上对角线"/>
          <p:cNvSpPr>
            <a:spLocks noChangeArrowheads="1"/>
          </p:cNvSpPr>
          <p:nvPr/>
        </p:nvSpPr>
        <p:spPr bwMode="auto">
          <a:xfrm>
            <a:off x="67969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8" name="Rectangle 17" descr="深色上对角线"/>
          <p:cNvSpPr>
            <a:spLocks noChangeArrowheads="1"/>
          </p:cNvSpPr>
          <p:nvPr/>
        </p:nvSpPr>
        <p:spPr bwMode="auto">
          <a:xfrm>
            <a:off x="7609780" y="42621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19" name="Rectangle 18" descr="深色上对角线"/>
          <p:cNvSpPr>
            <a:spLocks noChangeArrowheads="1"/>
          </p:cNvSpPr>
          <p:nvPr/>
        </p:nvSpPr>
        <p:spPr bwMode="auto">
          <a:xfrm>
            <a:off x="80288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0" name="Rectangle 19" descr="深色上对角线"/>
          <p:cNvSpPr>
            <a:spLocks noChangeArrowheads="1"/>
          </p:cNvSpPr>
          <p:nvPr/>
        </p:nvSpPr>
        <p:spPr bwMode="auto">
          <a:xfrm>
            <a:off x="8460680" y="42621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1" name="Line 20"/>
          <p:cNvSpPr>
            <a:spLocks noChangeShapeType="1"/>
          </p:cNvSpPr>
          <p:nvPr/>
        </p:nvSpPr>
        <p:spPr bwMode="auto">
          <a:xfrm flipH="1">
            <a:off x="8600380" y="4395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1"/>
          <p:cNvSpPr>
            <a:spLocks noChangeShapeType="1"/>
          </p:cNvSpPr>
          <p:nvPr/>
        </p:nvSpPr>
        <p:spPr bwMode="auto">
          <a:xfrm>
            <a:off x="8676580" y="4395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Rectangle 25" descr="深色上对角线"/>
          <p:cNvSpPr>
            <a:spLocks noChangeArrowheads="1"/>
          </p:cNvSpPr>
          <p:nvPr/>
        </p:nvSpPr>
        <p:spPr bwMode="auto">
          <a:xfrm>
            <a:off x="26694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27" name="Rectangle 26" descr="深色上对角线"/>
          <p:cNvSpPr>
            <a:spLocks noChangeArrowheads="1"/>
          </p:cNvSpPr>
          <p:nvPr/>
        </p:nvSpPr>
        <p:spPr bwMode="auto">
          <a:xfrm>
            <a:off x="3088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8" name="Rectangle 27" descr="深色上对角线"/>
          <p:cNvSpPr>
            <a:spLocks noChangeArrowheads="1"/>
          </p:cNvSpPr>
          <p:nvPr/>
        </p:nvSpPr>
        <p:spPr bwMode="auto">
          <a:xfrm>
            <a:off x="3520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Rectangle 28" descr="深色上对角线"/>
          <p:cNvSpPr>
            <a:spLocks noChangeArrowheads="1"/>
          </p:cNvSpPr>
          <p:nvPr/>
        </p:nvSpPr>
        <p:spPr bwMode="auto">
          <a:xfrm>
            <a:off x="4320480" y="52527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22</a:t>
            </a:r>
          </a:p>
        </p:txBody>
      </p:sp>
      <p:sp>
        <p:nvSpPr>
          <p:cNvPr id="30" name="Rectangle 29" descr="深色上对角线"/>
          <p:cNvSpPr>
            <a:spLocks noChangeArrowheads="1"/>
          </p:cNvSpPr>
          <p:nvPr/>
        </p:nvSpPr>
        <p:spPr bwMode="auto">
          <a:xfrm>
            <a:off x="4739580" y="52527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lgn="ctr">
              <a:spcBef>
                <a:spcPct val="20000"/>
              </a:spcBef>
            </a:pPr>
            <a:r>
              <a:rPr lang="en-US" altLang="zh-CN" sz="1600" dirty="0">
                <a:latin typeface="Tahoma" panose="020B0604030504040204" pitchFamily="34" charset="0"/>
              </a:rPr>
              <a:t>7</a:t>
            </a:r>
          </a:p>
        </p:txBody>
      </p:sp>
      <p:sp>
        <p:nvSpPr>
          <p:cNvPr id="31" name="Rectangle 30" descr="深色上对角线"/>
          <p:cNvSpPr>
            <a:spLocks noChangeArrowheads="1"/>
          </p:cNvSpPr>
          <p:nvPr/>
        </p:nvSpPr>
        <p:spPr bwMode="auto">
          <a:xfrm>
            <a:off x="5171380" y="52527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2" name="Rectangle 31" descr="深色上对角线"/>
          <p:cNvSpPr>
            <a:spLocks noChangeArrowheads="1"/>
          </p:cNvSpPr>
          <p:nvPr/>
        </p:nvSpPr>
        <p:spPr bwMode="auto">
          <a:xfrm>
            <a:off x="5946080" y="5252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33" name="Rectangle 32" descr="深色上对角线"/>
          <p:cNvSpPr>
            <a:spLocks noChangeArrowheads="1"/>
          </p:cNvSpPr>
          <p:nvPr/>
        </p:nvSpPr>
        <p:spPr bwMode="auto">
          <a:xfrm>
            <a:off x="63651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4" name="Rectangle 33" descr="深色上对角线"/>
          <p:cNvSpPr>
            <a:spLocks noChangeArrowheads="1"/>
          </p:cNvSpPr>
          <p:nvPr/>
        </p:nvSpPr>
        <p:spPr bwMode="auto">
          <a:xfrm>
            <a:off x="67969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5" name="Line 34"/>
          <p:cNvSpPr>
            <a:spLocks noChangeShapeType="1"/>
          </p:cNvSpPr>
          <p:nvPr/>
        </p:nvSpPr>
        <p:spPr bwMode="auto">
          <a:xfrm flipH="1">
            <a:off x="6923980" y="5411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5"/>
          <p:cNvSpPr>
            <a:spLocks noChangeShapeType="1"/>
          </p:cNvSpPr>
          <p:nvPr/>
        </p:nvSpPr>
        <p:spPr bwMode="auto">
          <a:xfrm>
            <a:off x="7000180" y="54114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6"/>
          <p:cNvSpPr>
            <a:spLocks noChangeShapeType="1"/>
          </p:cNvSpPr>
          <p:nvPr/>
        </p:nvSpPr>
        <p:spPr bwMode="auto">
          <a:xfrm>
            <a:off x="523180" y="44716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37"/>
          <p:cNvSpPr>
            <a:spLocks noChangeShapeType="1"/>
          </p:cNvSpPr>
          <p:nvPr/>
        </p:nvSpPr>
        <p:spPr bwMode="auto">
          <a:xfrm>
            <a:off x="523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38"/>
          <p:cNvSpPr>
            <a:spLocks noChangeShapeType="1"/>
          </p:cNvSpPr>
          <p:nvPr/>
        </p:nvSpPr>
        <p:spPr bwMode="auto">
          <a:xfrm>
            <a:off x="2167830" y="44843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39"/>
          <p:cNvSpPr>
            <a:spLocks noChangeShapeType="1"/>
          </p:cNvSpPr>
          <p:nvPr/>
        </p:nvSpPr>
        <p:spPr bwMode="auto">
          <a:xfrm>
            <a:off x="3818830" y="44843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40"/>
          <p:cNvSpPr>
            <a:spLocks noChangeShapeType="1"/>
          </p:cNvSpPr>
          <p:nvPr/>
        </p:nvSpPr>
        <p:spPr bwMode="auto">
          <a:xfrm flipH="1">
            <a:off x="5362939" y="4503530"/>
            <a:ext cx="1149" cy="757990"/>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41"/>
          <p:cNvSpPr>
            <a:spLocks noChangeShapeType="1"/>
          </p:cNvSpPr>
          <p:nvPr/>
        </p:nvSpPr>
        <p:spPr bwMode="auto">
          <a:xfrm>
            <a:off x="7120830" y="44970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42"/>
          <p:cNvSpPr>
            <a:spLocks noChangeShapeType="1"/>
          </p:cNvSpPr>
          <p:nvPr/>
        </p:nvSpPr>
        <p:spPr bwMode="auto">
          <a:xfrm>
            <a:off x="2174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43"/>
          <p:cNvSpPr>
            <a:spLocks noChangeShapeType="1"/>
          </p:cNvSpPr>
          <p:nvPr/>
        </p:nvSpPr>
        <p:spPr bwMode="auto">
          <a:xfrm>
            <a:off x="3825180" y="5474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44"/>
          <p:cNvSpPr>
            <a:spLocks noChangeShapeType="1"/>
          </p:cNvSpPr>
          <p:nvPr/>
        </p:nvSpPr>
        <p:spPr bwMode="auto">
          <a:xfrm>
            <a:off x="5463480" y="548134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45"/>
          <p:cNvSpPr txBox="1">
            <a:spLocks noChangeArrowheads="1"/>
          </p:cNvSpPr>
          <p:nvPr/>
        </p:nvSpPr>
        <p:spPr bwMode="auto">
          <a:xfrm>
            <a:off x="456505" y="4158952"/>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A</a:t>
            </a:r>
          </a:p>
        </p:txBody>
      </p:sp>
      <p:sp>
        <p:nvSpPr>
          <p:cNvPr id="47" name="Text Box 46"/>
          <p:cNvSpPr txBox="1">
            <a:spLocks noChangeArrowheads="1"/>
          </p:cNvSpPr>
          <p:nvPr/>
        </p:nvSpPr>
        <p:spPr bwMode="auto">
          <a:xfrm>
            <a:off x="440630" y="5163840"/>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sp>
        <p:nvSpPr>
          <p:cNvPr id="48" name="Line 47"/>
          <p:cNvSpPr>
            <a:spLocks noChangeShapeType="1"/>
          </p:cNvSpPr>
          <p:nvPr/>
        </p:nvSpPr>
        <p:spPr bwMode="auto">
          <a:xfrm>
            <a:off x="6563618" y="37017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Text Box 48"/>
          <p:cNvSpPr txBox="1">
            <a:spLocks noChangeArrowheads="1"/>
          </p:cNvSpPr>
          <p:nvPr/>
        </p:nvSpPr>
        <p:spPr bwMode="auto">
          <a:xfrm>
            <a:off x="6335018" y="3222327"/>
            <a:ext cx="512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a:solidFill>
                  <a:srgbClr val="FF0000"/>
                </a:solidFill>
                <a:latin typeface="Tahoma" panose="020B0604030504040204" pitchFamily="34" charset="0"/>
              </a:rPr>
              <a:t>pa</a:t>
            </a:r>
          </a:p>
        </p:txBody>
      </p:sp>
      <p:sp>
        <p:nvSpPr>
          <p:cNvPr id="50" name="Line 49"/>
          <p:cNvSpPr>
            <a:spLocks noChangeShapeType="1"/>
          </p:cNvSpPr>
          <p:nvPr/>
        </p:nvSpPr>
        <p:spPr bwMode="auto">
          <a:xfrm flipV="1">
            <a:off x="6555680" y="57591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Text Box 50"/>
          <p:cNvSpPr txBox="1">
            <a:spLocks noChangeArrowheads="1"/>
          </p:cNvSpPr>
          <p:nvPr/>
        </p:nvSpPr>
        <p:spPr bwMode="auto">
          <a:xfrm>
            <a:off x="6327080" y="6140152"/>
            <a:ext cx="52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a:solidFill>
                  <a:srgbClr val="FF0000"/>
                </a:solidFill>
                <a:latin typeface="Tahoma" panose="020B0604030504040204" pitchFamily="34" charset="0"/>
              </a:rPr>
              <a:t>pb</a:t>
            </a:r>
          </a:p>
        </p:txBody>
      </p:sp>
      <p:sp>
        <p:nvSpPr>
          <p:cNvPr id="52" name="Line 49"/>
          <p:cNvSpPr>
            <a:spLocks noChangeShapeType="1"/>
          </p:cNvSpPr>
          <p:nvPr/>
        </p:nvSpPr>
        <p:spPr bwMode="auto">
          <a:xfrm flipV="1">
            <a:off x="4706854" y="5757066"/>
            <a:ext cx="225186" cy="224533"/>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 name="Text Box 50"/>
          <p:cNvSpPr txBox="1">
            <a:spLocks noChangeArrowheads="1"/>
          </p:cNvSpPr>
          <p:nvPr/>
        </p:nvSpPr>
        <p:spPr bwMode="auto">
          <a:xfrm>
            <a:off x="4095302" y="5814716"/>
            <a:ext cx="497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pc</a:t>
            </a:r>
          </a:p>
        </p:txBody>
      </p:sp>
      <p:cxnSp>
        <p:nvCxnSpPr>
          <p:cNvPr id="56" name="直接箭头连接符 55"/>
          <p:cNvCxnSpPr/>
          <p:nvPr/>
        </p:nvCxnSpPr>
        <p:spPr bwMode="auto">
          <a:xfrm>
            <a:off x="931665" y="3749352"/>
            <a:ext cx="247848" cy="44078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57" name="Text Box 46"/>
          <p:cNvSpPr txBox="1">
            <a:spLocks noChangeArrowheads="1"/>
          </p:cNvSpPr>
          <p:nvPr/>
        </p:nvSpPr>
        <p:spPr bwMode="auto">
          <a:xfrm>
            <a:off x="665212" y="3461320"/>
            <a:ext cx="308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C</a:t>
            </a:r>
          </a:p>
        </p:txBody>
      </p:sp>
      <p:sp>
        <p:nvSpPr>
          <p:cNvPr id="58" name="Rectangle 5" descr="深色上对角线"/>
          <p:cNvSpPr>
            <a:spLocks noChangeArrowheads="1"/>
          </p:cNvSpPr>
          <p:nvPr/>
        </p:nvSpPr>
        <p:spPr bwMode="auto">
          <a:xfrm>
            <a:off x="1018480" y="42621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59" name="Rectangle 6" descr="深色上对角线"/>
          <p:cNvSpPr>
            <a:spLocks noChangeArrowheads="1"/>
          </p:cNvSpPr>
          <p:nvPr/>
        </p:nvSpPr>
        <p:spPr bwMode="auto">
          <a:xfrm>
            <a:off x="1437580" y="42621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60" name="Rectangle 7" descr="深色上对角线"/>
          <p:cNvSpPr>
            <a:spLocks noChangeArrowheads="1"/>
          </p:cNvSpPr>
          <p:nvPr/>
        </p:nvSpPr>
        <p:spPr bwMode="auto">
          <a:xfrm>
            <a:off x="1869380" y="42621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61" name="Rectangle 22" descr="深色上对角线"/>
          <p:cNvSpPr>
            <a:spLocks noChangeArrowheads="1"/>
          </p:cNvSpPr>
          <p:nvPr/>
        </p:nvSpPr>
        <p:spPr bwMode="auto">
          <a:xfrm>
            <a:off x="1018480" y="5252740"/>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2" name="Rectangle 23" descr="深色上对角线"/>
          <p:cNvSpPr>
            <a:spLocks noChangeArrowheads="1"/>
          </p:cNvSpPr>
          <p:nvPr/>
        </p:nvSpPr>
        <p:spPr bwMode="auto">
          <a:xfrm>
            <a:off x="14375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63" name="Rectangle 24" descr="深色上对角线"/>
          <p:cNvSpPr>
            <a:spLocks noChangeArrowheads="1"/>
          </p:cNvSpPr>
          <p:nvPr/>
        </p:nvSpPr>
        <p:spPr bwMode="auto">
          <a:xfrm>
            <a:off x="1869380" y="5252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64" name="Rectangle 22" descr="深色上对角线"/>
          <p:cNvSpPr>
            <a:spLocks noChangeArrowheads="1"/>
          </p:cNvSpPr>
          <p:nvPr/>
        </p:nvSpPr>
        <p:spPr bwMode="auto">
          <a:xfrm>
            <a:off x="1431230" y="5252740"/>
            <a:ext cx="45085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5" name="文本框 64"/>
          <p:cNvSpPr txBox="1"/>
          <p:nvPr/>
        </p:nvSpPr>
        <p:spPr>
          <a:xfrm>
            <a:off x="4427984" y="1052736"/>
            <a:ext cx="4385684" cy="2234458"/>
          </a:xfrm>
          <a:prstGeom prst="rect">
            <a:avLst/>
          </a:prstGeom>
          <a:noFill/>
        </p:spPr>
        <p:txBody>
          <a:bodyPr wrap="square" rtlCol="0">
            <a:spAutoFit/>
          </a:bodyPr>
          <a:lstStyle/>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if (pa-&gt;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sum = pa-&gt;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coef</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coef</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if(sum==0) {</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pa,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均向后移 </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endPar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endParaRP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102</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409919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4" name="Text Box 3"/>
          <p:cNvSpPr txBox="1">
            <a:spLocks noChangeArrowheads="1"/>
          </p:cNvSpPr>
          <p:nvPr/>
        </p:nvSpPr>
        <p:spPr bwMode="auto">
          <a:xfrm>
            <a:off x="888305" y="1196752"/>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a:latin typeface="Tahoma" panose="020B0604030504040204" pitchFamily="34" charset="0"/>
              </a:rPr>
              <a:t>A</a:t>
            </a:r>
            <a:r>
              <a:rPr lang="en-US" altLang="zh-CN" baseline="-25000">
                <a:latin typeface="Tahoma" panose="020B0604030504040204" pitchFamily="34" charset="0"/>
              </a:rPr>
              <a:t>17</a:t>
            </a:r>
            <a:r>
              <a:rPr lang="en-US" altLang="zh-CN">
                <a:latin typeface="Tahoma" panose="020B0604030504040204" pitchFamily="34" charset="0"/>
              </a:rPr>
              <a:t>(x)=7+3x+9x</a:t>
            </a:r>
            <a:r>
              <a:rPr lang="en-US" altLang="zh-CN" baseline="30000">
                <a:latin typeface="Tahoma" panose="020B0604030504040204" pitchFamily="34" charset="0"/>
              </a:rPr>
              <a:t>8</a:t>
            </a:r>
            <a:r>
              <a:rPr lang="en-US" altLang="zh-CN">
                <a:latin typeface="Tahoma" panose="020B0604030504040204" pitchFamily="34" charset="0"/>
              </a:rPr>
              <a:t>+5x</a:t>
            </a:r>
            <a:r>
              <a:rPr lang="en-US" altLang="zh-CN" baseline="30000">
                <a:latin typeface="Tahoma" panose="020B0604030504040204" pitchFamily="34" charset="0"/>
              </a:rPr>
              <a:t>17</a:t>
            </a:r>
          </a:p>
        </p:txBody>
      </p:sp>
      <p:sp>
        <p:nvSpPr>
          <p:cNvPr id="5" name="Text Box 4"/>
          <p:cNvSpPr txBox="1">
            <a:spLocks noChangeArrowheads="1"/>
          </p:cNvSpPr>
          <p:nvPr/>
        </p:nvSpPr>
        <p:spPr bwMode="auto">
          <a:xfrm>
            <a:off x="888305" y="1882552"/>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a:latin typeface="Tahoma" panose="020B0604030504040204" pitchFamily="34" charset="0"/>
              </a:rPr>
              <a:t>B</a:t>
            </a:r>
            <a:r>
              <a:rPr lang="en-US" altLang="zh-CN" baseline="-25000">
                <a:latin typeface="Tahoma" panose="020B0604030504040204" pitchFamily="34" charset="0"/>
              </a:rPr>
              <a:t>8</a:t>
            </a:r>
            <a:r>
              <a:rPr lang="en-US" altLang="zh-CN">
                <a:latin typeface="Tahoma" panose="020B0604030504040204" pitchFamily="34" charset="0"/>
              </a:rPr>
              <a:t>(x)=8x+22x</a:t>
            </a:r>
            <a:r>
              <a:rPr lang="en-US" altLang="zh-CN" baseline="30000">
                <a:latin typeface="Tahoma" panose="020B0604030504040204" pitchFamily="34" charset="0"/>
              </a:rPr>
              <a:t>7</a:t>
            </a:r>
            <a:r>
              <a:rPr lang="en-US" altLang="zh-CN">
                <a:latin typeface="Tahoma" panose="020B0604030504040204" pitchFamily="34" charset="0"/>
              </a:rPr>
              <a:t>-9x</a:t>
            </a:r>
            <a:r>
              <a:rPr lang="en-US" altLang="zh-CN" baseline="30000">
                <a:latin typeface="Tahoma" panose="020B0604030504040204" pitchFamily="34" charset="0"/>
              </a:rPr>
              <a:t>8</a:t>
            </a:r>
          </a:p>
        </p:txBody>
      </p:sp>
      <p:sp>
        <p:nvSpPr>
          <p:cNvPr id="9" name="Rectangle 8"/>
          <p:cNvSpPr>
            <a:spLocks noChangeArrowheads="1"/>
          </p:cNvSpPr>
          <p:nvPr/>
        </p:nvSpPr>
        <p:spPr bwMode="auto">
          <a:xfrm>
            <a:off x="2669480" y="35097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0" name="Rectangle 9"/>
          <p:cNvSpPr>
            <a:spLocks noChangeArrowheads="1"/>
          </p:cNvSpPr>
          <p:nvPr/>
        </p:nvSpPr>
        <p:spPr bwMode="auto">
          <a:xfrm>
            <a:off x="30885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1" name="Rectangle 10"/>
          <p:cNvSpPr>
            <a:spLocks noChangeArrowheads="1"/>
          </p:cNvSpPr>
          <p:nvPr/>
        </p:nvSpPr>
        <p:spPr bwMode="auto">
          <a:xfrm>
            <a:off x="35203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2" name="Rectangle 11"/>
          <p:cNvSpPr>
            <a:spLocks noChangeArrowheads="1"/>
          </p:cNvSpPr>
          <p:nvPr/>
        </p:nvSpPr>
        <p:spPr bwMode="auto">
          <a:xfrm>
            <a:off x="4320480" y="35097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11</a:t>
            </a:r>
          </a:p>
        </p:txBody>
      </p:sp>
      <p:sp>
        <p:nvSpPr>
          <p:cNvPr id="13" name="Rectangle 12"/>
          <p:cNvSpPr>
            <a:spLocks noChangeArrowheads="1"/>
          </p:cNvSpPr>
          <p:nvPr/>
        </p:nvSpPr>
        <p:spPr bwMode="auto">
          <a:xfrm>
            <a:off x="47395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14" name="Rectangle 13"/>
          <p:cNvSpPr>
            <a:spLocks noChangeArrowheads="1"/>
          </p:cNvSpPr>
          <p:nvPr/>
        </p:nvSpPr>
        <p:spPr bwMode="auto">
          <a:xfrm>
            <a:off x="51713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5" name="Rectangle 14" descr="深色上对角线"/>
          <p:cNvSpPr>
            <a:spLocks noChangeArrowheads="1"/>
          </p:cNvSpPr>
          <p:nvPr/>
        </p:nvSpPr>
        <p:spPr bwMode="auto">
          <a:xfrm>
            <a:off x="5946080" y="3509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16" name="Rectangle 15" descr="深色上对角线"/>
          <p:cNvSpPr>
            <a:spLocks noChangeArrowheads="1"/>
          </p:cNvSpPr>
          <p:nvPr/>
        </p:nvSpPr>
        <p:spPr bwMode="auto">
          <a:xfrm>
            <a:off x="63651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17" name="Rectangle 16" descr="深色上对角线"/>
          <p:cNvSpPr>
            <a:spLocks noChangeArrowheads="1"/>
          </p:cNvSpPr>
          <p:nvPr/>
        </p:nvSpPr>
        <p:spPr bwMode="auto">
          <a:xfrm>
            <a:off x="67969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8" name="Rectangle 17" descr="深色上对角线"/>
          <p:cNvSpPr>
            <a:spLocks noChangeArrowheads="1"/>
          </p:cNvSpPr>
          <p:nvPr/>
        </p:nvSpPr>
        <p:spPr bwMode="auto">
          <a:xfrm>
            <a:off x="7609780" y="3509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19" name="Rectangle 18" descr="深色上对角线"/>
          <p:cNvSpPr>
            <a:spLocks noChangeArrowheads="1"/>
          </p:cNvSpPr>
          <p:nvPr/>
        </p:nvSpPr>
        <p:spPr bwMode="auto">
          <a:xfrm>
            <a:off x="80288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0" name="Rectangle 19" descr="深色上对角线"/>
          <p:cNvSpPr>
            <a:spLocks noChangeArrowheads="1"/>
          </p:cNvSpPr>
          <p:nvPr/>
        </p:nvSpPr>
        <p:spPr bwMode="auto">
          <a:xfrm>
            <a:off x="84606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1" name="Line 20"/>
          <p:cNvSpPr>
            <a:spLocks noChangeShapeType="1"/>
          </p:cNvSpPr>
          <p:nvPr/>
        </p:nvSpPr>
        <p:spPr bwMode="auto">
          <a:xfrm flipH="1">
            <a:off x="8600380" y="3643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1"/>
          <p:cNvSpPr>
            <a:spLocks noChangeShapeType="1"/>
          </p:cNvSpPr>
          <p:nvPr/>
        </p:nvSpPr>
        <p:spPr bwMode="auto">
          <a:xfrm>
            <a:off x="8676580" y="3643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Rectangle 25" descr="深色上对角线"/>
          <p:cNvSpPr>
            <a:spLocks noChangeArrowheads="1"/>
          </p:cNvSpPr>
          <p:nvPr/>
        </p:nvSpPr>
        <p:spPr bwMode="auto">
          <a:xfrm>
            <a:off x="2669480" y="45003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27" name="Rectangle 26" descr="深色上对角线"/>
          <p:cNvSpPr>
            <a:spLocks noChangeArrowheads="1"/>
          </p:cNvSpPr>
          <p:nvPr/>
        </p:nvSpPr>
        <p:spPr bwMode="auto">
          <a:xfrm>
            <a:off x="30885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8" name="Rectangle 27" descr="深色上对角线"/>
          <p:cNvSpPr>
            <a:spLocks noChangeArrowheads="1"/>
          </p:cNvSpPr>
          <p:nvPr/>
        </p:nvSpPr>
        <p:spPr bwMode="auto">
          <a:xfrm>
            <a:off x="35203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Rectangle 28" descr="深色上对角线"/>
          <p:cNvSpPr>
            <a:spLocks noChangeArrowheads="1"/>
          </p:cNvSpPr>
          <p:nvPr/>
        </p:nvSpPr>
        <p:spPr bwMode="auto">
          <a:xfrm>
            <a:off x="4320480" y="45003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22</a:t>
            </a:r>
          </a:p>
        </p:txBody>
      </p:sp>
      <p:sp>
        <p:nvSpPr>
          <p:cNvPr id="30" name="Rectangle 29" descr="深色上对角线"/>
          <p:cNvSpPr>
            <a:spLocks noChangeArrowheads="1"/>
          </p:cNvSpPr>
          <p:nvPr/>
        </p:nvSpPr>
        <p:spPr bwMode="auto">
          <a:xfrm>
            <a:off x="4739580" y="45003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7</a:t>
            </a:r>
          </a:p>
        </p:txBody>
      </p:sp>
      <p:sp>
        <p:nvSpPr>
          <p:cNvPr id="31" name="Rectangle 30" descr="深色上对角线"/>
          <p:cNvSpPr>
            <a:spLocks noChangeArrowheads="1"/>
          </p:cNvSpPr>
          <p:nvPr/>
        </p:nvSpPr>
        <p:spPr bwMode="auto">
          <a:xfrm>
            <a:off x="5171380" y="45003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2" name="Rectangle 31" descr="深色上对角线"/>
          <p:cNvSpPr>
            <a:spLocks noChangeArrowheads="1"/>
          </p:cNvSpPr>
          <p:nvPr/>
        </p:nvSpPr>
        <p:spPr bwMode="auto">
          <a:xfrm>
            <a:off x="5946080" y="45003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33" name="Rectangle 32" descr="深色上对角线"/>
          <p:cNvSpPr>
            <a:spLocks noChangeArrowheads="1"/>
          </p:cNvSpPr>
          <p:nvPr/>
        </p:nvSpPr>
        <p:spPr bwMode="auto">
          <a:xfrm>
            <a:off x="63651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4" name="Rectangle 33" descr="深色上对角线"/>
          <p:cNvSpPr>
            <a:spLocks noChangeArrowheads="1"/>
          </p:cNvSpPr>
          <p:nvPr/>
        </p:nvSpPr>
        <p:spPr bwMode="auto">
          <a:xfrm>
            <a:off x="67969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5" name="Line 34"/>
          <p:cNvSpPr>
            <a:spLocks noChangeShapeType="1"/>
          </p:cNvSpPr>
          <p:nvPr/>
        </p:nvSpPr>
        <p:spPr bwMode="auto">
          <a:xfrm flipH="1">
            <a:off x="6923980" y="4659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5"/>
          <p:cNvSpPr>
            <a:spLocks noChangeShapeType="1"/>
          </p:cNvSpPr>
          <p:nvPr/>
        </p:nvSpPr>
        <p:spPr bwMode="auto">
          <a:xfrm>
            <a:off x="7000180" y="4659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6"/>
          <p:cNvSpPr>
            <a:spLocks noChangeShapeType="1"/>
          </p:cNvSpPr>
          <p:nvPr/>
        </p:nvSpPr>
        <p:spPr bwMode="auto">
          <a:xfrm>
            <a:off x="523180" y="37192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37"/>
          <p:cNvSpPr>
            <a:spLocks noChangeShapeType="1"/>
          </p:cNvSpPr>
          <p:nvPr/>
        </p:nvSpPr>
        <p:spPr bwMode="auto">
          <a:xfrm>
            <a:off x="523180" y="47225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38"/>
          <p:cNvSpPr>
            <a:spLocks noChangeShapeType="1"/>
          </p:cNvSpPr>
          <p:nvPr/>
        </p:nvSpPr>
        <p:spPr bwMode="auto">
          <a:xfrm>
            <a:off x="2167830" y="3731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39"/>
          <p:cNvSpPr>
            <a:spLocks noChangeShapeType="1"/>
          </p:cNvSpPr>
          <p:nvPr/>
        </p:nvSpPr>
        <p:spPr bwMode="auto">
          <a:xfrm>
            <a:off x="3818830" y="3731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40"/>
          <p:cNvSpPr>
            <a:spLocks noChangeShapeType="1"/>
          </p:cNvSpPr>
          <p:nvPr/>
        </p:nvSpPr>
        <p:spPr bwMode="auto">
          <a:xfrm>
            <a:off x="5364088" y="3838079"/>
            <a:ext cx="0" cy="671041"/>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41"/>
          <p:cNvSpPr>
            <a:spLocks noChangeShapeType="1"/>
          </p:cNvSpPr>
          <p:nvPr/>
        </p:nvSpPr>
        <p:spPr bwMode="auto">
          <a:xfrm>
            <a:off x="7120830" y="37446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42"/>
          <p:cNvSpPr>
            <a:spLocks noChangeShapeType="1"/>
          </p:cNvSpPr>
          <p:nvPr/>
        </p:nvSpPr>
        <p:spPr bwMode="auto">
          <a:xfrm>
            <a:off x="2174180" y="47225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43"/>
          <p:cNvSpPr>
            <a:spLocks noChangeShapeType="1"/>
          </p:cNvSpPr>
          <p:nvPr/>
        </p:nvSpPr>
        <p:spPr bwMode="auto">
          <a:xfrm>
            <a:off x="3825180" y="47225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44"/>
          <p:cNvSpPr>
            <a:spLocks noChangeShapeType="1"/>
          </p:cNvSpPr>
          <p:nvPr/>
        </p:nvSpPr>
        <p:spPr bwMode="auto">
          <a:xfrm>
            <a:off x="5463480" y="472894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45"/>
          <p:cNvSpPr txBox="1">
            <a:spLocks noChangeArrowheads="1"/>
          </p:cNvSpPr>
          <p:nvPr/>
        </p:nvSpPr>
        <p:spPr bwMode="auto">
          <a:xfrm>
            <a:off x="456505" y="3406552"/>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A</a:t>
            </a:r>
          </a:p>
        </p:txBody>
      </p:sp>
      <p:sp>
        <p:nvSpPr>
          <p:cNvPr id="47" name="Text Box 46"/>
          <p:cNvSpPr txBox="1">
            <a:spLocks noChangeArrowheads="1"/>
          </p:cNvSpPr>
          <p:nvPr/>
        </p:nvSpPr>
        <p:spPr bwMode="auto">
          <a:xfrm>
            <a:off x="440630" y="4411440"/>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sp>
        <p:nvSpPr>
          <p:cNvPr id="48" name="Line 47"/>
          <p:cNvSpPr>
            <a:spLocks noChangeShapeType="1"/>
          </p:cNvSpPr>
          <p:nvPr/>
        </p:nvSpPr>
        <p:spPr bwMode="auto">
          <a:xfrm>
            <a:off x="8176270" y="29493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Text Box 48"/>
          <p:cNvSpPr txBox="1">
            <a:spLocks noChangeArrowheads="1"/>
          </p:cNvSpPr>
          <p:nvPr/>
        </p:nvSpPr>
        <p:spPr bwMode="auto">
          <a:xfrm>
            <a:off x="7947670" y="2469927"/>
            <a:ext cx="512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pa</a:t>
            </a:r>
          </a:p>
        </p:txBody>
      </p:sp>
      <p:sp>
        <p:nvSpPr>
          <p:cNvPr id="50" name="Line 49"/>
          <p:cNvSpPr>
            <a:spLocks noChangeShapeType="1"/>
          </p:cNvSpPr>
          <p:nvPr/>
        </p:nvSpPr>
        <p:spPr bwMode="auto">
          <a:xfrm flipV="1">
            <a:off x="7448252" y="50067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Text Box 50"/>
          <p:cNvSpPr txBox="1">
            <a:spLocks noChangeArrowheads="1"/>
          </p:cNvSpPr>
          <p:nvPr/>
        </p:nvSpPr>
        <p:spPr bwMode="auto">
          <a:xfrm>
            <a:off x="7219652" y="5387752"/>
            <a:ext cx="52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err="1">
                <a:solidFill>
                  <a:srgbClr val="FF0000"/>
                </a:solidFill>
                <a:latin typeface="Tahoma" panose="020B0604030504040204" pitchFamily="34" charset="0"/>
              </a:rPr>
              <a:t>pb</a:t>
            </a:r>
            <a:endParaRPr lang="en-US" altLang="zh-CN" sz="2400" dirty="0">
              <a:solidFill>
                <a:srgbClr val="FF0000"/>
              </a:solidFill>
              <a:latin typeface="Tahoma" panose="020B0604030504040204" pitchFamily="34" charset="0"/>
            </a:endParaRPr>
          </a:p>
        </p:txBody>
      </p:sp>
      <p:sp>
        <p:nvSpPr>
          <p:cNvPr id="52" name="Line 49"/>
          <p:cNvSpPr>
            <a:spLocks noChangeShapeType="1"/>
          </p:cNvSpPr>
          <p:nvPr/>
        </p:nvSpPr>
        <p:spPr bwMode="auto">
          <a:xfrm flipH="1" flipV="1">
            <a:off x="4932040" y="5004667"/>
            <a:ext cx="1" cy="656581"/>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 name="Text Box 50"/>
          <p:cNvSpPr txBox="1">
            <a:spLocks noChangeArrowheads="1"/>
          </p:cNvSpPr>
          <p:nvPr/>
        </p:nvSpPr>
        <p:spPr bwMode="auto">
          <a:xfrm>
            <a:off x="4706854" y="5661248"/>
            <a:ext cx="497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pc</a:t>
            </a:r>
          </a:p>
        </p:txBody>
      </p:sp>
      <p:cxnSp>
        <p:nvCxnSpPr>
          <p:cNvPr id="54" name="直接箭头连接符 53"/>
          <p:cNvCxnSpPr/>
          <p:nvPr/>
        </p:nvCxnSpPr>
        <p:spPr bwMode="auto">
          <a:xfrm>
            <a:off x="931665" y="2996952"/>
            <a:ext cx="247848" cy="44078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55" name="Text Box 46"/>
          <p:cNvSpPr txBox="1">
            <a:spLocks noChangeArrowheads="1"/>
          </p:cNvSpPr>
          <p:nvPr/>
        </p:nvSpPr>
        <p:spPr bwMode="auto">
          <a:xfrm>
            <a:off x="665212" y="2708920"/>
            <a:ext cx="308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C</a:t>
            </a:r>
          </a:p>
        </p:txBody>
      </p:sp>
      <p:sp>
        <p:nvSpPr>
          <p:cNvPr id="56" name="Rectangle 5" descr="深色上对角线"/>
          <p:cNvSpPr>
            <a:spLocks noChangeArrowheads="1"/>
          </p:cNvSpPr>
          <p:nvPr/>
        </p:nvSpPr>
        <p:spPr bwMode="auto">
          <a:xfrm>
            <a:off x="1018480" y="35097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57" name="Rectangle 6" descr="深色上对角线"/>
          <p:cNvSpPr>
            <a:spLocks noChangeArrowheads="1"/>
          </p:cNvSpPr>
          <p:nvPr/>
        </p:nvSpPr>
        <p:spPr bwMode="auto">
          <a:xfrm>
            <a:off x="1437580" y="35097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58" name="Rectangle 7" descr="深色上对角线"/>
          <p:cNvSpPr>
            <a:spLocks noChangeArrowheads="1"/>
          </p:cNvSpPr>
          <p:nvPr/>
        </p:nvSpPr>
        <p:spPr bwMode="auto">
          <a:xfrm>
            <a:off x="1869380" y="35097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59" name="Rectangle 22" descr="深色上对角线"/>
          <p:cNvSpPr>
            <a:spLocks noChangeArrowheads="1"/>
          </p:cNvSpPr>
          <p:nvPr/>
        </p:nvSpPr>
        <p:spPr bwMode="auto">
          <a:xfrm>
            <a:off x="1018480" y="4500340"/>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0" name="Rectangle 23" descr="深色上对角线"/>
          <p:cNvSpPr>
            <a:spLocks noChangeArrowheads="1"/>
          </p:cNvSpPr>
          <p:nvPr/>
        </p:nvSpPr>
        <p:spPr bwMode="auto">
          <a:xfrm>
            <a:off x="14375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61" name="Rectangle 24" descr="深色上对角线"/>
          <p:cNvSpPr>
            <a:spLocks noChangeArrowheads="1"/>
          </p:cNvSpPr>
          <p:nvPr/>
        </p:nvSpPr>
        <p:spPr bwMode="auto">
          <a:xfrm>
            <a:off x="18693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62" name="Rectangle 22" descr="深色上对角线"/>
          <p:cNvSpPr>
            <a:spLocks noChangeArrowheads="1"/>
          </p:cNvSpPr>
          <p:nvPr/>
        </p:nvSpPr>
        <p:spPr bwMode="auto">
          <a:xfrm>
            <a:off x="1431230" y="4500340"/>
            <a:ext cx="45085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3" name="文本框 2"/>
          <p:cNvSpPr txBox="1"/>
          <p:nvPr/>
        </p:nvSpPr>
        <p:spPr>
          <a:xfrm>
            <a:off x="4788024" y="1124744"/>
            <a:ext cx="4248472" cy="1348061"/>
          </a:xfrm>
          <a:prstGeom prst="rect">
            <a:avLst/>
          </a:prstGeom>
          <a:noFill/>
        </p:spPr>
        <p:txBody>
          <a:bodyPr wrap="square" rtlCol="0">
            <a:spAutoFit/>
          </a:bodyPr>
          <a:lstStyle/>
          <a:p>
            <a:pPr lvl="0">
              <a:spcBef>
                <a:spcPct val="20000"/>
              </a:spcBef>
            </a:pP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此时 </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(!pa || !</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pa</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pb</a:t>
            </a:r>
            <a:r>
              <a:rPr lang="zh-CN" altLang="en-US"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至少一个为空</a:t>
            </a:r>
            <a:endPar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endParaRPr>
          </a:p>
          <a:p>
            <a:pPr lvl="0">
              <a:spcBef>
                <a:spcPct val="20000"/>
              </a:spcBef>
            </a:pP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pc-&gt;next = pa!=</a:t>
            </a:r>
            <a:r>
              <a:rPr lang="en-US" altLang="zh-CN" sz="2400" dirty="0" err="1">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NULL?pa:pb</a:t>
            </a:r>
            <a:r>
              <a:rPr lang="en-US" altLang="zh-CN" sz="2400" dirty="0">
                <a:solidFill>
                  <a:srgbClr val="000000"/>
                </a:solidFill>
                <a:latin typeface="Cambria Math" panose="02040503050406030204" pitchFamily="18" charset="0"/>
                <a:ea typeface="Cambria Math" panose="02040503050406030204" pitchFamily="18" charset="0"/>
                <a:cs typeface="Arial Unicode MS" panose="020B0604020202020204" charset="-122"/>
                <a:sym typeface="+mn-ea"/>
              </a:rPr>
              <a:t>; </a:t>
            </a:r>
          </a:p>
        </p:txBody>
      </p:sp>
      <p:sp>
        <p:nvSpPr>
          <p:cNvPr id="6" name="灯片编号占位符 5"/>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103</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32509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4" name="Text Box 3"/>
          <p:cNvSpPr txBox="1">
            <a:spLocks noChangeArrowheads="1"/>
          </p:cNvSpPr>
          <p:nvPr/>
        </p:nvSpPr>
        <p:spPr bwMode="auto">
          <a:xfrm>
            <a:off x="888305" y="1196752"/>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a:latin typeface="Tahoma" panose="020B0604030504040204" pitchFamily="34" charset="0"/>
              </a:rPr>
              <a:t>A</a:t>
            </a:r>
            <a:r>
              <a:rPr lang="en-US" altLang="zh-CN" baseline="-25000">
                <a:latin typeface="Tahoma" panose="020B0604030504040204" pitchFamily="34" charset="0"/>
              </a:rPr>
              <a:t>17</a:t>
            </a:r>
            <a:r>
              <a:rPr lang="en-US" altLang="zh-CN">
                <a:latin typeface="Tahoma" panose="020B0604030504040204" pitchFamily="34" charset="0"/>
              </a:rPr>
              <a:t>(x)=7+3x+9x</a:t>
            </a:r>
            <a:r>
              <a:rPr lang="en-US" altLang="zh-CN" baseline="30000">
                <a:latin typeface="Tahoma" panose="020B0604030504040204" pitchFamily="34" charset="0"/>
              </a:rPr>
              <a:t>8</a:t>
            </a:r>
            <a:r>
              <a:rPr lang="en-US" altLang="zh-CN">
                <a:latin typeface="Tahoma" panose="020B0604030504040204" pitchFamily="34" charset="0"/>
              </a:rPr>
              <a:t>+5x</a:t>
            </a:r>
            <a:r>
              <a:rPr lang="en-US" altLang="zh-CN" baseline="30000">
                <a:latin typeface="Tahoma" panose="020B0604030504040204" pitchFamily="34" charset="0"/>
              </a:rPr>
              <a:t>17</a:t>
            </a:r>
          </a:p>
        </p:txBody>
      </p:sp>
      <p:sp>
        <p:nvSpPr>
          <p:cNvPr id="5" name="Text Box 4"/>
          <p:cNvSpPr txBox="1">
            <a:spLocks noChangeArrowheads="1"/>
          </p:cNvSpPr>
          <p:nvPr/>
        </p:nvSpPr>
        <p:spPr bwMode="auto">
          <a:xfrm>
            <a:off x="888305" y="1882552"/>
            <a:ext cx="4054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a:latin typeface="Tahoma" panose="020B0604030504040204" pitchFamily="34" charset="0"/>
              </a:rPr>
              <a:t>B</a:t>
            </a:r>
            <a:r>
              <a:rPr lang="en-US" altLang="zh-CN" baseline="-25000">
                <a:latin typeface="Tahoma" panose="020B0604030504040204" pitchFamily="34" charset="0"/>
              </a:rPr>
              <a:t>8</a:t>
            </a:r>
            <a:r>
              <a:rPr lang="en-US" altLang="zh-CN">
                <a:latin typeface="Tahoma" panose="020B0604030504040204" pitchFamily="34" charset="0"/>
              </a:rPr>
              <a:t>(x)=8x+22x</a:t>
            </a:r>
            <a:r>
              <a:rPr lang="en-US" altLang="zh-CN" baseline="30000">
                <a:latin typeface="Tahoma" panose="020B0604030504040204" pitchFamily="34" charset="0"/>
              </a:rPr>
              <a:t>7</a:t>
            </a:r>
            <a:r>
              <a:rPr lang="en-US" altLang="zh-CN">
                <a:latin typeface="Tahoma" panose="020B0604030504040204" pitchFamily="34" charset="0"/>
              </a:rPr>
              <a:t>-9x</a:t>
            </a:r>
            <a:r>
              <a:rPr lang="en-US" altLang="zh-CN" baseline="30000">
                <a:latin typeface="Tahoma" panose="020B0604030504040204" pitchFamily="34" charset="0"/>
              </a:rPr>
              <a:t>8</a:t>
            </a:r>
          </a:p>
        </p:txBody>
      </p:sp>
      <p:sp>
        <p:nvSpPr>
          <p:cNvPr id="9" name="Rectangle 8"/>
          <p:cNvSpPr>
            <a:spLocks noChangeArrowheads="1"/>
          </p:cNvSpPr>
          <p:nvPr/>
        </p:nvSpPr>
        <p:spPr bwMode="auto">
          <a:xfrm>
            <a:off x="2669480" y="35097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7</a:t>
            </a:r>
          </a:p>
        </p:txBody>
      </p:sp>
      <p:sp>
        <p:nvSpPr>
          <p:cNvPr id="10" name="Rectangle 9"/>
          <p:cNvSpPr>
            <a:spLocks noChangeArrowheads="1"/>
          </p:cNvSpPr>
          <p:nvPr/>
        </p:nvSpPr>
        <p:spPr bwMode="auto">
          <a:xfrm>
            <a:off x="30885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0</a:t>
            </a:r>
          </a:p>
        </p:txBody>
      </p:sp>
      <p:sp>
        <p:nvSpPr>
          <p:cNvPr id="11" name="Rectangle 10"/>
          <p:cNvSpPr>
            <a:spLocks noChangeArrowheads="1"/>
          </p:cNvSpPr>
          <p:nvPr/>
        </p:nvSpPr>
        <p:spPr bwMode="auto">
          <a:xfrm>
            <a:off x="35203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2" name="Rectangle 11"/>
          <p:cNvSpPr>
            <a:spLocks noChangeArrowheads="1"/>
          </p:cNvSpPr>
          <p:nvPr/>
        </p:nvSpPr>
        <p:spPr bwMode="auto">
          <a:xfrm>
            <a:off x="4320480" y="3509740"/>
            <a:ext cx="4191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11</a:t>
            </a:r>
          </a:p>
        </p:txBody>
      </p:sp>
      <p:sp>
        <p:nvSpPr>
          <p:cNvPr id="13" name="Rectangle 12"/>
          <p:cNvSpPr>
            <a:spLocks noChangeArrowheads="1"/>
          </p:cNvSpPr>
          <p:nvPr/>
        </p:nvSpPr>
        <p:spPr bwMode="auto">
          <a:xfrm>
            <a:off x="47395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14" name="Rectangle 13"/>
          <p:cNvSpPr>
            <a:spLocks noChangeArrowheads="1"/>
          </p:cNvSpPr>
          <p:nvPr/>
        </p:nvSpPr>
        <p:spPr bwMode="auto">
          <a:xfrm>
            <a:off x="5171380" y="3509740"/>
            <a:ext cx="431800" cy="438150"/>
          </a:xfrm>
          <a:prstGeom prst="rect">
            <a:avLst/>
          </a:prstGeom>
          <a:solidFill>
            <a:srgbClr val="66FF33"/>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5" name="Rectangle 14" descr="深色上对角线"/>
          <p:cNvSpPr>
            <a:spLocks noChangeArrowheads="1"/>
          </p:cNvSpPr>
          <p:nvPr/>
        </p:nvSpPr>
        <p:spPr bwMode="auto">
          <a:xfrm>
            <a:off x="5946080" y="3509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16" name="Rectangle 15" descr="深色上对角线"/>
          <p:cNvSpPr>
            <a:spLocks noChangeArrowheads="1"/>
          </p:cNvSpPr>
          <p:nvPr/>
        </p:nvSpPr>
        <p:spPr bwMode="auto">
          <a:xfrm>
            <a:off x="63651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17" name="Rectangle 16" descr="深色上对角线"/>
          <p:cNvSpPr>
            <a:spLocks noChangeArrowheads="1"/>
          </p:cNvSpPr>
          <p:nvPr/>
        </p:nvSpPr>
        <p:spPr bwMode="auto">
          <a:xfrm>
            <a:off x="67969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18" name="Rectangle 17" descr="深色上对角线"/>
          <p:cNvSpPr>
            <a:spLocks noChangeArrowheads="1"/>
          </p:cNvSpPr>
          <p:nvPr/>
        </p:nvSpPr>
        <p:spPr bwMode="auto">
          <a:xfrm>
            <a:off x="7609780" y="35097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5</a:t>
            </a:r>
          </a:p>
        </p:txBody>
      </p:sp>
      <p:sp>
        <p:nvSpPr>
          <p:cNvPr id="19" name="Rectangle 18" descr="深色上对角线"/>
          <p:cNvSpPr>
            <a:spLocks noChangeArrowheads="1"/>
          </p:cNvSpPr>
          <p:nvPr/>
        </p:nvSpPr>
        <p:spPr bwMode="auto">
          <a:xfrm>
            <a:off x="80288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17</a:t>
            </a:r>
          </a:p>
        </p:txBody>
      </p:sp>
      <p:sp>
        <p:nvSpPr>
          <p:cNvPr id="20" name="Rectangle 19" descr="深色上对角线"/>
          <p:cNvSpPr>
            <a:spLocks noChangeArrowheads="1"/>
          </p:cNvSpPr>
          <p:nvPr/>
        </p:nvSpPr>
        <p:spPr bwMode="auto">
          <a:xfrm>
            <a:off x="8460680" y="35097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1" name="Line 20"/>
          <p:cNvSpPr>
            <a:spLocks noChangeShapeType="1"/>
          </p:cNvSpPr>
          <p:nvPr/>
        </p:nvSpPr>
        <p:spPr bwMode="auto">
          <a:xfrm flipH="1">
            <a:off x="8600380" y="3643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21"/>
          <p:cNvSpPr>
            <a:spLocks noChangeShapeType="1"/>
          </p:cNvSpPr>
          <p:nvPr/>
        </p:nvSpPr>
        <p:spPr bwMode="auto">
          <a:xfrm>
            <a:off x="8676580" y="3643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6" name="Rectangle 25" descr="深色上对角线"/>
          <p:cNvSpPr>
            <a:spLocks noChangeArrowheads="1"/>
          </p:cNvSpPr>
          <p:nvPr/>
        </p:nvSpPr>
        <p:spPr bwMode="auto">
          <a:xfrm>
            <a:off x="2669480" y="45003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27" name="Rectangle 26" descr="深色上对角线"/>
          <p:cNvSpPr>
            <a:spLocks noChangeArrowheads="1"/>
          </p:cNvSpPr>
          <p:nvPr/>
        </p:nvSpPr>
        <p:spPr bwMode="auto">
          <a:xfrm>
            <a:off x="30885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1</a:t>
            </a:r>
          </a:p>
        </p:txBody>
      </p:sp>
      <p:sp>
        <p:nvSpPr>
          <p:cNvPr id="28" name="Rectangle 27" descr="深色上对角线"/>
          <p:cNvSpPr>
            <a:spLocks noChangeArrowheads="1"/>
          </p:cNvSpPr>
          <p:nvPr/>
        </p:nvSpPr>
        <p:spPr bwMode="auto">
          <a:xfrm>
            <a:off x="35203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29" name="Rectangle 28" descr="深色上对角线"/>
          <p:cNvSpPr>
            <a:spLocks noChangeArrowheads="1"/>
          </p:cNvSpPr>
          <p:nvPr/>
        </p:nvSpPr>
        <p:spPr bwMode="auto">
          <a:xfrm>
            <a:off x="4320480" y="45003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22</a:t>
            </a:r>
          </a:p>
        </p:txBody>
      </p:sp>
      <p:sp>
        <p:nvSpPr>
          <p:cNvPr id="30" name="Rectangle 29" descr="深色上对角线"/>
          <p:cNvSpPr>
            <a:spLocks noChangeArrowheads="1"/>
          </p:cNvSpPr>
          <p:nvPr/>
        </p:nvSpPr>
        <p:spPr bwMode="auto">
          <a:xfrm>
            <a:off x="4739580" y="45003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7</a:t>
            </a:r>
          </a:p>
        </p:txBody>
      </p:sp>
      <p:sp>
        <p:nvSpPr>
          <p:cNvPr id="31" name="Rectangle 30" descr="深色上对角线"/>
          <p:cNvSpPr>
            <a:spLocks noChangeArrowheads="1"/>
          </p:cNvSpPr>
          <p:nvPr/>
        </p:nvSpPr>
        <p:spPr bwMode="auto">
          <a:xfrm>
            <a:off x="5171380" y="45003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2" name="Rectangle 31" descr="深色上对角线"/>
          <p:cNvSpPr>
            <a:spLocks noChangeArrowheads="1"/>
          </p:cNvSpPr>
          <p:nvPr/>
        </p:nvSpPr>
        <p:spPr bwMode="auto">
          <a:xfrm>
            <a:off x="5946080" y="4500340"/>
            <a:ext cx="4191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-9</a:t>
            </a:r>
          </a:p>
        </p:txBody>
      </p:sp>
      <p:sp>
        <p:nvSpPr>
          <p:cNvPr id="33" name="Rectangle 32" descr="深色上对角线"/>
          <p:cNvSpPr>
            <a:spLocks noChangeArrowheads="1"/>
          </p:cNvSpPr>
          <p:nvPr/>
        </p:nvSpPr>
        <p:spPr bwMode="auto">
          <a:xfrm>
            <a:off x="63651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8</a:t>
            </a:r>
          </a:p>
        </p:txBody>
      </p:sp>
      <p:sp>
        <p:nvSpPr>
          <p:cNvPr id="34" name="Rectangle 33" descr="深色上对角线"/>
          <p:cNvSpPr>
            <a:spLocks noChangeArrowheads="1"/>
          </p:cNvSpPr>
          <p:nvPr/>
        </p:nvSpPr>
        <p:spPr bwMode="auto">
          <a:xfrm>
            <a:off x="67969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35" name="Line 34"/>
          <p:cNvSpPr>
            <a:spLocks noChangeShapeType="1"/>
          </p:cNvSpPr>
          <p:nvPr/>
        </p:nvSpPr>
        <p:spPr bwMode="auto">
          <a:xfrm flipH="1">
            <a:off x="6923980" y="4659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5"/>
          <p:cNvSpPr>
            <a:spLocks noChangeShapeType="1"/>
          </p:cNvSpPr>
          <p:nvPr/>
        </p:nvSpPr>
        <p:spPr bwMode="auto">
          <a:xfrm>
            <a:off x="7000180" y="4659090"/>
            <a:ext cx="76200" cy="1524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7" name="Line 36"/>
          <p:cNvSpPr>
            <a:spLocks noChangeShapeType="1"/>
          </p:cNvSpPr>
          <p:nvPr/>
        </p:nvSpPr>
        <p:spPr bwMode="auto">
          <a:xfrm>
            <a:off x="523180" y="37192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Line 37"/>
          <p:cNvSpPr>
            <a:spLocks noChangeShapeType="1"/>
          </p:cNvSpPr>
          <p:nvPr/>
        </p:nvSpPr>
        <p:spPr bwMode="auto">
          <a:xfrm>
            <a:off x="523180" y="47225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9" name="Line 38"/>
          <p:cNvSpPr>
            <a:spLocks noChangeShapeType="1"/>
          </p:cNvSpPr>
          <p:nvPr/>
        </p:nvSpPr>
        <p:spPr bwMode="auto">
          <a:xfrm>
            <a:off x="2167830" y="3731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0" name="Line 39"/>
          <p:cNvSpPr>
            <a:spLocks noChangeShapeType="1"/>
          </p:cNvSpPr>
          <p:nvPr/>
        </p:nvSpPr>
        <p:spPr bwMode="auto">
          <a:xfrm>
            <a:off x="3818830" y="37319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1" name="Line 40"/>
          <p:cNvSpPr>
            <a:spLocks noChangeShapeType="1"/>
          </p:cNvSpPr>
          <p:nvPr/>
        </p:nvSpPr>
        <p:spPr bwMode="auto">
          <a:xfrm>
            <a:off x="5364088" y="3838079"/>
            <a:ext cx="0" cy="671041"/>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2" name="Line 41"/>
          <p:cNvSpPr>
            <a:spLocks noChangeShapeType="1"/>
          </p:cNvSpPr>
          <p:nvPr/>
        </p:nvSpPr>
        <p:spPr bwMode="auto">
          <a:xfrm>
            <a:off x="7120830" y="37446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42"/>
          <p:cNvSpPr>
            <a:spLocks noChangeShapeType="1"/>
          </p:cNvSpPr>
          <p:nvPr/>
        </p:nvSpPr>
        <p:spPr bwMode="auto">
          <a:xfrm>
            <a:off x="2174180" y="47225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 name="Line 43"/>
          <p:cNvSpPr>
            <a:spLocks noChangeShapeType="1"/>
          </p:cNvSpPr>
          <p:nvPr/>
        </p:nvSpPr>
        <p:spPr bwMode="auto">
          <a:xfrm>
            <a:off x="3825180" y="4722590"/>
            <a:ext cx="48895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5" name="Line 44"/>
          <p:cNvSpPr>
            <a:spLocks noChangeShapeType="1"/>
          </p:cNvSpPr>
          <p:nvPr/>
        </p:nvSpPr>
        <p:spPr bwMode="auto">
          <a:xfrm flipV="1">
            <a:off x="5463480" y="3838079"/>
            <a:ext cx="2133600" cy="890861"/>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45"/>
          <p:cNvSpPr txBox="1">
            <a:spLocks noChangeArrowheads="1"/>
          </p:cNvSpPr>
          <p:nvPr/>
        </p:nvSpPr>
        <p:spPr bwMode="auto">
          <a:xfrm>
            <a:off x="456505" y="3406552"/>
            <a:ext cx="3063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A</a:t>
            </a:r>
          </a:p>
        </p:txBody>
      </p:sp>
      <p:sp>
        <p:nvSpPr>
          <p:cNvPr id="47" name="Text Box 46"/>
          <p:cNvSpPr txBox="1">
            <a:spLocks noChangeArrowheads="1"/>
          </p:cNvSpPr>
          <p:nvPr/>
        </p:nvSpPr>
        <p:spPr bwMode="auto">
          <a:xfrm>
            <a:off x="440630" y="4411440"/>
            <a:ext cx="303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a:latin typeface="Tahoma" panose="020B0604030504040204" pitchFamily="34" charset="0"/>
              </a:rPr>
              <a:t>B</a:t>
            </a:r>
          </a:p>
        </p:txBody>
      </p:sp>
      <p:sp>
        <p:nvSpPr>
          <p:cNvPr id="48" name="Line 47"/>
          <p:cNvSpPr>
            <a:spLocks noChangeShapeType="1"/>
          </p:cNvSpPr>
          <p:nvPr/>
        </p:nvSpPr>
        <p:spPr bwMode="auto">
          <a:xfrm>
            <a:off x="8176270" y="29493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9" name="Text Box 48"/>
          <p:cNvSpPr txBox="1">
            <a:spLocks noChangeArrowheads="1"/>
          </p:cNvSpPr>
          <p:nvPr/>
        </p:nvSpPr>
        <p:spPr bwMode="auto">
          <a:xfrm>
            <a:off x="7947670" y="2469927"/>
            <a:ext cx="512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pa</a:t>
            </a:r>
          </a:p>
        </p:txBody>
      </p:sp>
      <p:sp>
        <p:nvSpPr>
          <p:cNvPr id="50" name="Line 49"/>
          <p:cNvSpPr>
            <a:spLocks noChangeShapeType="1"/>
          </p:cNvSpPr>
          <p:nvPr/>
        </p:nvSpPr>
        <p:spPr bwMode="auto">
          <a:xfrm flipV="1">
            <a:off x="7448252" y="5006752"/>
            <a:ext cx="0" cy="45720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1" name="Text Box 50"/>
          <p:cNvSpPr txBox="1">
            <a:spLocks noChangeArrowheads="1"/>
          </p:cNvSpPr>
          <p:nvPr/>
        </p:nvSpPr>
        <p:spPr bwMode="auto">
          <a:xfrm>
            <a:off x="7219652" y="5387752"/>
            <a:ext cx="52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err="1">
                <a:solidFill>
                  <a:srgbClr val="FF0000"/>
                </a:solidFill>
                <a:latin typeface="Tahoma" panose="020B0604030504040204" pitchFamily="34" charset="0"/>
              </a:rPr>
              <a:t>pb</a:t>
            </a:r>
            <a:endParaRPr lang="en-US" altLang="zh-CN" sz="2400" dirty="0">
              <a:solidFill>
                <a:srgbClr val="FF0000"/>
              </a:solidFill>
              <a:latin typeface="Tahoma" panose="020B0604030504040204" pitchFamily="34" charset="0"/>
            </a:endParaRPr>
          </a:p>
        </p:txBody>
      </p:sp>
      <p:cxnSp>
        <p:nvCxnSpPr>
          <p:cNvPr id="54" name="直接箭头连接符 53"/>
          <p:cNvCxnSpPr/>
          <p:nvPr/>
        </p:nvCxnSpPr>
        <p:spPr bwMode="auto">
          <a:xfrm>
            <a:off x="931665" y="2996952"/>
            <a:ext cx="247848" cy="440780"/>
          </a:xfrm>
          <a:prstGeom prst="straightConnector1">
            <a:avLst/>
          </a:prstGeom>
          <a:solidFill>
            <a:schemeClr val="accent1"/>
          </a:solidFill>
          <a:ln w="28575" cap="flat" cmpd="sng" algn="ctr">
            <a:solidFill>
              <a:schemeClr val="tx1"/>
            </a:solidFill>
            <a:prstDash val="solid"/>
            <a:round/>
            <a:headEnd type="none" w="med" len="med"/>
            <a:tailEnd type="triangle"/>
          </a:ln>
        </p:spPr>
      </p:cxnSp>
      <p:sp>
        <p:nvSpPr>
          <p:cNvPr id="55" name="Text Box 46"/>
          <p:cNvSpPr txBox="1">
            <a:spLocks noChangeArrowheads="1"/>
          </p:cNvSpPr>
          <p:nvPr/>
        </p:nvSpPr>
        <p:spPr bwMode="auto">
          <a:xfrm>
            <a:off x="665212" y="2708920"/>
            <a:ext cx="308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1600" dirty="0">
                <a:latin typeface="Tahoma" panose="020B0604030504040204" pitchFamily="34" charset="0"/>
              </a:rPr>
              <a:t>C</a:t>
            </a:r>
          </a:p>
        </p:txBody>
      </p:sp>
      <p:sp>
        <p:nvSpPr>
          <p:cNvPr id="56" name="Rectangle 5" descr="深色上对角线"/>
          <p:cNvSpPr>
            <a:spLocks noChangeArrowheads="1"/>
          </p:cNvSpPr>
          <p:nvPr/>
        </p:nvSpPr>
        <p:spPr bwMode="auto">
          <a:xfrm>
            <a:off x="1018480" y="3509740"/>
            <a:ext cx="4191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57" name="Rectangle 6" descr="深色上对角线"/>
          <p:cNvSpPr>
            <a:spLocks noChangeArrowheads="1"/>
          </p:cNvSpPr>
          <p:nvPr/>
        </p:nvSpPr>
        <p:spPr bwMode="auto">
          <a:xfrm>
            <a:off x="1437580" y="35097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58" name="Rectangle 7" descr="深色上对角线"/>
          <p:cNvSpPr>
            <a:spLocks noChangeArrowheads="1"/>
          </p:cNvSpPr>
          <p:nvPr/>
        </p:nvSpPr>
        <p:spPr bwMode="auto">
          <a:xfrm>
            <a:off x="1869380" y="3509740"/>
            <a:ext cx="431800" cy="438150"/>
          </a:xfrm>
          <a:prstGeom prst="rect">
            <a:avLst/>
          </a:prstGeom>
          <a:solidFill>
            <a:srgbClr val="00FF00"/>
          </a:solid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59" name="Rectangle 22" descr="深色上对角线"/>
          <p:cNvSpPr>
            <a:spLocks noChangeArrowheads="1"/>
          </p:cNvSpPr>
          <p:nvPr/>
        </p:nvSpPr>
        <p:spPr bwMode="auto">
          <a:xfrm>
            <a:off x="1018480" y="4500340"/>
            <a:ext cx="41910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60" name="Rectangle 23" descr="深色上对角线"/>
          <p:cNvSpPr>
            <a:spLocks noChangeArrowheads="1"/>
          </p:cNvSpPr>
          <p:nvPr/>
        </p:nvSpPr>
        <p:spPr bwMode="auto">
          <a:xfrm>
            <a:off x="14375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en-US" altLang="zh-CN" sz="1600" dirty="0">
              <a:latin typeface="Tahoma" panose="020B0604030504040204" pitchFamily="34" charset="0"/>
            </a:endParaRPr>
          </a:p>
        </p:txBody>
      </p:sp>
      <p:sp>
        <p:nvSpPr>
          <p:cNvPr id="61" name="Rectangle 24" descr="深色上对角线"/>
          <p:cNvSpPr>
            <a:spLocks noChangeArrowheads="1"/>
          </p:cNvSpPr>
          <p:nvPr/>
        </p:nvSpPr>
        <p:spPr bwMode="auto">
          <a:xfrm>
            <a:off x="1869380" y="4500340"/>
            <a:ext cx="431800" cy="438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zh-CN" sz="1600">
              <a:latin typeface="Tahoma" panose="020B0604030504040204" pitchFamily="34" charset="0"/>
            </a:endParaRPr>
          </a:p>
        </p:txBody>
      </p:sp>
      <p:sp>
        <p:nvSpPr>
          <p:cNvPr id="62" name="Rectangle 22" descr="深色上对角线"/>
          <p:cNvSpPr>
            <a:spLocks noChangeArrowheads="1"/>
          </p:cNvSpPr>
          <p:nvPr/>
        </p:nvSpPr>
        <p:spPr bwMode="auto">
          <a:xfrm>
            <a:off x="1431230" y="4500340"/>
            <a:ext cx="450850" cy="438150"/>
          </a:xfrm>
          <a:prstGeom prst="rect">
            <a:avLst/>
          </a:prstGeom>
          <a:pattFill prst="dkUpDiag">
            <a:fgClr>
              <a:schemeClr val="bg2"/>
            </a:fgClr>
            <a:bgClr>
              <a:schemeClr val="bg1"/>
            </a:bgClr>
          </a:pattFill>
          <a:ln w="19050">
            <a:solidFill>
              <a:schemeClr val="tx1"/>
            </a:solidFill>
            <a:miter lim="800000"/>
            <a:headEnd/>
            <a:tailEnd/>
          </a:ln>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104</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63" name="Line 49"/>
          <p:cNvSpPr>
            <a:spLocks noChangeShapeType="1"/>
          </p:cNvSpPr>
          <p:nvPr/>
        </p:nvSpPr>
        <p:spPr bwMode="auto">
          <a:xfrm flipH="1" flipV="1">
            <a:off x="4932040" y="5004667"/>
            <a:ext cx="1" cy="656581"/>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 name="Text Box 50"/>
          <p:cNvSpPr txBox="1">
            <a:spLocks noChangeArrowheads="1"/>
          </p:cNvSpPr>
          <p:nvPr/>
        </p:nvSpPr>
        <p:spPr bwMode="auto">
          <a:xfrm>
            <a:off x="4706854" y="5661248"/>
            <a:ext cx="4972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en-US" altLang="zh-CN" sz="2400" dirty="0">
                <a:solidFill>
                  <a:srgbClr val="FF0000"/>
                </a:solidFill>
                <a:latin typeface="Tahoma" panose="020B0604030504040204" pitchFamily="34" charset="0"/>
              </a:rPr>
              <a:t>pc</a:t>
            </a:r>
          </a:p>
        </p:txBody>
      </p:sp>
    </p:spTree>
    <p:extLst>
      <p:ext uri="{BB962C8B-B14F-4D97-AF65-F5344CB8AC3E}">
        <p14:creationId xmlns:p14="http://schemas.microsoft.com/office/powerpoint/2010/main" val="51382675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4" name="Rectangle 8"/>
          <p:cNvSpPr>
            <a:spLocks noChangeArrowheads="1"/>
          </p:cNvSpPr>
          <p:nvPr/>
        </p:nvSpPr>
        <p:spPr bwMode="auto">
          <a:xfrm>
            <a:off x="1259160" y="1174973"/>
            <a:ext cx="5400675" cy="82232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r>
              <a:rPr lang="en-US" altLang="zh-CN" sz="2400" b="1" i="1">
                <a:ea typeface="方正书宋简体" charset="-122"/>
              </a:rPr>
              <a:t>A</a:t>
            </a:r>
            <a:r>
              <a:rPr lang="en-US" altLang="zh-CN" sz="2400" b="1" baseline="-30000">
                <a:ea typeface="方正书宋简体" charset="-122"/>
              </a:rPr>
              <a:t>17</a:t>
            </a:r>
            <a:r>
              <a:rPr lang="en-US" altLang="zh-CN" sz="2400" b="1">
                <a:ea typeface="方正书宋简体" charset="-122"/>
              </a:rPr>
              <a:t>(</a:t>
            </a:r>
            <a:r>
              <a:rPr lang="en-US" altLang="zh-CN" sz="2400" b="1" i="1">
                <a:ea typeface="方正书宋简体" charset="-122"/>
              </a:rPr>
              <a:t>x</a:t>
            </a:r>
            <a:r>
              <a:rPr lang="en-US" altLang="zh-CN" sz="2400" b="1">
                <a:ea typeface="方正书宋简体" charset="-122"/>
              </a:rPr>
              <a:t>) = 7 + 3</a:t>
            </a:r>
            <a:r>
              <a:rPr lang="en-US" altLang="zh-CN" sz="2400" b="1" i="1">
                <a:ea typeface="方正书宋简体" charset="-122"/>
              </a:rPr>
              <a:t>x</a:t>
            </a:r>
            <a:r>
              <a:rPr lang="en-US" altLang="zh-CN" sz="2400" b="1">
                <a:ea typeface="方正书宋简体" charset="-122"/>
              </a:rPr>
              <a:t> + 9</a:t>
            </a:r>
            <a:r>
              <a:rPr lang="en-US" altLang="zh-CN" sz="2400" b="1" i="1">
                <a:ea typeface="方正书宋简体" charset="-122"/>
              </a:rPr>
              <a:t>x</a:t>
            </a:r>
            <a:r>
              <a:rPr lang="en-US" altLang="zh-CN" sz="2400" b="1" baseline="30000">
                <a:ea typeface="方正书宋简体" charset="-122"/>
              </a:rPr>
              <a:t>8</a:t>
            </a:r>
            <a:r>
              <a:rPr lang="en-US" altLang="zh-CN" sz="2400" b="1">
                <a:ea typeface="方正书宋简体" charset="-122"/>
              </a:rPr>
              <a:t> + 5</a:t>
            </a:r>
            <a:r>
              <a:rPr lang="en-US" altLang="zh-CN" sz="2400" b="1" i="1">
                <a:ea typeface="方正书宋简体" charset="-122"/>
              </a:rPr>
              <a:t>x</a:t>
            </a:r>
            <a:r>
              <a:rPr lang="en-US" altLang="zh-CN" sz="2400" b="1" baseline="30000">
                <a:ea typeface="方正书宋简体" charset="-122"/>
              </a:rPr>
              <a:t>17</a:t>
            </a:r>
          </a:p>
          <a:p>
            <a:r>
              <a:rPr lang="en-US" altLang="zh-CN" sz="2400" b="1" i="1">
                <a:ea typeface="方正书宋简体" charset="-122"/>
              </a:rPr>
              <a:t>B</a:t>
            </a:r>
            <a:r>
              <a:rPr lang="en-US" altLang="zh-CN" sz="2400" b="1" baseline="-30000">
                <a:ea typeface="方正书宋简体" charset="-122"/>
              </a:rPr>
              <a:t>8</a:t>
            </a:r>
            <a:r>
              <a:rPr lang="en-US" altLang="zh-CN" sz="2400" b="1">
                <a:ea typeface="方正书宋简体" charset="-122"/>
              </a:rPr>
              <a:t>(</a:t>
            </a:r>
            <a:r>
              <a:rPr lang="en-US" altLang="zh-CN" sz="2400" b="1" i="1">
                <a:ea typeface="方正书宋简体" charset="-122"/>
              </a:rPr>
              <a:t>x</a:t>
            </a:r>
            <a:r>
              <a:rPr lang="en-US" altLang="zh-CN" sz="2400" b="1">
                <a:ea typeface="方正书宋简体" charset="-122"/>
              </a:rPr>
              <a:t>) = 8</a:t>
            </a:r>
            <a:r>
              <a:rPr lang="en-US" altLang="zh-CN" sz="2400" b="1" i="1">
                <a:ea typeface="方正书宋简体" charset="-122"/>
              </a:rPr>
              <a:t>x</a:t>
            </a:r>
            <a:r>
              <a:rPr lang="en-US" altLang="zh-CN" sz="2400" b="1">
                <a:ea typeface="方正书宋简体" charset="-122"/>
              </a:rPr>
              <a:t> + 22</a:t>
            </a:r>
            <a:r>
              <a:rPr lang="en-US" altLang="zh-CN" sz="2400" b="1" i="1">
                <a:ea typeface="方正书宋简体" charset="-122"/>
              </a:rPr>
              <a:t>x</a:t>
            </a:r>
            <a:r>
              <a:rPr lang="en-US" altLang="zh-CN" sz="2400" b="1" baseline="30000">
                <a:ea typeface="方正书宋简体" charset="-122"/>
              </a:rPr>
              <a:t>7</a:t>
            </a:r>
            <a:r>
              <a:rPr lang="en-US" altLang="zh-CN" sz="2400" b="1">
                <a:ea typeface="方正书宋简体" charset="-122"/>
              </a:rPr>
              <a:t> − 9</a:t>
            </a:r>
            <a:r>
              <a:rPr lang="en-US" altLang="zh-CN" sz="2400" b="1" i="1">
                <a:ea typeface="方正书宋简体" charset="-122"/>
              </a:rPr>
              <a:t>x</a:t>
            </a:r>
            <a:r>
              <a:rPr lang="en-US" altLang="zh-CN" sz="2400" b="1" baseline="30000">
                <a:ea typeface="方正书宋简体" charset="-122"/>
              </a:rPr>
              <a:t>8</a:t>
            </a:r>
            <a:endParaRPr lang="en-US" altLang="zh-CN" sz="2400" b="1"/>
          </a:p>
        </p:txBody>
      </p:sp>
      <p:pic>
        <p:nvPicPr>
          <p:cNvPr id="5" name="Picture 7" descr="0217"/>
          <p:cNvPicPr>
            <a:picLocks noChangeAspect="1" noChangeArrowheads="1"/>
          </p:cNvPicPr>
          <p:nvPr/>
        </p:nvPicPr>
        <p:blipFill>
          <a:blip r:embed="rId2" cstate="print">
            <a:extLst>
              <a:ext uri="{28A0092B-C50C-407E-A947-70E740481C1C}">
                <a14:useLocalDpi xmlns:a14="http://schemas.microsoft.com/office/drawing/2010/main" val="0"/>
              </a:ext>
            </a:extLst>
          </a:blip>
          <a:srcRect l="-861" t="-8134" r="-1248" b="-6258"/>
          <a:stretch>
            <a:fillRect/>
          </a:stretch>
        </p:blipFill>
        <p:spPr bwMode="auto">
          <a:xfrm>
            <a:off x="901972" y="2687091"/>
            <a:ext cx="6910388"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2"/>
          <p:cNvGrpSpPr>
            <a:grpSpLocks/>
          </p:cNvGrpSpPr>
          <p:nvPr/>
        </p:nvGrpSpPr>
        <p:grpSpPr bwMode="auto">
          <a:xfrm>
            <a:off x="1187722" y="3957091"/>
            <a:ext cx="6624638" cy="2208213"/>
            <a:chOff x="476" y="2461"/>
            <a:chExt cx="4173" cy="1391"/>
          </a:xfrm>
        </p:grpSpPr>
        <p:pic>
          <p:nvPicPr>
            <p:cNvPr id="7" name="Picture 10" descr="34"/>
            <p:cNvPicPr>
              <a:picLocks noChangeAspect="1" noChangeArrowheads="1"/>
            </p:cNvPicPr>
            <p:nvPr/>
          </p:nvPicPr>
          <p:blipFill>
            <a:blip r:embed="rId3" cstate="print">
              <a:extLst>
                <a:ext uri="{28A0092B-C50C-407E-A947-70E740481C1C}">
                  <a14:useLocalDpi xmlns:a14="http://schemas.microsoft.com/office/drawing/2010/main" val="0"/>
                </a:ext>
              </a:extLst>
            </a:blip>
            <a:srcRect t="-8850" r="-740" b="-7112"/>
            <a:stretch>
              <a:fillRect/>
            </a:stretch>
          </p:blipFill>
          <p:spPr bwMode="auto">
            <a:xfrm>
              <a:off x="476" y="2976"/>
              <a:ext cx="4173" cy="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11"/>
            <p:cNvSpPr>
              <a:spLocks noChangeArrowheads="1"/>
            </p:cNvSpPr>
            <p:nvPr/>
          </p:nvSpPr>
          <p:spPr bwMode="auto">
            <a:xfrm>
              <a:off x="2109" y="2461"/>
              <a:ext cx="317" cy="515"/>
            </a:xfrm>
            <a:prstGeom prst="downArrow">
              <a:avLst>
                <a:gd name="adj1" fmla="val 50000"/>
                <a:gd name="adj2" fmla="val 40615"/>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a:p>
          </p:txBody>
        </p:sp>
      </p:gr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105</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321674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多项式相加</a:t>
            </a:r>
          </a:p>
        </p:txBody>
      </p:sp>
      <p:sp>
        <p:nvSpPr>
          <p:cNvPr id="4" name="文本框 3"/>
          <p:cNvSpPr txBox="1"/>
          <p:nvPr/>
        </p:nvSpPr>
        <p:spPr>
          <a:xfrm>
            <a:off x="605155" y="1052736"/>
            <a:ext cx="7908925" cy="5336846"/>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1200"/>
              </a:spcBef>
              <a:spcAft>
                <a:spcPts val="12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1200"/>
              </a:spcBef>
              <a:spcAft>
                <a:spcPts val="12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stStyle>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void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addPoly</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(Poly &amp;A, Poly &amp;B, Poly &amp;C){</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pa=A-&gt;next;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=B-&gt;next;        C=pc=A;</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while(pa&amp;&amp;</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 (pa-&gt;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sum = pa-&gt;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coef</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coef</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if(sum!=0)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else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else if(pa-&gt;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&lt;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-&gt;</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expn</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 …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else { …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if (pa) pc-&gt;next = pa;  else pc-&gt;next = </a:t>
            </a:r>
            <a:r>
              <a:rPr lang="en-US" altLang="zh-CN" sz="2400" dirty="0" err="1">
                <a:latin typeface="Cambria Math" panose="02040503050406030204" pitchFamily="18" charset="0"/>
                <a:ea typeface="Cambria Math" panose="02040503050406030204" pitchFamily="18" charset="0"/>
                <a:cs typeface="Arial Unicode MS" panose="020B0604020202020204" charset="-122"/>
                <a:sym typeface="+mn-ea"/>
              </a:rPr>
              <a:t>pb</a:t>
            </a: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a:t>
            </a:r>
          </a:p>
          <a:p>
            <a:pPr marL="0" indent="0" eaLnBrk="0" hangingPunct="0">
              <a:spcBef>
                <a:spcPct val="20000"/>
              </a:spcBef>
              <a:buNone/>
            </a:pPr>
            <a:r>
              <a:rPr lang="en-US" altLang="zh-CN" sz="2400" dirty="0">
                <a:latin typeface="Cambria Math" panose="02040503050406030204" pitchFamily="18" charset="0"/>
                <a:ea typeface="Cambria Math" panose="02040503050406030204" pitchFamily="18" charset="0"/>
                <a:cs typeface="Arial Unicode MS" panose="020B0604020202020204" charset="-122"/>
                <a:sym typeface="+mn-ea"/>
              </a:rPr>
              <a:t>} </a:t>
            </a:r>
          </a:p>
        </p:txBody>
      </p:sp>
      <p:sp>
        <p:nvSpPr>
          <p:cNvPr id="3" name="灯片编号占位符 2"/>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1F08501-2393-4D7A-81C3-103CAB66D497}" type="slidenum">
              <a:rPr kumimoji="0" lang="zh-CN" altLang="en-US" sz="1000" b="1" i="0" u="none" strike="noStrike" kern="1200" cap="none" spc="0" normalizeH="0" baseline="0" noProof="0" smtClean="0">
                <a:ln>
                  <a:noFill/>
                </a:ln>
                <a:solidFill>
                  <a:schemeClr val="tx1"/>
                </a:solidFill>
                <a:effectLst/>
                <a:uLnTx/>
                <a:uFillTx/>
                <a:latin typeface="Arial" panose="020B0604020202020204" pitchFamily="34" charset="0"/>
                <a:ea typeface="华文细黑" panose="02010600040101010101" pitchFamily="2" charset="-122"/>
                <a:cs typeface="+mn-cs"/>
              </a:rPr>
              <a:pPr marL="0" marR="0" lvl="0" indent="0" algn="r" defTabSz="914400" rtl="0" eaLnBrk="0" fontAlgn="base" latinLnBrk="0" hangingPunct="0">
                <a:lnSpc>
                  <a:spcPct val="100000"/>
                </a:lnSpc>
                <a:spcBef>
                  <a:spcPct val="0"/>
                </a:spcBef>
                <a:spcAft>
                  <a:spcPct val="0"/>
                </a:spcAft>
                <a:buClrTx/>
                <a:buSzTx/>
                <a:buFontTx/>
                <a:buNone/>
                <a:defRPr/>
              </a:pPr>
              <a:t>106</a:t>
            </a:fld>
            <a:endParaRPr kumimoji="0" lang="zh-CN" altLang="en-US" sz="1000" b="1"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extLst>
      <p:ext uri="{BB962C8B-B14F-4D97-AF65-F5344CB8AC3E}">
        <p14:creationId xmlns:p14="http://schemas.microsoft.com/office/powerpoint/2010/main" val="12854437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6.0"/>
  <p:tag name="PROBLEMBLANK" val="[{&quot;Num&quot;:1,&quot;Score&quot;:1.0,&quot;Answers&quot;:[&quot;&quot;],&quot;CaseSensitive&quot;:false,&quot;FuzzyMatch&quot;:false},{&quot;Num&quot;:2,&quot;Score&quot;:1.0,&quot;Answers&quot;:[&quot;&quot;],&quot;CaseSensitive&quot;:false,&quot;FuzzyMatch&quot;:false},{&quot;Num&quot;:3,&quot;Score&quot;:1.0,&quot;Answers&quot;:[&quot;&quot;],&quot;CaseSensitive&quot;:false,&quot;FuzzyMatch&quot;:false},{&quot;Num&quot;:4,&quot;Score&quot;:1.0,&quot;Answers&quot;:[&quot;&quot;],&quot;CaseSensitive&quot;:false,&quot;FuzzyMatch&quot;:false},{&quot;Num&quot;:5,&quot;Score&quot;:1.0,&quot;Answers&quot;:[&quot;&quot;],&quot;CaseSensitive&quot;:false,&quot;FuzzyMatch&quot;:false},{&quot;Num&quot;:6,&quot;Score&quot;:1.0,&quot;Answers&quot;:[&quot;&quot;],&quot;CaseSensitive&quot;:false,&quot;FuzzyMatch&quot;:false}]"/>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8.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19.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9.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7.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7.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5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5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6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演示设计">
  <a:themeElements>
    <a:clrScheme name="演示设计 3">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fontScheme name="演示设计">
      <a:majorFont>
        <a:latin typeface="Arial"/>
        <a:ea typeface="华文细黑"/>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1" u="none" strike="noStrike" cap="none" normalizeH="0" baseline="0" smtClean="0">
            <a:ln>
              <a:noFill/>
            </a:ln>
            <a:solidFill>
              <a:schemeClr val="tx1"/>
            </a:solidFill>
            <a:effectLst/>
            <a:latin typeface="Arial" panose="020B0604020202020204" pitchFamily="34" charset="0"/>
            <a:ea typeface="华文细黑" panose="02010600040101010101" pitchFamily="2" charset="-122"/>
          </a:defRPr>
        </a:defPPr>
      </a:lstStyle>
    </a:lnDef>
  </a:objectDefaults>
  <a:extraClrSchemeLst>
    <a:extraClrScheme>
      <a:clrScheme name="演示设计 1">
        <a:dk1>
          <a:srgbClr val="000000"/>
        </a:dk1>
        <a:lt1>
          <a:srgbClr val="FFFFFF"/>
        </a:lt1>
        <a:dk2>
          <a:srgbClr val="000000"/>
        </a:dk2>
        <a:lt2>
          <a:srgbClr val="808080"/>
        </a:lt2>
        <a:accent1>
          <a:srgbClr val="FFCC00"/>
        </a:accent1>
        <a:accent2>
          <a:srgbClr val="FF9933"/>
        </a:accent2>
        <a:accent3>
          <a:srgbClr val="FFFFFF"/>
        </a:accent3>
        <a:accent4>
          <a:srgbClr val="000000"/>
        </a:accent4>
        <a:accent5>
          <a:srgbClr val="FFE2AA"/>
        </a:accent5>
        <a:accent6>
          <a:srgbClr val="E78A2D"/>
        </a:accent6>
        <a:hlink>
          <a:srgbClr val="463900"/>
        </a:hlink>
        <a:folHlink>
          <a:srgbClr val="FFE67D"/>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AD5B"/>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C0C0C0"/>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C468BD"/>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3B3B"/>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DDDF91"/>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7BD52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ppt模板IT</Template>
  <TotalTime>23000</TotalTime>
  <Words>7848</Words>
  <Application>Microsoft Macintosh PowerPoint</Application>
  <PresentationFormat>全屏显示(4:3)</PresentationFormat>
  <Paragraphs>1533</Paragraphs>
  <Slides>106</Slides>
  <Notes>16</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106</vt:i4>
      </vt:variant>
    </vt:vector>
  </HeadingPairs>
  <TitlesOfParts>
    <vt:vector size="121" baseType="lpstr">
      <vt:lpstr>华文细黑</vt:lpstr>
      <vt:lpstr>楷体_GB2312</vt:lpstr>
      <vt:lpstr>隶书</vt:lpstr>
      <vt:lpstr>宋体</vt:lpstr>
      <vt:lpstr>Microsoft Yahei</vt:lpstr>
      <vt:lpstr>Microsoft YaHei UI</vt:lpstr>
      <vt:lpstr>Arial</vt:lpstr>
      <vt:lpstr>Calibri</vt:lpstr>
      <vt:lpstr>Cambria Math</vt:lpstr>
      <vt:lpstr>Tahoma</vt:lpstr>
      <vt:lpstr>Times New Roman</vt:lpstr>
      <vt:lpstr>Wingdings</vt:lpstr>
      <vt:lpstr>演示设计</vt:lpstr>
      <vt:lpstr>VISIO</vt:lpstr>
      <vt:lpstr>图片</vt:lpstr>
      <vt:lpstr>Ch2 线性表</vt:lpstr>
      <vt:lpstr>本章内容</vt:lpstr>
      <vt:lpstr>数据结构总览</vt:lpstr>
      <vt:lpstr>线性表的概念</vt:lpstr>
      <vt:lpstr>线性表的概念</vt:lpstr>
      <vt:lpstr>线性表的概念</vt:lpstr>
      <vt:lpstr>线性表举例</vt:lpstr>
      <vt:lpstr>线性表的抽象数据类型定义</vt:lpstr>
      <vt:lpstr>补充：C++中的参数传递</vt:lpstr>
      <vt:lpstr>补充：引用类型变量</vt:lpstr>
      <vt:lpstr>补充：引用类型参数</vt:lpstr>
      <vt:lpstr>线性表的基本操作 - 1</vt:lpstr>
      <vt:lpstr>线性表的基本操作 - 2</vt:lpstr>
      <vt:lpstr>线性表的基本操作 - 3</vt:lpstr>
      <vt:lpstr>线性表的基本操作 - 4</vt:lpstr>
      <vt:lpstr>线性表的基本操作 - 5</vt:lpstr>
      <vt:lpstr>线性表的基本操作 - 6</vt:lpstr>
      <vt:lpstr>线性表的基本操作 - 7</vt:lpstr>
      <vt:lpstr>Ch2 练习1</vt:lpstr>
      <vt:lpstr>PowerPoint 演示文稿</vt:lpstr>
      <vt:lpstr>PowerPoint 演示文稿</vt:lpstr>
      <vt:lpstr>线性表的顺序存储</vt:lpstr>
      <vt:lpstr>线性表的顺序存储</vt:lpstr>
      <vt:lpstr>顺序存储结构的类型定义</vt:lpstr>
      <vt:lpstr>初始化顺序表L</vt:lpstr>
      <vt:lpstr>销毁顺序表L</vt:lpstr>
      <vt:lpstr>顺序表取值</vt:lpstr>
      <vt:lpstr>顺序表查找</vt:lpstr>
      <vt:lpstr>顺序表的插入</vt:lpstr>
      <vt:lpstr>顺序表的插入</vt:lpstr>
      <vt:lpstr>顺序表的插入</vt:lpstr>
      <vt:lpstr>顺序表的删除</vt:lpstr>
      <vt:lpstr>顺序表的删除</vt:lpstr>
      <vt:lpstr>顺序表的删除</vt:lpstr>
      <vt:lpstr>顺序表的其他操作</vt:lpstr>
      <vt:lpstr>顺序表的优缺点</vt:lpstr>
      <vt:lpstr>Ch2 练习2</vt:lpstr>
      <vt:lpstr>PowerPoint 演示文稿</vt:lpstr>
      <vt:lpstr>PowerPoint 演示文稿</vt:lpstr>
      <vt:lpstr>PowerPoint 演示文稿</vt:lpstr>
      <vt:lpstr>线性表的链式存储</vt:lpstr>
      <vt:lpstr>线性表的链式存储</vt:lpstr>
      <vt:lpstr>线性表的链式存储</vt:lpstr>
      <vt:lpstr>为何要设置头结点？</vt:lpstr>
      <vt:lpstr>链式存储结构的特点</vt:lpstr>
      <vt:lpstr>链式存储的几种形式</vt:lpstr>
      <vt:lpstr>单链表的存储结构定义</vt:lpstr>
      <vt:lpstr>Ch2 练习3</vt:lpstr>
      <vt:lpstr>PowerPoint 演示文稿</vt:lpstr>
      <vt:lpstr>PowerPoint 演示文稿</vt:lpstr>
      <vt:lpstr>PowerPoint 演示文稿</vt:lpstr>
      <vt:lpstr>PowerPoint 演示文稿</vt:lpstr>
      <vt:lpstr>PowerPoint 演示文稿</vt:lpstr>
      <vt:lpstr>初始化链表</vt:lpstr>
      <vt:lpstr>链表判空</vt:lpstr>
      <vt:lpstr>链表长度</vt:lpstr>
      <vt:lpstr>链表取值</vt:lpstr>
      <vt:lpstr>链表取值</vt:lpstr>
      <vt:lpstr>链表取值（另一种方法实现）</vt:lpstr>
      <vt:lpstr>链表查找 </vt:lpstr>
      <vt:lpstr>链表查找</vt:lpstr>
      <vt:lpstr>链表查找</vt:lpstr>
      <vt:lpstr>Ch2 练习4</vt:lpstr>
      <vt:lpstr>PowerPoint 演示文稿</vt:lpstr>
      <vt:lpstr>链表插入</vt:lpstr>
      <vt:lpstr>链表插入</vt:lpstr>
      <vt:lpstr>链表插入</vt:lpstr>
      <vt:lpstr>链表插入</vt:lpstr>
      <vt:lpstr>链表删除</vt:lpstr>
      <vt:lpstr>链表删除</vt:lpstr>
      <vt:lpstr>链表创建（尾插法）</vt:lpstr>
      <vt:lpstr>链表创建（头插法）</vt:lpstr>
      <vt:lpstr>顺序表 vs 链表</vt:lpstr>
      <vt:lpstr>顺序表 vs 链表</vt:lpstr>
      <vt:lpstr>Ch2 练习5</vt:lpstr>
      <vt:lpstr>PowerPoint 演示文稿</vt:lpstr>
      <vt:lpstr>PowerPoint 演示文稿</vt:lpstr>
      <vt:lpstr>循环链表</vt:lpstr>
      <vt:lpstr>循环链表</vt:lpstr>
      <vt:lpstr>双向链表（double linked list）</vt:lpstr>
      <vt:lpstr>双向链表的插入</vt:lpstr>
      <vt:lpstr>双向链表的删除</vt:lpstr>
      <vt:lpstr>线性表的应用</vt:lpstr>
      <vt:lpstr>求并集</vt:lpstr>
      <vt:lpstr>求并集-顺序实现</vt:lpstr>
      <vt:lpstr>求并集-链表实现</vt:lpstr>
      <vt:lpstr>有序表合并</vt:lpstr>
      <vt:lpstr>有序表合并的顺序实现</vt:lpstr>
      <vt:lpstr>有序表合并的顺序实现</vt:lpstr>
      <vt:lpstr>有序表合并的链式实现</vt:lpstr>
      <vt:lpstr>有序表合并的链式实现</vt:lpstr>
      <vt:lpstr>单链表就地逆置</vt:lpstr>
      <vt:lpstr>单链表就地逆置</vt:lpstr>
      <vt:lpstr>单链表就地逆置</vt:lpstr>
      <vt:lpstr>多项式的表示</vt:lpstr>
      <vt:lpstr>多项式的表示</vt:lpstr>
      <vt:lpstr>多项式相加</vt:lpstr>
      <vt:lpstr>多项式相加</vt:lpstr>
      <vt:lpstr>多项式相加</vt:lpstr>
      <vt:lpstr>多项式相加</vt:lpstr>
      <vt:lpstr>多项式相加</vt:lpstr>
      <vt:lpstr>多项式相加</vt:lpstr>
      <vt:lpstr>多项式相加</vt:lpstr>
      <vt:lpstr>多项式相加</vt:lpstr>
      <vt:lpstr>多项式相加</vt:lpstr>
      <vt:lpstr>多项式相加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软件测试自动化</dc:title>
  <dc:creator>acer</dc:creator>
  <cp:lastModifiedBy>Liu Xinyi</cp:lastModifiedBy>
  <cp:revision>1506</cp:revision>
  <dcterms:created xsi:type="dcterms:W3CDTF">2012-09-10T06:31:00Z</dcterms:created>
  <dcterms:modified xsi:type="dcterms:W3CDTF">2020-03-31T10:01:05Z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