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3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7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8.xml" ContentType="application/vnd.openxmlformats-officedocument.presentationml.notesSlid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11.xml" ContentType="application/vnd.openxmlformats-officedocument.presentationml.notesSlid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91"/>
  </p:notesMasterIdLst>
  <p:sldIdLst>
    <p:sldId id="512" r:id="rId2"/>
    <p:sldId id="311" r:id="rId3"/>
    <p:sldId id="312" r:id="rId4"/>
    <p:sldId id="313" r:id="rId5"/>
    <p:sldId id="314" r:id="rId6"/>
    <p:sldId id="323" r:id="rId7"/>
    <p:sldId id="321" r:id="rId8"/>
    <p:sldId id="316" r:id="rId9"/>
    <p:sldId id="322" r:id="rId10"/>
    <p:sldId id="317" r:id="rId11"/>
    <p:sldId id="480" r:id="rId12"/>
    <p:sldId id="318" r:id="rId13"/>
    <p:sldId id="378" r:id="rId14"/>
    <p:sldId id="526" r:id="rId15"/>
    <p:sldId id="534" r:id="rId16"/>
    <p:sldId id="532" r:id="rId17"/>
    <p:sldId id="533" r:id="rId18"/>
    <p:sldId id="401" r:id="rId19"/>
    <p:sldId id="327" r:id="rId20"/>
    <p:sldId id="328" r:id="rId21"/>
    <p:sldId id="527" r:id="rId22"/>
    <p:sldId id="529" r:id="rId23"/>
    <p:sldId id="334" r:id="rId24"/>
    <p:sldId id="438" r:id="rId25"/>
    <p:sldId id="439" r:id="rId26"/>
    <p:sldId id="536" r:id="rId27"/>
    <p:sldId id="535" r:id="rId28"/>
    <p:sldId id="530" r:id="rId29"/>
    <p:sldId id="515" r:id="rId30"/>
    <p:sldId id="448" r:id="rId31"/>
    <p:sldId id="516" r:id="rId32"/>
    <p:sldId id="444" r:id="rId33"/>
    <p:sldId id="442" r:id="rId34"/>
    <p:sldId id="538" r:id="rId35"/>
    <p:sldId id="537" r:id="rId36"/>
    <p:sldId id="451" r:id="rId37"/>
    <p:sldId id="452" r:id="rId38"/>
    <p:sldId id="453" r:id="rId39"/>
    <p:sldId id="552" r:id="rId40"/>
    <p:sldId id="462" r:id="rId41"/>
    <p:sldId id="429" r:id="rId42"/>
    <p:sldId id="463" r:id="rId43"/>
    <p:sldId id="430" r:id="rId44"/>
    <p:sldId id="540" r:id="rId45"/>
    <p:sldId id="539" r:id="rId46"/>
    <p:sldId id="460" r:id="rId47"/>
    <p:sldId id="427" r:id="rId48"/>
    <p:sldId id="465" r:id="rId49"/>
    <p:sldId id="466" r:id="rId50"/>
    <p:sldId id="541" r:id="rId51"/>
    <p:sldId id="472" r:id="rId52"/>
    <p:sldId id="468" r:id="rId53"/>
    <p:sldId id="469" r:id="rId54"/>
    <p:sldId id="548" r:id="rId55"/>
    <p:sldId id="553" r:id="rId56"/>
    <p:sldId id="428" r:id="rId57"/>
    <p:sldId id="474" r:id="rId58"/>
    <p:sldId id="531" r:id="rId59"/>
    <p:sldId id="360" r:id="rId60"/>
    <p:sldId id="497" r:id="rId61"/>
    <p:sldId id="361" r:id="rId62"/>
    <p:sldId id="362" r:id="rId63"/>
    <p:sldId id="363" r:id="rId64"/>
    <p:sldId id="365" r:id="rId65"/>
    <p:sldId id="366" r:id="rId66"/>
    <p:sldId id="549" r:id="rId67"/>
    <p:sldId id="383" r:id="rId68"/>
    <p:sldId id="368" r:id="rId69"/>
    <p:sldId id="369" r:id="rId70"/>
    <p:sldId id="482" r:id="rId71"/>
    <p:sldId id="483" r:id="rId72"/>
    <p:sldId id="498" r:id="rId73"/>
    <p:sldId id="542" r:id="rId74"/>
    <p:sldId id="543" r:id="rId75"/>
    <p:sldId id="544" r:id="rId76"/>
    <p:sldId id="545" r:id="rId77"/>
    <p:sldId id="550" r:id="rId78"/>
    <p:sldId id="546" r:id="rId79"/>
    <p:sldId id="493" r:id="rId80"/>
    <p:sldId id="505" r:id="rId81"/>
    <p:sldId id="506" r:id="rId82"/>
    <p:sldId id="507" r:id="rId83"/>
    <p:sldId id="508" r:id="rId84"/>
    <p:sldId id="494" r:id="rId85"/>
    <p:sldId id="510" r:id="rId86"/>
    <p:sldId id="551" r:id="rId87"/>
    <p:sldId id="547" r:id="rId88"/>
    <p:sldId id="495" r:id="rId89"/>
    <p:sldId id="496" r:id="rId90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34FE"/>
    <a:srgbClr val="009900"/>
    <a:srgbClr val="FFFFCC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85" autoAdjust="0"/>
    <p:restoredTop sz="94674"/>
  </p:normalViewPr>
  <p:slideViewPr>
    <p:cSldViewPr>
      <p:cViewPr varScale="1">
        <p:scale>
          <a:sx n="124" d="100"/>
          <a:sy n="124" d="100"/>
        </p:scale>
        <p:origin x="120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ableStyles" Target="tableStyle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A2429717-A99C-4EC7-B621-49551F924F14}" type="datetimeFigureOut">
              <a:rPr lang="zh-CN" altLang="en-US"/>
              <a:pPr>
                <a:defRPr/>
              </a:pPr>
              <a:t>2020/5/26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41C5A56-DE2E-40F4-B3D6-8F2C5A7E02A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52298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577213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062473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876157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41C5A56-DE2E-40F4-B3D6-8F2C5A7E02A7}" type="slidenum">
              <a:rPr lang="zh-CN" altLang="en-US" smtClean="0"/>
              <a:pPr>
                <a:defRPr/>
              </a:pPr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89940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41C5A56-DE2E-40F4-B3D6-8F2C5A7E02A7}" type="slidenum">
              <a:rPr lang="zh-CN" altLang="en-US" smtClean="0"/>
              <a:pPr>
                <a:defRPr/>
              </a:pPr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36505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63025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569534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314623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139044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732841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41147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59400"/>
            <a:ext cx="9144000" cy="149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2"/>
          <p:cNvGrpSpPr>
            <a:grpSpLocks/>
          </p:cNvGrpSpPr>
          <p:nvPr/>
        </p:nvGrpSpPr>
        <p:grpSpPr bwMode="auto">
          <a:xfrm>
            <a:off x="0" y="0"/>
            <a:ext cx="9144000" cy="1123950"/>
            <a:chOff x="0" y="0"/>
            <a:chExt cx="5760" cy="708"/>
          </a:xfrm>
        </p:grpSpPr>
        <p:pic>
          <p:nvPicPr>
            <p:cNvPr id="6" name="Picture 3" descr="2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5760" cy="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Rectangle 4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255"/>
            </a:xfrm>
            <a:prstGeom prst="rect">
              <a:avLst/>
            </a:prstGeom>
            <a:gradFill rotWithShape="1">
              <a:gsLst>
                <a:gs pos="0">
                  <a:schemeClr val="bg1">
                    <a:alpha val="34000"/>
                  </a:schemeClr>
                </a:gs>
                <a:gs pos="100000">
                  <a:schemeClr val="bg1">
                    <a:alpha val="4999"/>
                  </a:schemeClr>
                </a:gs>
              </a:gsLst>
              <a:lin ang="5400000" scaled="1"/>
            </a:gra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>
                <a:ea typeface="华文细黑" panose="02010600040101010101" pitchFamily="2" charset="-122"/>
              </a:endParaRPr>
            </a:p>
          </p:txBody>
        </p:sp>
        <p:pic>
          <p:nvPicPr>
            <p:cNvPr id="8" name="Picture 5" descr="投影2"/>
            <p:cNvPicPr>
              <a:picLocks noChangeAspect="1" noChangeArrowheads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56"/>
              <a:ext cx="534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055" name="Rectangle 27"/>
          <p:cNvSpPr>
            <a:spLocks noGrp="1" noChangeArrowheads="1"/>
          </p:cNvSpPr>
          <p:nvPr>
            <p:ph type="ctrTitle"/>
          </p:nvPr>
        </p:nvSpPr>
        <p:spPr>
          <a:xfrm>
            <a:off x="1907704" y="1916832"/>
            <a:ext cx="5399087" cy="1079500"/>
          </a:xfrm>
        </p:spPr>
        <p:txBody>
          <a:bodyPr/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dirty="0"/>
          </a:p>
        </p:txBody>
      </p:sp>
      <p:sp>
        <p:nvSpPr>
          <p:cNvPr id="2056" name="Rectangle 31"/>
          <p:cNvSpPr>
            <a:spLocks noGrp="1" noChangeArrowheads="1"/>
          </p:cNvSpPr>
          <p:nvPr>
            <p:ph type="subTitle" idx="1"/>
          </p:nvPr>
        </p:nvSpPr>
        <p:spPr>
          <a:xfrm>
            <a:off x="1907704" y="3428380"/>
            <a:ext cx="5400675" cy="60007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600"/>
            </a:lvl1pPr>
          </a:lstStyle>
          <a:p>
            <a:r>
              <a:rPr lang="zh-CN" altLang="en-US" dirty="0"/>
              <a:t>单击此处编辑母版副标题样式</a:t>
            </a:r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3325770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9"/>
          <p:cNvSpPr txBox="1">
            <a:spLocks noChangeArrowheads="1"/>
          </p:cNvSpPr>
          <p:nvPr userDrawn="1"/>
        </p:nvSpPr>
        <p:spPr bwMode="auto">
          <a:xfrm>
            <a:off x="3132138" y="6381750"/>
            <a:ext cx="3168650" cy="3079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400">
                <a:solidFill>
                  <a:schemeClr val="accent1"/>
                </a:solidFill>
                <a:ea typeface="华文细黑" panose="02010600040101010101" pitchFamily="2" charset="-122"/>
              </a:rPr>
              <a:t>信息技术学院 于文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C9BE59-6BE6-4719-943D-2F0BF22505B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6243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9"/>
          <p:cNvSpPr txBox="1">
            <a:spLocks noChangeArrowheads="1"/>
          </p:cNvSpPr>
          <p:nvPr userDrawn="1"/>
        </p:nvSpPr>
        <p:spPr bwMode="auto">
          <a:xfrm>
            <a:off x="3132138" y="6381750"/>
            <a:ext cx="3168650" cy="3079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400">
                <a:solidFill>
                  <a:schemeClr val="accent1"/>
                </a:solidFill>
                <a:ea typeface="华文细黑" panose="02010600040101010101" pitchFamily="2" charset="-122"/>
              </a:rPr>
              <a:t>信息技术学院 于文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3568" y="2276872"/>
            <a:ext cx="7772400" cy="2466503"/>
          </a:xfrm>
        </p:spPr>
        <p:txBody>
          <a:bodyPr anchor="ctr"/>
          <a:lstStyle>
            <a:lvl1pPr marL="0" indent="0" algn="ctr">
              <a:buNone/>
              <a:defRPr sz="4000">
                <a:latin typeface="+mj-ea"/>
                <a:ea typeface="+mj-ea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BAC443-FCB1-46F7-A9A1-983478B4510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2894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8313" y="1125538"/>
            <a:ext cx="4027487" cy="51625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25538"/>
            <a:ext cx="4027488" cy="51625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650075-5615-456B-8080-21588775B27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8299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7FC011-4525-48C2-964E-542F28B12AC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967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2CCC24-B95D-4B93-860D-70944822D01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7192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82352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358F7C-A749-4236-BDE7-711819703B6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9499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1600" y="315913"/>
            <a:ext cx="6121350" cy="5921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468313" y="1125538"/>
            <a:ext cx="8207375" cy="5162550"/>
          </a:xfrm>
        </p:spPr>
        <p:txBody>
          <a:bodyPr/>
          <a:lstStyle/>
          <a:p>
            <a:pPr lvl="0"/>
            <a:r>
              <a:rPr lang="zh-CN" altLang="en-US" noProof="0"/>
              <a:t>单击图标添加图表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71EE68-502A-4ABF-BF77-28F7EBD0E2B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8544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课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1600" y="315913"/>
            <a:ext cx="6121350" cy="5921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68313" y="1125538"/>
            <a:ext cx="8207375" cy="5162550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546A0F-2132-45CB-9E19-BB0C4BF50EA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2551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59400"/>
            <a:ext cx="9144000" cy="149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2"/>
          <p:cNvGrpSpPr>
            <a:grpSpLocks/>
          </p:cNvGrpSpPr>
          <p:nvPr/>
        </p:nvGrpSpPr>
        <p:grpSpPr bwMode="auto">
          <a:xfrm>
            <a:off x="0" y="0"/>
            <a:ext cx="9144000" cy="1123950"/>
            <a:chOff x="0" y="0"/>
            <a:chExt cx="5760" cy="708"/>
          </a:xfrm>
        </p:grpSpPr>
        <p:pic>
          <p:nvPicPr>
            <p:cNvPr id="6" name="Picture 3" descr="2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5760" cy="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Rectangle 4"/>
            <p:cNvSpPr>
              <a:spLocks noChangeArrowheads="1"/>
            </p:cNvSpPr>
            <p:nvPr/>
          </p:nvSpPr>
          <p:spPr bwMode="auto">
            <a:xfrm>
              <a:off x="0" y="0"/>
              <a:ext cx="5760" cy="255"/>
            </a:xfrm>
            <a:prstGeom prst="rect">
              <a:avLst/>
            </a:prstGeom>
            <a:gradFill rotWithShape="1">
              <a:gsLst>
                <a:gs pos="0">
                  <a:schemeClr val="bg1">
                    <a:alpha val="34000"/>
                  </a:schemeClr>
                </a:gs>
                <a:gs pos="100000">
                  <a:schemeClr val="bg1">
                    <a:alpha val="4999"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>
                <a:solidFill>
                  <a:srgbClr val="000000"/>
                </a:solidFill>
                <a:ea typeface="华文细黑" panose="02010600040101010101" pitchFamily="2" charset="-122"/>
              </a:endParaRPr>
            </a:p>
          </p:txBody>
        </p:sp>
        <p:pic>
          <p:nvPicPr>
            <p:cNvPr id="8" name="Picture 5" descr="投影2"/>
            <p:cNvPicPr>
              <a:picLocks noChangeAspect="1" noChangeArrowheads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56"/>
              <a:ext cx="534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055" name="Rectangle 27"/>
          <p:cNvSpPr>
            <a:spLocks noGrp="1" noChangeArrowheads="1"/>
          </p:cNvSpPr>
          <p:nvPr>
            <p:ph type="ctrTitle"/>
          </p:nvPr>
        </p:nvSpPr>
        <p:spPr>
          <a:xfrm>
            <a:off x="1872456" y="2615406"/>
            <a:ext cx="5399087" cy="1079500"/>
          </a:xfrm>
        </p:spPr>
        <p:txBody>
          <a:bodyPr/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noProof="1"/>
          </a:p>
        </p:txBody>
      </p:sp>
    </p:spTree>
    <p:extLst>
      <p:ext uri="{BB962C8B-B14F-4D97-AF65-F5344CB8AC3E}">
        <p14:creationId xmlns:p14="http://schemas.microsoft.com/office/powerpoint/2010/main" val="2213418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0"/>
            <a:ext cx="9144000" cy="1123950"/>
            <a:chOff x="0" y="0"/>
            <a:chExt cx="5760" cy="708"/>
          </a:xfrm>
        </p:grpSpPr>
        <p:pic>
          <p:nvPicPr>
            <p:cNvPr id="1031" name="Picture 3" descr="2"/>
            <p:cNvPicPr>
              <a:picLocks noChangeAspect="1" noChangeArrowheads="1"/>
            </p:cNvPicPr>
            <p:nvPr userDrawn="1"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5760" cy="5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Rectangle 4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255"/>
            </a:xfrm>
            <a:prstGeom prst="rect">
              <a:avLst/>
            </a:prstGeom>
            <a:gradFill rotWithShape="1">
              <a:gsLst>
                <a:gs pos="0">
                  <a:schemeClr val="bg1">
                    <a:alpha val="34000"/>
                  </a:schemeClr>
                </a:gs>
                <a:gs pos="100000">
                  <a:schemeClr val="bg1">
                    <a:alpha val="4999"/>
                  </a:schemeClr>
                </a:gs>
              </a:gsLst>
              <a:lin ang="5400000" scaled="1"/>
            </a:gra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>
                <a:ea typeface="华文细黑" panose="02010600040101010101" pitchFamily="2" charset="-122"/>
              </a:endParaRPr>
            </a:p>
          </p:txBody>
        </p:sp>
        <p:pic>
          <p:nvPicPr>
            <p:cNvPr id="1033" name="Picture 5" descr="投影2"/>
            <p:cNvPicPr>
              <a:picLocks noChangeAspect="1" noChangeArrowheads="1"/>
            </p:cNvPicPr>
            <p:nvPr userDrawn="1"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56"/>
              <a:ext cx="534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7" name="Rectangle 31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125538"/>
            <a:ext cx="8207375" cy="516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第二级</a:t>
            </a:r>
          </a:p>
          <a:p>
            <a:pPr lvl="2"/>
            <a:r>
              <a:rPr lang="zh-CN" altLang="zh-CN"/>
              <a:t>第三级</a:t>
            </a:r>
          </a:p>
          <a:p>
            <a:pPr lvl="3"/>
            <a:r>
              <a:rPr lang="zh-CN" altLang="zh-CN"/>
              <a:t>第四级</a:t>
            </a:r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5825" y="6453188"/>
            <a:ext cx="1439863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1">
                <a:ea typeface="华文细黑" panose="02010600040101010101" pitchFamily="2" charset="-122"/>
              </a:defRPr>
            </a:lvl1pPr>
          </a:lstStyle>
          <a:p>
            <a:pPr>
              <a:defRPr/>
            </a:pPr>
            <a:fld id="{B2437A7E-1899-4B08-8A0D-D98901F8F15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1029" name="Rectangle 27"/>
          <p:cNvSpPr>
            <a:spLocks noGrp="1" noChangeArrowheads="1"/>
          </p:cNvSpPr>
          <p:nvPr>
            <p:ph type="title"/>
          </p:nvPr>
        </p:nvSpPr>
        <p:spPr bwMode="auto">
          <a:xfrm>
            <a:off x="971550" y="315913"/>
            <a:ext cx="7704138" cy="592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单击此处编辑母版标题样式</a:t>
            </a:r>
          </a:p>
        </p:txBody>
      </p:sp>
      <p:pic>
        <p:nvPicPr>
          <p:cNvPr id="1030" name="Picture 10" descr="北京师范大学珠海分校标志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71550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51" r:id="rId1"/>
    <p:sldLayoutId id="2147484352" r:id="rId2"/>
    <p:sldLayoutId id="2147484353" r:id="rId3"/>
    <p:sldLayoutId id="2147484345" r:id="rId4"/>
    <p:sldLayoutId id="2147484346" r:id="rId5"/>
    <p:sldLayoutId id="2147484347" r:id="rId6"/>
    <p:sldLayoutId id="2147484348" r:id="rId7"/>
    <p:sldLayoutId id="2147484349" r:id="rId8"/>
    <p:sldLayoutId id="2147484350" r:id="rId9"/>
    <p:sldLayoutId id="2147484354" r:id="rId10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" pitchFamily="34" charset="0"/>
          <a:ea typeface="华文细黑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" pitchFamily="34" charset="0"/>
          <a:ea typeface="华文细黑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" pitchFamily="34" charset="0"/>
          <a:ea typeface="华文细黑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" pitchFamily="34" charset="0"/>
          <a:ea typeface="华文细黑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Arial" pitchFamily="34" charset="0"/>
          <a:ea typeface="华文细黑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Arial" pitchFamily="34" charset="0"/>
          <a:ea typeface="华文细黑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Arial" pitchFamily="34" charset="0"/>
          <a:ea typeface="华文细黑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Arial" pitchFamily="34" charset="0"/>
          <a:ea typeface="华文细黑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6.tmp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slideLayout" Target="../slideLayouts/slideLayout6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12" Type="http://schemas.openxmlformats.org/officeDocument/2006/relationships/image" Target="../media/image6.tmp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slideLayout" Target="../slideLayouts/slideLayout6.xml"/><Relationship Id="rId5" Type="http://schemas.openxmlformats.org/officeDocument/2006/relationships/tags" Target="../tags/tag15.xml"/><Relationship Id="rId10" Type="http://schemas.openxmlformats.org/officeDocument/2006/relationships/tags" Target="../tags/tag20.xml"/><Relationship Id="rId4" Type="http://schemas.openxmlformats.org/officeDocument/2006/relationships/tags" Target="../tags/tag14.xml"/><Relationship Id="rId9" Type="http://schemas.openxmlformats.org/officeDocument/2006/relationships/tags" Target="../tags/tag1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12" Type="http://schemas.openxmlformats.org/officeDocument/2006/relationships/image" Target="../media/image6.tmp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slideLayout" Target="../slideLayouts/slideLayout6.xml"/><Relationship Id="rId5" Type="http://schemas.openxmlformats.org/officeDocument/2006/relationships/tags" Target="../tags/tag25.xml"/><Relationship Id="rId10" Type="http://schemas.openxmlformats.org/officeDocument/2006/relationships/tags" Target="../tags/tag30.xml"/><Relationship Id="rId4" Type="http://schemas.openxmlformats.org/officeDocument/2006/relationships/tags" Target="../tags/tag24.xml"/><Relationship Id="rId9" Type="http://schemas.openxmlformats.org/officeDocument/2006/relationships/tags" Target="../tags/tag2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12" Type="http://schemas.openxmlformats.org/officeDocument/2006/relationships/image" Target="../media/image6.tmp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11" Type="http://schemas.openxmlformats.org/officeDocument/2006/relationships/slideLayout" Target="../slideLayouts/slideLayout6.xml"/><Relationship Id="rId5" Type="http://schemas.openxmlformats.org/officeDocument/2006/relationships/tags" Target="../tags/tag35.xml"/><Relationship Id="rId10" Type="http://schemas.openxmlformats.org/officeDocument/2006/relationships/tags" Target="../tags/tag40.xml"/><Relationship Id="rId4" Type="http://schemas.openxmlformats.org/officeDocument/2006/relationships/tags" Target="../tags/tag34.xml"/><Relationship Id="rId9" Type="http://schemas.openxmlformats.org/officeDocument/2006/relationships/tags" Target="../tags/tag3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tags" Target="../tags/tag48.xml"/><Relationship Id="rId3" Type="http://schemas.openxmlformats.org/officeDocument/2006/relationships/tags" Target="../tags/tag43.xml"/><Relationship Id="rId7" Type="http://schemas.openxmlformats.org/officeDocument/2006/relationships/tags" Target="../tags/tag47.xml"/><Relationship Id="rId12" Type="http://schemas.openxmlformats.org/officeDocument/2006/relationships/image" Target="../media/image6.tmp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11" Type="http://schemas.openxmlformats.org/officeDocument/2006/relationships/slideLayout" Target="../slideLayouts/slideLayout6.xml"/><Relationship Id="rId5" Type="http://schemas.openxmlformats.org/officeDocument/2006/relationships/tags" Target="../tags/tag45.xml"/><Relationship Id="rId10" Type="http://schemas.openxmlformats.org/officeDocument/2006/relationships/tags" Target="../tags/tag50.xml"/><Relationship Id="rId4" Type="http://schemas.openxmlformats.org/officeDocument/2006/relationships/tags" Target="../tags/tag44.xml"/><Relationship Id="rId9" Type="http://schemas.openxmlformats.org/officeDocument/2006/relationships/tags" Target="../tags/tag49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tags" Target="../tags/tag58.xml"/><Relationship Id="rId3" Type="http://schemas.openxmlformats.org/officeDocument/2006/relationships/tags" Target="../tags/tag53.xml"/><Relationship Id="rId7" Type="http://schemas.openxmlformats.org/officeDocument/2006/relationships/tags" Target="../tags/tag57.xml"/><Relationship Id="rId12" Type="http://schemas.openxmlformats.org/officeDocument/2006/relationships/image" Target="../media/image6.tmp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tags" Target="../tags/tag56.xml"/><Relationship Id="rId11" Type="http://schemas.openxmlformats.org/officeDocument/2006/relationships/slideLayout" Target="../slideLayouts/slideLayout6.xml"/><Relationship Id="rId5" Type="http://schemas.openxmlformats.org/officeDocument/2006/relationships/tags" Target="../tags/tag55.xml"/><Relationship Id="rId10" Type="http://schemas.openxmlformats.org/officeDocument/2006/relationships/tags" Target="../tags/tag60.xml"/><Relationship Id="rId4" Type="http://schemas.openxmlformats.org/officeDocument/2006/relationships/tags" Target="../tags/tag54.xml"/><Relationship Id="rId9" Type="http://schemas.openxmlformats.org/officeDocument/2006/relationships/tags" Target="../tags/tag59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tags" Target="../tags/tag68.xml"/><Relationship Id="rId3" Type="http://schemas.openxmlformats.org/officeDocument/2006/relationships/tags" Target="../tags/tag63.xml"/><Relationship Id="rId7" Type="http://schemas.openxmlformats.org/officeDocument/2006/relationships/tags" Target="../tags/tag67.xml"/><Relationship Id="rId12" Type="http://schemas.openxmlformats.org/officeDocument/2006/relationships/image" Target="../media/image6.tmp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tags" Target="../tags/tag66.xml"/><Relationship Id="rId11" Type="http://schemas.openxmlformats.org/officeDocument/2006/relationships/slideLayout" Target="../slideLayouts/slideLayout6.xml"/><Relationship Id="rId5" Type="http://schemas.openxmlformats.org/officeDocument/2006/relationships/tags" Target="../tags/tag65.xml"/><Relationship Id="rId10" Type="http://schemas.openxmlformats.org/officeDocument/2006/relationships/tags" Target="../tags/tag70.xml"/><Relationship Id="rId4" Type="http://schemas.openxmlformats.org/officeDocument/2006/relationships/tags" Target="../tags/tag64.xml"/><Relationship Id="rId9" Type="http://schemas.openxmlformats.org/officeDocument/2006/relationships/tags" Target="../tags/tag69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tags" Target="../tags/tag78.xml"/><Relationship Id="rId3" Type="http://schemas.openxmlformats.org/officeDocument/2006/relationships/tags" Target="../tags/tag73.xml"/><Relationship Id="rId7" Type="http://schemas.openxmlformats.org/officeDocument/2006/relationships/tags" Target="../tags/tag77.xml"/><Relationship Id="rId12" Type="http://schemas.openxmlformats.org/officeDocument/2006/relationships/image" Target="../media/image6.tmp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tags" Target="../tags/tag76.xml"/><Relationship Id="rId11" Type="http://schemas.openxmlformats.org/officeDocument/2006/relationships/slideLayout" Target="../slideLayouts/slideLayout6.xml"/><Relationship Id="rId5" Type="http://schemas.openxmlformats.org/officeDocument/2006/relationships/tags" Target="../tags/tag75.xml"/><Relationship Id="rId10" Type="http://schemas.openxmlformats.org/officeDocument/2006/relationships/tags" Target="../tags/tag80.xml"/><Relationship Id="rId4" Type="http://schemas.openxmlformats.org/officeDocument/2006/relationships/tags" Target="../tags/tag74.xml"/><Relationship Id="rId9" Type="http://schemas.openxmlformats.org/officeDocument/2006/relationships/tags" Target="../tags/tag79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31640" y="2615406"/>
            <a:ext cx="6624736" cy="10795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/>
              <a:t>Ch6 </a:t>
            </a:r>
            <a:r>
              <a:rPr lang="zh-CN" altLang="en-US" dirty="0"/>
              <a:t>图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336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本章内容</a:t>
            </a:r>
          </a:p>
        </p:txBody>
      </p:sp>
      <p:sp>
        <p:nvSpPr>
          <p:cNvPr id="717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图的定义定义和基本术语</a:t>
            </a:r>
            <a:endParaRPr lang="en-US" altLang="zh-CN"/>
          </a:p>
          <a:p>
            <a:pPr eaLnBrk="1" hangingPunct="1"/>
            <a:r>
              <a:rPr lang="zh-CN" altLang="en-US"/>
              <a:t>图的基本操作</a:t>
            </a:r>
            <a:endParaRPr lang="en-US" altLang="zh-CN"/>
          </a:p>
          <a:p>
            <a:pPr eaLnBrk="1" hangingPunct="1"/>
            <a:r>
              <a:rPr lang="zh-CN" altLang="en-US"/>
              <a:t>图的存储结构</a:t>
            </a:r>
            <a:endParaRPr lang="en-US" altLang="zh-CN"/>
          </a:p>
          <a:p>
            <a:pPr eaLnBrk="1" hangingPunct="1"/>
            <a:r>
              <a:rPr lang="zh-CN" altLang="en-US"/>
              <a:t>图的遍历</a:t>
            </a:r>
            <a:endParaRPr lang="en-US" altLang="zh-CN"/>
          </a:p>
          <a:p>
            <a:pPr eaLnBrk="1" hangingPunct="1"/>
            <a:r>
              <a:rPr lang="zh-CN" altLang="en-US"/>
              <a:t>图的应用</a:t>
            </a:r>
            <a:endParaRPr lang="en-US" altLang="zh-CN"/>
          </a:p>
          <a:p>
            <a:pPr lvl="1" eaLnBrk="1" hangingPunct="1"/>
            <a:r>
              <a:rPr lang="zh-CN" altLang="en-US"/>
              <a:t>生成树和最小生成树</a:t>
            </a:r>
            <a:endParaRPr lang="en-US" altLang="zh-CN"/>
          </a:p>
          <a:p>
            <a:pPr lvl="1" eaLnBrk="1" hangingPunct="1"/>
            <a:r>
              <a:rPr lang="zh-CN" altLang="en-US"/>
              <a:t>最短路径</a:t>
            </a:r>
            <a:endParaRPr lang="en-US" altLang="zh-CN"/>
          </a:p>
        </p:txBody>
      </p:sp>
      <p:sp>
        <p:nvSpPr>
          <p:cNvPr id="7172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E75AC0D-B8E9-4075-AECF-4C8C4C380B3F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zh-CN" alt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图的定义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3" y="1125538"/>
            <a:ext cx="8207375" cy="5040312"/>
          </a:xfrm>
        </p:spPr>
        <p:txBody>
          <a:bodyPr/>
          <a:lstStyle/>
          <a:p>
            <a:pPr>
              <a:defRPr/>
            </a:pPr>
            <a:r>
              <a:rPr kumimoji="1" lang="zh-CN" altLang="en-US" b="1" dirty="0">
                <a:solidFill>
                  <a:srgbClr val="FF0000"/>
                </a:solidFill>
                <a:latin typeface="+mn-ea"/>
              </a:rPr>
              <a:t>图</a:t>
            </a:r>
            <a:r>
              <a:rPr lang="zh-CN" altLang="en-US" dirty="0"/>
              <a:t>（</a:t>
            </a:r>
            <a:r>
              <a:rPr lang="en-US" altLang="zh-CN" dirty="0"/>
              <a:t>Graph</a:t>
            </a:r>
            <a:r>
              <a:rPr lang="zh-CN" altLang="en-US" dirty="0"/>
              <a:t>）</a:t>
            </a:r>
            <a:r>
              <a:rPr lang="en-US" altLang="zh-CN" dirty="0"/>
              <a:t>G</a:t>
            </a:r>
            <a:r>
              <a:rPr lang="zh-CN" altLang="en-US" dirty="0"/>
              <a:t>是两个集合</a:t>
            </a:r>
            <a:r>
              <a:rPr lang="en-US" altLang="zh-CN" dirty="0"/>
              <a:t>V</a:t>
            </a:r>
            <a:r>
              <a:rPr lang="zh-CN" altLang="en-US" dirty="0"/>
              <a:t>和</a:t>
            </a:r>
            <a:r>
              <a:rPr lang="en-US" altLang="zh-CN" dirty="0"/>
              <a:t>E</a:t>
            </a:r>
            <a:r>
              <a:rPr lang="zh-CN" altLang="en-US" dirty="0"/>
              <a:t>组成，记为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kumimoji="1" lang="en-US" altLang="zh-CN" b="1" dirty="0">
                <a:solidFill>
                  <a:srgbClr val="FF0000"/>
                </a:solidFill>
                <a:latin typeface="+mn-ea"/>
              </a:rPr>
              <a:t>	G = (V,E)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其中</a:t>
            </a:r>
            <a:endParaRPr lang="en-US" altLang="zh-CN" dirty="0"/>
          </a:p>
          <a:p>
            <a:pPr lvl="1">
              <a:defRPr/>
            </a:pPr>
            <a:r>
              <a:rPr lang="en-US" altLang="zh-CN" dirty="0"/>
              <a:t>V</a:t>
            </a:r>
            <a:r>
              <a:rPr lang="zh-CN" altLang="zh-CN" dirty="0"/>
              <a:t>是顶点的</a:t>
            </a:r>
            <a:r>
              <a:rPr lang="zh-CN" altLang="en-US" dirty="0"/>
              <a:t>有穷非空</a:t>
            </a:r>
            <a:r>
              <a:rPr lang="zh-CN" altLang="zh-CN" dirty="0"/>
              <a:t>集合</a:t>
            </a:r>
            <a:endParaRPr lang="en-US" altLang="zh-CN" dirty="0"/>
          </a:p>
          <a:p>
            <a:pPr lvl="1">
              <a:defRPr/>
            </a:pPr>
            <a:r>
              <a:rPr lang="en-US" altLang="zh-CN" dirty="0"/>
              <a:t>E</a:t>
            </a:r>
            <a:r>
              <a:rPr lang="zh-CN" altLang="zh-CN" dirty="0"/>
              <a:t>是</a:t>
            </a:r>
            <a:r>
              <a:rPr lang="en-US" altLang="zh-CN" dirty="0"/>
              <a:t>V</a:t>
            </a:r>
            <a:r>
              <a:rPr lang="zh-CN" altLang="en-US" dirty="0"/>
              <a:t>中顶点偶对</a:t>
            </a:r>
            <a:r>
              <a:rPr lang="zh-CN" altLang="zh-CN" dirty="0"/>
              <a:t>图G中边的集合</a:t>
            </a:r>
            <a:endParaRPr lang="en-US" altLang="zh-CN" dirty="0"/>
          </a:p>
          <a:p>
            <a:pPr lvl="2">
              <a:defRPr/>
            </a:pPr>
            <a:r>
              <a:rPr kumimoji="1" lang="zh-CN" altLang="en-US" dirty="0">
                <a:latin typeface="+mn-ea"/>
              </a:rPr>
              <a:t>这些偶对称为边</a:t>
            </a:r>
            <a:endParaRPr kumimoji="1" lang="en-US" altLang="zh-CN" dirty="0">
              <a:latin typeface="+mn-ea"/>
            </a:endParaRPr>
          </a:p>
          <a:p>
            <a:pPr>
              <a:defRPr/>
            </a:pPr>
            <a:r>
              <a:rPr lang="zh-CN" altLang="zh-CN" dirty="0"/>
              <a:t>集合E</a:t>
            </a:r>
            <a:r>
              <a:rPr lang="en-US" altLang="zh-CN" dirty="0"/>
              <a:t>(G)</a:t>
            </a:r>
            <a:r>
              <a:rPr lang="zh-CN" altLang="zh-CN" dirty="0"/>
              <a:t>可以是空集，若E</a:t>
            </a:r>
            <a:r>
              <a:rPr lang="en-US" altLang="zh-CN" dirty="0"/>
              <a:t>(G)</a:t>
            </a:r>
            <a:r>
              <a:rPr lang="zh-CN" altLang="zh-CN" dirty="0"/>
              <a:t>为空，则图</a:t>
            </a:r>
            <a:r>
              <a:rPr lang="en-US" altLang="zh-CN" dirty="0"/>
              <a:t>G</a:t>
            </a:r>
            <a:r>
              <a:rPr lang="zh-CN" altLang="zh-CN" dirty="0"/>
              <a:t>只有顶点而没有边</a:t>
            </a:r>
            <a:endParaRPr kumimoji="1" lang="en-US" altLang="zh-CN" dirty="0">
              <a:latin typeface="+mn-ea"/>
            </a:endParaRP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BA84085-AF7E-432F-B921-6B9D7292A784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zh-CN" altLang="en-US" sz="1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图的定义</a:t>
            </a:r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>
          <a:xfrm>
            <a:off x="468313" y="1125538"/>
            <a:ext cx="8207375" cy="790575"/>
          </a:xfrm>
        </p:spPr>
        <p:txBody>
          <a:bodyPr/>
          <a:lstStyle/>
          <a:p>
            <a:r>
              <a:rPr lang="zh-CN" altLang="en-US"/>
              <a:t>若图中的每条边都是无向的，则</a:t>
            </a:r>
            <a:r>
              <a:rPr lang="en-US" altLang="zh-CN"/>
              <a:t>G</a:t>
            </a:r>
            <a:r>
              <a:rPr lang="zh-CN" altLang="en-US"/>
              <a:t>称为</a:t>
            </a:r>
            <a:r>
              <a:rPr lang="zh-CN" altLang="en-US" b="1">
                <a:solidFill>
                  <a:srgbClr val="FF0000"/>
                </a:solidFill>
              </a:rPr>
              <a:t>无向图</a:t>
            </a:r>
            <a:r>
              <a:rPr lang="en-US" altLang="zh-CN"/>
              <a:t>(Undigraph)</a:t>
            </a:r>
            <a:endParaRPr lang="zh-CN" altLang="en-US"/>
          </a:p>
        </p:txBody>
      </p:sp>
      <p:sp>
        <p:nvSpPr>
          <p:cNvPr id="9220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5B5712F-2C25-4E22-8569-6B45EE72A6BB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zh-CN" altLang="en-US" sz="1000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331788" y="2349500"/>
            <a:ext cx="8812212" cy="127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kumimoji="1" lang="en-US" altLang="zh-CN" sz="2400" b="1" dirty="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G1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=(V,E)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kumimoji="1" lang="en-US" altLang="zh-CN" sz="2400" b="1" dirty="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V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={v</a:t>
            </a:r>
            <a:r>
              <a:rPr kumimoji="1" lang="en-US" altLang="zh-CN" sz="2400" b="1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,v</a:t>
            </a:r>
            <a:r>
              <a:rPr kumimoji="1" lang="en-US" altLang="zh-CN" sz="2400" b="1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,v</a:t>
            </a:r>
            <a:r>
              <a:rPr kumimoji="1" lang="en-US" altLang="zh-CN" sz="2400" b="1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,v</a:t>
            </a:r>
            <a:r>
              <a:rPr kumimoji="1" lang="en-US" altLang="zh-CN" sz="2400" b="1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,v</a:t>
            </a:r>
            <a:r>
              <a:rPr kumimoji="1" lang="en-US" altLang="zh-CN" sz="2400" b="1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kumimoji="1" lang="en-US" altLang="zh-CN" sz="2400" b="1" dirty="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={(v</a:t>
            </a:r>
            <a:r>
              <a:rPr kumimoji="1" lang="en-US" altLang="zh-CN" sz="2400" b="1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,v</a:t>
            </a:r>
            <a:r>
              <a:rPr kumimoji="1" lang="en-US" altLang="zh-CN" sz="2400" b="1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),(v</a:t>
            </a:r>
            <a:r>
              <a:rPr kumimoji="1" lang="en-US" altLang="zh-CN" sz="2400" b="1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,v</a:t>
            </a:r>
            <a:r>
              <a:rPr kumimoji="1" lang="en-US" altLang="zh-CN" sz="2400" b="1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),(v</a:t>
            </a:r>
            <a:r>
              <a:rPr kumimoji="1" lang="en-US" altLang="zh-CN" sz="2400" b="1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,v</a:t>
            </a:r>
            <a:r>
              <a:rPr kumimoji="1" lang="en-US" altLang="zh-CN" sz="2400" b="1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),(v</a:t>
            </a:r>
            <a:r>
              <a:rPr kumimoji="1" lang="en-US" altLang="zh-CN" sz="2400" b="1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,v</a:t>
            </a:r>
            <a:r>
              <a:rPr kumimoji="1" lang="en-US" altLang="zh-CN" sz="2400" b="1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),(v</a:t>
            </a:r>
            <a:r>
              <a:rPr kumimoji="1" lang="en-US" altLang="zh-CN" sz="2400" b="1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,v</a:t>
            </a:r>
            <a:r>
              <a:rPr kumimoji="1" lang="en-US" altLang="zh-CN" sz="2400" b="1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)(v</a:t>
            </a:r>
            <a:r>
              <a:rPr kumimoji="1" lang="en-US" altLang="zh-CN" sz="2400" b="1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,v</a:t>
            </a:r>
            <a:r>
              <a:rPr kumimoji="1" lang="en-US" altLang="zh-CN" sz="2400" b="1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)}</a:t>
            </a:r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auto">
          <a:xfrm>
            <a:off x="609600" y="3824288"/>
            <a:ext cx="5143500" cy="2628900"/>
          </a:xfrm>
          <a:prstGeom prst="star24">
            <a:avLst>
              <a:gd name="adj" fmla="val 41245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kumimoji="1" lang="zh-CN" altLang="en-US" sz="24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无序对</a:t>
            </a:r>
            <a:r>
              <a:rPr kumimoji="1" lang="en-US" altLang="zh-CN" sz="28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2800" b="1" dirty="0" err="1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v</a:t>
            </a:r>
            <a:r>
              <a:rPr kumimoji="1" lang="en-US" altLang="zh-CN" sz="2800" b="1" baseline="-25000" dirty="0" err="1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2800" b="1" dirty="0" err="1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,v</a:t>
            </a:r>
            <a:r>
              <a:rPr kumimoji="1" lang="en-US" altLang="zh-CN" sz="2800" b="1" baseline="-25000" dirty="0" err="1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</a:t>
            </a:r>
            <a:r>
              <a:rPr kumimoji="1" lang="en-US" altLang="zh-CN" sz="28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</a:p>
          <a:p>
            <a:pPr eaLnBrk="1" hangingPunct="1">
              <a:buClrTx/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用连接顶点</a:t>
            </a:r>
            <a:r>
              <a:rPr kumimoji="1"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v</a:t>
            </a:r>
            <a:r>
              <a:rPr kumimoji="1" lang="en-US" altLang="zh-CN" sz="2800" b="1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kumimoji="1" lang="en-US" altLang="zh-CN" sz="28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v</a:t>
            </a:r>
            <a:r>
              <a:rPr kumimoji="1" lang="en-US" altLang="zh-CN" sz="2800" b="1" baseline="-25000" dirty="0" err="1">
                <a:latin typeface="宋体" panose="02010600030101010101" pitchFamily="2" charset="-122"/>
                <a:ea typeface="宋体" panose="02010600030101010101" pitchFamily="2" charset="-122"/>
              </a:rPr>
              <a:t>j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的线段</a:t>
            </a:r>
          </a:p>
          <a:p>
            <a:pPr eaLnBrk="1" hangingPunct="1">
              <a:buClrTx/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表示，称为</a:t>
            </a:r>
            <a:r>
              <a:rPr kumimoji="1"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无向</a:t>
            </a:r>
            <a:r>
              <a:rPr kumimoji="1"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边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endParaRPr kumimoji="1" lang="zh-CN" altLang="en-US" sz="24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6235701" y="3859213"/>
            <a:ext cx="1806574" cy="1655762"/>
            <a:chOff x="6235701" y="3859213"/>
            <a:chExt cx="1806574" cy="1655762"/>
          </a:xfrm>
        </p:grpSpPr>
        <p:sp>
          <p:nvSpPr>
            <p:cNvPr id="18456" name="Line 10"/>
            <p:cNvSpPr>
              <a:spLocks noChangeShapeType="1"/>
            </p:cNvSpPr>
            <p:nvPr/>
          </p:nvSpPr>
          <p:spPr bwMode="auto">
            <a:xfrm>
              <a:off x="6477000" y="4405313"/>
              <a:ext cx="0" cy="658812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7" name="Line 11"/>
            <p:cNvSpPr>
              <a:spLocks noChangeShapeType="1"/>
            </p:cNvSpPr>
            <p:nvPr/>
          </p:nvSpPr>
          <p:spPr bwMode="auto">
            <a:xfrm>
              <a:off x="6748463" y="4129088"/>
              <a:ext cx="755650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8" name="Line 12"/>
            <p:cNvSpPr>
              <a:spLocks noChangeShapeType="1"/>
            </p:cNvSpPr>
            <p:nvPr/>
          </p:nvSpPr>
          <p:spPr bwMode="auto">
            <a:xfrm>
              <a:off x="7720013" y="4405313"/>
              <a:ext cx="0" cy="658812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9" name="Line 13"/>
            <p:cNvSpPr>
              <a:spLocks noChangeShapeType="1"/>
            </p:cNvSpPr>
            <p:nvPr/>
          </p:nvSpPr>
          <p:spPr bwMode="auto">
            <a:xfrm flipH="1">
              <a:off x="6692900" y="4899025"/>
              <a:ext cx="271463" cy="274638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0" name="Line 14"/>
            <p:cNvSpPr>
              <a:spLocks noChangeShapeType="1"/>
            </p:cNvSpPr>
            <p:nvPr/>
          </p:nvSpPr>
          <p:spPr bwMode="auto">
            <a:xfrm flipH="1">
              <a:off x="7288213" y="4349750"/>
              <a:ext cx="271462" cy="274638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1" name="Line 15"/>
            <p:cNvSpPr>
              <a:spLocks noChangeShapeType="1"/>
            </p:cNvSpPr>
            <p:nvPr/>
          </p:nvSpPr>
          <p:spPr bwMode="auto">
            <a:xfrm>
              <a:off x="7267575" y="4935538"/>
              <a:ext cx="236538" cy="233362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" name="Group 16"/>
            <p:cNvGrpSpPr>
              <a:grpSpLocks/>
            </p:cNvGrpSpPr>
            <p:nvPr/>
          </p:nvGrpSpPr>
          <p:grpSpPr bwMode="auto">
            <a:xfrm>
              <a:off x="6235701" y="3871913"/>
              <a:ext cx="647700" cy="500062"/>
              <a:chOff x="422" y="1662"/>
              <a:chExt cx="408" cy="315"/>
            </a:xfrm>
          </p:grpSpPr>
          <p:sp>
            <p:nvSpPr>
              <p:cNvPr id="9242" name="Oval 17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9243" name="Text Box 18"/>
              <p:cNvSpPr txBox="1">
                <a:spLocks noChangeArrowheads="1"/>
              </p:cNvSpPr>
              <p:nvPr/>
            </p:nvSpPr>
            <p:spPr bwMode="auto">
              <a:xfrm>
                <a:off x="422" y="1662"/>
                <a:ext cx="408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</a:t>
                </a:r>
                <a:r>
                  <a:rPr lang="en-US" altLang="zh-CN" sz="2400" b="1" baseline="-25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</a:p>
            </p:txBody>
          </p:sp>
        </p:grpSp>
        <p:grpSp>
          <p:nvGrpSpPr>
            <p:cNvPr id="3" name="Group 19"/>
            <p:cNvGrpSpPr>
              <a:grpSpLocks/>
            </p:cNvGrpSpPr>
            <p:nvPr/>
          </p:nvGrpSpPr>
          <p:grpSpPr bwMode="auto">
            <a:xfrm>
              <a:off x="7394575" y="4986338"/>
              <a:ext cx="647700" cy="528637"/>
              <a:chOff x="434" y="1644"/>
              <a:chExt cx="408" cy="333"/>
            </a:xfrm>
          </p:grpSpPr>
          <p:sp>
            <p:nvSpPr>
              <p:cNvPr id="9240" name="Oval 20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9241" name="Text Box 21"/>
              <p:cNvSpPr txBox="1">
                <a:spLocks noChangeArrowheads="1"/>
              </p:cNvSpPr>
              <p:nvPr/>
            </p:nvSpPr>
            <p:spPr bwMode="auto">
              <a:xfrm>
                <a:off x="434" y="1644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</a:t>
                </a:r>
                <a:r>
                  <a:rPr lang="en-US" altLang="zh-CN" sz="2400" b="1" baseline="-25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4</a:t>
                </a:r>
              </a:p>
            </p:txBody>
          </p:sp>
        </p:grpSp>
        <p:grpSp>
          <p:nvGrpSpPr>
            <p:cNvPr id="4" name="Group 22"/>
            <p:cNvGrpSpPr>
              <a:grpSpLocks/>
            </p:cNvGrpSpPr>
            <p:nvPr/>
          </p:nvGrpSpPr>
          <p:grpSpPr bwMode="auto">
            <a:xfrm>
              <a:off x="6246813" y="4999038"/>
              <a:ext cx="647700" cy="515937"/>
              <a:chOff x="431" y="1652"/>
              <a:chExt cx="408" cy="325"/>
            </a:xfrm>
          </p:grpSpPr>
          <p:sp>
            <p:nvSpPr>
              <p:cNvPr id="9238" name="Oval 23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9239" name="Text Box 24"/>
              <p:cNvSpPr txBox="1">
                <a:spLocks noChangeArrowheads="1"/>
              </p:cNvSpPr>
              <p:nvPr/>
            </p:nvSpPr>
            <p:spPr bwMode="auto">
              <a:xfrm>
                <a:off x="431" y="1652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</a:t>
                </a:r>
                <a:r>
                  <a:rPr lang="en-US" altLang="zh-CN" sz="2400" b="1" baseline="-25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3</a:t>
                </a:r>
              </a:p>
            </p:txBody>
          </p:sp>
        </p:grpSp>
        <p:grpSp>
          <p:nvGrpSpPr>
            <p:cNvPr id="7" name="Group 25"/>
            <p:cNvGrpSpPr>
              <a:grpSpLocks/>
            </p:cNvGrpSpPr>
            <p:nvPr/>
          </p:nvGrpSpPr>
          <p:grpSpPr bwMode="auto">
            <a:xfrm>
              <a:off x="7394575" y="3859213"/>
              <a:ext cx="647700" cy="508000"/>
              <a:chOff x="2952" y="3286"/>
              <a:chExt cx="408" cy="320"/>
            </a:xfrm>
          </p:grpSpPr>
          <p:sp>
            <p:nvSpPr>
              <p:cNvPr id="9236" name="Oval 26"/>
              <p:cNvSpPr>
                <a:spLocks noChangeArrowheads="1"/>
              </p:cNvSpPr>
              <p:nvPr/>
            </p:nvSpPr>
            <p:spPr bwMode="auto">
              <a:xfrm>
                <a:off x="2976" y="3312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9237" name="Text Box 27"/>
              <p:cNvSpPr txBox="1">
                <a:spLocks noChangeArrowheads="1"/>
              </p:cNvSpPr>
              <p:nvPr/>
            </p:nvSpPr>
            <p:spPr bwMode="auto">
              <a:xfrm>
                <a:off x="2952" y="3286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</a:t>
                </a:r>
                <a:r>
                  <a:rPr lang="en-US" altLang="zh-CN" sz="2400" b="1" baseline="-25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</a:p>
            </p:txBody>
          </p:sp>
        </p:grpSp>
        <p:grpSp>
          <p:nvGrpSpPr>
            <p:cNvPr id="8" name="Group 28"/>
            <p:cNvGrpSpPr>
              <a:grpSpLocks/>
            </p:cNvGrpSpPr>
            <p:nvPr/>
          </p:nvGrpSpPr>
          <p:grpSpPr bwMode="auto">
            <a:xfrm>
              <a:off x="6804026" y="4484695"/>
              <a:ext cx="647700" cy="514351"/>
              <a:chOff x="1029" y="2274"/>
              <a:chExt cx="408" cy="324"/>
            </a:xfrm>
          </p:grpSpPr>
          <p:sp>
            <p:nvSpPr>
              <p:cNvPr id="9234" name="Oval 29"/>
              <p:cNvSpPr>
                <a:spLocks noChangeArrowheads="1"/>
              </p:cNvSpPr>
              <p:nvPr/>
            </p:nvSpPr>
            <p:spPr bwMode="auto">
              <a:xfrm>
                <a:off x="1056" y="2304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9235" name="Text Box 30"/>
              <p:cNvSpPr txBox="1">
                <a:spLocks noChangeArrowheads="1"/>
              </p:cNvSpPr>
              <p:nvPr/>
            </p:nvSpPr>
            <p:spPr bwMode="auto">
              <a:xfrm>
                <a:off x="1029" y="2274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</a:t>
                </a:r>
                <a:r>
                  <a:rPr lang="en-US" altLang="zh-CN" sz="2400" b="1" baseline="-25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图的定义</a:t>
            </a:r>
          </a:p>
        </p:txBody>
      </p:sp>
      <p:sp>
        <p:nvSpPr>
          <p:cNvPr id="10243" name="内容占位符 2"/>
          <p:cNvSpPr>
            <a:spLocks noGrp="1"/>
          </p:cNvSpPr>
          <p:nvPr>
            <p:ph idx="1"/>
          </p:nvPr>
        </p:nvSpPr>
        <p:spPr>
          <a:xfrm>
            <a:off x="468313" y="1125538"/>
            <a:ext cx="8207375" cy="1439862"/>
          </a:xfrm>
        </p:spPr>
        <p:txBody>
          <a:bodyPr/>
          <a:lstStyle/>
          <a:p>
            <a:r>
              <a:rPr lang="zh-CN" altLang="en-US"/>
              <a:t>若图中的每条边都是有向的，则</a:t>
            </a:r>
            <a:r>
              <a:rPr lang="en-US" altLang="zh-CN"/>
              <a:t>G</a:t>
            </a:r>
            <a:r>
              <a:rPr lang="zh-CN" altLang="en-US"/>
              <a:t>称为</a:t>
            </a:r>
            <a:r>
              <a:rPr lang="zh-CN" altLang="en-US" b="1">
                <a:solidFill>
                  <a:srgbClr val="FF0000"/>
                </a:solidFill>
              </a:rPr>
              <a:t>有向图</a:t>
            </a:r>
            <a:r>
              <a:rPr lang="en-US" altLang="zh-CN"/>
              <a:t>(Digraph)</a:t>
            </a:r>
            <a:endParaRPr lang="zh-CN" altLang="en-US"/>
          </a:p>
          <a:p>
            <a:endParaRPr lang="zh-CN" altLang="en-US"/>
          </a:p>
        </p:txBody>
      </p:sp>
      <p:sp>
        <p:nvSpPr>
          <p:cNvPr id="10244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C00F288-F032-4706-95B3-138AD6E9D058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zh-CN" altLang="en-US" sz="1000"/>
          </a:p>
        </p:txBody>
      </p:sp>
      <p:sp>
        <p:nvSpPr>
          <p:cNvPr id="5" name="AutoShape 3"/>
          <p:cNvSpPr>
            <a:spLocks noChangeArrowheads="1"/>
          </p:cNvSpPr>
          <p:nvPr/>
        </p:nvSpPr>
        <p:spPr bwMode="auto">
          <a:xfrm>
            <a:off x="411162" y="3429000"/>
            <a:ext cx="6657975" cy="3221038"/>
          </a:xfrm>
          <a:prstGeom prst="star24">
            <a:avLst>
              <a:gd name="adj" fmla="val 42310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kumimoji="1" lang="zh-CN" altLang="en-US" sz="24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有序对</a:t>
            </a:r>
            <a:r>
              <a:rPr kumimoji="1" lang="en-US" altLang="zh-CN" sz="24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</a:t>
            </a:r>
            <a:r>
              <a:rPr kumimoji="1" lang="en-US" altLang="zh-CN" sz="2400" b="1" dirty="0" err="1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v</a:t>
            </a:r>
            <a:r>
              <a:rPr kumimoji="1" lang="en-US" altLang="zh-CN" sz="2400" b="1" baseline="-25000" dirty="0" err="1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2400" b="1" dirty="0" err="1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,v</a:t>
            </a:r>
            <a:r>
              <a:rPr kumimoji="1" lang="en-US" altLang="zh-CN" sz="2400" b="1" baseline="-25000" dirty="0" err="1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</a:t>
            </a:r>
            <a:r>
              <a:rPr kumimoji="1" lang="en-US" altLang="zh-CN" sz="24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 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</a:p>
          <a:p>
            <a:pPr eaLnBrk="1" hangingPunct="1">
              <a:buClrTx/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用以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v</a:t>
            </a:r>
            <a:r>
              <a:rPr kumimoji="1" lang="en-US" altLang="zh-CN" sz="2400" b="1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起点、以</a:t>
            </a:r>
            <a:r>
              <a:rPr kumimoji="1" lang="en-US" altLang="zh-CN" sz="24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v</a:t>
            </a:r>
            <a:r>
              <a:rPr kumimoji="1" lang="en-US" altLang="zh-CN" sz="2400" b="1" baseline="-25000" dirty="0" err="1">
                <a:latin typeface="宋体" panose="02010600030101010101" pitchFamily="2" charset="-122"/>
                <a:ea typeface="宋体" panose="02010600030101010101" pitchFamily="2" charset="-122"/>
              </a:rPr>
              <a:t>j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为终点</a:t>
            </a:r>
          </a:p>
          <a:p>
            <a:pPr eaLnBrk="1" hangingPunct="1">
              <a:buClrTx/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的有向线段表示，称为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弧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endParaRPr kumimoji="1"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buClrTx/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称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vi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弧尾</a:t>
            </a:r>
            <a:r>
              <a:rPr kumimoji="1"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起点，初始点</a:t>
            </a:r>
            <a:r>
              <a:rPr kumimoji="1"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kumimoji="1"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buClrTx/>
              <a:buFontTx/>
              <a:buNone/>
            </a:pPr>
            <a:r>
              <a:rPr kumimoji="1" lang="en-US" altLang="zh-CN" sz="24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vj</a:t>
            </a:r>
            <a:r>
              <a:rPr kumimoji="1"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弧头</a:t>
            </a:r>
            <a:r>
              <a:rPr kumimoji="1"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终点，终端点</a:t>
            </a:r>
            <a:r>
              <a:rPr kumimoji="1"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kumimoji="1" lang="zh-CN" altLang="en-US" sz="2400" b="1" dirty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7031831" y="1949450"/>
            <a:ext cx="1865313" cy="1728791"/>
            <a:chOff x="6962775" y="3571875"/>
            <a:chExt cx="1865313" cy="1728791"/>
          </a:xfrm>
        </p:grpSpPr>
        <p:sp>
          <p:nvSpPr>
            <p:cNvPr id="17416" name="Line 7"/>
            <p:cNvSpPr>
              <a:spLocks noChangeShapeType="1"/>
            </p:cNvSpPr>
            <p:nvPr/>
          </p:nvSpPr>
          <p:spPr bwMode="auto">
            <a:xfrm>
              <a:off x="7248525" y="4148138"/>
              <a:ext cx="0" cy="65405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17" name="Line 8"/>
            <p:cNvSpPr>
              <a:spLocks noChangeShapeType="1"/>
            </p:cNvSpPr>
            <p:nvPr/>
          </p:nvSpPr>
          <p:spPr bwMode="auto">
            <a:xfrm>
              <a:off x="7461250" y="5073650"/>
              <a:ext cx="803275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18" name="Line 9"/>
            <p:cNvSpPr>
              <a:spLocks noChangeShapeType="1"/>
            </p:cNvSpPr>
            <p:nvPr/>
          </p:nvSpPr>
          <p:spPr bwMode="auto">
            <a:xfrm>
              <a:off x="7461250" y="3876675"/>
              <a:ext cx="749300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19" name="Line 10"/>
            <p:cNvSpPr>
              <a:spLocks noChangeShapeType="1"/>
            </p:cNvSpPr>
            <p:nvPr/>
          </p:nvSpPr>
          <p:spPr bwMode="auto">
            <a:xfrm flipH="1" flipV="1">
              <a:off x="7334250" y="3990975"/>
              <a:ext cx="1066800" cy="99060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" name="Group 11"/>
            <p:cNvGrpSpPr>
              <a:grpSpLocks/>
            </p:cNvGrpSpPr>
            <p:nvPr/>
          </p:nvGrpSpPr>
          <p:grpSpPr bwMode="auto">
            <a:xfrm>
              <a:off x="6969125" y="3571875"/>
              <a:ext cx="647700" cy="509588"/>
              <a:chOff x="442" y="1656"/>
              <a:chExt cx="408" cy="321"/>
            </a:xfrm>
          </p:grpSpPr>
          <p:sp>
            <p:nvSpPr>
              <p:cNvPr id="10261" name="Oval 12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10262" name="Text Box 13"/>
              <p:cNvSpPr txBox="1">
                <a:spLocks noChangeArrowheads="1"/>
              </p:cNvSpPr>
              <p:nvPr/>
            </p:nvSpPr>
            <p:spPr bwMode="auto">
              <a:xfrm>
                <a:off x="442" y="1656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</a:t>
                </a:r>
                <a:r>
                  <a:rPr lang="en-US" altLang="zh-CN" sz="2400" b="1" baseline="-25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</a:p>
            </p:txBody>
          </p:sp>
        </p:grpSp>
        <p:grpSp>
          <p:nvGrpSpPr>
            <p:cNvPr id="3" name="Group 14"/>
            <p:cNvGrpSpPr>
              <a:grpSpLocks/>
            </p:cNvGrpSpPr>
            <p:nvPr/>
          </p:nvGrpSpPr>
          <p:grpSpPr bwMode="auto">
            <a:xfrm>
              <a:off x="8180388" y="3571875"/>
              <a:ext cx="647700" cy="512763"/>
              <a:chOff x="437" y="1654"/>
              <a:chExt cx="408" cy="323"/>
            </a:xfrm>
          </p:grpSpPr>
          <p:sp>
            <p:nvSpPr>
              <p:cNvPr id="10259" name="Oval 15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10260" name="Text Box 16"/>
              <p:cNvSpPr txBox="1">
                <a:spLocks noChangeArrowheads="1"/>
              </p:cNvSpPr>
              <p:nvPr/>
            </p:nvSpPr>
            <p:spPr bwMode="auto">
              <a:xfrm>
                <a:off x="437" y="1654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</a:t>
                </a:r>
                <a:r>
                  <a:rPr lang="en-US" altLang="zh-CN" sz="2400" b="1" baseline="-25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</a:p>
            </p:txBody>
          </p:sp>
        </p:grp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6962775" y="4773615"/>
              <a:ext cx="647700" cy="527051"/>
              <a:chOff x="438" y="1645"/>
              <a:chExt cx="408" cy="332"/>
            </a:xfrm>
          </p:grpSpPr>
          <p:sp>
            <p:nvSpPr>
              <p:cNvPr id="10257" name="Oval 18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10258" name="Text Box 19"/>
              <p:cNvSpPr txBox="1">
                <a:spLocks noChangeArrowheads="1"/>
              </p:cNvSpPr>
              <p:nvPr/>
            </p:nvSpPr>
            <p:spPr bwMode="auto">
              <a:xfrm>
                <a:off x="438" y="1645"/>
                <a:ext cx="408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</a:t>
                </a:r>
                <a:r>
                  <a:rPr lang="en-US" altLang="zh-CN" sz="2400" b="1" baseline="-25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</a:p>
            </p:txBody>
          </p:sp>
        </p:grpSp>
        <p:grpSp>
          <p:nvGrpSpPr>
            <p:cNvPr id="6" name="Group 20"/>
            <p:cNvGrpSpPr>
              <a:grpSpLocks/>
            </p:cNvGrpSpPr>
            <p:nvPr/>
          </p:nvGrpSpPr>
          <p:grpSpPr bwMode="auto">
            <a:xfrm>
              <a:off x="8180388" y="4787900"/>
              <a:ext cx="647700" cy="512763"/>
              <a:chOff x="437" y="1654"/>
              <a:chExt cx="408" cy="323"/>
            </a:xfrm>
          </p:grpSpPr>
          <p:sp>
            <p:nvSpPr>
              <p:cNvPr id="10255" name="Oval 21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10256" name="Text Box 22"/>
              <p:cNvSpPr txBox="1">
                <a:spLocks noChangeArrowheads="1"/>
              </p:cNvSpPr>
              <p:nvPr/>
            </p:nvSpPr>
            <p:spPr bwMode="auto">
              <a:xfrm>
                <a:off x="437" y="1654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</a:t>
                </a:r>
                <a:r>
                  <a:rPr lang="en-US" altLang="zh-CN" sz="2400" b="1" baseline="-25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3</a:t>
                </a:r>
              </a:p>
            </p:txBody>
          </p:sp>
        </p:grpSp>
      </p:grpSp>
      <p:sp>
        <p:nvSpPr>
          <p:cNvPr id="23" name="Text Box 23"/>
          <p:cNvSpPr txBox="1">
            <a:spLocks noChangeArrowheads="1"/>
          </p:cNvSpPr>
          <p:nvPr/>
        </p:nvSpPr>
        <p:spPr bwMode="auto">
          <a:xfrm>
            <a:off x="374650" y="2349500"/>
            <a:ext cx="6489699" cy="127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kumimoji="1" lang="en-US" altLang="zh-CN" sz="2400" b="1" dirty="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G2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=(V,E)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kumimoji="1" lang="en-US" altLang="zh-CN" sz="2400" b="1" dirty="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V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={v</a:t>
            </a:r>
            <a:r>
              <a:rPr kumimoji="1" lang="en-US" altLang="zh-CN" sz="2400" b="1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v</a:t>
            </a:r>
            <a:r>
              <a:rPr kumimoji="1" lang="en-US" altLang="zh-CN" sz="2400" b="1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,v</a:t>
            </a:r>
            <a:r>
              <a:rPr kumimoji="1" lang="en-US" altLang="zh-CN" sz="2400" b="1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,v</a:t>
            </a:r>
            <a:r>
              <a:rPr kumimoji="1" lang="en-US" altLang="zh-CN" sz="2400" b="1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kumimoji="1" lang="en-US" altLang="zh-CN" sz="2400" b="1" dirty="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={&lt;v</a:t>
            </a:r>
            <a:r>
              <a:rPr kumimoji="1" lang="en-US" altLang="zh-CN" sz="2400" b="1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,v</a:t>
            </a:r>
            <a:r>
              <a:rPr kumimoji="1" lang="en-US" altLang="zh-CN" sz="2400" b="1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1 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&gt;, &lt;v</a:t>
            </a:r>
            <a:r>
              <a:rPr kumimoji="1" lang="en-US" altLang="zh-CN" sz="2400" b="1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,v</a:t>
            </a:r>
            <a:r>
              <a:rPr kumimoji="1" lang="en-US" altLang="zh-CN" sz="2400" b="1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2 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&gt;, &lt;v</a:t>
            </a:r>
            <a:r>
              <a:rPr kumimoji="1" lang="en-US" altLang="zh-CN" sz="2400" b="1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,v</a:t>
            </a:r>
            <a:r>
              <a:rPr kumimoji="1" lang="en-US" altLang="zh-CN" sz="2400" b="1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3 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&gt;, &lt;v</a:t>
            </a:r>
            <a:r>
              <a:rPr kumimoji="1" lang="en-US" altLang="zh-CN" sz="2400" b="1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,v</a:t>
            </a:r>
            <a:r>
              <a:rPr kumimoji="1" lang="en-US" altLang="zh-CN" sz="2400" b="1" baseline="-25000" dirty="0">
                <a:latin typeface="宋体" panose="02010600030101010101" pitchFamily="2" charset="-122"/>
                <a:ea typeface="宋体" panose="02010600030101010101" pitchFamily="2" charset="-122"/>
              </a:rPr>
              <a:t>0 </a:t>
            </a:r>
            <a:r>
              <a:rPr kumimoji="1"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&gt;}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基本术语</a:t>
            </a:r>
          </a:p>
        </p:txBody>
      </p:sp>
      <p:sp>
        <p:nvSpPr>
          <p:cNvPr id="18435" name="内容占位符 2"/>
          <p:cNvSpPr>
            <a:spLocks noGrp="1"/>
          </p:cNvSpPr>
          <p:nvPr>
            <p:ph idx="1"/>
          </p:nvPr>
        </p:nvSpPr>
        <p:spPr>
          <a:xfrm>
            <a:off x="468313" y="1125538"/>
            <a:ext cx="8207375" cy="4175125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FF0000"/>
                </a:solidFill>
                <a:latin typeface="+mn-ea"/>
              </a:rPr>
              <a:t>无向完全图</a:t>
            </a:r>
            <a:r>
              <a:rPr lang="zh-CN" altLang="en-US" dirty="0">
                <a:latin typeface="+mn-ea"/>
              </a:rPr>
              <a:t>：</a:t>
            </a:r>
            <a:r>
              <a:rPr lang="zh-CN" altLang="en-US" sz="2400" dirty="0">
                <a:latin typeface="+mn-ea"/>
              </a:rPr>
              <a:t>在一个无向图中，如果任意两顶点都有一条直接边相连接，则称该图为无向完全图（有</a:t>
            </a:r>
            <a:r>
              <a:rPr lang="en-US" altLang="zh-CN" sz="2400" dirty="0">
                <a:latin typeface="+mn-ea"/>
              </a:rPr>
              <a:t>n</a:t>
            </a:r>
            <a:r>
              <a:rPr lang="zh-CN" altLang="en-US" sz="2400" dirty="0">
                <a:latin typeface="+mn-ea"/>
              </a:rPr>
              <a:t>个顶点的无向完全图中，有</a:t>
            </a:r>
            <a:r>
              <a:rPr lang="en-US" altLang="zh-CN" sz="2400" dirty="0">
                <a:latin typeface="+mn-ea"/>
              </a:rPr>
              <a:t>n(n-1)/2</a:t>
            </a:r>
            <a:r>
              <a:rPr lang="zh-CN" altLang="en-US" sz="2400" dirty="0">
                <a:latin typeface="+mn-ea"/>
              </a:rPr>
              <a:t>条边）</a:t>
            </a:r>
            <a:endParaRPr lang="en-US" altLang="zh-CN" sz="2400" dirty="0">
              <a:latin typeface="+mn-ea"/>
            </a:endParaRPr>
          </a:p>
          <a:p>
            <a:pPr>
              <a:defRPr/>
            </a:pPr>
            <a:r>
              <a:rPr lang="zh-CN" altLang="en-US" b="1" dirty="0">
                <a:solidFill>
                  <a:srgbClr val="FF0000"/>
                </a:solidFill>
                <a:latin typeface="+mn-ea"/>
              </a:rPr>
              <a:t>有向完全图</a:t>
            </a:r>
            <a:r>
              <a:rPr lang="zh-CN" altLang="en-US" dirty="0">
                <a:latin typeface="+mn-ea"/>
              </a:rPr>
              <a:t>：</a:t>
            </a:r>
            <a:r>
              <a:rPr lang="zh-CN" altLang="en-US" sz="2400" dirty="0"/>
              <a:t>在一个有向图中，如果任意两顶点之间都有方向互为相反的两条弧相连接，则称该图为有向完全图（有</a:t>
            </a:r>
            <a:r>
              <a:rPr lang="en-US" altLang="zh-CN" sz="2400" dirty="0"/>
              <a:t>n</a:t>
            </a:r>
            <a:r>
              <a:rPr lang="zh-CN" altLang="en-US" sz="2400" dirty="0"/>
              <a:t>个顶点的有向完全图中，有</a:t>
            </a:r>
            <a:r>
              <a:rPr lang="en-US" altLang="zh-CN" sz="2400" dirty="0"/>
              <a:t>n(n-1)</a:t>
            </a:r>
            <a:r>
              <a:rPr lang="zh-CN" altLang="en-US" sz="2400" dirty="0"/>
              <a:t>条边） </a:t>
            </a:r>
            <a:endParaRPr lang="en-US" altLang="zh-CN" sz="2400" dirty="0"/>
          </a:p>
        </p:txBody>
      </p:sp>
      <p:sp>
        <p:nvSpPr>
          <p:cNvPr id="11268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9B65CD8-AA8E-425C-A0E7-53070C6290D3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zh-CN" altLang="en-US" sz="1000"/>
          </a:p>
        </p:txBody>
      </p:sp>
      <p:grpSp>
        <p:nvGrpSpPr>
          <p:cNvPr id="3" name="组合 2"/>
          <p:cNvGrpSpPr/>
          <p:nvPr/>
        </p:nvGrpSpPr>
        <p:grpSpPr>
          <a:xfrm>
            <a:off x="1763713" y="3843338"/>
            <a:ext cx="5761037" cy="2825750"/>
            <a:chOff x="1763713" y="3843338"/>
            <a:chExt cx="5761037" cy="2825750"/>
          </a:xfrm>
        </p:grpSpPr>
        <p:pic>
          <p:nvPicPr>
            <p:cNvPr id="25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3713" y="3843338"/>
              <a:ext cx="5761037" cy="282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矩形 1"/>
            <p:cNvSpPr/>
            <p:nvPr/>
          </p:nvSpPr>
          <p:spPr bwMode="auto">
            <a:xfrm>
              <a:off x="2124186" y="6112346"/>
              <a:ext cx="5040089" cy="55674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华文细黑" pitchFamily="2" charset="-122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基本术语</a:t>
            </a:r>
          </a:p>
        </p:txBody>
      </p:sp>
      <p:sp>
        <p:nvSpPr>
          <p:cNvPr id="20483" name="内容占位符 2"/>
          <p:cNvSpPr>
            <a:spLocks noGrp="1"/>
          </p:cNvSpPr>
          <p:nvPr>
            <p:ph idx="1"/>
          </p:nvPr>
        </p:nvSpPr>
        <p:spPr>
          <a:xfrm>
            <a:off x="468313" y="1125538"/>
            <a:ext cx="6059033" cy="5183782"/>
          </a:xfrm>
        </p:spPr>
        <p:txBody>
          <a:bodyPr/>
          <a:lstStyle/>
          <a:p>
            <a:pPr>
              <a:defRPr/>
            </a:pPr>
            <a:r>
              <a:rPr kumimoji="1" lang="zh-CN" altLang="zh-CN" b="1" dirty="0">
                <a:solidFill>
                  <a:srgbClr val="FF0000"/>
                </a:solidFill>
                <a:latin typeface="+mn-ea"/>
              </a:rPr>
              <a:t>权</a:t>
            </a:r>
            <a:r>
              <a:rPr kumimoji="1" lang="zh-CN" altLang="en-US" dirty="0">
                <a:latin typeface="+mn-ea"/>
              </a:rPr>
              <a:t>：</a:t>
            </a:r>
            <a:r>
              <a:rPr kumimoji="1" lang="zh-CN" altLang="zh-CN" dirty="0">
                <a:latin typeface="+mn-ea"/>
              </a:rPr>
              <a:t>与图的边或弧相关的数</a:t>
            </a:r>
            <a:r>
              <a:rPr kumimoji="1" lang="zh-CN" altLang="en-US" dirty="0">
                <a:latin typeface="+mn-ea"/>
              </a:rPr>
              <a:t>值 </a:t>
            </a:r>
            <a:endParaRPr kumimoji="1" lang="en-US" altLang="zh-CN" dirty="0">
              <a:latin typeface="+mn-ea"/>
            </a:endParaRPr>
          </a:p>
          <a:p>
            <a:pPr lvl="1">
              <a:defRPr/>
            </a:pPr>
            <a:r>
              <a:rPr kumimoji="1" lang="zh-CN" altLang="en-US" dirty="0">
                <a:latin typeface="+mn-ea"/>
              </a:rPr>
              <a:t>比如说</a:t>
            </a:r>
            <a:r>
              <a:rPr kumimoji="1" lang="en-US" altLang="zh-CN" dirty="0">
                <a:latin typeface="+mn-ea"/>
              </a:rPr>
              <a:t>1-3</a:t>
            </a:r>
            <a:r>
              <a:rPr kumimoji="1" lang="zh-CN" altLang="en-US" dirty="0">
                <a:latin typeface="+mn-ea"/>
              </a:rPr>
              <a:t>：是</a:t>
            </a:r>
            <a:r>
              <a:rPr kumimoji="1" lang="en-US" altLang="zh-CN" dirty="0">
                <a:latin typeface="+mn-ea"/>
              </a:rPr>
              <a:t>7</a:t>
            </a:r>
            <a:r>
              <a:rPr kumimoji="1" lang="zh-CN" altLang="en-US" dirty="0">
                <a:latin typeface="+mn-ea"/>
              </a:rPr>
              <a:t> 那么权就是</a:t>
            </a:r>
            <a:r>
              <a:rPr kumimoji="1" lang="en-US" altLang="zh-CN" dirty="0">
                <a:latin typeface="+mn-ea"/>
              </a:rPr>
              <a:t>7</a:t>
            </a:r>
            <a:r>
              <a:rPr kumimoji="1" lang="zh-CN" altLang="en-US" dirty="0">
                <a:latin typeface="+mn-ea"/>
              </a:rPr>
              <a:t> </a:t>
            </a:r>
            <a:endParaRPr kumimoji="1" lang="en-US" altLang="zh-CN" dirty="0">
              <a:latin typeface="+mn-ea"/>
            </a:endParaRPr>
          </a:p>
          <a:p>
            <a:pPr lvl="1">
              <a:defRPr/>
            </a:pPr>
            <a:r>
              <a:rPr kumimoji="1" lang="zh-CN" altLang="en-US" dirty="0">
                <a:latin typeface="+mn-ea"/>
              </a:rPr>
              <a:t>图可以有权也可以没有权 其实就是路径的数值或者说是权重</a:t>
            </a:r>
            <a:endParaRPr kumimoji="1" lang="en-US" altLang="zh-CN" dirty="0">
              <a:latin typeface="+mn-ea"/>
            </a:endParaRPr>
          </a:p>
          <a:p>
            <a:pPr>
              <a:defRPr/>
            </a:pPr>
            <a:r>
              <a:rPr kumimoji="1" lang="zh-CN" altLang="zh-CN" b="1" dirty="0">
                <a:solidFill>
                  <a:srgbClr val="FF0000"/>
                </a:solidFill>
                <a:latin typeface="+mn-ea"/>
              </a:rPr>
              <a:t>网</a:t>
            </a:r>
            <a:r>
              <a:rPr kumimoji="1" lang="zh-CN" altLang="en-US" dirty="0">
                <a:latin typeface="+mn-ea"/>
              </a:rPr>
              <a:t>：</a:t>
            </a:r>
            <a:r>
              <a:rPr kumimoji="1" lang="zh-CN" altLang="zh-CN" dirty="0">
                <a:latin typeface="+mn-ea"/>
              </a:rPr>
              <a:t>带权的图</a:t>
            </a:r>
            <a:endParaRPr kumimoji="1" lang="en-US" altLang="zh-CN" b="1" dirty="0">
              <a:solidFill>
                <a:srgbClr val="FF0000"/>
              </a:solidFill>
              <a:latin typeface="宋体" pitchFamily="2" charset="-122"/>
            </a:endParaRPr>
          </a:p>
          <a:p>
            <a:pPr>
              <a:defRPr/>
            </a:pPr>
            <a:r>
              <a:rPr kumimoji="1" lang="zh-CN" altLang="en-US" b="1" dirty="0">
                <a:solidFill>
                  <a:srgbClr val="FF0000"/>
                </a:solidFill>
                <a:latin typeface="宋体" pitchFamily="2" charset="-122"/>
              </a:rPr>
              <a:t>邻接点</a:t>
            </a:r>
            <a:r>
              <a:rPr kumimoji="1" lang="zh-CN" altLang="en-US" dirty="0">
                <a:latin typeface="宋体" pitchFamily="2" charset="-122"/>
              </a:rPr>
              <a:t>：对于无向图，边的两个顶点</a:t>
            </a:r>
            <a:r>
              <a:rPr kumimoji="1" lang="en-US" altLang="zh-CN" dirty="0">
                <a:latin typeface="宋体" pitchFamily="2" charset="-122"/>
              </a:rPr>
              <a:t>,</a:t>
            </a:r>
            <a:r>
              <a:rPr kumimoji="1" lang="en-US" altLang="zh-CN" dirty="0"/>
              <a:t>v</a:t>
            </a:r>
            <a:r>
              <a:rPr kumimoji="1" lang="zh-CN" altLang="en-US" dirty="0"/>
              <a:t>、</a:t>
            </a:r>
            <a:r>
              <a:rPr kumimoji="1" lang="en-US" altLang="zh-CN" dirty="0"/>
              <a:t>u</a:t>
            </a:r>
            <a:r>
              <a:rPr kumimoji="1" lang="zh-CN" altLang="en-US" dirty="0">
                <a:latin typeface="宋体" pitchFamily="2" charset="-122"/>
              </a:rPr>
              <a:t>互为邻接点</a:t>
            </a:r>
            <a:endParaRPr kumimoji="1" lang="en-US" altLang="zh-CN" dirty="0">
              <a:latin typeface="宋体" pitchFamily="2" charset="-122"/>
            </a:endParaRPr>
          </a:p>
          <a:p>
            <a:pPr>
              <a:defRPr/>
            </a:pPr>
            <a:r>
              <a:rPr kumimoji="1" lang="zh-CN" altLang="en-US" b="1" dirty="0">
                <a:solidFill>
                  <a:srgbClr val="FF0000"/>
                </a:solidFill>
                <a:latin typeface="宋体" pitchFamily="2" charset="-122"/>
              </a:rPr>
              <a:t>关联边</a:t>
            </a:r>
            <a:r>
              <a:rPr kumimoji="1" lang="zh-CN" altLang="en-US" dirty="0">
                <a:latin typeface="宋体" pitchFamily="2" charset="-122"/>
              </a:rPr>
              <a:t>：若边</a:t>
            </a:r>
            <a:r>
              <a:rPr kumimoji="1" lang="en-US" altLang="zh-CN" dirty="0"/>
              <a:t>e= (v, u)</a:t>
            </a:r>
            <a:r>
              <a:rPr kumimoji="1" lang="en-US" altLang="zh-CN" dirty="0">
                <a:latin typeface="宋体" pitchFamily="2" charset="-122"/>
              </a:rPr>
              <a:t>, </a:t>
            </a:r>
            <a:r>
              <a:rPr kumimoji="1" lang="zh-CN" altLang="en-US" dirty="0">
                <a:latin typeface="宋体" pitchFamily="2" charset="-122"/>
              </a:rPr>
              <a:t>则称顶点</a:t>
            </a:r>
            <a:r>
              <a:rPr kumimoji="1" lang="en-US" altLang="zh-CN" dirty="0"/>
              <a:t>v</a:t>
            </a:r>
            <a:r>
              <a:rPr kumimoji="1" lang="zh-CN" altLang="en-US" dirty="0"/>
              <a:t>、</a:t>
            </a:r>
            <a:r>
              <a:rPr kumimoji="1" lang="en-US" altLang="zh-CN" dirty="0"/>
              <a:t>u</a:t>
            </a:r>
            <a:r>
              <a:rPr kumimoji="1" lang="en-US" altLang="zh-CN" dirty="0">
                <a:latin typeface="宋体" pitchFamily="2" charset="-122"/>
              </a:rPr>
              <a:t> </a:t>
            </a:r>
            <a:r>
              <a:rPr kumimoji="1" lang="zh-CN" altLang="en-US" dirty="0">
                <a:latin typeface="宋体" pitchFamily="2" charset="-122"/>
              </a:rPr>
              <a:t>关联边</a:t>
            </a:r>
            <a:r>
              <a:rPr kumimoji="1" lang="en-US" altLang="zh-CN" dirty="0"/>
              <a:t>e</a:t>
            </a:r>
            <a:r>
              <a:rPr lang="zh-CN" altLang="en-US" dirty="0"/>
              <a:t>，并称边</a:t>
            </a:r>
            <a:r>
              <a:rPr lang="en-US" altLang="zh-CN" dirty="0"/>
              <a:t>e</a:t>
            </a:r>
            <a:r>
              <a:rPr lang="zh-CN" altLang="en-US" b="1" dirty="0">
                <a:solidFill>
                  <a:srgbClr val="FF0000"/>
                </a:solidFill>
              </a:rPr>
              <a:t>依附</a:t>
            </a:r>
            <a:r>
              <a:rPr lang="zh-CN" altLang="en-US" dirty="0"/>
              <a:t>于顶点</a:t>
            </a:r>
            <a:r>
              <a:rPr lang="en-US" altLang="zh-CN" dirty="0"/>
              <a:t>v</a:t>
            </a:r>
            <a:r>
              <a:rPr lang="zh-CN" altLang="en-US" dirty="0"/>
              <a:t>和</a:t>
            </a:r>
            <a:r>
              <a:rPr lang="en-US" altLang="zh-CN" dirty="0"/>
              <a:t>u</a:t>
            </a:r>
            <a:endParaRPr kumimoji="1" lang="en-US" altLang="zh-CN" dirty="0"/>
          </a:p>
        </p:txBody>
      </p:sp>
      <p:sp>
        <p:nvSpPr>
          <p:cNvPr id="12292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39F3FB7-641A-4717-8AE0-C3C1DE13069D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zh-CN" altLang="en-US" sz="1000"/>
          </a:p>
        </p:txBody>
      </p:sp>
      <p:grpSp>
        <p:nvGrpSpPr>
          <p:cNvPr id="12294" name="Group 26"/>
          <p:cNvGrpSpPr>
            <a:grpSpLocks/>
          </p:cNvGrpSpPr>
          <p:nvPr/>
        </p:nvGrpSpPr>
        <p:grpSpPr bwMode="auto">
          <a:xfrm>
            <a:off x="6981825" y="1068388"/>
            <a:ext cx="1910655" cy="1847850"/>
            <a:chOff x="1213" y="1097"/>
            <a:chExt cx="1030" cy="1164"/>
          </a:xfrm>
        </p:grpSpPr>
        <p:sp>
          <p:nvSpPr>
            <p:cNvPr id="12295" name="Oval 28"/>
            <p:cNvSpPr>
              <a:spLocks noChangeArrowheads="1"/>
            </p:cNvSpPr>
            <p:nvPr/>
          </p:nvSpPr>
          <p:spPr bwMode="auto">
            <a:xfrm>
              <a:off x="1291" y="1170"/>
              <a:ext cx="200" cy="21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2296" name="Oval 29"/>
            <p:cNvSpPr>
              <a:spLocks noChangeArrowheads="1"/>
            </p:cNvSpPr>
            <p:nvPr/>
          </p:nvSpPr>
          <p:spPr bwMode="auto">
            <a:xfrm>
              <a:off x="1954" y="1888"/>
              <a:ext cx="200" cy="21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12297" name="Oval 30"/>
            <p:cNvSpPr>
              <a:spLocks noChangeArrowheads="1"/>
            </p:cNvSpPr>
            <p:nvPr/>
          </p:nvSpPr>
          <p:spPr bwMode="auto">
            <a:xfrm>
              <a:off x="1627" y="1555"/>
              <a:ext cx="200" cy="21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12298" name="Oval 31"/>
            <p:cNvSpPr>
              <a:spLocks noChangeArrowheads="1"/>
            </p:cNvSpPr>
            <p:nvPr/>
          </p:nvSpPr>
          <p:spPr bwMode="auto">
            <a:xfrm>
              <a:off x="1954" y="1177"/>
              <a:ext cx="200" cy="21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12299" name="Oval 32"/>
            <p:cNvSpPr>
              <a:spLocks noChangeArrowheads="1"/>
            </p:cNvSpPr>
            <p:nvPr/>
          </p:nvSpPr>
          <p:spPr bwMode="auto">
            <a:xfrm>
              <a:off x="1291" y="1888"/>
              <a:ext cx="200" cy="21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12300" name="Text Box 33"/>
            <p:cNvSpPr txBox="1">
              <a:spLocks noChangeArrowheads="1"/>
            </p:cNvSpPr>
            <p:nvPr/>
          </p:nvSpPr>
          <p:spPr bwMode="auto">
            <a:xfrm>
              <a:off x="1649" y="2011"/>
              <a:ext cx="1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1" lang="zh-CN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01" name="Line 34"/>
            <p:cNvSpPr>
              <a:spLocks noChangeShapeType="1"/>
            </p:cNvSpPr>
            <p:nvPr/>
          </p:nvSpPr>
          <p:spPr bwMode="auto">
            <a:xfrm>
              <a:off x="1489" y="1285"/>
              <a:ext cx="4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02" name="Line 35"/>
            <p:cNvSpPr>
              <a:spLocks noChangeShapeType="1"/>
            </p:cNvSpPr>
            <p:nvPr/>
          </p:nvSpPr>
          <p:spPr bwMode="auto">
            <a:xfrm>
              <a:off x="1378" y="1385"/>
              <a:ext cx="0" cy="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03" name="Line 36"/>
            <p:cNvSpPr>
              <a:spLocks noChangeShapeType="1"/>
            </p:cNvSpPr>
            <p:nvPr/>
          </p:nvSpPr>
          <p:spPr bwMode="auto">
            <a:xfrm>
              <a:off x="2078" y="1385"/>
              <a:ext cx="0" cy="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04" name="Line 37"/>
            <p:cNvSpPr>
              <a:spLocks noChangeShapeType="1"/>
            </p:cNvSpPr>
            <p:nvPr/>
          </p:nvSpPr>
          <p:spPr bwMode="auto">
            <a:xfrm>
              <a:off x="1788" y="1753"/>
              <a:ext cx="190" cy="1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05" name="Line 38"/>
            <p:cNvSpPr>
              <a:spLocks noChangeShapeType="1"/>
            </p:cNvSpPr>
            <p:nvPr/>
          </p:nvSpPr>
          <p:spPr bwMode="auto">
            <a:xfrm flipH="1">
              <a:off x="1783" y="1374"/>
              <a:ext cx="206" cy="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06" name="Line 39"/>
            <p:cNvSpPr>
              <a:spLocks noChangeShapeType="1"/>
            </p:cNvSpPr>
            <p:nvPr/>
          </p:nvSpPr>
          <p:spPr bwMode="auto">
            <a:xfrm flipH="1">
              <a:off x="1467" y="1741"/>
              <a:ext cx="189" cy="1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07" name="Line 40"/>
            <p:cNvSpPr>
              <a:spLocks noChangeShapeType="1"/>
            </p:cNvSpPr>
            <p:nvPr/>
          </p:nvSpPr>
          <p:spPr bwMode="auto">
            <a:xfrm>
              <a:off x="1489" y="2022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08" name="Line 41"/>
            <p:cNvSpPr>
              <a:spLocks noChangeShapeType="1"/>
            </p:cNvSpPr>
            <p:nvPr/>
          </p:nvSpPr>
          <p:spPr bwMode="auto">
            <a:xfrm>
              <a:off x="1460" y="1355"/>
              <a:ext cx="199" cy="2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09" name="Text Box 42"/>
            <p:cNvSpPr txBox="1">
              <a:spLocks noChangeArrowheads="1"/>
            </p:cNvSpPr>
            <p:nvPr/>
          </p:nvSpPr>
          <p:spPr bwMode="auto">
            <a:xfrm>
              <a:off x="1213" y="1497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12310" name="Text Box 43"/>
            <p:cNvSpPr txBox="1">
              <a:spLocks noChangeArrowheads="1"/>
            </p:cNvSpPr>
            <p:nvPr/>
          </p:nvSpPr>
          <p:spPr bwMode="auto">
            <a:xfrm>
              <a:off x="1636" y="1097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12311" name="Text Box 44"/>
            <p:cNvSpPr txBox="1">
              <a:spLocks noChangeArrowheads="1"/>
            </p:cNvSpPr>
            <p:nvPr/>
          </p:nvSpPr>
          <p:spPr bwMode="auto">
            <a:xfrm>
              <a:off x="1513" y="1308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12312" name="Text Box 45"/>
            <p:cNvSpPr txBox="1">
              <a:spLocks noChangeArrowheads="1"/>
            </p:cNvSpPr>
            <p:nvPr/>
          </p:nvSpPr>
          <p:spPr bwMode="auto">
            <a:xfrm>
              <a:off x="1458" y="1653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2313" name="Text Box 46"/>
            <p:cNvSpPr txBox="1">
              <a:spLocks noChangeArrowheads="1"/>
            </p:cNvSpPr>
            <p:nvPr/>
          </p:nvSpPr>
          <p:spPr bwMode="auto">
            <a:xfrm>
              <a:off x="1813" y="1452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12314" name="Text Box 47"/>
            <p:cNvSpPr txBox="1">
              <a:spLocks noChangeArrowheads="1"/>
            </p:cNvSpPr>
            <p:nvPr/>
          </p:nvSpPr>
          <p:spPr bwMode="auto">
            <a:xfrm>
              <a:off x="1724" y="1753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12315" name="Text Box 48"/>
            <p:cNvSpPr txBox="1">
              <a:spLocks noChangeArrowheads="1"/>
            </p:cNvSpPr>
            <p:nvPr/>
          </p:nvSpPr>
          <p:spPr bwMode="auto">
            <a:xfrm>
              <a:off x="2047" y="1508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12316" name="Text Box 49"/>
            <p:cNvSpPr txBox="1">
              <a:spLocks noChangeArrowheads="1"/>
            </p:cNvSpPr>
            <p:nvPr/>
          </p:nvSpPr>
          <p:spPr bwMode="auto">
            <a:xfrm>
              <a:off x="1624" y="1976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7076686" y="3668713"/>
            <a:ext cx="1806574" cy="1655762"/>
            <a:chOff x="6235701" y="3859213"/>
            <a:chExt cx="1806574" cy="1655762"/>
          </a:xfrm>
        </p:grpSpPr>
        <p:sp>
          <p:nvSpPr>
            <p:cNvPr id="52" name="Line 10"/>
            <p:cNvSpPr>
              <a:spLocks noChangeShapeType="1"/>
            </p:cNvSpPr>
            <p:nvPr/>
          </p:nvSpPr>
          <p:spPr bwMode="auto">
            <a:xfrm>
              <a:off x="6477000" y="4405313"/>
              <a:ext cx="0" cy="658812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11"/>
            <p:cNvSpPr>
              <a:spLocks noChangeShapeType="1"/>
            </p:cNvSpPr>
            <p:nvPr/>
          </p:nvSpPr>
          <p:spPr bwMode="auto">
            <a:xfrm>
              <a:off x="6748463" y="4129088"/>
              <a:ext cx="755650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Line 12"/>
            <p:cNvSpPr>
              <a:spLocks noChangeShapeType="1"/>
            </p:cNvSpPr>
            <p:nvPr/>
          </p:nvSpPr>
          <p:spPr bwMode="auto">
            <a:xfrm>
              <a:off x="7720013" y="4405313"/>
              <a:ext cx="0" cy="658812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Line 13"/>
            <p:cNvSpPr>
              <a:spLocks noChangeShapeType="1"/>
            </p:cNvSpPr>
            <p:nvPr/>
          </p:nvSpPr>
          <p:spPr bwMode="auto">
            <a:xfrm flipH="1">
              <a:off x="6692900" y="4899025"/>
              <a:ext cx="271463" cy="274638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Line 14"/>
            <p:cNvSpPr>
              <a:spLocks noChangeShapeType="1"/>
            </p:cNvSpPr>
            <p:nvPr/>
          </p:nvSpPr>
          <p:spPr bwMode="auto">
            <a:xfrm flipH="1">
              <a:off x="7288213" y="4349750"/>
              <a:ext cx="271462" cy="274638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Line 15"/>
            <p:cNvSpPr>
              <a:spLocks noChangeShapeType="1"/>
            </p:cNvSpPr>
            <p:nvPr/>
          </p:nvSpPr>
          <p:spPr bwMode="auto">
            <a:xfrm>
              <a:off x="7267575" y="4935538"/>
              <a:ext cx="236538" cy="233362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8" name="Group 16"/>
            <p:cNvGrpSpPr>
              <a:grpSpLocks/>
            </p:cNvGrpSpPr>
            <p:nvPr/>
          </p:nvGrpSpPr>
          <p:grpSpPr bwMode="auto">
            <a:xfrm>
              <a:off x="6235701" y="3871913"/>
              <a:ext cx="647700" cy="500062"/>
              <a:chOff x="422" y="1662"/>
              <a:chExt cx="408" cy="315"/>
            </a:xfrm>
          </p:grpSpPr>
          <p:sp>
            <p:nvSpPr>
              <p:cNvPr id="71" name="Oval 17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72" name="Text Box 18"/>
              <p:cNvSpPr txBox="1">
                <a:spLocks noChangeArrowheads="1"/>
              </p:cNvSpPr>
              <p:nvPr/>
            </p:nvSpPr>
            <p:spPr bwMode="auto">
              <a:xfrm>
                <a:off x="422" y="1662"/>
                <a:ext cx="408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</a:t>
                </a:r>
                <a:r>
                  <a:rPr lang="en-US" altLang="zh-CN" sz="2400" b="1" baseline="-25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</a:p>
            </p:txBody>
          </p:sp>
        </p:grpSp>
        <p:grpSp>
          <p:nvGrpSpPr>
            <p:cNvPr id="59" name="Group 19"/>
            <p:cNvGrpSpPr>
              <a:grpSpLocks/>
            </p:cNvGrpSpPr>
            <p:nvPr/>
          </p:nvGrpSpPr>
          <p:grpSpPr bwMode="auto">
            <a:xfrm>
              <a:off x="7394575" y="4986338"/>
              <a:ext cx="647700" cy="528637"/>
              <a:chOff x="434" y="1644"/>
              <a:chExt cx="408" cy="333"/>
            </a:xfrm>
          </p:grpSpPr>
          <p:sp>
            <p:nvSpPr>
              <p:cNvPr id="69" name="Oval 20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70" name="Text Box 21"/>
              <p:cNvSpPr txBox="1">
                <a:spLocks noChangeArrowheads="1"/>
              </p:cNvSpPr>
              <p:nvPr/>
            </p:nvSpPr>
            <p:spPr bwMode="auto">
              <a:xfrm>
                <a:off x="434" y="1644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</a:t>
                </a:r>
                <a:r>
                  <a:rPr lang="en-US" altLang="zh-CN" sz="2400" b="1" baseline="-25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4</a:t>
                </a:r>
              </a:p>
            </p:txBody>
          </p:sp>
        </p:grpSp>
        <p:grpSp>
          <p:nvGrpSpPr>
            <p:cNvPr id="60" name="Group 22"/>
            <p:cNvGrpSpPr>
              <a:grpSpLocks/>
            </p:cNvGrpSpPr>
            <p:nvPr/>
          </p:nvGrpSpPr>
          <p:grpSpPr bwMode="auto">
            <a:xfrm>
              <a:off x="6246813" y="4999038"/>
              <a:ext cx="647700" cy="515937"/>
              <a:chOff x="431" y="1652"/>
              <a:chExt cx="408" cy="325"/>
            </a:xfrm>
          </p:grpSpPr>
          <p:sp>
            <p:nvSpPr>
              <p:cNvPr id="67" name="Oval 23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68" name="Text Box 24"/>
              <p:cNvSpPr txBox="1">
                <a:spLocks noChangeArrowheads="1"/>
              </p:cNvSpPr>
              <p:nvPr/>
            </p:nvSpPr>
            <p:spPr bwMode="auto">
              <a:xfrm>
                <a:off x="431" y="1652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</a:t>
                </a:r>
                <a:r>
                  <a:rPr lang="en-US" altLang="zh-CN" sz="2400" b="1" baseline="-25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3</a:t>
                </a:r>
              </a:p>
            </p:txBody>
          </p:sp>
        </p:grpSp>
        <p:grpSp>
          <p:nvGrpSpPr>
            <p:cNvPr id="61" name="Group 25"/>
            <p:cNvGrpSpPr>
              <a:grpSpLocks/>
            </p:cNvGrpSpPr>
            <p:nvPr/>
          </p:nvGrpSpPr>
          <p:grpSpPr bwMode="auto">
            <a:xfrm>
              <a:off x="7394575" y="3859213"/>
              <a:ext cx="647700" cy="508000"/>
              <a:chOff x="2952" y="3286"/>
              <a:chExt cx="408" cy="320"/>
            </a:xfrm>
          </p:grpSpPr>
          <p:sp>
            <p:nvSpPr>
              <p:cNvPr id="65" name="Oval 26"/>
              <p:cNvSpPr>
                <a:spLocks noChangeArrowheads="1"/>
              </p:cNvSpPr>
              <p:nvPr/>
            </p:nvSpPr>
            <p:spPr bwMode="auto">
              <a:xfrm>
                <a:off x="2976" y="3312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66" name="Text Box 27"/>
              <p:cNvSpPr txBox="1">
                <a:spLocks noChangeArrowheads="1"/>
              </p:cNvSpPr>
              <p:nvPr/>
            </p:nvSpPr>
            <p:spPr bwMode="auto">
              <a:xfrm>
                <a:off x="2952" y="3286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</a:t>
                </a:r>
                <a:r>
                  <a:rPr lang="en-US" altLang="zh-CN" sz="2400" b="1" baseline="-25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</a:p>
            </p:txBody>
          </p:sp>
        </p:grpSp>
        <p:grpSp>
          <p:nvGrpSpPr>
            <p:cNvPr id="62" name="Group 28"/>
            <p:cNvGrpSpPr>
              <a:grpSpLocks/>
            </p:cNvGrpSpPr>
            <p:nvPr/>
          </p:nvGrpSpPr>
          <p:grpSpPr bwMode="auto">
            <a:xfrm>
              <a:off x="6804026" y="4484695"/>
              <a:ext cx="647700" cy="514351"/>
              <a:chOff x="1029" y="2274"/>
              <a:chExt cx="408" cy="324"/>
            </a:xfrm>
          </p:grpSpPr>
          <p:sp>
            <p:nvSpPr>
              <p:cNvPr id="63" name="Oval 29"/>
              <p:cNvSpPr>
                <a:spLocks noChangeArrowheads="1"/>
              </p:cNvSpPr>
              <p:nvPr/>
            </p:nvSpPr>
            <p:spPr bwMode="auto">
              <a:xfrm>
                <a:off x="1056" y="2304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64" name="Text Box 30"/>
              <p:cNvSpPr txBox="1">
                <a:spLocks noChangeArrowheads="1"/>
              </p:cNvSpPr>
              <p:nvPr/>
            </p:nvSpPr>
            <p:spPr bwMode="auto">
              <a:xfrm>
                <a:off x="1029" y="2274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</a:t>
                </a:r>
                <a:r>
                  <a:rPr lang="en-US" altLang="zh-CN" sz="2400" b="1" baseline="-25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基本术语</a:t>
            </a:r>
          </a:p>
        </p:txBody>
      </p:sp>
      <p:sp>
        <p:nvSpPr>
          <p:cNvPr id="20483" name="内容占位符 2"/>
          <p:cNvSpPr>
            <a:spLocks noGrp="1"/>
          </p:cNvSpPr>
          <p:nvPr>
            <p:ph idx="1"/>
          </p:nvPr>
        </p:nvSpPr>
        <p:spPr>
          <a:xfrm>
            <a:off x="468313" y="1125537"/>
            <a:ext cx="6983412" cy="5524497"/>
          </a:xfrm>
        </p:spPr>
        <p:txBody>
          <a:bodyPr/>
          <a:lstStyle/>
          <a:p>
            <a:r>
              <a:rPr kumimoji="1" lang="zh-CN" altLang="en-US" dirty="0">
                <a:solidFill>
                  <a:srgbClr val="4C34FE"/>
                </a:solidFill>
                <a:latin typeface="宋体" panose="02010600030101010101" pitchFamily="2" charset="-122"/>
              </a:rPr>
              <a:t>在无向图中</a:t>
            </a:r>
            <a:endParaRPr kumimoji="1" lang="en-US" altLang="zh-CN" dirty="0">
              <a:solidFill>
                <a:srgbClr val="4C34FE"/>
              </a:solidFill>
              <a:latin typeface="宋体" panose="02010600030101010101" pitchFamily="2" charset="-122"/>
            </a:endParaRPr>
          </a:p>
          <a:p>
            <a:pPr lvl="1"/>
            <a:r>
              <a:rPr kumimoji="1" lang="zh-CN" altLang="en-US" dirty="0">
                <a:latin typeface="宋体" panose="02010600030101010101" pitchFamily="2" charset="-122"/>
              </a:rPr>
              <a:t>顶点</a:t>
            </a:r>
            <a:r>
              <a:rPr kumimoji="1" lang="en-US" altLang="zh-CN" dirty="0"/>
              <a:t>v</a:t>
            </a:r>
            <a:r>
              <a:rPr kumimoji="1" lang="zh-CN" altLang="en-US" dirty="0">
                <a:latin typeface="宋体" panose="02010600030101010101" pitchFamily="2" charset="-122"/>
              </a:rPr>
              <a:t>的</a:t>
            </a:r>
            <a:r>
              <a:rPr kumimoji="1"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度</a:t>
            </a:r>
            <a:r>
              <a:rPr kumimoji="1" lang="zh-CN" altLang="en-US" dirty="0">
                <a:latin typeface="宋体" panose="02010600030101010101" pitchFamily="2" charset="-122"/>
              </a:rPr>
              <a:t> </a:t>
            </a:r>
            <a:r>
              <a:rPr kumimoji="1" lang="en-US" altLang="zh-CN" dirty="0">
                <a:latin typeface="宋体" panose="02010600030101010101" pitchFamily="2" charset="-122"/>
              </a:rPr>
              <a:t>= </a:t>
            </a:r>
            <a:r>
              <a:rPr kumimoji="1" lang="zh-CN" altLang="en-US" dirty="0">
                <a:latin typeface="宋体" panose="02010600030101010101" pitchFamily="2" charset="-122"/>
              </a:rPr>
              <a:t>与</a:t>
            </a:r>
            <a:r>
              <a:rPr kumimoji="1" lang="en-US" altLang="zh-CN" dirty="0"/>
              <a:t>v</a:t>
            </a:r>
            <a:r>
              <a:rPr kumimoji="1" lang="zh-CN" altLang="en-US" dirty="0">
                <a:latin typeface="宋体" panose="02010600030101010101" pitchFamily="2" charset="-122"/>
              </a:rPr>
              <a:t>相关联的边的数目</a:t>
            </a:r>
            <a:endParaRPr kumimoji="1" lang="en-US" altLang="zh-CN" dirty="0">
              <a:latin typeface="宋体" panose="02010600030101010101" pitchFamily="2" charset="-122"/>
            </a:endParaRPr>
          </a:p>
          <a:p>
            <a:r>
              <a:rPr kumimoji="1" lang="zh-CN" altLang="en-US" dirty="0">
                <a:solidFill>
                  <a:srgbClr val="4C34FE"/>
                </a:solidFill>
                <a:latin typeface="宋体" panose="02010600030101010101" pitchFamily="2" charset="-122"/>
              </a:rPr>
              <a:t>在有向图中</a:t>
            </a:r>
            <a:endParaRPr kumimoji="1" lang="en-US" altLang="zh-CN" dirty="0">
              <a:solidFill>
                <a:srgbClr val="4C34FE"/>
              </a:solidFill>
              <a:latin typeface="宋体" panose="02010600030101010101" pitchFamily="2" charset="-122"/>
            </a:endParaRPr>
          </a:p>
          <a:p>
            <a:pPr lvl="1"/>
            <a:r>
              <a:rPr kumimoji="1" lang="zh-CN" altLang="en-US" dirty="0">
                <a:latin typeface="宋体" panose="02010600030101010101" pitchFamily="2" charset="-122"/>
              </a:rPr>
              <a:t>顶点</a:t>
            </a:r>
            <a:r>
              <a:rPr kumimoji="1" lang="en-US" altLang="zh-CN" dirty="0"/>
              <a:t>V</a:t>
            </a:r>
            <a:r>
              <a:rPr kumimoji="1" lang="zh-CN" altLang="en-US" dirty="0">
                <a:latin typeface="宋体" panose="02010600030101010101" pitchFamily="2" charset="-122"/>
              </a:rPr>
              <a:t>的</a:t>
            </a:r>
            <a:r>
              <a:rPr kumimoji="1"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出度</a:t>
            </a:r>
            <a:r>
              <a:rPr kumimoji="1" lang="en-US" altLang="zh-CN" dirty="0">
                <a:latin typeface="宋体" panose="02010600030101010101" pitchFamily="2" charset="-122"/>
              </a:rPr>
              <a:t>=</a:t>
            </a:r>
            <a:r>
              <a:rPr kumimoji="1" lang="zh-CN" altLang="en-US" dirty="0">
                <a:latin typeface="宋体" panose="02010600030101010101" pitchFamily="2" charset="-122"/>
              </a:rPr>
              <a:t>以</a:t>
            </a:r>
            <a:r>
              <a:rPr kumimoji="1" lang="en-US" altLang="zh-CN" dirty="0"/>
              <a:t>V</a:t>
            </a:r>
            <a:r>
              <a:rPr kumimoji="1" lang="zh-CN" altLang="en-US" dirty="0">
                <a:latin typeface="宋体" panose="02010600030101010101" pitchFamily="2" charset="-122"/>
              </a:rPr>
              <a:t>为起点有向边数</a:t>
            </a:r>
            <a:endParaRPr kumimoji="1" lang="en-US" altLang="zh-CN" dirty="0">
              <a:latin typeface="宋体" panose="02010600030101010101" pitchFamily="2" charset="-122"/>
            </a:endParaRPr>
          </a:p>
          <a:p>
            <a:pPr lvl="1"/>
            <a:r>
              <a:rPr kumimoji="1" lang="zh-CN" altLang="en-US" dirty="0">
                <a:latin typeface="宋体" panose="02010600030101010101" pitchFamily="2" charset="-122"/>
              </a:rPr>
              <a:t>顶点</a:t>
            </a:r>
            <a:r>
              <a:rPr kumimoji="1" lang="en-US" altLang="zh-CN" dirty="0"/>
              <a:t>V</a:t>
            </a:r>
            <a:r>
              <a:rPr kumimoji="1" lang="zh-CN" altLang="en-US" dirty="0">
                <a:latin typeface="宋体" panose="02010600030101010101" pitchFamily="2" charset="-122"/>
              </a:rPr>
              <a:t>的</a:t>
            </a:r>
            <a:r>
              <a:rPr kumimoji="1"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入度</a:t>
            </a:r>
            <a:r>
              <a:rPr kumimoji="1" lang="en-US" altLang="zh-CN" dirty="0">
                <a:latin typeface="宋体" panose="02010600030101010101" pitchFamily="2" charset="-122"/>
              </a:rPr>
              <a:t>=</a:t>
            </a:r>
            <a:r>
              <a:rPr kumimoji="1" lang="zh-CN" altLang="en-US" dirty="0">
                <a:latin typeface="宋体" panose="02010600030101010101" pitchFamily="2" charset="-122"/>
              </a:rPr>
              <a:t>以</a:t>
            </a:r>
            <a:r>
              <a:rPr kumimoji="1" lang="en-US" altLang="zh-CN" dirty="0"/>
              <a:t>V</a:t>
            </a:r>
            <a:r>
              <a:rPr kumimoji="1" lang="zh-CN" altLang="en-US" dirty="0">
                <a:latin typeface="宋体" panose="02010600030101010101" pitchFamily="2" charset="-122"/>
              </a:rPr>
              <a:t>为终点有向边数</a:t>
            </a:r>
            <a:endParaRPr kumimoji="1" lang="en-US" altLang="zh-CN" dirty="0">
              <a:latin typeface="宋体" panose="02010600030101010101" pitchFamily="2" charset="-122"/>
            </a:endParaRPr>
          </a:p>
          <a:p>
            <a:pPr lvl="1"/>
            <a:r>
              <a:rPr kumimoji="1" lang="zh-CN" altLang="en-US" dirty="0">
                <a:latin typeface="宋体" panose="02010600030101010101" pitchFamily="2" charset="-122"/>
              </a:rPr>
              <a:t>顶点</a:t>
            </a:r>
            <a:r>
              <a:rPr kumimoji="1" lang="en-US" altLang="zh-CN" dirty="0"/>
              <a:t>V</a:t>
            </a:r>
            <a:r>
              <a:rPr kumimoji="1" lang="zh-CN" altLang="en-US" dirty="0">
                <a:latin typeface="宋体" panose="02010600030101010101" pitchFamily="2" charset="-122"/>
              </a:rPr>
              <a:t>的</a:t>
            </a:r>
            <a:r>
              <a:rPr kumimoji="1"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度</a:t>
            </a:r>
            <a:r>
              <a:rPr kumimoji="1" lang="zh-CN" altLang="en-US" dirty="0">
                <a:latin typeface="宋体" panose="02010600030101010101" pitchFamily="2" charset="-122"/>
              </a:rPr>
              <a:t> </a:t>
            </a:r>
            <a:r>
              <a:rPr kumimoji="1" lang="en-US" altLang="zh-CN" dirty="0">
                <a:latin typeface="宋体" panose="02010600030101010101" pitchFamily="2" charset="-122"/>
              </a:rPr>
              <a:t>= </a:t>
            </a:r>
            <a:r>
              <a:rPr kumimoji="1" lang="en-US" altLang="zh-CN" dirty="0"/>
              <a:t>V</a:t>
            </a:r>
            <a:r>
              <a:rPr kumimoji="1" lang="zh-CN" altLang="en-US" dirty="0">
                <a:latin typeface="宋体" panose="02010600030101010101" pitchFamily="2" charset="-122"/>
              </a:rPr>
              <a:t>的出度</a:t>
            </a:r>
            <a:r>
              <a:rPr kumimoji="1" lang="en-US" altLang="zh-CN" dirty="0"/>
              <a:t>+V</a:t>
            </a:r>
            <a:r>
              <a:rPr kumimoji="1" lang="zh-CN" altLang="en-US" dirty="0">
                <a:latin typeface="宋体" panose="02010600030101010101" pitchFamily="2" charset="-122"/>
              </a:rPr>
              <a:t>的入度</a:t>
            </a:r>
            <a:endParaRPr kumimoji="1" lang="en-US" altLang="zh-CN" dirty="0">
              <a:latin typeface="宋体" panose="02010600030101010101" pitchFamily="2" charset="-122"/>
            </a:endParaRPr>
          </a:p>
          <a:p>
            <a:r>
              <a:rPr kumimoji="1" lang="zh-CN" altLang="en-US" dirty="0">
                <a:latin typeface="宋体" panose="02010600030101010101" pitchFamily="2" charset="-122"/>
              </a:rPr>
              <a:t>图的所有顶点的度数和 </a:t>
            </a:r>
            <a:r>
              <a:rPr kumimoji="1" lang="en-US" altLang="zh-CN" dirty="0">
                <a:latin typeface="宋体" panose="02010600030101010101" pitchFamily="2" charset="-122"/>
              </a:rPr>
              <a:t>= </a:t>
            </a:r>
            <a:r>
              <a:rPr kumimoji="1" lang="en-US" altLang="zh-CN" dirty="0"/>
              <a:t>2*e</a:t>
            </a:r>
          </a:p>
          <a:p>
            <a:pPr lvl="1"/>
            <a:r>
              <a:rPr kumimoji="1" lang="zh-CN" altLang="en-US" dirty="0">
                <a:latin typeface="宋体" panose="02010600030101010101" pitchFamily="2" charset="-122"/>
              </a:rPr>
              <a:t>每条边对图的所有顶点的度数和</a:t>
            </a:r>
            <a:endParaRPr kumimoji="1" lang="en-US" altLang="zh-CN" dirty="0">
              <a:latin typeface="宋体" panose="02010600030101010101" pitchFamily="2" charset="-122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kumimoji="1" lang="zh-CN" altLang="en-US" dirty="0"/>
              <a:t>“</a:t>
            </a:r>
            <a:r>
              <a:rPr kumimoji="1" lang="zh-CN" altLang="en-US" dirty="0">
                <a:latin typeface="宋体" panose="02010600030101010101" pitchFamily="2" charset="-122"/>
              </a:rPr>
              <a:t>贡献</a:t>
            </a:r>
            <a:r>
              <a:rPr kumimoji="1" lang="zh-CN" altLang="en-US" dirty="0"/>
              <a:t>”</a:t>
            </a:r>
            <a:r>
              <a:rPr kumimoji="1" lang="en-US" altLang="zh-CN" dirty="0"/>
              <a:t>2</a:t>
            </a:r>
            <a:r>
              <a:rPr kumimoji="1" lang="zh-CN" altLang="en-US" dirty="0">
                <a:latin typeface="宋体" panose="02010600030101010101" pitchFamily="2" charset="-122"/>
              </a:rPr>
              <a:t>度</a:t>
            </a:r>
            <a:endParaRPr kumimoji="1" lang="en-US" altLang="zh-CN" dirty="0">
              <a:latin typeface="宋体" panose="02010600030101010101" pitchFamily="2" charset="-122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kumimoji="1" lang="en-US" altLang="zh-CN" dirty="0">
                <a:latin typeface="宋体" panose="02010600030101010101" pitchFamily="2" charset="-122"/>
              </a:rPr>
              <a:t>e:</a:t>
            </a:r>
            <a:r>
              <a:rPr kumimoji="1" lang="zh-CN" altLang="en-US" dirty="0">
                <a:latin typeface="宋体" panose="02010600030101010101" pitchFamily="2" charset="-122"/>
              </a:rPr>
              <a:t>边</a:t>
            </a:r>
            <a:endParaRPr lang="zh-CN" altLang="en-US" dirty="0"/>
          </a:p>
        </p:txBody>
      </p:sp>
      <p:sp>
        <p:nvSpPr>
          <p:cNvPr id="1331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5136CFB-7F26-4113-95AA-FC797408BBB6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zh-CN" altLang="en-US" sz="1000"/>
          </a:p>
        </p:txBody>
      </p:sp>
      <p:grpSp>
        <p:nvGrpSpPr>
          <p:cNvPr id="68" name="组合 67"/>
          <p:cNvGrpSpPr/>
          <p:nvPr/>
        </p:nvGrpSpPr>
        <p:grpSpPr>
          <a:xfrm>
            <a:off x="7020272" y="1218407"/>
            <a:ext cx="1806582" cy="1655762"/>
            <a:chOff x="6235701" y="3859213"/>
            <a:chExt cx="1806582" cy="1655762"/>
          </a:xfrm>
        </p:grpSpPr>
        <p:sp>
          <p:nvSpPr>
            <p:cNvPr id="69" name="Line 10"/>
            <p:cNvSpPr>
              <a:spLocks noChangeShapeType="1"/>
            </p:cNvSpPr>
            <p:nvPr/>
          </p:nvSpPr>
          <p:spPr bwMode="auto">
            <a:xfrm>
              <a:off x="6477000" y="4405313"/>
              <a:ext cx="0" cy="658812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Line 11"/>
            <p:cNvSpPr>
              <a:spLocks noChangeShapeType="1"/>
            </p:cNvSpPr>
            <p:nvPr/>
          </p:nvSpPr>
          <p:spPr bwMode="auto">
            <a:xfrm>
              <a:off x="6748463" y="4129088"/>
              <a:ext cx="755650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Line 12"/>
            <p:cNvSpPr>
              <a:spLocks noChangeShapeType="1"/>
            </p:cNvSpPr>
            <p:nvPr/>
          </p:nvSpPr>
          <p:spPr bwMode="auto">
            <a:xfrm>
              <a:off x="7720013" y="4405313"/>
              <a:ext cx="0" cy="658812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Line 13"/>
            <p:cNvSpPr>
              <a:spLocks noChangeShapeType="1"/>
            </p:cNvSpPr>
            <p:nvPr/>
          </p:nvSpPr>
          <p:spPr bwMode="auto">
            <a:xfrm flipH="1">
              <a:off x="6692900" y="4899025"/>
              <a:ext cx="271463" cy="274638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Line 14"/>
            <p:cNvSpPr>
              <a:spLocks noChangeShapeType="1"/>
            </p:cNvSpPr>
            <p:nvPr/>
          </p:nvSpPr>
          <p:spPr bwMode="auto">
            <a:xfrm flipH="1">
              <a:off x="7288213" y="4349750"/>
              <a:ext cx="271462" cy="274638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Line 15"/>
            <p:cNvSpPr>
              <a:spLocks noChangeShapeType="1"/>
            </p:cNvSpPr>
            <p:nvPr/>
          </p:nvSpPr>
          <p:spPr bwMode="auto">
            <a:xfrm>
              <a:off x="7267575" y="4935538"/>
              <a:ext cx="236538" cy="233362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5" name="Group 16"/>
            <p:cNvGrpSpPr>
              <a:grpSpLocks/>
            </p:cNvGrpSpPr>
            <p:nvPr/>
          </p:nvGrpSpPr>
          <p:grpSpPr bwMode="auto">
            <a:xfrm>
              <a:off x="6235701" y="3871913"/>
              <a:ext cx="647700" cy="500062"/>
              <a:chOff x="422" y="1662"/>
              <a:chExt cx="408" cy="315"/>
            </a:xfrm>
          </p:grpSpPr>
          <p:sp>
            <p:nvSpPr>
              <p:cNvPr id="88" name="Oval 17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89" name="Text Box 18"/>
              <p:cNvSpPr txBox="1">
                <a:spLocks noChangeArrowheads="1"/>
              </p:cNvSpPr>
              <p:nvPr/>
            </p:nvSpPr>
            <p:spPr bwMode="auto">
              <a:xfrm>
                <a:off x="422" y="1662"/>
                <a:ext cx="408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</a:t>
                </a:r>
                <a:r>
                  <a:rPr lang="en-US" altLang="zh-CN" sz="2400" b="1" baseline="-25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</a:p>
            </p:txBody>
          </p:sp>
        </p:grpSp>
        <p:grpSp>
          <p:nvGrpSpPr>
            <p:cNvPr id="76" name="Group 19"/>
            <p:cNvGrpSpPr>
              <a:grpSpLocks/>
            </p:cNvGrpSpPr>
            <p:nvPr/>
          </p:nvGrpSpPr>
          <p:grpSpPr bwMode="auto">
            <a:xfrm>
              <a:off x="7394575" y="4986338"/>
              <a:ext cx="647700" cy="528637"/>
              <a:chOff x="434" y="1644"/>
              <a:chExt cx="408" cy="333"/>
            </a:xfrm>
          </p:grpSpPr>
          <p:sp>
            <p:nvSpPr>
              <p:cNvPr id="86" name="Oval 20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87" name="Text Box 21"/>
              <p:cNvSpPr txBox="1">
                <a:spLocks noChangeArrowheads="1"/>
              </p:cNvSpPr>
              <p:nvPr/>
            </p:nvSpPr>
            <p:spPr bwMode="auto">
              <a:xfrm>
                <a:off x="434" y="1644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</a:t>
                </a:r>
                <a:r>
                  <a:rPr lang="en-US" altLang="zh-CN" sz="2400" b="1" baseline="-25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4</a:t>
                </a:r>
              </a:p>
            </p:txBody>
          </p:sp>
        </p:grpSp>
        <p:grpSp>
          <p:nvGrpSpPr>
            <p:cNvPr id="77" name="Group 22"/>
            <p:cNvGrpSpPr>
              <a:grpSpLocks/>
            </p:cNvGrpSpPr>
            <p:nvPr/>
          </p:nvGrpSpPr>
          <p:grpSpPr bwMode="auto">
            <a:xfrm>
              <a:off x="6246813" y="4999038"/>
              <a:ext cx="647700" cy="515937"/>
              <a:chOff x="431" y="1652"/>
              <a:chExt cx="408" cy="325"/>
            </a:xfrm>
          </p:grpSpPr>
          <p:sp>
            <p:nvSpPr>
              <p:cNvPr id="84" name="Oval 23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85" name="Text Box 24"/>
              <p:cNvSpPr txBox="1">
                <a:spLocks noChangeArrowheads="1"/>
              </p:cNvSpPr>
              <p:nvPr/>
            </p:nvSpPr>
            <p:spPr bwMode="auto">
              <a:xfrm>
                <a:off x="431" y="1652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</a:t>
                </a:r>
                <a:r>
                  <a:rPr lang="en-US" altLang="zh-CN" sz="2400" b="1" baseline="-25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3</a:t>
                </a:r>
              </a:p>
            </p:txBody>
          </p:sp>
        </p:grpSp>
        <p:grpSp>
          <p:nvGrpSpPr>
            <p:cNvPr id="78" name="Group 25"/>
            <p:cNvGrpSpPr>
              <a:grpSpLocks/>
            </p:cNvGrpSpPr>
            <p:nvPr/>
          </p:nvGrpSpPr>
          <p:grpSpPr bwMode="auto">
            <a:xfrm>
              <a:off x="7394582" y="3859213"/>
              <a:ext cx="647701" cy="508000"/>
              <a:chOff x="2952" y="3286"/>
              <a:chExt cx="408" cy="320"/>
            </a:xfrm>
          </p:grpSpPr>
          <p:sp>
            <p:nvSpPr>
              <p:cNvPr id="82" name="Oval 26"/>
              <p:cNvSpPr>
                <a:spLocks noChangeArrowheads="1"/>
              </p:cNvSpPr>
              <p:nvPr/>
            </p:nvSpPr>
            <p:spPr bwMode="auto">
              <a:xfrm>
                <a:off x="2976" y="3312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83" name="Text Box 27"/>
              <p:cNvSpPr txBox="1">
                <a:spLocks noChangeArrowheads="1"/>
              </p:cNvSpPr>
              <p:nvPr/>
            </p:nvSpPr>
            <p:spPr bwMode="auto">
              <a:xfrm>
                <a:off x="2952" y="3286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</a:t>
                </a:r>
                <a:r>
                  <a:rPr lang="en-US" altLang="zh-CN" sz="2400" b="1" baseline="-25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</a:p>
            </p:txBody>
          </p:sp>
        </p:grpSp>
        <p:grpSp>
          <p:nvGrpSpPr>
            <p:cNvPr id="79" name="Group 28"/>
            <p:cNvGrpSpPr>
              <a:grpSpLocks/>
            </p:cNvGrpSpPr>
            <p:nvPr/>
          </p:nvGrpSpPr>
          <p:grpSpPr bwMode="auto">
            <a:xfrm>
              <a:off x="6804026" y="4484695"/>
              <a:ext cx="647700" cy="514351"/>
              <a:chOff x="1029" y="2274"/>
              <a:chExt cx="408" cy="324"/>
            </a:xfrm>
          </p:grpSpPr>
          <p:sp>
            <p:nvSpPr>
              <p:cNvPr id="80" name="Oval 29"/>
              <p:cNvSpPr>
                <a:spLocks noChangeArrowheads="1"/>
              </p:cNvSpPr>
              <p:nvPr/>
            </p:nvSpPr>
            <p:spPr bwMode="auto">
              <a:xfrm>
                <a:off x="1056" y="2304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81" name="Text Box 30"/>
              <p:cNvSpPr txBox="1">
                <a:spLocks noChangeArrowheads="1"/>
              </p:cNvSpPr>
              <p:nvPr/>
            </p:nvSpPr>
            <p:spPr bwMode="auto">
              <a:xfrm>
                <a:off x="1029" y="2274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</a:t>
                </a:r>
                <a:r>
                  <a:rPr lang="en-US" altLang="zh-CN" sz="2400" b="1" baseline="-25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</a:p>
            </p:txBody>
          </p:sp>
        </p:grpSp>
      </p:grpSp>
      <p:grpSp>
        <p:nvGrpSpPr>
          <p:cNvPr id="90" name="组合 89"/>
          <p:cNvGrpSpPr/>
          <p:nvPr/>
        </p:nvGrpSpPr>
        <p:grpSpPr>
          <a:xfrm>
            <a:off x="7020272" y="3428401"/>
            <a:ext cx="1865313" cy="1728791"/>
            <a:chOff x="6962775" y="3571875"/>
            <a:chExt cx="1865313" cy="1728791"/>
          </a:xfrm>
        </p:grpSpPr>
        <p:sp>
          <p:nvSpPr>
            <p:cNvPr id="91" name="Line 7"/>
            <p:cNvSpPr>
              <a:spLocks noChangeShapeType="1"/>
            </p:cNvSpPr>
            <p:nvPr/>
          </p:nvSpPr>
          <p:spPr bwMode="auto">
            <a:xfrm>
              <a:off x="7243415" y="4089400"/>
              <a:ext cx="0" cy="744538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Line 8"/>
            <p:cNvSpPr>
              <a:spLocks noChangeShapeType="1"/>
            </p:cNvSpPr>
            <p:nvPr/>
          </p:nvSpPr>
          <p:spPr bwMode="auto">
            <a:xfrm>
              <a:off x="7461250" y="5073650"/>
              <a:ext cx="803275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Line 9"/>
            <p:cNvSpPr>
              <a:spLocks noChangeShapeType="1"/>
            </p:cNvSpPr>
            <p:nvPr/>
          </p:nvSpPr>
          <p:spPr bwMode="auto">
            <a:xfrm>
              <a:off x="7461250" y="3876675"/>
              <a:ext cx="749300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Line 10"/>
            <p:cNvSpPr>
              <a:spLocks noChangeShapeType="1"/>
            </p:cNvSpPr>
            <p:nvPr/>
          </p:nvSpPr>
          <p:spPr bwMode="auto">
            <a:xfrm flipH="1" flipV="1">
              <a:off x="7334250" y="3990975"/>
              <a:ext cx="1066800" cy="99060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5" name="Group 11"/>
            <p:cNvGrpSpPr>
              <a:grpSpLocks/>
            </p:cNvGrpSpPr>
            <p:nvPr/>
          </p:nvGrpSpPr>
          <p:grpSpPr bwMode="auto">
            <a:xfrm>
              <a:off x="6969125" y="3571875"/>
              <a:ext cx="647700" cy="509588"/>
              <a:chOff x="442" y="1656"/>
              <a:chExt cx="408" cy="321"/>
            </a:xfrm>
          </p:grpSpPr>
          <p:sp>
            <p:nvSpPr>
              <p:cNvPr id="105" name="Oval 12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106" name="Text Box 13"/>
              <p:cNvSpPr txBox="1">
                <a:spLocks noChangeArrowheads="1"/>
              </p:cNvSpPr>
              <p:nvPr/>
            </p:nvSpPr>
            <p:spPr bwMode="auto">
              <a:xfrm>
                <a:off x="442" y="1656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</a:t>
                </a:r>
                <a:r>
                  <a:rPr lang="en-US" altLang="zh-CN" sz="2400" b="1" baseline="-25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</a:p>
            </p:txBody>
          </p:sp>
        </p:grpSp>
        <p:grpSp>
          <p:nvGrpSpPr>
            <p:cNvPr id="96" name="Group 14"/>
            <p:cNvGrpSpPr>
              <a:grpSpLocks/>
            </p:cNvGrpSpPr>
            <p:nvPr/>
          </p:nvGrpSpPr>
          <p:grpSpPr bwMode="auto">
            <a:xfrm>
              <a:off x="8180388" y="3571875"/>
              <a:ext cx="647700" cy="512763"/>
              <a:chOff x="437" y="1654"/>
              <a:chExt cx="408" cy="323"/>
            </a:xfrm>
          </p:grpSpPr>
          <p:sp>
            <p:nvSpPr>
              <p:cNvPr id="103" name="Oval 15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104" name="Text Box 16"/>
              <p:cNvSpPr txBox="1">
                <a:spLocks noChangeArrowheads="1"/>
              </p:cNvSpPr>
              <p:nvPr/>
            </p:nvSpPr>
            <p:spPr bwMode="auto">
              <a:xfrm>
                <a:off x="437" y="1654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</a:t>
                </a:r>
                <a:r>
                  <a:rPr lang="en-US" altLang="zh-CN" sz="2400" b="1" baseline="-25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</a:p>
            </p:txBody>
          </p:sp>
        </p:grpSp>
        <p:grpSp>
          <p:nvGrpSpPr>
            <p:cNvPr id="97" name="Group 17"/>
            <p:cNvGrpSpPr>
              <a:grpSpLocks/>
            </p:cNvGrpSpPr>
            <p:nvPr/>
          </p:nvGrpSpPr>
          <p:grpSpPr bwMode="auto">
            <a:xfrm>
              <a:off x="6962775" y="4773615"/>
              <a:ext cx="647700" cy="527051"/>
              <a:chOff x="438" y="1645"/>
              <a:chExt cx="408" cy="332"/>
            </a:xfrm>
          </p:grpSpPr>
          <p:sp>
            <p:nvSpPr>
              <p:cNvPr id="101" name="Oval 18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102" name="Text Box 19"/>
              <p:cNvSpPr txBox="1">
                <a:spLocks noChangeArrowheads="1"/>
              </p:cNvSpPr>
              <p:nvPr/>
            </p:nvSpPr>
            <p:spPr bwMode="auto">
              <a:xfrm>
                <a:off x="438" y="1645"/>
                <a:ext cx="408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</a:t>
                </a:r>
                <a:r>
                  <a:rPr lang="en-US" altLang="zh-CN" sz="2400" b="1" baseline="-25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</a:p>
            </p:txBody>
          </p:sp>
        </p:grpSp>
        <p:grpSp>
          <p:nvGrpSpPr>
            <p:cNvPr id="98" name="Group 20"/>
            <p:cNvGrpSpPr>
              <a:grpSpLocks/>
            </p:cNvGrpSpPr>
            <p:nvPr/>
          </p:nvGrpSpPr>
          <p:grpSpPr bwMode="auto">
            <a:xfrm>
              <a:off x="8180388" y="4787900"/>
              <a:ext cx="647700" cy="512763"/>
              <a:chOff x="437" y="1654"/>
              <a:chExt cx="408" cy="323"/>
            </a:xfrm>
          </p:grpSpPr>
          <p:sp>
            <p:nvSpPr>
              <p:cNvPr id="99" name="Oval 21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100" name="Text Box 22"/>
              <p:cNvSpPr txBox="1">
                <a:spLocks noChangeArrowheads="1"/>
              </p:cNvSpPr>
              <p:nvPr/>
            </p:nvSpPr>
            <p:spPr bwMode="auto">
              <a:xfrm>
                <a:off x="437" y="1654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</a:t>
                </a:r>
                <a:r>
                  <a:rPr lang="en-US" altLang="zh-CN" sz="2400" b="1" baseline="-25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3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基本术语</a:t>
            </a:r>
          </a:p>
        </p:txBody>
      </p:sp>
      <p:sp>
        <p:nvSpPr>
          <p:cNvPr id="21507" name="内容占位符 2"/>
          <p:cNvSpPr>
            <a:spLocks noGrp="1"/>
          </p:cNvSpPr>
          <p:nvPr>
            <p:ph idx="1"/>
          </p:nvPr>
        </p:nvSpPr>
        <p:spPr>
          <a:xfrm>
            <a:off x="468313" y="1125538"/>
            <a:ext cx="6777038" cy="4895850"/>
          </a:xfrm>
        </p:spPr>
        <p:txBody>
          <a:bodyPr/>
          <a:lstStyle/>
          <a:p>
            <a:pPr marL="457200" indent="-457200">
              <a:lnSpc>
                <a:spcPct val="110000"/>
              </a:lnSpc>
              <a:spcBef>
                <a:spcPct val="10000"/>
              </a:spcBef>
              <a:defRPr/>
            </a:pPr>
            <a:r>
              <a:rPr kumimoji="1"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路径</a:t>
            </a:r>
            <a:r>
              <a:rPr kumimoji="1" lang="zh-CN" altLang="en-US" dirty="0">
                <a:latin typeface="+mj-ea"/>
                <a:ea typeface="+mj-ea"/>
              </a:rPr>
              <a:t>：从顶点</a:t>
            </a:r>
            <a:r>
              <a:rPr kumimoji="1" lang="en-US" altLang="zh-CN" dirty="0">
                <a:latin typeface="+mj-ea"/>
              </a:rPr>
              <a:t>v</a:t>
            </a:r>
            <a:r>
              <a:rPr kumimoji="1" lang="zh-CN" altLang="en-US" dirty="0">
                <a:latin typeface="+mj-ea"/>
              </a:rPr>
              <a:t>到顶点</a:t>
            </a:r>
            <a:r>
              <a:rPr kumimoji="1" lang="en-US" altLang="zh-CN" dirty="0">
                <a:latin typeface="+mj-ea"/>
              </a:rPr>
              <a:t>v</a:t>
            </a:r>
            <a:r>
              <a:rPr kumimoji="1" lang="en-US" altLang="zh-CN" dirty="0">
                <a:latin typeface="Cambria Math" panose="02040503050406030204" pitchFamily="18" charset="0"/>
                <a:ea typeface="Cambria Math" panose="02040503050406030204" pitchFamily="18" charset="0"/>
              </a:rPr>
              <a:t>’</a:t>
            </a:r>
            <a:r>
              <a:rPr kumimoji="1" lang="zh-CN" altLang="en-US" dirty="0">
                <a:latin typeface="+mj-ea"/>
                <a:ea typeface="+mj-ea"/>
              </a:rPr>
              <a:t>的路径是一个顶点序列</a:t>
            </a:r>
            <a:r>
              <a:rPr kumimoji="1" lang="en-US" altLang="zh-CN" dirty="0">
                <a:latin typeface="+mj-ea"/>
                <a:ea typeface="+mj-ea"/>
              </a:rPr>
              <a:t>(v=v</a:t>
            </a:r>
            <a:r>
              <a:rPr kumimoji="1" lang="en-US" altLang="zh-CN" sz="1800" dirty="0">
                <a:latin typeface="+mj-ea"/>
                <a:ea typeface="+mj-ea"/>
              </a:rPr>
              <a:t>i0</a:t>
            </a:r>
            <a:r>
              <a:rPr kumimoji="1" lang="en-US" altLang="zh-CN" dirty="0">
                <a:latin typeface="+mj-ea"/>
                <a:ea typeface="+mj-ea"/>
              </a:rPr>
              <a:t>,v</a:t>
            </a:r>
            <a:r>
              <a:rPr kumimoji="1" lang="en-US" altLang="zh-CN" sz="1800" dirty="0">
                <a:latin typeface="+mj-ea"/>
                <a:ea typeface="+mj-ea"/>
              </a:rPr>
              <a:t>i1</a:t>
            </a:r>
            <a:r>
              <a:rPr kumimoji="1" lang="en-US" altLang="zh-CN" dirty="0">
                <a:latin typeface="+mj-ea"/>
                <a:ea typeface="+mj-ea"/>
              </a:rPr>
              <a:t>,…, v</a:t>
            </a:r>
            <a:r>
              <a:rPr kumimoji="1" lang="en-US" altLang="zh-CN" dirty="0">
                <a:latin typeface="Cambria Math" panose="02040503050406030204" pitchFamily="18" charset="0"/>
                <a:ea typeface="Cambria Math" panose="02040503050406030204" pitchFamily="18" charset="0"/>
              </a:rPr>
              <a:t>’</a:t>
            </a:r>
            <a:r>
              <a:rPr kumimoji="1" lang="en-US" altLang="zh-CN" dirty="0">
                <a:latin typeface="+mj-ea"/>
                <a:ea typeface="+mj-ea"/>
              </a:rPr>
              <a:t>=v</a:t>
            </a:r>
            <a:r>
              <a:rPr kumimoji="1" lang="en-US" altLang="zh-CN" sz="1800" dirty="0">
                <a:latin typeface="+mj-ea"/>
                <a:ea typeface="+mj-ea"/>
              </a:rPr>
              <a:t>in</a:t>
            </a:r>
            <a:r>
              <a:rPr kumimoji="1" lang="en-US" altLang="zh-CN" dirty="0">
                <a:latin typeface="+mj-ea"/>
                <a:ea typeface="+mj-ea"/>
              </a:rPr>
              <a:t>}, </a:t>
            </a:r>
            <a:r>
              <a:rPr kumimoji="1" lang="zh-CN" altLang="en-US" dirty="0">
                <a:latin typeface="+mj-ea"/>
                <a:ea typeface="+mj-ea"/>
              </a:rPr>
              <a:t>其中</a:t>
            </a:r>
            <a:r>
              <a:rPr kumimoji="1" lang="zh-CN" altLang="zh-CN" dirty="0">
                <a:latin typeface="+mj-ea"/>
                <a:ea typeface="+mj-ea"/>
              </a:rPr>
              <a:t>(</a:t>
            </a:r>
            <a:r>
              <a:rPr kumimoji="1" lang="en-US" altLang="zh-CN" dirty="0">
                <a:latin typeface="+mj-ea"/>
                <a:ea typeface="+mj-ea"/>
              </a:rPr>
              <a:t>v</a:t>
            </a:r>
            <a:r>
              <a:rPr kumimoji="1" lang="en-US" altLang="zh-CN" sz="1400" dirty="0">
                <a:latin typeface="+mj-ea"/>
                <a:ea typeface="+mj-ea"/>
              </a:rPr>
              <a:t>i(j-1)</a:t>
            </a:r>
            <a:r>
              <a:rPr kumimoji="1" lang="en-US" altLang="zh-CN" dirty="0">
                <a:latin typeface="+mj-ea"/>
                <a:ea typeface="+mj-ea"/>
              </a:rPr>
              <a:t>,</a:t>
            </a:r>
            <a:r>
              <a:rPr kumimoji="1" lang="en-US" altLang="zh-CN" dirty="0" err="1">
                <a:latin typeface="+mj-ea"/>
                <a:ea typeface="+mj-ea"/>
              </a:rPr>
              <a:t>v</a:t>
            </a:r>
            <a:r>
              <a:rPr kumimoji="1" lang="en-US" altLang="zh-CN" sz="1400" dirty="0" err="1">
                <a:latin typeface="+mj-ea"/>
                <a:ea typeface="+mj-ea"/>
              </a:rPr>
              <a:t>ij</a:t>
            </a:r>
            <a:r>
              <a:rPr kumimoji="1" lang="en-US" altLang="zh-CN" dirty="0">
                <a:latin typeface="+mj-ea"/>
                <a:ea typeface="+mj-ea"/>
              </a:rPr>
              <a:t>)</a:t>
            </a:r>
            <a:r>
              <a:rPr kumimoji="1" lang="en-US" altLang="zh-CN" dirty="0">
                <a:latin typeface="+mj-ea"/>
                <a:ea typeface="+mj-ea"/>
                <a:sym typeface="Symbol" panose="05050102010706020507" pitchFamily="18" charset="2"/>
              </a:rPr>
              <a:t>E</a:t>
            </a:r>
            <a:r>
              <a:rPr kumimoji="1" lang="zh-CN" altLang="en-US" dirty="0">
                <a:latin typeface="+mj-ea"/>
                <a:ea typeface="+mj-ea"/>
                <a:sym typeface="Symbol" panose="05050102010706020507" pitchFamily="18" charset="2"/>
              </a:rPr>
              <a:t>或</a:t>
            </a:r>
            <a:r>
              <a:rPr kumimoji="1" lang="en-US" altLang="zh-CN" dirty="0">
                <a:latin typeface="+mj-ea"/>
                <a:ea typeface="+mj-ea"/>
                <a:sym typeface="Symbol" panose="05050102010706020507" pitchFamily="18" charset="2"/>
              </a:rPr>
              <a:t>&lt;</a:t>
            </a:r>
            <a:r>
              <a:rPr kumimoji="1" lang="en-US" altLang="zh-CN" dirty="0">
                <a:solidFill>
                  <a:srgbClr val="000000"/>
                </a:solidFill>
                <a:latin typeface="华文细黑"/>
              </a:rPr>
              <a:t>v</a:t>
            </a:r>
            <a:r>
              <a:rPr kumimoji="1" lang="en-US" altLang="zh-CN" sz="1400" dirty="0">
                <a:solidFill>
                  <a:srgbClr val="000000"/>
                </a:solidFill>
                <a:latin typeface="华文细黑"/>
              </a:rPr>
              <a:t>i(j-1)</a:t>
            </a:r>
            <a:r>
              <a:rPr kumimoji="1" lang="en-US" altLang="zh-CN" dirty="0">
                <a:solidFill>
                  <a:srgbClr val="000000"/>
                </a:solidFill>
                <a:latin typeface="华文细黑"/>
              </a:rPr>
              <a:t>,</a:t>
            </a:r>
            <a:r>
              <a:rPr kumimoji="1" lang="en-US" altLang="zh-CN" dirty="0" err="1">
                <a:solidFill>
                  <a:srgbClr val="000000"/>
                </a:solidFill>
                <a:latin typeface="华文细黑"/>
              </a:rPr>
              <a:t>v</a:t>
            </a:r>
            <a:r>
              <a:rPr kumimoji="1" lang="en-US" altLang="zh-CN" sz="1400" dirty="0" err="1">
                <a:solidFill>
                  <a:srgbClr val="000000"/>
                </a:solidFill>
                <a:latin typeface="华文细黑"/>
              </a:rPr>
              <a:t>ij</a:t>
            </a:r>
            <a:r>
              <a:rPr kumimoji="1" lang="en-US" altLang="zh-CN" dirty="0">
                <a:solidFill>
                  <a:srgbClr val="000000"/>
                </a:solidFill>
                <a:latin typeface="华文细黑"/>
              </a:rPr>
              <a:t>&gt;</a:t>
            </a:r>
            <a:r>
              <a:rPr kumimoji="1" lang="en-US" altLang="zh-CN" dirty="0">
                <a:solidFill>
                  <a:srgbClr val="000000"/>
                </a:solidFill>
                <a:latin typeface="华文细黑"/>
                <a:sym typeface="Symbol" panose="05050102010706020507" pitchFamily="18" charset="2"/>
              </a:rPr>
              <a:t>E</a:t>
            </a:r>
            <a:r>
              <a:rPr kumimoji="1" lang="en-US" altLang="zh-CN" dirty="0">
                <a:latin typeface="+mj-ea"/>
                <a:ea typeface="+mj-ea"/>
                <a:sym typeface="Symbol" panose="05050102010706020507" pitchFamily="18" charset="2"/>
              </a:rPr>
              <a:t>, (1&lt;</a:t>
            </a:r>
            <a:r>
              <a:rPr kumimoji="1" lang="en-US" altLang="zh-CN" dirty="0" err="1">
                <a:latin typeface="+mj-ea"/>
                <a:ea typeface="+mj-ea"/>
                <a:sym typeface="Symbol" panose="05050102010706020507" pitchFamily="18" charset="2"/>
              </a:rPr>
              <a:t>jn</a:t>
            </a:r>
            <a:r>
              <a:rPr kumimoji="1" lang="en-US" altLang="zh-CN" dirty="0">
                <a:latin typeface="+mj-ea"/>
                <a:ea typeface="+mj-ea"/>
                <a:sym typeface="Symbol" panose="05050102010706020507" pitchFamily="18" charset="2"/>
              </a:rPr>
              <a:t>)</a:t>
            </a:r>
          </a:p>
          <a:p>
            <a:pPr marL="857250" lvl="1" indent="-457200">
              <a:lnSpc>
                <a:spcPct val="110000"/>
              </a:lnSpc>
              <a:spcBef>
                <a:spcPct val="10000"/>
              </a:spcBef>
              <a:defRPr/>
            </a:pPr>
            <a:r>
              <a:rPr lang="en-US" altLang="zh-CN" dirty="0">
                <a:latin typeface="+mj-ea"/>
                <a:ea typeface="+mj-ea"/>
              </a:rPr>
              <a:t>(v</a:t>
            </a:r>
            <a:r>
              <a:rPr lang="en-US" altLang="zh-CN" baseline="-25000" dirty="0">
                <a:latin typeface="+mj-ea"/>
                <a:ea typeface="+mj-ea"/>
              </a:rPr>
              <a:t>0</a:t>
            </a:r>
            <a:r>
              <a:rPr lang="en-US" altLang="zh-CN" dirty="0">
                <a:latin typeface="+mj-ea"/>
                <a:ea typeface="+mj-ea"/>
              </a:rPr>
              <a:t>,v</a:t>
            </a:r>
            <a:r>
              <a:rPr lang="en-US" altLang="zh-CN" baseline="-25000" dirty="0">
                <a:latin typeface="+mj-ea"/>
                <a:ea typeface="+mj-ea"/>
              </a:rPr>
              <a:t>1</a:t>
            </a:r>
            <a:r>
              <a:rPr lang="en-US" altLang="zh-CN" dirty="0">
                <a:latin typeface="+mj-ea"/>
                <a:ea typeface="+mj-ea"/>
              </a:rPr>
              <a:t>,v</a:t>
            </a:r>
            <a:r>
              <a:rPr lang="en-US" altLang="zh-CN" baseline="-25000" dirty="0">
                <a:latin typeface="+mj-ea"/>
                <a:ea typeface="+mj-ea"/>
              </a:rPr>
              <a:t>2</a:t>
            </a:r>
            <a:r>
              <a:rPr lang="en-US" altLang="zh-CN" dirty="0">
                <a:latin typeface="+mj-ea"/>
                <a:ea typeface="+mj-ea"/>
              </a:rPr>
              <a:t>,v</a:t>
            </a:r>
            <a:r>
              <a:rPr lang="en-US" altLang="zh-CN" baseline="-25000" dirty="0">
                <a:latin typeface="+mj-ea"/>
                <a:ea typeface="+mj-ea"/>
              </a:rPr>
              <a:t>3</a:t>
            </a:r>
            <a:r>
              <a:rPr kumimoji="1" lang="en-US" altLang="zh-CN" dirty="0">
                <a:latin typeface="+mj-ea"/>
                <a:ea typeface="+mj-ea"/>
                <a:sym typeface="Symbol" panose="05050102010706020507" pitchFamily="18" charset="2"/>
              </a:rPr>
              <a:t> )</a:t>
            </a:r>
            <a:r>
              <a:rPr kumimoji="1" lang="zh-CN" altLang="en-US" dirty="0">
                <a:latin typeface="+mj-ea"/>
                <a:ea typeface="+mj-ea"/>
                <a:sym typeface="Symbol" panose="05050102010706020507" pitchFamily="18" charset="2"/>
              </a:rPr>
              <a:t>和</a:t>
            </a:r>
            <a:r>
              <a:rPr kumimoji="1" lang="en-US" altLang="zh-CN" dirty="0">
                <a:latin typeface="+mj-ea"/>
                <a:ea typeface="+mj-ea"/>
              </a:rPr>
              <a:t>(</a:t>
            </a:r>
            <a:r>
              <a:rPr lang="en-US" altLang="zh-CN" dirty="0">
                <a:latin typeface="+mj-ea"/>
                <a:ea typeface="+mj-ea"/>
              </a:rPr>
              <a:t>v</a:t>
            </a:r>
            <a:r>
              <a:rPr lang="en-US" altLang="zh-CN" baseline="-25000" dirty="0">
                <a:latin typeface="+mj-ea"/>
                <a:ea typeface="+mj-ea"/>
              </a:rPr>
              <a:t>0</a:t>
            </a:r>
            <a:r>
              <a:rPr lang="en-US" altLang="zh-CN" dirty="0">
                <a:latin typeface="+mj-ea"/>
                <a:ea typeface="+mj-ea"/>
              </a:rPr>
              <a:t>,v</a:t>
            </a:r>
            <a:r>
              <a:rPr lang="en-US" altLang="zh-CN" baseline="-25000" dirty="0">
                <a:latin typeface="+mj-ea"/>
                <a:ea typeface="+mj-ea"/>
              </a:rPr>
              <a:t>3</a:t>
            </a:r>
            <a:r>
              <a:rPr kumimoji="1" lang="en-US" altLang="zh-CN" sz="2400" dirty="0">
                <a:latin typeface="+mj-ea"/>
                <a:sym typeface="Symbol" panose="05050102010706020507" pitchFamily="18" charset="2"/>
              </a:rPr>
              <a:t> </a:t>
            </a:r>
            <a:r>
              <a:rPr kumimoji="1" lang="en-US" altLang="zh-CN" dirty="0">
                <a:latin typeface="+mj-ea"/>
                <a:ea typeface="+mj-ea"/>
                <a:sym typeface="Symbol" panose="05050102010706020507" pitchFamily="18" charset="2"/>
              </a:rPr>
              <a:t>)</a:t>
            </a:r>
            <a:r>
              <a:rPr kumimoji="1" lang="zh-CN" altLang="en-US" dirty="0">
                <a:latin typeface="+mj-ea"/>
                <a:ea typeface="+mj-ea"/>
                <a:sym typeface="Symbol" panose="05050102010706020507" pitchFamily="18" charset="2"/>
              </a:rPr>
              <a:t>均为从</a:t>
            </a:r>
            <a:r>
              <a:rPr lang="en-US" altLang="zh-CN" sz="3200" dirty="0">
                <a:solidFill>
                  <a:srgbClr val="000000"/>
                </a:solidFill>
                <a:latin typeface="华文细黑"/>
                <a:cs typeface="+mn-cs"/>
              </a:rPr>
              <a:t>v</a:t>
            </a:r>
            <a:r>
              <a:rPr lang="en-US" altLang="zh-CN" sz="3200" baseline="-25000" dirty="0">
                <a:solidFill>
                  <a:srgbClr val="000000"/>
                </a:solidFill>
                <a:latin typeface="华文细黑"/>
                <a:cs typeface="+mn-cs"/>
              </a:rPr>
              <a:t>0</a:t>
            </a:r>
            <a:r>
              <a:rPr lang="zh-CN" altLang="en-US" sz="3200" dirty="0">
                <a:solidFill>
                  <a:srgbClr val="000000"/>
                </a:solidFill>
                <a:latin typeface="华文细黑"/>
                <a:cs typeface="+mn-cs"/>
              </a:rPr>
              <a:t>到</a:t>
            </a:r>
            <a:r>
              <a:rPr lang="en-US" altLang="zh-CN" sz="3200" dirty="0">
                <a:solidFill>
                  <a:srgbClr val="000000"/>
                </a:solidFill>
                <a:latin typeface="华文细黑"/>
                <a:cs typeface="+mn-cs"/>
              </a:rPr>
              <a:t>v</a:t>
            </a:r>
            <a:r>
              <a:rPr lang="en-US" altLang="zh-CN" sz="3200" baseline="-25000" dirty="0">
                <a:solidFill>
                  <a:srgbClr val="000000"/>
                </a:solidFill>
                <a:latin typeface="华文细黑"/>
                <a:cs typeface="+mn-cs"/>
              </a:rPr>
              <a:t>3</a:t>
            </a:r>
            <a:r>
              <a:rPr lang="zh-CN" altLang="en-US" sz="3200" dirty="0">
                <a:solidFill>
                  <a:srgbClr val="000000"/>
                </a:solidFill>
                <a:latin typeface="华文细黑"/>
                <a:cs typeface="+mn-cs"/>
              </a:rPr>
              <a:t>的一条路径</a:t>
            </a:r>
            <a:endParaRPr kumimoji="1" lang="en-US" altLang="zh-CN" dirty="0">
              <a:latin typeface="+mj-ea"/>
              <a:ea typeface="+mj-ea"/>
            </a:endParaRPr>
          </a:p>
          <a:p>
            <a:pPr marL="457200" indent="-457200">
              <a:lnSpc>
                <a:spcPct val="110000"/>
              </a:lnSpc>
              <a:spcBef>
                <a:spcPct val="10000"/>
              </a:spcBef>
              <a:defRPr/>
            </a:pPr>
            <a:r>
              <a:rPr kumimoji="1"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路径长度</a:t>
            </a:r>
            <a:r>
              <a:rPr kumimoji="1" lang="zh-CN" altLang="en-US" dirty="0">
                <a:latin typeface="+mj-ea"/>
                <a:ea typeface="+mj-ea"/>
              </a:rPr>
              <a:t>：沿路径边</a:t>
            </a:r>
            <a:r>
              <a:rPr kumimoji="1" lang="en-US" altLang="zh-CN" dirty="0">
                <a:latin typeface="+mj-ea"/>
                <a:ea typeface="+mj-ea"/>
              </a:rPr>
              <a:t>/</a:t>
            </a:r>
            <a:r>
              <a:rPr kumimoji="1" lang="zh-CN" altLang="en-US" dirty="0">
                <a:latin typeface="+mj-ea"/>
                <a:ea typeface="+mj-ea"/>
              </a:rPr>
              <a:t>弧的数目或沿路径各边权值之和</a:t>
            </a:r>
            <a:endParaRPr kumimoji="1" lang="en-US" altLang="zh-CN" dirty="0">
              <a:latin typeface="+mj-ea"/>
              <a:ea typeface="+mj-ea"/>
            </a:endParaRPr>
          </a:p>
          <a:p>
            <a:pPr marL="857250" lvl="1" indent="-457200">
              <a:lnSpc>
                <a:spcPct val="110000"/>
              </a:lnSpc>
              <a:spcBef>
                <a:spcPct val="10000"/>
              </a:spcBef>
              <a:defRPr/>
            </a:pPr>
            <a:endParaRPr kumimoji="1" lang="en-US" altLang="zh-CN" b="1" dirty="0">
              <a:ea typeface="楷体_GB2312" pitchFamily="49" charset="-122"/>
            </a:endParaRPr>
          </a:p>
        </p:txBody>
      </p:sp>
      <p:sp>
        <p:nvSpPr>
          <p:cNvPr id="14340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C8B1B9E-5C59-4D1C-B434-60E8733C7B4D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zh-CN" altLang="en-US" sz="1000"/>
          </a:p>
        </p:txBody>
      </p:sp>
      <p:grpSp>
        <p:nvGrpSpPr>
          <p:cNvPr id="10" name="Group 26"/>
          <p:cNvGrpSpPr>
            <a:grpSpLocks/>
          </p:cNvGrpSpPr>
          <p:nvPr/>
        </p:nvGrpSpPr>
        <p:grpSpPr bwMode="auto">
          <a:xfrm>
            <a:off x="7069138" y="4509294"/>
            <a:ext cx="1635125" cy="1847850"/>
            <a:chOff x="1213" y="1097"/>
            <a:chExt cx="1030" cy="1164"/>
          </a:xfrm>
        </p:grpSpPr>
        <p:sp>
          <p:nvSpPr>
            <p:cNvPr id="14343" name="Oval 28"/>
            <p:cNvSpPr>
              <a:spLocks noChangeArrowheads="1"/>
            </p:cNvSpPr>
            <p:nvPr/>
          </p:nvSpPr>
          <p:spPr bwMode="auto">
            <a:xfrm>
              <a:off x="1291" y="1170"/>
              <a:ext cx="200" cy="21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4344" name="Oval 29"/>
            <p:cNvSpPr>
              <a:spLocks noChangeArrowheads="1"/>
            </p:cNvSpPr>
            <p:nvPr/>
          </p:nvSpPr>
          <p:spPr bwMode="auto">
            <a:xfrm>
              <a:off x="1954" y="1888"/>
              <a:ext cx="200" cy="21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14345" name="Oval 30"/>
            <p:cNvSpPr>
              <a:spLocks noChangeArrowheads="1"/>
            </p:cNvSpPr>
            <p:nvPr/>
          </p:nvSpPr>
          <p:spPr bwMode="auto">
            <a:xfrm>
              <a:off x="1625" y="1555"/>
              <a:ext cx="200" cy="21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14346" name="Oval 31"/>
            <p:cNvSpPr>
              <a:spLocks noChangeArrowheads="1"/>
            </p:cNvSpPr>
            <p:nvPr/>
          </p:nvSpPr>
          <p:spPr bwMode="auto">
            <a:xfrm>
              <a:off x="1954" y="1177"/>
              <a:ext cx="200" cy="21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14347" name="Oval 32"/>
            <p:cNvSpPr>
              <a:spLocks noChangeArrowheads="1"/>
            </p:cNvSpPr>
            <p:nvPr/>
          </p:nvSpPr>
          <p:spPr bwMode="auto">
            <a:xfrm>
              <a:off x="1291" y="1888"/>
              <a:ext cx="200" cy="21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14348" name="Text Box 33"/>
            <p:cNvSpPr txBox="1">
              <a:spLocks noChangeArrowheads="1"/>
            </p:cNvSpPr>
            <p:nvPr/>
          </p:nvSpPr>
          <p:spPr bwMode="auto">
            <a:xfrm>
              <a:off x="1649" y="2011"/>
              <a:ext cx="1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1" lang="zh-CN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349" name="Line 34"/>
            <p:cNvSpPr>
              <a:spLocks noChangeShapeType="1"/>
            </p:cNvSpPr>
            <p:nvPr/>
          </p:nvSpPr>
          <p:spPr bwMode="auto">
            <a:xfrm>
              <a:off x="1489" y="1285"/>
              <a:ext cx="4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50" name="Line 35"/>
            <p:cNvSpPr>
              <a:spLocks noChangeShapeType="1"/>
            </p:cNvSpPr>
            <p:nvPr/>
          </p:nvSpPr>
          <p:spPr bwMode="auto">
            <a:xfrm>
              <a:off x="1378" y="1385"/>
              <a:ext cx="0" cy="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51" name="Line 36"/>
            <p:cNvSpPr>
              <a:spLocks noChangeShapeType="1"/>
            </p:cNvSpPr>
            <p:nvPr/>
          </p:nvSpPr>
          <p:spPr bwMode="auto">
            <a:xfrm>
              <a:off x="2078" y="1385"/>
              <a:ext cx="0" cy="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52" name="Line 37"/>
            <p:cNvSpPr>
              <a:spLocks noChangeShapeType="1"/>
            </p:cNvSpPr>
            <p:nvPr/>
          </p:nvSpPr>
          <p:spPr bwMode="auto">
            <a:xfrm>
              <a:off x="1778" y="1741"/>
              <a:ext cx="211" cy="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53" name="Line 38"/>
            <p:cNvSpPr>
              <a:spLocks noChangeShapeType="1"/>
            </p:cNvSpPr>
            <p:nvPr/>
          </p:nvSpPr>
          <p:spPr bwMode="auto">
            <a:xfrm flipH="1">
              <a:off x="1767" y="1374"/>
              <a:ext cx="222" cy="2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54" name="Line 39"/>
            <p:cNvSpPr>
              <a:spLocks noChangeShapeType="1"/>
            </p:cNvSpPr>
            <p:nvPr/>
          </p:nvSpPr>
          <p:spPr bwMode="auto">
            <a:xfrm flipH="1">
              <a:off x="1467" y="1741"/>
              <a:ext cx="189" cy="1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55" name="Line 40"/>
            <p:cNvSpPr>
              <a:spLocks noChangeShapeType="1"/>
            </p:cNvSpPr>
            <p:nvPr/>
          </p:nvSpPr>
          <p:spPr bwMode="auto">
            <a:xfrm>
              <a:off x="1489" y="2022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56" name="Line 41"/>
            <p:cNvSpPr>
              <a:spLocks noChangeShapeType="1"/>
            </p:cNvSpPr>
            <p:nvPr/>
          </p:nvSpPr>
          <p:spPr bwMode="auto">
            <a:xfrm>
              <a:off x="1434" y="1333"/>
              <a:ext cx="244" cy="2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57" name="Text Box 42"/>
            <p:cNvSpPr txBox="1">
              <a:spLocks noChangeArrowheads="1"/>
            </p:cNvSpPr>
            <p:nvPr/>
          </p:nvSpPr>
          <p:spPr bwMode="auto">
            <a:xfrm>
              <a:off x="1213" y="1497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14358" name="Text Box 43"/>
            <p:cNvSpPr txBox="1">
              <a:spLocks noChangeArrowheads="1"/>
            </p:cNvSpPr>
            <p:nvPr/>
          </p:nvSpPr>
          <p:spPr bwMode="auto">
            <a:xfrm>
              <a:off x="1636" y="1097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14359" name="Text Box 44"/>
            <p:cNvSpPr txBox="1">
              <a:spLocks noChangeArrowheads="1"/>
            </p:cNvSpPr>
            <p:nvPr/>
          </p:nvSpPr>
          <p:spPr bwMode="auto">
            <a:xfrm>
              <a:off x="1513" y="1308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14360" name="Text Box 45"/>
            <p:cNvSpPr txBox="1">
              <a:spLocks noChangeArrowheads="1"/>
            </p:cNvSpPr>
            <p:nvPr/>
          </p:nvSpPr>
          <p:spPr bwMode="auto">
            <a:xfrm>
              <a:off x="1458" y="1653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4361" name="Text Box 46"/>
            <p:cNvSpPr txBox="1">
              <a:spLocks noChangeArrowheads="1"/>
            </p:cNvSpPr>
            <p:nvPr/>
          </p:nvSpPr>
          <p:spPr bwMode="auto">
            <a:xfrm>
              <a:off x="1813" y="1452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14362" name="Text Box 47"/>
            <p:cNvSpPr txBox="1">
              <a:spLocks noChangeArrowheads="1"/>
            </p:cNvSpPr>
            <p:nvPr/>
          </p:nvSpPr>
          <p:spPr bwMode="auto">
            <a:xfrm>
              <a:off x="1724" y="1753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14363" name="Text Box 48"/>
            <p:cNvSpPr txBox="1">
              <a:spLocks noChangeArrowheads="1"/>
            </p:cNvSpPr>
            <p:nvPr/>
          </p:nvSpPr>
          <p:spPr bwMode="auto">
            <a:xfrm>
              <a:off x="2047" y="1508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14364" name="Text Box 49"/>
            <p:cNvSpPr txBox="1">
              <a:spLocks noChangeArrowheads="1"/>
            </p:cNvSpPr>
            <p:nvPr/>
          </p:nvSpPr>
          <p:spPr bwMode="auto">
            <a:xfrm>
              <a:off x="1624" y="1976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</p:grpSp>
      <p:grpSp>
        <p:nvGrpSpPr>
          <p:cNvPr id="78" name="组合 77"/>
          <p:cNvGrpSpPr/>
          <p:nvPr/>
        </p:nvGrpSpPr>
        <p:grpSpPr>
          <a:xfrm>
            <a:off x="7020272" y="1218407"/>
            <a:ext cx="1806582" cy="1655762"/>
            <a:chOff x="6235701" y="3859213"/>
            <a:chExt cx="1806582" cy="1655762"/>
          </a:xfrm>
        </p:grpSpPr>
        <p:sp>
          <p:nvSpPr>
            <p:cNvPr id="79" name="Line 10"/>
            <p:cNvSpPr>
              <a:spLocks noChangeShapeType="1"/>
            </p:cNvSpPr>
            <p:nvPr/>
          </p:nvSpPr>
          <p:spPr bwMode="auto">
            <a:xfrm>
              <a:off x="6477000" y="4405313"/>
              <a:ext cx="0" cy="658812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Line 11"/>
            <p:cNvSpPr>
              <a:spLocks noChangeShapeType="1"/>
            </p:cNvSpPr>
            <p:nvPr/>
          </p:nvSpPr>
          <p:spPr bwMode="auto">
            <a:xfrm>
              <a:off x="6748463" y="4129088"/>
              <a:ext cx="755650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Line 12"/>
            <p:cNvSpPr>
              <a:spLocks noChangeShapeType="1"/>
            </p:cNvSpPr>
            <p:nvPr/>
          </p:nvSpPr>
          <p:spPr bwMode="auto">
            <a:xfrm>
              <a:off x="7720013" y="4405313"/>
              <a:ext cx="0" cy="658812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Line 13"/>
            <p:cNvSpPr>
              <a:spLocks noChangeShapeType="1"/>
            </p:cNvSpPr>
            <p:nvPr/>
          </p:nvSpPr>
          <p:spPr bwMode="auto">
            <a:xfrm flipH="1">
              <a:off x="6692900" y="4899025"/>
              <a:ext cx="271463" cy="274638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Line 14"/>
            <p:cNvSpPr>
              <a:spLocks noChangeShapeType="1"/>
            </p:cNvSpPr>
            <p:nvPr/>
          </p:nvSpPr>
          <p:spPr bwMode="auto">
            <a:xfrm flipH="1">
              <a:off x="7288213" y="4349750"/>
              <a:ext cx="271462" cy="274638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Line 15"/>
            <p:cNvSpPr>
              <a:spLocks noChangeShapeType="1"/>
            </p:cNvSpPr>
            <p:nvPr/>
          </p:nvSpPr>
          <p:spPr bwMode="auto">
            <a:xfrm>
              <a:off x="7267575" y="4935538"/>
              <a:ext cx="236538" cy="233362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5" name="Group 16"/>
            <p:cNvGrpSpPr>
              <a:grpSpLocks/>
            </p:cNvGrpSpPr>
            <p:nvPr/>
          </p:nvGrpSpPr>
          <p:grpSpPr bwMode="auto">
            <a:xfrm>
              <a:off x="6235701" y="3871913"/>
              <a:ext cx="647700" cy="500062"/>
              <a:chOff x="422" y="1662"/>
              <a:chExt cx="408" cy="315"/>
            </a:xfrm>
          </p:grpSpPr>
          <p:sp>
            <p:nvSpPr>
              <p:cNvPr id="98" name="Oval 17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99" name="Text Box 18"/>
              <p:cNvSpPr txBox="1">
                <a:spLocks noChangeArrowheads="1"/>
              </p:cNvSpPr>
              <p:nvPr/>
            </p:nvSpPr>
            <p:spPr bwMode="auto">
              <a:xfrm>
                <a:off x="422" y="1662"/>
                <a:ext cx="408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</a:t>
                </a:r>
                <a:r>
                  <a:rPr lang="en-US" altLang="zh-CN" sz="2400" b="1" baseline="-25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</a:p>
            </p:txBody>
          </p:sp>
        </p:grpSp>
        <p:grpSp>
          <p:nvGrpSpPr>
            <p:cNvPr id="86" name="Group 19"/>
            <p:cNvGrpSpPr>
              <a:grpSpLocks/>
            </p:cNvGrpSpPr>
            <p:nvPr/>
          </p:nvGrpSpPr>
          <p:grpSpPr bwMode="auto">
            <a:xfrm>
              <a:off x="7394575" y="4986338"/>
              <a:ext cx="647700" cy="528637"/>
              <a:chOff x="434" y="1644"/>
              <a:chExt cx="408" cy="333"/>
            </a:xfrm>
          </p:grpSpPr>
          <p:sp>
            <p:nvSpPr>
              <p:cNvPr id="96" name="Oval 20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97" name="Text Box 21"/>
              <p:cNvSpPr txBox="1">
                <a:spLocks noChangeArrowheads="1"/>
              </p:cNvSpPr>
              <p:nvPr/>
            </p:nvSpPr>
            <p:spPr bwMode="auto">
              <a:xfrm>
                <a:off x="434" y="1644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</a:t>
                </a:r>
                <a:r>
                  <a:rPr lang="en-US" altLang="zh-CN" sz="2400" b="1" baseline="-25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4</a:t>
                </a:r>
              </a:p>
            </p:txBody>
          </p:sp>
        </p:grpSp>
        <p:grpSp>
          <p:nvGrpSpPr>
            <p:cNvPr id="87" name="Group 22"/>
            <p:cNvGrpSpPr>
              <a:grpSpLocks/>
            </p:cNvGrpSpPr>
            <p:nvPr/>
          </p:nvGrpSpPr>
          <p:grpSpPr bwMode="auto">
            <a:xfrm>
              <a:off x="6246813" y="4999038"/>
              <a:ext cx="647700" cy="515937"/>
              <a:chOff x="431" y="1652"/>
              <a:chExt cx="408" cy="325"/>
            </a:xfrm>
          </p:grpSpPr>
          <p:sp>
            <p:nvSpPr>
              <p:cNvPr id="94" name="Oval 23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95" name="Text Box 24"/>
              <p:cNvSpPr txBox="1">
                <a:spLocks noChangeArrowheads="1"/>
              </p:cNvSpPr>
              <p:nvPr/>
            </p:nvSpPr>
            <p:spPr bwMode="auto">
              <a:xfrm>
                <a:off x="431" y="1652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</a:t>
                </a:r>
                <a:r>
                  <a:rPr lang="en-US" altLang="zh-CN" sz="2400" b="1" baseline="-25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3</a:t>
                </a:r>
              </a:p>
            </p:txBody>
          </p:sp>
        </p:grpSp>
        <p:grpSp>
          <p:nvGrpSpPr>
            <p:cNvPr id="88" name="Group 25"/>
            <p:cNvGrpSpPr>
              <a:grpSpLocks/>
            </p:cNvGrpSpPr>
            <p:nvPr/>
          </p:nvGrpSpPr>
          <p:grpSpPr bwMode="auto">
            <a:xfrm>
              <a:off x="7394582" y="3859213"/>
              <a:ext cx="647701" cy="508000"/>
              <a:chOff x="2952" y="3286"/>
              <a:chExt cx="408" cy="320"/>
            </a:xfrm>
          </p:grpSpPr>
          <p:sp>
            <p:nvSpPr>
              <p:cNvPr id="92" name="Oval 26"/>
              <p:cNvSpPr>
                <a:spLocks noChangeArrowheads="1"/>
              </p:cNvSpPr>
              <p:nvPr/>
            </p:nvSpPr>
            <p:spPr bwMode="auto">
              <a:xfrm>
                <a:off x="2976" y="3312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93" name="Text Box 27"/>
              <p:cNvSpPr txBox="1">
                <a:spLocks noChangeArrowheads="1"/>
              </p:cNvSpPr>
              <p:nvPr/>
            </p:nvSpPr>
            <p:spPr bwMode="auto">
              <a:xfrm>
                <a:off x="2952" y="3286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</a:t>
                </a:r>
                <a:r>
                  <a:rPr lang="en-US" altLang="zh-CN" sz="2400" b="1" baseline="-25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</a:p>
            </p:txBody>
          </p:sp>
        </p:grpSp>
        <p:grpSp>
          <p:nvGrpSpPr>
            <p:cNvPr id="89" name="Group 28"/>
            <p:cNvGrpSpPr>
              <a:grpSpLocks/>
            </p:cNvGrpSpPr>
            <p:nvPr/>
          </p:nvGrpSpPr>
          <p:grpSpPr bwMode="auto">
            <a:xfrm>
              <a:off x="6804026" y="4484695"/>
              <a:ext cx="647700" cy="514351"/>
              <a:chOff x="1029" y="2274"/>
              <a:chExt cx="408" cy="324"/>
            </a:xfrm>
          </p:grpSpPr>
          <p:sp>
            <p:nvSpPr>
              <p:cNvPr id="90" name="Oval 29"/>
              <p:cNvSpPr>
                <a:spLocks noChangeArrowheads="1"/>
              </p:cNvSpPr>
              <p:nvPr/>
            </p:nvSpPr>
            <p:spPr bwMode="auto">
              <a:xfrm>
                <a:off x="1056" y="2304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91" name="Text Box 30"/>
              <p:cNvSpPr txBox="1">
                <a:spLocks noChangeArrowheads="1"/>
              </p:cNvSpPr>
              <p:nvPr/>
            </p:nvSpPr>
            <p:spPr bwMode="auto">
              <a:xfrm>
                <a:off x="1029" y="2274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</a:t>
                </a:r>
                <a:r>
                  <a:rPr lang="en-US" altLang="zh-CN" sz="2400" b="1" baseline="-25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基本术语</a:t>
            </a:r>
          </a:p>
        </p:txBody>
      </p:sp>
      <p:sp>
        <p:nvSpPr>
          <p:cNvPr id="15363" name="内容占位符 2"/>
          <p:cNvSpPr>
            <a:spLocks noGrp="1"/>
          </p:cNvSpPr>
          <p:nvPr>
            <p:ph idx="1"/>
          </p:nvPr>
        </p:nvSpPr>
        <p:spPr>
          <a:xfrm>
            <a:off x="468313" y="1125538"/>
            <a:ext cx="5883275" cy="5183782"/>
          </a:xfrm>
        </p:spPr>
        <p:txBody>
          <a:bodyPr/>
          <a:lstStyle/>
          <a:p>
            <a:pPr marL="457200" indent="-457200">
              <a:lnSpc>
                <a:spcPct val="110000"/>
              </a:lnSpc>
              <a:spcBef>
                <a:spcPct val="10000"/>
              </a:spcBef>
              <a:defRPr/>
            </a:pPr>
            <a:r>
              <a:rPr kumimoji="1" lang="zh-CN" altLang="en-US" b="1" dirty="0">
                <a:solidFill>
                  <a:srgbClr val="FF0000"/>
                </a:solidFill>
                <a:latin typeface="+mj-ea"/>
              </a:rPr>
              <a:t>回路或环</a:t>
            </a:r>
            <a:r>
              <a:rPr kumimoji="1" lang="zh-CN" altLang="en-US" dirty="0">
                <a:latin typeface="+mj-ea"/>
              </a:rPr>
              <a:t>：第一个顶点和最后一个顶点相同的路径</a:t>
            </a:r>
            <a:endParaRPr kumimoji="1" lang="en-US" altLang="zh-CN" dirty="0">
              <a:latin typeface="+mj-ea"/>
            </a:endParaRPr>
          </a:p>
          <a:p>
            <a:pPr marL="857250" lvl="1" indent="-457200">
              <a:lnSpc>
                <a:spcPct val="110000"/>
              </a:lnSpc>
              <a:spcBef>
                <a:spcPct val="10000"/>
              </a:spcBef>
              <a:defRPr/>
            </a:pPr>
            <a:r>
              <a:rPr lang="en-US" altLang="zh-CN" dirty="0">
                <a:latin typeface="+mj-ea"/>
              </a:rPr>
              <a:t>(v</a:t>
            </a:r>
            <a:r>
              <a:rPr lang="en-US" altLang="zh-CN" baseline="-25000" dirty="0">
                <a:latin typeface="+mj-ea"/>
              </a:rPr>
              <a:t>0</a:t>
            </a:r>
            <a:r>
              <a:rPr lang="en-US" altLang="zh-CN" dirty="0">
                <a:latin typeface="+mj-ea"/>
              </a:rPr>
              <a:t>,v</a:t>
            </a:r>
            <a:r>
              <a:rPr lang="en-US" altLang="zh-CN" baseline="-25000" dirty="0">
                <a:latin typeface="+mj-ea"/>
              </a:rPr>
              <a:t>1</a:t>
            </a:r>
            <a:r>
              <a:rPr lang="en-US" altLang="zh-CN" dirty="0">
                <a:latin typeface="+mj-ea"/>
              </a:rPr>
              <a:t>,v</a:t>
            </a:r>
            <a:r>
              <a:rPr lang="en-US" altLang="zh-CN" baseline="-25000" dirty="0">
                <a:latin typeface="+mj-ea"/>
              </a:rPr>
              <a:t>2</a:t>
            </a:r>
            <a:r>
              <a:rPr lang="en-US" altLang="zh-CN" dirty="0">
                <a:latin typeface="+mj-ea"/>
              </a:rPr>
              <a:t>,v</a:t>
            </a:r>
            <a:r>
              <a:rPr lang="en-US" altLang="zh-CN" baseline="-25000" dirty="0">
                <a:latin typeface="+mj-ea"/>
              </a:rPr>
              <a:t>3</a:t>
            </a:r>
            <a:r>
              <a:rPr lang="en-US" altLang="zh-CN" dirty="0">
                <a:latin typeface="+mj-ea"/>
              </a:rPr>
              <a:t>,v</a:t>
            </a:r>
            <a:r>
              <a:rPr lang="en-US" altLang="zh-CN" baseline="-25000" dirty="0">
                <a:latin typeface="+mj-ea"/>
              </a:rPr>
              <a:t>0</a:t>
            </a:r>
            <a:r>
              <a:rPr lang="en-US" altLang="zh-CN" dirty="0">
                <a:latin typeface="+mj-ea"/>
              </a:rPr>
              <a:t>)【</a:t>
            </a:r>
            <a:r>
              <a:rPr lang="zh-CN" altLang="en-US" dirty="0">
                <a:latin typeface="+mj-ea"/>
              </a:rPr>
              <a:t>上图</a:t>
            </a:r>
            <a:r>
              <a:rPr lang="en-US" altLang="zh-CN" dirty="0">
                <a:latin typeface="+mj-ea"/>
              </a:rPr>
              <a:t>】</a:t>
            </a:r>
          </a:p>
          <a:p>
            <a:pPr marL="857250" lvl="1" indent="-457200">
              <a:lnSpc>
                <a:spcPct val="110000"/>
              </a:lnSpc>
              <a:spcBef>
                <a:spcPct val="10000"/>
              </a:spcBef>
              <a:buNone/>
              <a:defRPr/>
            </a:pPr>
            <a:r>
              <a:rPr lang="en-US" altLang="zh-CN" dirty="0">
                <a:latin typeface="+mj-ea"/>
              </a:rPr>
              <a:t>	</a:t>
            </a:r>
            <a:r>
              <a:rPr lang="zh-CN" altLang="en-US" dirty="0">
                <a:latin typeface="+mj-ea"/>
              </a:rPr>
              <a:t>或</a:t>
            </a:r>
            <a:r>
              <a:rPr lang="en-US" altLang="zh-CN" dirty="0">
                <a:latin typeface="+mj-ea"/>
              </a:rPr>
              <a:t>(V</a:t>
            </a:r>
            <a:r>
              <a:rPr lang="en-US" altLang="zh-CN" baseline="-25000" dirty="0">
                <a:latin typeface="+mj-ea"/>
              </a:rPr>
              <a:t>0</a:t>
            </a:r>
            <a:r>
              <a:rPr lang="en-US" altLang="zh-CN" dirty="0">
                <a:latin typeface="+mj-ea"/>
              </a:rPr>
              <a:t>,V</a:t>
            </a:r>
            <a:r>
              <a:rPr lang="en-US" altLang="zh-CN" baseline="-25000" dirty="0">
                <a:latin typeface="+mj-ea"/>
              </a:rPr>
              <a:t>2</a:t>
            </a:r>
            <a:r>
              <a:rPr lang="en-US" altLang="zh-CN" dirty="0">
                <a:latin typeface="+mj-ea"/>
              </a:rPr>
              <a:t>,V</a:t>
            </a:r>
            <a:r>
              <a:rPr lang="en-US" altLang="zh-CN" baseline="-25000" dirty="0">
                <a:latin typeface="+mj-ea"/>
              </a:rPr>
              <a:t>3</a:t>
            </a:r>
            <a:r>
              <a:rPr lang="en-US" altLang="zh-CN" dirty="0">
                <a:latin typeface="+mj-ea"/>
              </a:rPr>
              <a:t>,V</a:t>
            </a:r>
            <a:r>
              <a:rPr lang="en-US" altLang="zh-CN" baseline="-25000" dirty="0">
                <a:latin typeface="+mj-ea"/>
              </a:rPr>
              <a:t>0</a:t>
            </a:r>
            <a:r>
              <a:rPr lang="en-US" altLang="zh-CN" dirty="0">
                <a:latin typeface="+mj-ea"/>
              </a:rPr>
              <a:t>)【</a:t>
            </a:r>
            <a:r>
              <a:rPr lang="zh-CN" altLang="en-US" dirty="0">
                <a:latin typeface="+mj-ea"/>
              </a:rPr>
              <a:t>下图</a:t>
            </a:r>
            <a:r>
              <a:rPr lang="en-US" altLang="zh-CN" dirty="0">
                <a:latin typeface="+mj-ea"/>
              </a:rPr>
              <a:t>】</a:t>
            </a:r>
            <a:endParaRPr kumimoji="1" lang="en-US" altLang="zh-CN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r>
              <a:rPr kumimoji="1"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简单路径</a:t>
            </a:r>
            <a:r>
              <a:rPr kumimoji="1" lang="zh-CN" altLang="en-US" dirty="0">
                <a:latin typeface="宋体" panose="02010600030101010101" pitchFamily="2" charset="-122"/>
              </a:rPr>
              <a:t>：在一条路径中</a:t>
            </a:r>
            <a:r>
              <a:rPr kumimoji="1" lang="en-US" altLang="zh-CN" dirty="0">
                <a:latin typeface="宋体" panose="02010600030101010101" pitchFamily="2" charset="-122"/>
              </a:rPr>
              <a:t>,</a:t>
            </a:r>
            <a:r>
              <a:rPr kumimoji="1" lang="zh-CN" altLang="en-US" dirty="0">
                <a:latin typeface="宋体" panose="02010600030101010101" pitchFamily="2" charset="-122"/>
              </a:rPr>
              <a:t>序列中顶点不重复出现的路径</a:t>
            </a:r>
            <a:endParaRPr kumimoji="1" lang="en-US" altLang="zh-CN" dirty="0">
              <a:latin typeface="宋体" panose="02010600030101010101" pitchFamily="2" charset="-122"/>
            </a:endParaRPr>
          </a:p>
          <a:p>
            <a:r>
              <a:rPr kumimoji="1"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简单回路</a:t>
            </a:r>
            <a:r>
              <a:rPr kumimoji="1" lang="zh-CN" altLang="en-US" dirty="0">
                <a:latin typeface="宋体" panose="02010600030101010101" pitchFamily="2" charset="-122"/>
              </a:rPr>
              <a:t>：除了第一个顶点和最后一个顶点外，其余顶点不重复出现的回路</a:t>
            </a:r>
            <a:endParaRPr lang="zh-CN" altLang="en-US" dirty="0"/>
          </a:p>
        </p:txBody>
      </p:sp>
      <p:sp>
        <p:nvSpPr>
          <p:cNvPr id="15364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92D0ECE-8A1A-4673-80AD-4620C0AA2D48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zh-CN" altLang="en-US" sz="1000"/>
          </a:p>
        </p:txBody>
      </p:sp>
      <p:grpSp>
        <p:nvGrpSpPr>
          <p:cNvPr id="107" name="组合 106"/>
          <p:cNvGrpSpPr/>
          <p:nvPr/>
        </p:nvGrpSpPr>
        <p:grpSpPr>
          <a:xfrm>
            <a:off x="6716428" y="1203521"/>
            <a:ext cx="1806582" cy="1655762"/>
            <a:chOff x="6235701" y="3859213"/>
            <a:chExt cx="1806582" cy="1655762"/>
          </a:xfrm>
        </p:grpSpPr>
        <p:sp>
          <p:nvSpPr>
            <p:cNvPr id="108" name="Line 10"/>
            <p:cNvSpPr>
              <a:spLocks noChangeShapeType="1"/>
            </p:cNvSpPr>
            <p:nvPr/>
          </p:nvSpPr>
          <p:spPr bwMode="auto">
            <a:xfrm>
              <a:off x="6477000" y="4405313"/>
              <a:ext cx="0" cy="658812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Line 11"/>
            <p:cNvSpPr>
              <a:spLocks noChangeShapeType="1"/>
            </p:cNvSpPr>
            <p:nvPr/>
          </p:nvSpPr>
          <p:spPr bwMode="auto">
            <a:xfrm>
              <a:off x="6748463" y="4129088"/>
              <a:ext cx="755650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Line 12"/>
            <p:cNvSpPr>
              <a:spLocks noChangeShapeType="1"/>
            </p:cNvSpPr>
            <p:nvPr/>
          </p:nvSpPr>
          <p:spPr bwMode="auto">
            <a:xfrm>
              <a:off x="7720013" y="4405313"/>
              <a:ext cx="0" cy="658812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Line 13"/>
            <p:cNvSpPr>
              <a:spLocks noChangeShapeType="1"/>
            </p:cNvSpPr>
            <p:nvPr/>
          </p:nvSpPr>
          <p:spPr bwMode="auto">
            <a:xfrm flipH="1">
              <a:off x="6692900" y="4899025"/>
              <a:ext cx="271463" cy="274638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Line 14"/>
            <p:cNvSpPr>
              <a:spLocks noChangeShapeType="1"/>
            </p:cNvSpPr>
            <p:nvPr/>
          </p:nvSpPr>
          <p:spPr bwMode="auto">
            <a:xfrm flipH="1">
              <a:off x="7288213" y="4349750"/>
              <a:ext cx="271462" cy="274638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Line 15"/>
            <p:cNvSpPr>
              <a:spLocks noChangeShapeType="1"/>
            </p:cNvSpPr>
            <p:nvPr/>
          </p:nvSpPr>
          <p:spPr bwMode="auto">
            <a:xfrm>
              <a:off x="7267575" y="4935538"/>
              <a:ext cx="236538" cy="233362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4" name="Group 16"/>
            <p:cNvGrpSpPr>
              <a:grpSpLocks/>
            </p:cNvGrpSpPr>
            <p:nvPr/>
          </p:nvGrpSpPr>
          <p:grpSpPr bwMode="auto">
            <a:xfrm>
              <a:off x="6235701" y="3871913"/>
              <a:ext cx="647700" cy="500062"/>
              <a:chOff x="422" y="1662"/>
              <a:chExt cx="408" cy="315"/>
            </a:xfrm>
          </p:grpSpPr>
          <p:sp>
            <p:nvSpPr>
              <p:cNvPr id="127" name="Oval 17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128" name="Text Box 18"/>
              <p:cNvSpPr txBox="1">
                <a:spLocks noChangeArrowheads="1"/>
              </p:cNvSpPr>
              <p:nvPr/>
            </p:nvSpPr>
            <p:spPr bwMode="auto">
              <a:xfrm>
                <a:off x="422" y="1662"/>
                <a:ext cx="408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</a:t>
                </a:r>
                <a:r>
                  <a:rPr lang="en-US" altLang="zh-CN" sz="2400" b="1" baseline="-25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</a:p>
            </p:txBody>
          </p:sp>
        </p:grpSp>
        <p:grpSp>
          <p:nvGrpSpPr>
            <p:cNvPr id="115" name="Group 19"/>
            <p:cNvGrpSpPr>
              <a:grpSpLocks/>
            </p:cNvGrpSpPr>
            <p:nvPr/>
          </p:nvGrpSpPr>
          <p:grpSpPr bwMode="auto">
            <a:xfrm>
              <a:off x="7394575" y="4986338"/>
              <a:ext cx="647700" cy="528637"/>
              <a:chOff x="434" y="1644"/>
              <a:chExt cx="408" cy="333"/>
            </a:xfrm>
          </p:grpSpPr>
          <p:sp>
            <p:nvSpPr>
              <p:cNvPr id="125" name="Oval 20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126" name="Text Box 21"/>
              <p:cNvSpPr txBox="1">
                <a:spLocks noChangeArrowheads="1"/>
              </p:cNvSpPr>
              <p:nvPr/>
            </p:nvSpPr>
            <p:spPr bwMode="auto">
              <a:xfrm>
                <a:off x="434" y="1644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</a:t>
                </a:r>
                <a:r>
                  <a:rPr lang="en-US" altLang="zh-CN" sz="2400" b="1" baseline="-25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4</a:t>
                </a:r>
              </a:p>
            </p:txBody>
          </p:sp>
        </p:grpSp>
        <p:grpSp>
          <p:nvGrpSpPr>
            <p:cNvPr id="116" name="Group 22"/>
            <p:cNvGrpSpPr>
              <a:grpSpLocks/>
            </p:cNvGrpSpPr>
            <p:nvPr/>
          </p:nvGrpSpPr>
          <p:grpSpPr bwMode="auto">
            <a:xfrm>
              <a:off x="6246813" y="4999038"/>
              <a:ext cx="647700" cy="515937"/>
              <a:chOff x="431" y="1652"/>
              <a:chExt cx="408" cy="325"/>
            </a:xfrm>
          </p:grpSpPr>
          <p:sp>
            <p:nvSpPr>
              <p:cNvPr id="123" name="Oval 23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124" name="Text Box 24"/>
              <p:cNvSpPr txBox="1">
                <a:spLocks noChangeArrowheads="1"/>
              </p:cNvSpPr>
              <p:nvPr/>
            </p:nvSpPr>
            <p:spPr bwMode="auto">
              <a:xfrm>
                <a:off x="431" y="1652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</a:t>
                </a:r>
                <a:r>
                  <a:rPr lang="en-US" altLang="zh-CN" sz="2400" b="1" baseline="-25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3</a:t>
                </a:r>
              </a:p>
            </p:txBody>
          </p:sp>
        </p:grpSp>
        <p:grpSp>
          <p:nvGrpSpPr>
            <p:cNvPr id="117" name="Group 25"/>
            <p:cNvGrpSpPr>
              <a:grpSpLocks/>
            </p:cNvGrpSpPr>
            <p:nvPr/>
          </p:nvGrpSpPr>
          <p:grpSpPr bwMode="auto">
            <a:xfrm>
              <a:off x="7394582" y="3859213"/>
              <a:ext cx="647701" cy="508000"/>
              <a:chOff x="2952" y="3286"/>
              <a:chExt cx="408" cy="320"/>
            </a:xfrm>
          </p:grpSpPr>
          <p:sp>
            <p:nvSpPr>
              <p:cNvPr id="121" name="Oval 26"/>
              <p:cNvSpPr>
                <a:spLocks noChangeArrowheads="1"/>
              </p:cNvSpPr>
              <p:nvPr/>
            </p:nvSpPr>
            <p:spPr bwMode="auto">
              <a:xfrm>
                <a:off x="2976" y="3312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122" name="Text Box 27"/>
              <p:cNvSpPr txBox="1">
                <a:spLocks noChangeArrowheads="1"/>
              </p:cNvSpPr>
              <p:nvPr/>
            </p:nvSpPr>
            <p:spPr bwMode="auto">
              <a:xfrm>
                <a:off x="2952" y="3286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</a:t>
                </a:r>
                <a:r>
                  <a:rPr lang="en-US" altLang="zh-CN" sz="2400" b="1" baseline="-25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</a:p>
            </p:txBody>
          </p:sp>
        </p:grpSp>
        <p:grpSp>
          <p:nvGrpSpPr>
            <p:cNvPr id="118" name="Group 28"/>
            <p:cNvGrpSpPr>
              <a:grpSpLocks/>
            </p:cNvGrpSpPr>
            <p:nvPr/>
          </p:nvGrpSpPr>
          <p:grpSpPr bwMode="auto">
            <a:xfrm>
              <a:off x="6804026" y="4484695"/>
              <a:ext cx="647700" cy="514351"/>
              <a:chOff x="1029" y="2274"/>
              <a:chExt cx="408" cy="324"/>
            </a:xfrm>
          </p:grpSpPr>
          <p:sp>
            <p:nvSpPr>
              <p:cNvPr id="119" name="Oval 29"/>
              <p:cNvSpPr>
                <a:spLocks noChangeArrowheads="1"/>
              </p:cNvSpPr>
              <p:nvPr/>
            </p:nvSpPr>
            <p:spPr bwMode="auto">
              <a:xfrm>
                <a:off x="1056" y="2304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120" name="Text Box 30"/>
              <p:cNvSpPr txBox="1">
                <a:spLocks noChangeArrowheads="1"/>
              </p:cNvSpPr>
              <p:nvPr/>
            </p:nvSpPr>
            <p:spPr bwMode="auto">
              <a:xfrm>
                <a:off x="1029" y="2274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</a:t>
                </a:r>
                <a:r>
                  <a:rPr lang="en-US" altLang="zh-CN" sz="2400" b="1" baseline="-25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</a:p>
            </p:txBody>
          </p:sp>
        </p:grpSp>
      </p:grpSp>
      <p:grpSp>
        <p:nvGrpSpPr>
          <p:cNvPr id="151" name="组合 150"/>
          <p:cNvGrpSpPr/>
          <p:nvPr/>
        </p:nvGrpSpPr>
        <p:grpSpPr>
          <a:xfrm>
            <a:off x="7020272" y="3428401"/>
            <a:ext cx="1865313" cy="1728791"/>
            <a:chOff x="6962775" y="3571875"/>
            <a:chExt cx="1865313" cy="1728791"/>
          </a:xfrm>
        </p:grpSpPr>
        <p:sp>
          <p:nvSpPr>
            <p:cNvPr id="152" name="Line 7"/>
            <p:cNvSpPr>
              <a:spLocks noChangeShapeType="1"/>
            </p:cNvSpPr>
            <p:nvPr/>
          </p:nvSpPr>
          <p:spPr bwMode="auto">
            <a:xfrm>
              <a:off x="7243415" y="4089400"/>
              <a:ext cx="0" cy="744538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" name="Line 8"/>
            <p:cNvSpPr>
              <a:spLocks noChangeShapeType="1"/>
            </p:cNvSpPr>
            <p:nvPr/>
          </p:nvSpPr>
          <p:spPr bwMode="auto">
            <a:xfrm>
              <a:off x="7461250" y="5073650"/>
              <a:ext cx="803275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" name="Line 9"/>
            <p:cNvSpPr>
              <a:spLocks noChangeShapeType="1"/>
            </p:cNvSpPr>
            <p:nvPr/>
          </p:nvSpPr>
          <p:spPr bwMode="auto">
            <a:xfrm>
              <a:off x="7461250" y="3876675"/>
              <a:ext cx="749300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" name="Line 10"/>
            <p:cNvSpPr>
              <a:spLocks noChangeShapeType="1"/>
            </p:cNvSpPr>
            <p:nvPr/>
          </p:nvSpPr>
          <p:spPr bwMode="auto">
            <a:xfrm flipH="1" flipV="1">
              <a:off x="7334250" y="3990975"/>
              <a:ext cx="1066800" cy="99060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56" name="Group 11"/>
            <p:cNvGrpSpPr>
              <a:grpSpLocks/>
            </p:cNvGrpSpPr>
            <p:nvPr/>
          </p:nvGrpSpPr>
          <p:grpSpPr bwMode="auto">
            <a:xfrm>
              <a:off x="6969125" y="3571875"/>
              <a:ext cx="647700" cy="509588"/>
              <a:chOff x="442" y="1656"/>
              <a:chExt cx="408" cy="321"/>
            </a:xfrm>
          </p:grpSpPr>
          <p:sp>
            <p:nvSpPr>
              <p:cNvPr id="166" name="Oval 12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167" name="Text Box 13"/>
              <p:cNvSpPr txBox="1">
                <a:spLocks noChangeArrowheads="1"/>
              </p:cNvSpPr>
              <p:nvPr/>
            </p:nvSpPr>
            <p:spPr bwMode="auto">
              <a:xfrm>
                <a:off x="442" y="1656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</a:t>
                </a:r>
                <a:r>
                  <a:rPr lang="en-US" altLang="zh-CN" sz="2400" b="1" baseline="-25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</a:p>
            </p:txBody>
          </p:sp>
        </p:grpSp>
        <p:grpSp>
          <p:nvGrpSpPr>
            <p:cNvPr id="157" name="Group 14"/>
            <p:cNvGrpSpPr>
              <a:grpSpLocks/>
            </p:cNvGrpSpPr>
            <p:nvPr/>
          </p:nvGrpSpPr>
          <p:grpSpPr bwMode="auto">
            <a:xfrm>
              <a:off x="8180388" y="3571875"/>
              <a:ext cx="647700" cy="512763"/>
              <a:chOff x="437" y="1654"/>
              <a:chExt cx="408" cy="323"/>
            </a:xfrm>
          </p:grpSpPr>
          <p:sp>
            <p:nvSpPr>
              <p:cNvPr id="164" name="Oval 15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165" name="Text Box 16"/>
              <p:cNvSpPr txBox="1">
                <a:spLocks noChangeArrowheads="1"/>
              </p:cNvSpPr>
              <p:nvPr/>
            </p:nvSpPr>
            <p:spPr bwMode="auto">
              <a:xfrm>
                <a:off x="437" y="1654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</a:t>
                </a:r>
                <a:r>
                  <a:rPr lang="en-US" altLang="zh-CN" sz="2400" b="1" baseline="-25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</a:p>
            </p:txBody>
          </p:sp>
        </p:grpSp>
        <p:grpSp>
          <p:nvGrpSpPr>
            <p:cNvPr id="158" name="Group 17"/>
            <p:cNvGrpSpPr>
              <a:grpSpLocks/>
            </p:cNvGrpSpPr>
            <p:nvPr/>
          </p:nvGrpSpPr>
          <p:grpSpPr bwMode="auto">
            <a:xfrm>
              <a:off x="6962775" y="4773615"/>
              <a:ext cx="647700" cy="527051"/>
              <a:chOff x="438" y="1645"/>
              <a:chExt cx="408" cy="332"/>
            </a:xfrm>
          </p:grpSpPr>
          <p:sp>
            <p:nvSpPr>
              <p:cNvPr id="162" name="Oval 18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163" name="Text Box 19"/>
              <p:cNvSpPr txBox="1">
                <a:spLocks noChangeArrowheads="1"/>
              </p:cNvSpPr>
              <p:nvPr/>
            </p:nvSpPr>
            <p:spPr bwMode="auto">
              <a:xfrm>
                <a:off x="438" y="1645"/>
                <a:ext cx="408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</a:t>
                </a:r>
                <a:r>
                  <a:rPr lang="en-US" altLang="zh-CN" sz="2400" b="1" baseline="-25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</a:p>
            </p:txBody>
          </p:sp>
        </p:grpSp>
        <p:grpSp>
          <p:nvGrpSpPr>
            <p:cNvPr id="159" name="Group 20"/>
            <p:cNvGrpSpPr>
              <a:grpSpLocks/>
            </p:cNvGrpSpPr>
            <p:nvPr/>
          </p:nvGrpSpPr>
          <p:grpSpPr bwMode="auto">
            <a:xfrm>
              <a:off x="8180388" y="4787900"/>
              <a:ext cx="647700" cy="512763"/>
              <a:chOff x="437" y="1654"/>
              <a:chExt cx="408" cy="323"/>
            </a:xfrm>
          </p:grpSpPr>
          <p:sp>
            <p:nvSpPr>
              <p:cNvPr id="160" name="Oval 21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161" name="Text Box 22"/>
              <p:cNvSpPr txBox="1">
                <a:spLocks noChangeArrowheads="1"/>
              </p:cNvSpPr>
              <p:nvPr/>
            </p:nvSpPr>
            <p:spPr bwMode="auto">
              <a:xfrm>
                <a:off x="437" y="1654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</a:t>
                </a:r>
                <a:r>
                  <a:rPr lang="en-US" altLang="zh-CN" sz="2400" b="1" baseline="-25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3</a:t>
                </a:r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基本术语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3" y="1125538"/>
            <a:ext cx="8207375" cy="1366837"/>
          </a:xfrm>
        </p:spPr>
        <p:txBody>
          <a:bodyPr/>
          <a:lstStyle/>
          <a:p>
            <a:pPr>
              <a:defRPr/>
            </a:pPr>
            <a:r>
              <a:rPr kumimoji="1" lang="zh-CN" altLang="en-US" dirty="0">
                <a:latin typeface="+mn-ea"/>
              </a:rPr>
              <a:t>设有两个图</a:t>
            </a:r>
            <a:r>
              <a:rPr kumimoji="1" lang="en-US" altLang="zh-CN" dirty="0">
                <a:latin typeface="+mn-ea"/>
              </a:rPr>
              <a:t>G=(V</a:t>
            </a:r>
            <a:r>
              <a:rPr kumimoji="1" lang="zh-CN" altLang="en-US" dirty="0">
                <a:latin typeface="+mn-ea"/>
              </a:rPr>
              <a:t>，</a:t>
            </a:r>
            <a:r>
              <a:rPr kumimoji="1" lang="en-US" altLang="zh-CN" dirty="0">
                <a:latin typeface="+mn-ea"/>
              </a:rPr>
              <a:t>E)</a:t>
            </a:r>
            <a:r>
              <a:rPr kumimoji="1" lang="zh-CN" altLang="en-US" dirty="0">
                <a:latin typeface="+mn-ea"/>
              </a:rPr>
              <a:t>、</a:t>
            </a:r>
            <a:r>
              <a:rPr kumimoji="1" lang="en-US" altLang="zh-CN" dirty="0">
                <a:latin typeface="+mn-ea"/>
              </a:rPr>
              <a:t>G1=(V1</a:t>
            </a:r>
            <a:r>
              <a:rPr kumimoji="1" lang="zh-CN" altLang="en-US" dirty="0">
                <a:latin typeface="+mn-ea"/>
              </a:rPr>
              <a:t>，</a:t>
            </a:r>
            <a:r>
              <a:rPr kumimoji="1" lang="en-US" altLang="zh-CN" dirty="0">
                <a:latin typeface="+mn-ea"/>
              </a:rPr>
              <a:t>E1)</a:t>
            </a:r>
            <a:r>
              <a:rPr kumimoji="1" lang="zh-CN" altLang="en-US" dirty="0">
                <a:latin typeface="+mn-ea"/>
              </a:rPr>
              <a:t>，若</a:t>
            </a:r>
            <a:r>
              <a:rPr kumimoji="1" lang="en-US" altLang="zh-CN" dirty="0">
                <a:latin typeface="+mn-ea"/>
              </a:rPr>
              <a:t>V1</a:t>
            </a:r>
            <a:r>
              <a:rPr kumimoji="1" lang="en-US" altLang="zh-CN" dirty="0">
                <a:latin typeface="+mn-ea"/>
                <a:sym typeface="Symbol" pitchFamily="18" charset="2"/>
              </a:rPr>
              <a:t></a:t>
            </a:r>
            <a:r>
              <a:rPr kumimoji="1" lang="en-US" altLang="zh-CN" dirty="0">
                <a:latin typeface="+mn-ea"/>
              </a:rPr>
              <a:t>  V</a:t>
            </a:r>
            <a:r>
              <a:rPr kumimoji="1" lang="zh-CN" altLang="en-US" dirty="0">
                <a:latin typeface="+mn-ea"/>
              </a:rPr>
              <a:t>且</a:t>
            </a:r>
            <a:r>
              <a:rPr kumimoji="1" lang="en-US" altLang="zh-CN" dirty="0">
                <a:latin typeface="+mn-ea"/>
              </a:rPr>
              <a:t>E1 </a:t>
            </a:r>
            <a:r>
              <a:rPr kumimoji="1" lang="en-US" altLang="zh-CN" dirty="0">
                <a:latin typeface="+mn-ea"/>
                <a:sym typeface="Symbol" pitchFamily="18" charset="2"/>
              </a:rPr>
              <a:t></a:t>
            </a:r>
            <a:r>
              <a:rPr kumimoji="1" lang="en-US" altLang="zh-CN" dirty="0">
                <a:latin typeface="+mn-ea"/>
              </a:rPr>
              <a:t> E</a:t>
            </a:r>
            <a:r>
              <a:rPr kumimoji="1" lang="zh-CN" altLang="en-US" dirty="0">
                <a:latin typeface="+mn-ea"/>
              </a:rPr>
              <a:t>，则称 </a:t>
            </a:r>
            <a:r>
              <a:rPr kumimoji="1" lang="en-US" altLang="zh-CN" dirty="0">
                <a:latin typeface="+mn-ea"/>
              </a:rPr>
              <a:t>G1</a:t>
            </a:r>
            <a:r>
              <a:rPr kumimoji="1" lang="zh-CN" altLang="en-US" dirty="0">
                <a:latin typeface="+mn-ea"/>
              </a:rPr>
              <a:t>是</a:t>
            </a:r>
            <a:r>
              <a:rPr kumimoji="1" lang="en-US" altLang="zh-CN" dirty="0">
                <a:latin typeface="+mn-ea"/>
              </a:rPr>
              <a:t>G</a:t>
            </a:r>
            <a:r>
              <a:rPr kumimoji="1" lang="zh-CN" altLang="en-US" dirty="0">
                <a:latin typeface="+mn-ea"/>
              </a:rPr>
              <a:t>的</a:t>
            </a:r>
            <a:r>
              <a:rPr kumimoji="1" lang="zh-CN" altLang="en-US" b="1" dirty="0">
                <a:solidFill>
                  <a:srgbClr val="FF0000"/>
                </a:solidFill>
                <a:latin typeface="+mn-ea"/>
              </a:rPr>
              <a:t>子图</a:t>
            </a:r>
            <a:endParaRPr lang="zh-CN" altLang="en-US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6388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CDACD5C-4B7D-451A-9C1F-235C86BF869A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zh-CN" altLang="en-US" sz="1000"/>
          </a:p>
        </p:txBody>
      </p:sp>
      <p:grpSp>
        <p:nvGrpSpPr>
          <p:cNvPr id="68" name="组合 67"/>
          <p:cNvGrpSpPr/>
          <p:nvPr/>
        </p:nvGrpSpPr>
        <p:grpSpPr>
          <a:xfrm>
            <a:off x="1250147" y="3234605"/>
            <a:ext cx="1806582" cy="1655762"/>
            <a:chOff x="6235701" y="3859213"/>
            <a:chExt cx="1806582" cy="1655762"/>
          </a:xfrm>
        </p:grpSpPr>
        <p:sp>
          <p:nvSpPr>
            <p:cNvPr id="69" name="Line 10"/>
            <p:cNvSpPr>
              <a:spLocks noChangeShapeType="1"/>
            </p:cNvSpPr>
            <p:nvPr/>
          </p:nvSpPr>
          <p:spPr bwMode="auto">
            <a:xfrm>
              <a:off x="6477000" y="4405313"/>
              <a:ext cx="0" cy="658812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Line 11"/>
            <p:cNvSpPr>
              <a:spLocks noChangeShapeType="1"/>
            </p:cNvSpPr>
            <p:nvPr/>
          </p:nvSpPr>
          <p:spPr bwMode="auto">
            <a:xfrm>
              <a:off x="6748463" y="4129088"/>
              <a:ext cx="755650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Line 12"/>
            <p:cNvSpPr>
              <a:spLocks noChangeShapeType="1"/>
            </p:cNvSpPr>
            <p:nvPr/>
          </p:nvSpPr>
          <p:spPr bwMode="auto">
            <a:xfrm>
              <a:off x="7720013" y="4405313"/>
              <a:ext cx="0" cy="658812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Line 13"/>
            <p:cNvSpPr>
              <a:spLocks noChangeShapeType="1"/>
            </p:cNvSpPr>
            <p:nvPr/>
          </p:nvSpPr>
          <p:spPr bwMode="auto">
            <a:xfrm flipH="1">
              <a:off x="6692900" y="4899025"/>
              <a:ext cx="271463" cy="274638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Line 14"/>
            <p:cNvSpPr>
              <a:spLocks noChangeShapeType="1"/>
            </p:cNvSpPr>
            <p:nvPr/>
          </p:nvSpPr>
          <p:spPr bwMode="auto">
            <a:xfrm flipH="1">
              <a:off x="7288213" y="4349750"/>
              <a:ext cx="271462" cy="274638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Line 15"/>
            <p:cNvSpPr>
              <a:spLocks noChangeShapeType="1"/>
            </p:cNvSpPr>
            <p:nvPr/>
          </p:nvSpPr>
          <p:spPr bwMode="auto">
            <a:xfrm>
              <a:off x="7267575" y="4935538"/>
              <a:ext cx="236538" cy="233362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5" name="Group 16"/>
            <p:cNvGrpSpPr>
              <a:grpSpLocks/>
            </p:cNvGrpSpPr>
            <p:nvPr/>
          </p:nvGrpSpPr>
          <p:grpSpPr bwMode="auto">
            <a:xfrm>
              <a:off x="6235701" y="3871913"/>
              <a:ext cx="647700" cy="500062"/>
              <a:chOff x="422" y="1662"/>
              <a:chExt cx="408" cy="315"/>
            </a:xfrm>
          </p:grpSpPr>
          <p:sp>
            <p:nvSpPr>
              <p:cNvPr id="88" name="Oval 17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89" name="Text Box 18"/>
              <p:cNvSpPr txBox="1">
                <a:spLocks noChangeArrowheads="1"/>
              </p:cNvSpPr>
              <p:nvPr/>
            </p:nvSpPr>
            <p:spPr bwMode="auto">
              <a:xfrm>
                <a:off x="422" y="1662"/>
                <a:ext cx="408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</a:t>
                </a:r>
                <a:r>
                  <a:rPr lang="en-US" altLang="zh-CN" sz="2400" b="1" baseline="-25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</a:p>
            </p:txBody>
          </p:sp>
        </p:grpSp>
        <p:grpSp>
          <p:nvGrpSpPr>
            <p:cNvPr id="76" name="Group 19"/>
            <p:cNvGrpSpPr>
              <a:grpSpLocks/>
            </p:cNvGrpSpPr>
            <p:nvPr/>
          </p:nvGrpSpPr>
          <p:grpSpPr bwMode="auto">
            <a:xfrm>
              <a:off x="7394575" y="4986338"/>
              <a:ext cx="647700" cy="528637"/>
              <a:chOff x="434" y="1644"/>
              <a:chExt cx="408" cy="333"/>
            </a:xfrm>
          </p:grpSpPr>
          <p:sp>
            <p:nvSpPr>
              <p:cNvPr id="86" name="Oval 20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87" name="Text Box 21"/>
              <p:cNvSpPr txBox="1">
                <a:spLocks noChangeArrowheads="1"/>
              </p:cNvSpPr>
              <p:nvPr/>
            </p:nvSpPr>
            <p:spPr bwMode="auto">
              <a:xfrm>
                <a:off x="434" y="1644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</a:t>
                </a:r>
                <a:r>
                  <a:rPr lang="en-US" altLang="zh-CN" sz="2400" b="1" baseline="-25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4</a:t>
                </a:r>
              </a:p>
            </p:txBody>
          </p:sp>
        </p:grpSp>
        <p:grpSp>
          <p:nvGrpSpPr>
            <p:cNvPr id="77" name="Group 22"/>
            <p:cNvGrpSpPr>
              <a:grpSpLocks/>
            </p:cNvGrpSpPr>
            <p:nvPr/>
          </p:nvGrpSpPr>
          <p:grpSpPr bwMode="auto">
            <a:xfrm>
              <a:off x="6246813" y="4999038"/>
              <a:ext cx="647700" cy="515937"/>
              <a:chOff x="431" y="1652"/>
              <a:chExt cx="408" cy="325"/>
            </a:xfrm>
          </p:grpSpPr>
          <p:sp>
            <p:nvSpPr>
              <p:cNvPr id="84" name="Oval 23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85" name="Text Box 24"/>
              <p:cNvSpPr txBox="1">
                <a:spLocks noChangeArrowheads="1"/>
              </p:cNvSpPr>
              <p:nvPr/>
            </p:nvSpPr>
            <p:spPr bwMode="auto">
              <a:xfrm>
                <a:off x="431" y="1652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</a:t>
                </a:r>
                <a:r>
                  <a:rPr lang="en-US" altLang="zh-CN" sz="2400" b="1" baseline="-25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3</a:t>
                </a:r>
              </a:p>
            </p:txBody>
          </p:sp>
        </p:grpSp>
        <p:grpSp>
          <p:nvGrpSpPr>
            <p:cNvPr id="78" name="Group 25"/>
            <p:cNvGrpSpPr>
              <a:grpSpLocks/>
            </p:cNvGrpSpPr>
            <p:nvPr/>
          </p:nvGrpSpPr>
          <p:grpSpPr bwMode="auto">
            <a:xfrm>
              <a:off x="7394582" y="3859213"/>
              <a:ext cx="647701" cy="508000"/>
              <a:chOff x="2952" y="3286"/>
              <a:chExt cx="408" cy="320"/>
            </a:xfrm>
          </p:grpSpPr>
          <p:sp>
            <p:nvSpPr>
              <p:cNvPr id="82" name="Oval 26"/>
              <p:cNvSpPr>
                <a:spLocks noChangeArrowheads="1"/>
              </p:cNvSpPr>
              <p:nvPr/>
            </p:nvSpPr>
            <p:spPr bwMode="auto">
              <a:xfrm>
                <a:off x="2976" y="3312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83" name="Text Box 27"/>
              <p:cNvSpPr txBox="1">
                <a:spLocks noChangeArrowheads="1"/>
              </p:cNvSpPr>
              <p:nvPr/>
            </p:nvSpPr>
            <p:spPr bwMode="auto">
              <a:xfrm>
                <a:off x="2952" y="3286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</a:t>
                </a:r>
                <a:r>
                  <a:rPr lang="en-US" altLang="zh-CN" sz="2400" b="1" baseline="-25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</a:p>
            </p:txBody>
          </p:sp>
        </p:grpSp>
        <p:grpSp>
          <p:nvGrpSpPr>
            <p:cNvPr id="79" name="Group 28"/>
            <p:cNvGrpSpPr>
              <a:grpSpLocks/>
            </p:cNvGrpSpPr>
            <p:nvPr/>
          </p:nvGrpSpPr>
          <p:grpSpPr bwMode="auto">
            <a:xfrm>
              <a:off x="6804026" y="4484695"/>
              <a:ext cx="647700" cy="514351"/>
              <a:chOff x="1029" y="2274"/>
              <a:chExt cx="408" cy="324"/>
            </a:xfrm>
          </p:grpSpPr>
          <p:sp>
            <p:nvSpPr>
              <p:cNvPr id="80" name="Oval 29"/>
              <p:cNvSpPr>
                <a:spLocks noChangeArrowheads="1"/>
              </p:cNvSpPr>
              <p:nvPr/>
            </p:nvSpPr>
            <p:spPr bwMode="auto">
              <a:xfrm>
                <a:off x="1056" y="2304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81" name="Text Box 30"/>
              <p:cNvSpPr txBox="1">
                <a:spLocks noChangeArrowheads="1"/>
              </p:cNvSpPr>
              <p:nvPr/>
            </p:nvSpPr>
            <p:spPr bwMode="auto">
              <a:xfrm>
                <a:off x="1029" y="2274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</a:t>
                </a:r>
                <a:r>
                  <a:rPr lang="en-US" altLang="zh-CN" sz="2400" b="1" baseline="-25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</a:p>
            </p:txBody>
          </p:sp>
        </p:grpSp>
      </p:grpSp>
      <p:grpSp>
        <p:nvGrpSpPr>
          <p:cNvPr id="90" name="组合 89"/>
          <p:cNvGrpSpPr/>
          <p:nvPr/>
        </p:nvGrpSpPr>
        <p:grpSpPr>
          <a:xfrm>
            <a:off x="3884997" y="3253727"/>
            <a:ext cx="1806582" cy="1655762"/>
            <a:chOff x="6235701" y="3859213"/>
            <a:chExt cx="1806582" cy="1655762"/>
          </a:xfrm>
        </p:grpSpPr>
        <p:sp>
          <p:nvSpPr>
            <p:cNvPr id="91" name="Line 10"/>
            <p:cNvSpPr>
              <a:spLocks noChangeShapeType="1"/>
            </p:cNvSpPr>
            <p:nvPr/>
          </p:nvSpPr>
          <p:spPr bwMode="auto">
            <a:xfrm>
              <a:off x="6477000" y="4405313"/>
              <a:ext cx="0" cy="658812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Line 11"/>
            <p:cNvSpPr>
              <a:spLocks noChangeShapeType="1"/>
            </p:cNvSpPr>
            <p:nvPr/>
          </p:nvSpPr>
          <p:spPr bwMode="auto">
            <a:xfrm>
              <a:off x="6748463" y="4129088"/>
              <a:ext cx="755650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Line 12"/>
            <p:cNvSpPr>
              <a:spLocks noChangeShapeType="1"/>
            </p:cNvSpPr>
            <p:nvPr/>
          </p:nvSpPr>
          <p:spPr bwMode="auto">
            <a:xfrm>
              <a:off x="7720013" y="4405313"/>
              <a:ext cx="0" cy="658812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7" name="Group 16"/>
            <p:cNvGrpSpPr>
              <a:grpSpLocks/>
            </p:cNvGrpSpPr>
            <p:nvPr/>
          </p:nvGrpSpPr>
          <p:grpSpPr bwMode="auto">
            <a:xfrm>
              <a:off x="6235701" y="3871913"/>
              <a:ext cx="647700" cy="500062"/>
              <a:chOff x="422" y="1662"/>
              <a:chExt cx="408" cy="315"/>
            </a:xfrm>
          </p:grpSpPr>
          <p:sp>
            <p:nvSpPr>
              <p:cNvPr id="110" name="Oval 17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111" name="Text Box 18"/>
              <p:cNvSpPr txBox="1">
                <a:spLocks noChangeArrowheads="1"/>
              </p:cNvSpPr>
              <p:nvPr/>
            </p:nvSpPr>
            <p:spPr bwMode="auto">
              <a:xfrm>
                <a:off x="422" y="1662"/>
                <a:ext cx="408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</a:t>
                </a:r>
                <a:r>
                  <a:rPr lang="en-US" altLang="zh-CN" sz="2400" b="1" baseline="-25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</a:p>
            </p:txBody>
          </p:sp>
        </p:grpSp>
        <p:grpSp>
          <p:nvGrpSpPr>
            <p:cNvPr id="98" name="Group 19"/>
            <p:cNvGrpSpPr>
              <a:grpSpLocks/>
            </p:cNvGrpSpPr>
            <p:nvPr/>
          </p:nvGrpSpPr>
          <p:grpSpPr bwMode="auto">
            <a:xfrm>
              <a:off x="7394575" y="4986338"/>
              <a:ext cx="647700" cy="528637"/>
              <a:chOff x="434" y="1644"/>
              <a:chExt cx="408" cy="333"/>
            </a:xfrm>
          </p:grpSpPr>
          <p:sp>
            <p:nvSpPr>
              <p:cNvPr id="108" name="Oval 20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109" name="Text Box 21"/>
              <p:cNvSpPr txBox="1">
                <a:spLocks noChangeArrowheads="1"/>
              </p:cNvSpPr>
              <p:nvPr/>
            </p:nvSpPr>
            <p:spPr bwMode="auto">
              <a:xfrm>
                <a:off x="434" y="1644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</a:t>
                </a:r>
                <a:r>
                  <a:rPr lang="en-US" altLang="zh-CN" sz="2400" b="1" baseline="-25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4</a:t>
                </a:r>
              </a:p>
            </p:txBody>
          </p:sp>
        </p:grpSp>
        <p:grpSp>
          <p:nvGrpSpPr>
            <p:cNvPr id="99" name="Group 22"/>
            <p:cNvGrpSpPr>
              <a:grpSpLocks/>
            </p:cNvGrpSpPr>
            <p:nvPr/>
          </p:nvGrpSpPr>
          <p:grpSpPr bwMode="auto">
            <a:xfrm>
              <a:off x="6246813" y="4999038"/>
              <a:ext cx="647700" cy="515937"/>
              <a:chOff x="431" y="1652"/>
              <a:chExt cx="408" cy="325"/>
            </a:xfrm>
          </p:grpSpPr>
          <p:sp>
            <p:nvSpPr>
              <p:cNvPr id="106" name="Oval 23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107" name="Text Box 24"/>
              <p:cNvSpPr txBox="1">
                <a:spLocks noChangeArrowheads="1"/>
              </p:cNvSpPr>
              <p:nvPr/>
            </p:nvSpPr>
            <p:spPr bwMode="auto">
              <a:xfrm>
                <a:off x="431" y="1652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</a:t>
                </a:r>
                <a:r>
                  <a:rPr lang="en-US" altLang="zh-CN" sz="2400" b="1" baseline="-25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3</a:t>
                </a:r>
              </a:p>
            </p:txBody>
          </p:sp>
        </p:grpSp>
        <p:grpSp>
          <p:nvGrpSpPr>
            <p:cNvPr id="100" name="Group 25"/>
            <p:cNvGrpSpPr>
              <a:grpSpLocks/>
            </p:cNvGrpSpPr>
            <p:nvPr/>
          </p:nvGrpSpPr>
          <p:grpSpPr bwMode="auto">
            <a:xfrm>
              <a:off x="7394582" y="3859213"/>
              <a:ext cx="647701" cy="508000"/>
              <a:chOff x="2952" y="3286"/>
              <a:chExt cx="408" cy="320"/>
            </a:xfrm>
          </p:grpSpPr>
          <p:sp>
            <p:nvSpPr>
              <p:cNvPr id="104" name="Oval 26"/>
              <p:cNvSpPr>
                <a:spLocks noChangeArrowheads="1"/>
              </p:cNvSpPr>
              <p:nvPr/>
            </p:nvSpPr>
            <p:spPr bwMode="auto">
              <a:xfrm>
                <a:off x="2976" y="3312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105" name="Text Box 27"/>
              <p:cNvSpPr txBox="1">
                <a:spLocks noChangeArrowheads="1"/>
              </p:cNvSpPr>
              <p:nvPr/>
            </p:nvSpPr>
            <p:spPr bwMode="auto">
              <a:xfrm>
                <a:off x="2952" y="3286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</a:t>
                </a:r>
                <a:r>
                  <a:rPr lang="en-US" altLang="zh-CN" sz="2400" b="1" baseline="-25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</a:p>
            </p:txBody>
          </p:sp>
        </p:grpSp>
      </p:grpSp>
      <p:grpSp>
        <p:nvGrpSpPr>
          <p:cNvPr id="112" name="组合 111"/>
          <p:cNvGrpSpPr/>
          <p:nvPr/>
        </p:nvGrpSpPr>
        <p:grpSpPr>
          <a:xfrm>
            <a:off x="6600808" y="3253727"/>
            <a:ext cx="1806582" cy="1655762"/>
            <a:chOff x="6235701" y="3859213"/>
            <a:chExt cx="1806582" cy="1655762"/>
          </a:xfrm>
        </p:grpSpPr>
        <p:sp>
          <p:nvSpPr>
            <p:cNvPr id="113" name="Line 10"/>
            <p:cNvSpPr>
              <a:spLocks noChangeShapeType="1"/>
            </p:cNvSpPr>
            <p:nvPr/>
          </p:nvSpPr>
          <p:spPr bwMode="auto">
            <a:xfrm>
              <a:off x="6477000" y="4405313"/>
              <a:ext cx="0" cy="658812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" name="Line 11"/>
            <p:cNvSpPr>
              <a:spLocks noChangeShapeType="1"/>
            </p:cNvSpPr>
            <p:nvPr/>
          </p:nvSpPr>
          <p:spPr bwMode="auto">
            <a:xfrm>
              <a:off x="6748463" y="4129088"/>
              <a:ext cx="755650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" name="Line 12"/>
            <p:cNvSpPr>
              <a:spLocks noChangeShapeType="1"/>
            </p:cNvSpPr>
            <p:nvPr/>
          </p:nvSpPr>
          <p:spPr bwMode="auto">
            <a:xfrm>
              <a:off x="7720013" y="4405313"/>
              <a:ext cx="0" cy="658812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" name="Line 13"/>
            <p:cNvSpPr>
              <a:spLocks noChangeShapeType="1"/>
            </p:cNvSpPr>
            <p:nvPr/>
          </p:nvSpPr>
          <p:spPr bwMode="auto">
            <a:xfrm flipH="1">
              <a:off x="6692900" y="4899025"/>
              <a:ext cx="271463" cy="274638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" name="Line 14"/>
            <p:cNvSpPr>
              <a:spLocks noChangeShapeType="1"/>
            </p:cNvSpPr>
            <p:nvPr/>
          </p:nvSpPr>
          <p:spPr bwMode="auto">
            <a:xfrm flipH="1">
              <a:off x="7288213" y="4349750"/>
              <a:ext cx="271462" cy="274638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" name="Line 15"/>
            <p:cNvSpPr>
              <a:spLocks noChangeShapeType="1"/>
            </p:cNvSpPr>
            <p:nvPr/>
          </p:nvSpPr>
          <p:spPr bwMode="auto">
            <a:xfrm>
              <a:off x="6667626" y="4292604"/>
              <a:ext cx="293561" cy="298446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9" name="Group 16"/>
            <p:cNvGrpSpPr>
              <a:grpSpLocks/>
            </p:cNvGrpSpPr>
            <p:nvPr/>
          </p:nvGrpSpPr>
          <p:grpSpPr bwMode="auto">
            <a:xfrm>
              <a:off x="6235701" y="3871913"/>
              <a:ext cx="647700" cy="500062"/>
              <a:chOff x="422" y="1662"/>
              <a:chExt cx="408" cy="315"/>
            </a:xfrm>
          </p:grpSpPr>
          <p:sp>
            <p:nvSpPr>
              <p:cNvPr id="132" name="Oval 17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133" name="Text Box 18"/>
              <p:cNvSpPr txBox="1">
                <a:spLocks noChangeArrowheads="1"/>
              </p:cNvSpPr>
              <p:nvPr/>
            </p:nvSpPr>
            <p:spPr bwMode="auto">
              <a:xfrm>
                <a:off x="422" y="1662"/>
                <a:ext cx="408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</a:t>
                </a:r>
                <a:r>
                  <a:rPr lang="en-US" altLang="zh-CN" sz="2400" b="1" baseline="-25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</a:p>
            </p:txBody>
          </p:sp>
        </p:grpSp>
        <p:grpSp>
          <p:nvGrpSpPr>
            <p:cNvPr id="120" name="Group 19"/>
            <p:cNvGrpSpPr>
              <a:grpSpLocks/>
            </p:cNvGrpSpPr>
            <p:nvPr/>
          </p:nvGrpSpPr>
          <p:grpSpPr bwMode="auto">
            <a:xfrm>
              <a:off x="7394575" y="4986338"/>
              <a:ext cx="647700" cy="528637"/>
              <a:chOff x="434" y="1644"/>
              <a:chExt cx="408" cy="333"/>
            </a:xfrm>
          </p:grpSpPr>
          <p:sp>
            <p:nvSpPr>
              <p:cNvPr id="130" name="Oval 20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131" name="Text Box 21"/>
              <p:cNvSpPr txBox="1">
                <a:spLocks noChangeArrowheads="1"/>
              </p:cNvSpPr>
              <p:nvPr/>
            </p:nvSpPr>
            <p:spPr bwMode="auto">
              <a:xfrm>
                <a:off x="434" y="1644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</a:t>
                </a:r>
                <a:r>
                  <a:rPr lang="en-US" altLang="zh-CN" sz="2400" b="1" baseline="-25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4</a:t>
                </a:r>
              </a:p>
            </p:txBody>
          </p:sp>
        </p:grpSp>
        <p:grpSp>
          <p:nvGrpSpPr>
            <p:cNvPr id="121" name="Group 22"/>
            <p:cNvGrpSpPr>
              <a:grpSpLocks/>
            </p:cNvGrpSpPr>
            <p:nvPr/>
          </p:nvGrpSpPr>
          <p:grpSpPr bwMode="auto">
            <a:xfrm>
              <a:off x="6246813" y="4999038"/>
              <a:ext cx="647700" cy="515937"/>
              <a:chOff x="431" y="1652"/>
              <a:chExt cx="408" cy="325"/>
            </a:xfrm>
          </p:grpSpPr>
          <p:sp>
            <p:nvSpPr>
              <p:cNvPr id="128" name="Oval 23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129" name="Text Box 24"/>
              <p:cNvSpPr txBox="1">
                <a:spLocks noChangeArrowheads="1"/>
              </p:cNvSpPr>
              <p:nvPr/>
            </p:nvSpPr>
            <p:spPr bwMode="auto">
              <a:xfrm>
                <a:off x="431" y="1652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</a:t>
                </a:r>
                <a:r>
                  <a:rPr lang="en-US" altLang="zh-CN" sz="2400" b="1" baseline="-25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3</a:t>
                </a:r>
              </a:p>
            </p:txBody>
          </p:sp>
        </p:grpSp>
        <p:grpSp>
          <p:nvGrpSpPr>
            <p:cNvPr id="122" name="Group 25"/>
            <p:cNvGrpSpPr>
              <a:grpSpLocks/>
            </p:cNvGrpSpPr>
            <p:nvPr/>
          </p:nvGrpSpPr>
          <p:grpSpPr bwMode="auto">
            <a:xfrm>
              <a:off x="7394582" y="3859213"/>
              <a:ext cx="647701" cy="508000"/>
              <a:chOff x="2952" y="3286"/>
              <a:chExt cx="408" cy="320"/>
            </a:xfrm>
          </p:grpSpPr>
          <p:sp>
            <p:nvSpPr>
              <p:cNvPr id="126" name="Oval 26"/>
              <p:cNvSpPr>
                <a:spLocks noChangeArrowheads="1"/>
              </p:cNvSpPr>
              <p:nvPr/>
            </p:nvSpPr>
            <p:spPr bwMode="auto">
              <a:xfrm>
                <a:off x="2976" y="3312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127" name="Text Box 27"/>
              <p:cNvSpPr txBox="1">
                <a:spLocks noChangeArrowheads="1"/>
              </p:cNvSpPr>
              <p:nvPr/>
            </p:nvSpPr>
            <p:spPr bwMode="auto">
              <a:xfrm>
                <a:off x="2952" y="3286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</a:t>
                </a:r>
                <a:r>
                  <a:rPr lang="en-US" altLang="zh-CN" sz="2400" b="1" baseline="-25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</a:p>
            </p:txBody>
          </p:sp>
        </p:grpSp>
        <p:grpSp>
          <p:nvGrpSpPr>
            <p:cNvPr id="123" name="Group 28"/>
            <p:cNvGrpSpPr>
              <a:grpSpLocks/>
            </p:cNvGrpSpPr>
            <p:nvPr/>
          </p:nvGrpSpPr>
          <p:grpSpPr bwMode="auto">
            <a:xfrm>
              <a:off x="6804026" y="4484695"/>
              <a:ext cx="647700" cy="514351"/>
              <a:chOff x="1029" y="2274"/>
              <a:chExt cx="408" cy="324"/>
            </a:xfrm>
          </p:grpSpPr>
          <p:sp>
            <p:nvSpPr>
              <p:cNvPr id="124" name="Oval 29"/>
              <p:cNvSpPr>
                <a:spLocks noChangeArrowheads="1"/>
              </p:cNvSpPr>
              <p:nvPr/>
            </p:nvSpPr>
            <p:spPr bwMode="auto">
              <a:xfrm>
                <a:off x="1056" y="2304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125" name="Text Box 30"/>
              <p:cNvSpPr txBox="1">
                <a:spLocks noChangeArrowheads="1"/>
              </p:cNvSpPr>
              <p:nvPr/>
            </p:nvSpPr>
            <p:spPr bwMode="auto">
              <a:xfrm>
                <a:off x="1029" y="2274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</a:t>
                </a:r>
                <a:r>
                  <a:rPr lang="en-US" altLang="zh-CN" sz="2400" b="1" baseline="-25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基本术语</a:t>
            </a:r>
          </a:p>
        </p:txBody>
      </p:sp>
      <p:sp>
        <p:nvSpPr>
          <p:cNvPr id="17411" name="内容占位符 2"/>
          <p:cNvSpPr>
            <a:spLocks noGrp="1"/>
          </p:cNvSpPr>
          <p:nvPr>
            <p:ph idx="1"/>
          </p:nvPr>
        </p:nvSpPr>
        <p:spPr>
          <a:xfrm>
            <a:off x="468313" y="1125538"/>
            <a:ext cx="8207375" cy="3095625"/>
          </a:xfrm>
        </p:spPr>
        <p:txBody>
          <a:bodyPr/>
          <a:lstStyle/>
          <a:p>
            <a:r>
              <a:rPr lang="zh-CN" altLang="zh-CN" dirty="0"/>
              <a:t>在</a:t>
            </a:r>
            <a:r>
              <a:rPr lang="zh-CN" altLang="zh-CN" dirty="0">
                <a:solidFill>
                  <a:srgbClr val="009900"/>
                </a:solidFill>
              </a:rPr>
              <a:t>无向图</a:t>
            </a:r>
            <a:r>
              <a:rPr lang="zh-CN" altLang="zh-CN" dirty="0"/>
              <a:t>中，如果从一个顶点v</a:t>
            </a:r>
            <a:r>
              <a:rPr lang="zh-CN" altLang="zh-CN" baseline="-25000" dirty="0"/>
              <a:t>i</a:t>
            </a:r>
            <a:r>
              <a:rPr lang="zh-CN" altLang="zh-CN" dirty="0"/>
              <a:t>到另一个顶点v</a:t>
            </a:r>
            <a:r>
              <a:rPr lang="zh-CN" altLang="zh-CN" baseline="-25000" dirty="0"/>
              <a:t>j</a:t>
            </a:r>
            <a:r>
              <a:rPr lang="zh-CN" altLang="zh-CN" dirty="0"/>
              <a:t>(i≠j)有</a:t>
            </a:r>
            <a:r>
              <a:rPr lang="zh-CN" altLang="zh-CN" dirty="0">
                <a:solidFill>
                  <a:srgbClr val="4C34FE"/>
                </a:solidFill>
              </a:rPr>
              <a:t>路径</a:t>
            </a:r>
            <a:r>
              <a:rPr lang="zh-CN" altLang="zh-CN" dirty="0"/>
              <a:t>，则称顶点v</a:t>
            </a:r>
            <a:r>
              <a:rPr lang="zh-CN" altLang="zh-CN" baseline="-25000" dirty="0"/>
              <a:t>i</a:t>
            </a:r>
            <a:r>
              <a:rPr lang="zh-CN" altLang="zh-CN" dirty="0"/>
              <a:t>和v</a:t>
            </a:r>
            <a:r>
              <a:rPr lang="zh-CN" altLang="zh-CN" baseline="-25000" dirty="0"/>
              <a:t>j</a:t>
            </a:r>
            <a:r>
              <a:rPr lang="zh-CN" altLang="zh-CN" dirty="0"/>
              <a:t>是</a:t>
            </a:r>
            <a:r>
              <a:rPr lang="zh-CN" altLang="zh-CN" b="1" dirty="0">
                <a:solidFill>
                  <a:srgbClr val="FF0000"/>
                </a:solidFill>
              </a:rPr>
              <a:t>连通的</a:t>
            </a:r>
            <a:endParaRPr kumimoji="1" lang="en-US" altLang="zh-CN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r>
              <a:rPr kumimoji="1"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连通图</a:t>
            </a:r>
            <a:r>
              <a:rPr kumimoji="1" lang="zh-CN" altLang="en-US" dirty="0">
                <a:latin typeface="宋体" panose="02010600030101010101" pitchFamily="2" charset="-122"/>
              </a:rPr>
              <a:t>：</a:t>
            </a:r>
            <a:r>
              <a:rPr lang="zh-CN" altLang="zh-CN" dirty="0"/>
              <a:t>图中任意两个顶点都是连通的</a:t>
            </a:r>
            <a:endParaRPr lang="en-US" altLang="zh-CN" dirty="0"/>
          </a:p>
          <a:p>
            <a:r>
              <a:rPr lang="zh-CN" altLang="en-US" b="1" dirty="0">
                <a:solidFill>
                  <a:srgbClr val="FF0000"/>
                </a:solidFill>
              </a:rPr>
              <a:t>连通分量</a:t>
            </a:r>
            <a:r>
              <a:rPr lang="zh-CN" altLang="en-US" dirty="0"/>
              <a:t>：无向图中的极大连通子图</a:t>
            </a:r>
            <a:endParaRPr lang="en-US" altLang="zh-CN" dirty="0"/>
          </a:p>
          <a:p>
            <a:pPr lvl="1"/>
            <a:r>
              <a:rPr lang="zh-CN" altLang="en-US" dirty="0"/>
              <a:t>极大连通子图</a:t>
            </a:r>
            <a:r>
              <a:rPr lang="en-US" altLang="zh-CN" dirty="0"/>
              <a:t>G1</a:t>
            </a:r>
            <a:r>
              <a:rPr lang="zh-CN" altLang="en-US" dirty="0"/>
              <a:t>不能是</a:t>
            </a:r>
            <a:r>
              <a:rPr lang="en-US" altLang="zh-CN" dirty="0"/>
              <a:t>G</a:t>
            </a:r>
            <a:r>
              <a:rPr lang="zh-CN" altLang="en-US" dirty="0"/>
              <a:t>的任何一个其他连通子图</a:t>
            </a:r>
            <a:r>
              <a:rPr lang="en-US" altLang="zh-CN" dirty="0"/>
              <a:t>G2</a:t>
            </a:r>
            <a:r>
              <a:rPr lang="zh-CN" altLang="en-US" dirty="0"/>
              <a:t>的一个子图</a:t>
            </a:r>
            <a:endParaRPr lang="zh-CN" altLang="en-US" b="1" dirty="0">
              <a:solidFill>
                <a:srgbClr val="FF0000"/>
              </a:solidFill>
            </a:endParaRPr>
          </a:p>
          <a:p>
            <a:pPr lvl="1"/>
            <a:endParaRPr lang="zh-CN" altLang="zh-CN" dirty="0"/>
          </a:p>
        </p:txBody>
      </p:sp>
      <p:sp>
        <p:nvSpPr>
          <p:cNvPr id="17412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83B73F5-F8A2-4815-8F72-20C2E196EA74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zh-CN" altLang="en-US" sz="1000"/>
          </a:p>
        </p:txBody>
      </p:sp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7842250" y="4111625"/>
            <a:ext cx="549275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b="1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kumimoji="1" lang="zh-CN" altLang="en-US" sz="2400" b="1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非连通图</a:t>
            </a:r>
          </a:p>
        </p:txBody>
      </p:sp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1106488" y="4327525"/>
            <a:ext cx="549275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b="1" dirty="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kumimoji="1" lang="zh-CN" altLang="en-US" sz="2400" b="1" dirty="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连通图</a:t>
            </a:r>
          </a:p>
        </p:txBody>
      </p:sp>
      <p:grpSp>
        <p:nvGrpSpPr>
          <p:cNvPr id="17415" name="Group 26"/>
          <p:cNvGrpSpPr>
            <a:grpSpLocks/>
          </p:cNvGrpSpPr>
          <p:nvPr/>
        </p:nvGrpSpPr>
        <p:grpSpPr bwMode="auto">
          <a:xfrm>
            <a:off x="1773238" y="4457700"/>
            <a:ext cx="1790700" cy="1614488"/>
            <a:chOff x="672" y="1920"/>
            <a:chExt cx="1128" cy="1017"/>
          </a:xfrm>
        </p:grpSpPr>
        <p:grpSp>
          <p:nvGrpSpPr>
            <p:cNvPr id="17443" name="Group 27"/>
            <p:cNvGrpSpPr>
              <a:grpSpLocks/>
            </p:cNvGrpSpPr>
            <p:nvPr/>
          </p:nvGrpSpPr>
          <p:grpSpPr bwMode="auto">
            <a:xfrm>
              <a:off x="816" y="2064"/>
              <a:ext cx="783" cy="658"/>
              <a:chOff x="794" y="2106"/>
              <a:chExt cx="783" cy="658"/>
            </a:xfrm>
          </p:grpSpPr>
          <p:sp>
            <p:nvSpPr>
              <p:cNvPr id="17459" name="Line 28"/>
              <p:cNvSpPr>
                <a:spLocks noChangeShapeType="1"/>
              </p:cNvSpPr>
              <p:nvPr/>
            </p:nvSpPr>
            <p:spPr bwMode="auto">
              <a:xfrm>
                <a:off x="794" y="2280"/>
                <a:ext cx="0" cy="415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60" name="Line 29"/>
              <p:cNvSpPr>
                <a:spLocks noChangeShapeType="1"/>
              </p:cNvSpPr>
              <p:nvPr/>
            </p:nvSpPr>
            <p:spPr bwMode="auto">
              <a:xfrm>
                <a:off x="965" y="2106"/>
                <a:ext cx="476" cy="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61" name="Line 30"/>
              <p:cNvSpPr>
                <a:spLocks noChangeShapeType="1"/>
              </p:cNvSpPr>
              <p:nvPr/>
            </p:nvSpPr>
            <p:spPr bwMode="auto">
              <a:xfrm>
                <a:off x="1577" y="2280"/>
                <a:ext cx="0" cy="415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62" name="Line 31"/>
              <p:cNvSpPr>
                <a:spLocks noChangeShapeType="1"/>
              </p:cNvSpPr>
              <p:nvPr/>
            </p:nvSpPr>
            <p:spPr bwMode="auto">
              <a:xfrm flipH="1">
                <a:off x="930" y="2591"/>
                <a:ext cx="171" cy="173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63" name="Line 32"/>
              <p:cNvSpPr>
                <a:spLocks noChangeShapeType="1"/>
              </p:cNvSpPr>
              <p:nvPr/>
            </p:nvSpPr>
            <p:spPr bwMode="auto">
              <a:xfrm flipH="1">
                <a:off x="1305" y="2245"/>
                <a:ext cx="171" cy="173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64" name="Line 33"/>
              <p:cNvSpPr>
                <a:spLocks noChangeShapeType="1"/>
              </p:cNvSpPr>
              <p:nvPr/>
            </p:nvSpPr>
            <p:spPr bwMode="auto">
              <a:xfrm>
                <a:off x="1292" y="2614"/>
                <a:ext cx="149" cy="147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7444" name="Group 34"/>
            <p:cNvGrpSpPr>
              <a:grpSpLocks/>
            </p:cNvGrpSpPr>
            <p:nvPr/>
          </p:nvGrpSpPr>
          <p:grpSpPr bwMode="auto">
            <a:xfrm>
              <a:off x="674" y="1920"/>
              <a:ext cx="408" cy="297"/>
              <a:chOff x="432" y="1680"/>
              <a:chExt cx="408" cy="297"/>
            </a:xfrm>
          </p:grpSpPr>
          <p:sp>
            <p:nvSpPr>
              <p:cNvPr id="17457" name="Oval 35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17458" name="Text Box 36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V0</a:t>
                </a:r>
              </a:p>
            </p:txBody>
          </p:sp>
        </p:grpSp>
        <p:grpSp>
          <p:nvGrpSpPr>
            <p:cNvPr id="17445" name="Group 37"/>
            <p:cNvGrpSpPr>
              <a:grpSpLocks/>
            </p:cNvGrpSpPr>
            <p:nvPr/>
          </p:nvGrpSpPr>
          <p:grpSpPr bwMode="auto">
            <a:xfrm>
              <a:off x="1392" y="2640"/>
              <a:ext cx="408" cy="297"/>
              <a:chOff x="432" y="1680"/>
              <a:chExt cx="408" cy="297"/>
            </a:xfrm>
          </p:grpSpPr>
          <p:sp>
            <p:nvSpPr>
              <p:cNvPr id="17455" name="Oval 38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17456" name="Text Box 39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V4</a:t>
                </a:r>
              </a:p>
            </p:txBody>
          </p:sp>
        </p:grpSp>
        <p:grpSp>
          <p:nvGrpSpPr>
            <p:cNvPr id="17446" name="Group 40"/>
            <p:cNvGrpSpPr>
              <a:grpSpLocks/>
            </p:cNvGrpSpPr>
            <p:nvPr/>
          </p:nvGrpSpPr>
          <p:grpSpPr bwMode="auto">
            <a:xfrm>
              <a:off x="672" y="2640"/>
              <a:ext cx="408" cy="297"/>
              <a:chOff x="432" y="1680"/>
              <a:chExt cx="408" cy="297"/>
            </a:xfrm>
          </p:grpSpPr>
          <p:sp>
            <p:nvSpPr>
              <p:cNvPr id="17453" name="Oval 41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17454" name="Text Box 42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V3</a:t>
                </a:r>
              </a:p>
            </p:txBody>
          </p:sp>
        </p:grpSp>
        <p:grpSp>
          <p:nvGrpSpPr>
            <p:cNvPr id="17447" name="Group 43"/>
            <p:cNvGrpSpPr>
              <a:grpSpLocks/>
            </p:cNvGrpSpPr>
            <p:nvPr/>
          </p:nvGrpSpPr>
          <p:grpSpPr bwMode="auto">
            <a:xfrm>
              <a:off x="1370" y="1920"/>
              <a:ext cx="408" cy="294"/>
              <a:chOff x="2928" y="3312"/>
              <a:chExt cx="408" cy="294"/>
            </a:xfrm>
          </p:grpSpPr>
          <p:sp>
            <p:nvSpPr>
              <p:cNvPr id="17451" name="Oval 44"/>
              <p:cNvSpPr>
                <a:spLocks noChangeArrowheads="1"/>
              </p:cNvSpPr>
              <p:nvPr/>
            </p:nvSpPr>
            <p:spPr bwMode="auto">
              <a:xfrm>
                <a:off x="2976" y="3312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17452" name="Text Box 45"/>
              <p:cNvSpPr txBox="1">
                <a:spLocks noChangeArrowheads="1"/>
              </p:cNvSpPr>
              <p:nvPr/>
            </p:nvSpPr>
            <p:spPr bwMode="auto">
              <a:xfrm>
                <a:off x="2928" y="3312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V1</a:t>
                </a:r>
              </a:p>
            </p:txBody>
          </p:sp>
        </p:grpSp>
        <p:grpSp>
          <p:nvGrpSpPr>
            <p:cNvPr id="17448" name="Group 46"/>
            <p:cNvGrpSpPr>
              <a:grpSpLocks/>
            </p:cNvGrpSpPr>
            <p:nvPr/>
          </p:nvGrpSpPr>
          <p:grpSpPr bwMode="auto">
            <a:xfrm>
              <a:off x="1008" y="2304"/>
              <a:ext cx="408" cy="294"/>
              <a:chOff x="1008" y="2304"/>
              <a:chExt cx="408" cy="294"/>
            </a:xfrm>
          </p:grpSpPr>
          <p:sp>
            <p:nvSpPr>
              <p:cNvPr id="17449" name="Oval 47"/>
              <p:cNvSpPr>
                <a:spLocks noChangeArrowheads="1"/>
              </p:cNvSpPr>
              <p:nvPr/>
            </p:nvSpPr>
            <p:spPr bwMode="auto">
              <a:xfrm>
                <a:off x="1056" y="2304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17450" name="Text Box 48"/>
              <p:cNvSpPr txBox="1">
                <a:spLocks noChangeArrowheads="1"/>
              </p:cNvSpPr>
              <p:nvPr/>
            </p:nvSpPr>
            <p:spPr bwMode="auto">
              <a:xfrm>
                <a:off x="1008" y="2304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V2</a:t>
                </a:r>
              </a:p>
            </p:txBody>
          </p:sp>
        </p:grpSp>
      </p:grpSp>
      <p:grpSp>
        <p:nvGrpSpPr>
          <p:cNvPr id="17416" name="Group 67"/>
          <p:cNvGrpSpPr>
            <a:grpSpLocks/>
          </p:cNvGrpSpPr>
          <p:nvPr/>
        </p:nvGrpSpPr>
        <p:grpSpPr bwMode="auto">
          <a:xfrm>
            <a:off x="5480050" y="4419600"/>
            <a:ext cx="1755775" cy="1462088"/>
            <a:chOff x="1174" y="2688"/>
            <a:chExt cx="1106" cy="921"/>
          </a:xfrm>
        </p:grpSpPr>
        <p:grpSp>
          <p:nvGrpSpPr>
            <p:cNvPr id="17425" name="Group 68"/>
            <p:cNvGrpSpPr>
              <a:grpSpLocks/>
            </p:cNvGrpSpPr>
            <p:nvPr/>
          </p:nvGrpSpPr>
          <p:grpSpPr bwMode="auto">
            <a:xfrm>
              <a:off x="1334" y="2823"/>
              <a:ext cx="735" cy="567"/>
              <a:chOff x="1334" y="2823"/>
              <a:chExt cx="735" cy="567"/>
            </a:xfrm>
          </p:grpSpPr>
          <p:sp>
            <p:nvSpPr>
              <p:cNvPr id="17439" name="Line 69"/>
              <p:cNvSpPr>
                <a:spLocks noChangeShapeType="1"/>
              </p:cNvSpPr>
              <p:nvPr/>
            </p:nvSpPr>
            <p:spPr bwMode="auto">
              <a:xfrm>
                <a:off x="1488" y="2919"/>
                <a:ext cx="474" cy="471"/>
              </a:xfrm>
              <a:prstGeom prst="line">
                <a:avLst/>
              </a:prstGeom>
              <a:noFill/>
              <a:ln w="38100" cap="rnd">
                <a:solidFill>
                  <a:srgbClr val="FF64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40" name="Line 70"/>
              <p:cNvSpPr>
                <a:spLocks noChangeShapeType="1"/>
              </p:cNvSpPr>
              <p:nvPr/>
            </p:nvSpPr>
            <p:spPr bwMode="auto">
              <a:xfrm>
                <a:off x="1334" y="2976"/>
                <a:ext cx="0" cy="368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41" name="Line 71"/>
              <p:cNvSpPr>
                <a:spLocks noChangeShapeType="1"/>
              </p:cNvSpPr>
              <p:nvPr/>
            </p:nvSpPr>
            <p:spPr bwMode="auto">
              <a:xfrm>
                <a:off x="1494" y="2823"/>
                <a:ext cx="448" cy="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42" name="Line 72"/>
              <p:cNvSpPr>
                <a:spLocks noChangeShapeType="1"/>
              </p:cNvSpPr>
              <p:nvPr/>
            </p:nvSpPr>
            <p:spPr bwMode="auto">
              <a:xfrm>
                <a:off x="2069" y="2976"/>
                <a:ext cx="0" cy="368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7426" name="Group 73"/>
            <p:cNvGrpSpPr>
              <a:grpSpLocks/>
            </p:cNvGrpSpPr>
            <p:nvPr/>
          </p:nvGrpSpPr>
          <p:grpSpPr bwMode="auto">
            <a:xfrm>
              <a:off x="1174" y="2688"/>
              <a:ext cx="1106" cy="921"/>
              <a:chOff x="1174" y="2688"/>
              <a:chExt cx="1106" cy="921"/>
            </a:xfrm>
          </p:grpSpPr>
          <p:grpSp>
            <p:nvGrpSpPr>
              <p:cNvPr id="17427" name="Group 74"/>
              <p:cNvGrpSpPr>
                <a:grpSpLocks/>
              </p:cNvGrpSpPr>
              <p:nvPr/>
            </p:nvGrpSpPr>
            <p:grpSpPr bwMode="auto">
              <a:xfrm>
                <a:off x="1176" y="2688"/>
                <a:ext cx="408" cy="297"/>
                <a:chOff x="432" y="1680"/>
                <a:chExt cx="408" cy="297"/>
              </a:xfrm>
            </p:grpSpPr>
            <p:sp>
              <p:nvSpPr>
                <p:cNvPr id="17437" name="Oval 75"/>
                <p:cNvSpPr>
                  <a:spLocks noChangeArrowheads="1"/>
                </p:cNvSpPr>
                <p:nvPr/>
              </p:nvSpPr>
              <p:spPr bwMode="auto">
                <a:xfrm>
                  <a:off x="462" y="1683"/>
                  <a:ext cx="289" cy="294"/>
                </a:xfrm>
                <a:prstGeom prst="ellipse">
                  <a:avLst/>
                </a:prstGeom>
                <a:solidFill>
                  <a:srgbClr val="FFFFCC"/>
                </a:solidFill>
                <a:ln w="28575" cap="rnd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18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7438" name="Text Box 76"/>
                <p:cNvSpPr txBox="1">
                  <a:spLocks noChangeArrowheads="1"/>
                </p:cNvSpPr>
                <p:nvPr/>
              </p:nvSpPr>
              <p:spPr bwMode="auto">
                <a:xfrm>
                  <a:off x="432" y="1680"/>
                  <a:ext cx="40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000" b="1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 </a:t>
                  </a:r>
                  <a:r>
                    <a:rPr lang="en-US" altLang="zh-CN" sz="2400" b="1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V0</a:t>
                  </a:r>
                </a:p>
              </p:txBody>
            </p:sp>
          </p:grpSp>
          <p:grpSp>
            <p:nvGrpSpPr>
              <p:cNvPr id="17428" name="Group 77"/>
              <p:cNvGrpSpPr>
                <a:grpSpLocks/>
              </p:cNvGrpSpPr>
              <p:nvPr/>
            </p:nvGrpSpPr>
            <p:grpSpPr bwMode="auto">
              <a:xfrm>
                <a:off x="1872" y="3312"/>
                <a:ext cx="408" cy="297"/>
                <a:chOff x="432" y="1680"/>
                <a:chExt cx="408" cy="297"/>
              </a:xfrm>
            </p:grpSpPr>
            <p:sp>
              <p:nvSpPr>
                <p:cNvPr id="17435" name="Oval 78"/>
                <p:cNvSpPr>
                  <a:spLocks noChangeArrowheads="1"/>
                </p:cNvSpPr>
                <p:nvPr/>
              </p:nvSpPr>
              <p:spPr bwMode="auto">
                <a:xfrm>
                  <a:off x="462" y="1683"/>
                  <a:ext cx="289" cy="294"/>
                </a:xfrm>
                <a:prstGeom prst="ellipse">
                  <a:avLst/>
                </a:prstGeom>
                <a:solidFill>
                  <a:srgbClr val="FFFFCC"/>
                </a:solidFill>
                <a:ln w="28575" cap="rnd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18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7436" name="Text Box 79"/>
                <p:cNvSpPr txBox="1">
                  <a:spLocks noChangeArrowheads="1"/>
                </p:cNvSpPr>
                <p:nvPr/>
              </p:nvSpPr>
              <p:spPr bwMode="auto">
                <a:xfrm>
                  <a:off x="432" y="1680"/>
                  <a:ext cx="40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000" b="1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 </a:t>
                  </a:r>
                  <a:r>
                    <a:rPr lang="en-US" altLang="zh-CN" sz="2400" b="1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V2</a:t>
                  </a:r>
                </a:p>
              </p:txBody>
            </p:sp>
          </p:grpSp>
          <p:grpSp>
            <p:nvGrpSpPr>
              <p:cNvPr id="17429" name="Group 80"/>
              <p:cNvGrpSpPr>
                <a:grpSpLocks/>
              </p:cNvGrpSpPr>
              <p:nvPr/>
            </p:nvGrpSpPr>
            <p:grpSpPr bwMode="auto">
              <a:xfrm>
                <a:off x="1174" y="3312"/>
                <a:ext cx="408" cy="297"/>
                <a:chOff x="432" y="1680"/>
                <a:chExt cx="408" cy="297"/>
              </a:xfrm>
            </p:grpSpPr>
            <p:sp>
              <p:nvSpPr>
                <p:cNvPr id="17433" name="Oval 81"/>
                <p:cNvSpPr>
                  <a:spLocks noChangeArrowheads="1"/>
                </p:cNvSpPr>
                <p:nvPr/>
              </p:nvSpPr>
              <p:spPr bwMode="auto">
                <a:xfrm>
                  <a:off x="462" y="1683"/>
                  <a:ext cx="289" cy="294"/>
                </a:xfrm>
                <a:prstGeom prst="ellipse">
                  <a:avLst/>
                </a:prstGeom>
                <a:solidFill>
                  <a:srgbClr val="FFFFCC"/>
                </a:solidFill>
                <a:ln w="28575" cap="rnd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18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7434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432" y="1680"/>
                  <a:ext cx="40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000" b="1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 </a:t>
                  </a:r>
                  <a:r>
                    <a:rPr lang="en-US" altLang="zh-CN" sz="2400" b="1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V3</a:t>
                  </a:r>
                </a:p>
              </p:txBody>
            </p:sp>
          </p:grpSp>
          <p:grpSp>
            <p:nvGrpSpPr>
              <p:cNvPr id="17430" name="Group 83"/>
              <p:cNvGrpSpPr>
                <a:grpSpLocks/>
              </p:cNvGrpSpPr>
              <p:nvPr/>
            </p:nvGrpSpPr>
            <p:grpSpPr bwMode="auto">
              <a:xfrm>
                <a:off x="1872" y="2688"/>
                <a:ext cx="408" cy="294"/>
                <a:chOff x="2928" y="3312"/>
                <a:chExt cx="408" cy="294"/>
              </a:xfrm>
            </p:grpSpPr>
            <p:sp>
              <p:nvSpPr>
                <p:cNvPr id="17431" name="Oval 84"/>
                <p:cNvSpPr>
                  <a:spLocks noChangeArrowheads="1"/>
                </p:cNvSpPr>
                <p:nvPr/>
              </p:nvSpPr>
              <p:spPr bwMode="auto">
                <a:xfrm>
                  <a:off x="2976" y="3312"/>
                  <a:ext cx="295" cy="294"/>
                </a:xfrm>
                <a:prstGeom prst="ellipse">
                  <a:avLst/>
                </a:prstGeom>
                <a:solidFill>
                  <a:srgbClr val="FFFFCC"/>
                </a:solidFill>
                <a:ln w="28575" cap="rnd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18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7432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2928" y="3312"/>
                  <a:ext cx="40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000" b="1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 </a:t>
                  </a:r>
                  <a:r>
                    <a:rPr lang="en-US" altLang="zh-CN" sz="2400" b="1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V1</a:t>
                  </a:r>
                </a:p>
              </p:txBody>
            </p:sp>
          </p:grpSp>
        </p:grpSp>
      </p:grpSp>
      <p:grpSp>
        <p:nvGrpSpPr>
          <p:cNvPr id="17417" name="Group 86"/>
          <p:cNvGrpSpPr>
            <a:grpSpLocks/>
          </p:cNvGrpSpPr>
          <p:nvPr/>
        </p:nvGrpSpPr>
        <p:grpSpPr bwMode="auto">
          <a:xfrm>
            <a:off x="7156450" y="4419600"/>
            <a:ext cx="685800" cy="1462088"/>
            <a:chOff x="3600" y="2736"/>
            <a:chExt cx="432" cy="921"/>
          </a:xfrm>
        </p:grpSpPr>
        <p:sp>
          <p:nvSpPr>
            <p:cNvPr id="17418" name="Line 87"/>
            <p:cNvSpPr>
              <a:spLocks noChangeShapeType="1"/>
            </p:cNvSpPr>
            <p:nvPr/>
          </p:nvSpPr>
          <p:spPr bwMode="auto">
            <a:xfrm>
              <a:off x="3806" y="2999"/>
              <a:ext cx="0" cy="369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7419" name="Group 88"/>
            <p:cNvGrpSpPr>
              <a:grpSpLocks/>
            </p:cNvGrpSpPr>
            <p:nvPr/>
          </p:nvGrpSpPr>
          <p:grpSpPr bwMode="auto">
            <a:xfrm>
              <a:off x="3600" y="3360"/>
              <a:ext cx="408" cy="297"/>
              <a:chOff x="432" y="1680"/>
              <a:chExt cx="408" cy="297"/>
            </a:xfrm>
          </p:grpSpPr>
          <p:sp>
            <p:nvSpPr>
              <p:cNvPr id="17423" name="Oval 89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17424" name="Text Box 90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V5</a:t>
                </a:r>
              </a:p>
            </p:txBody>
          </p:sp>
        </p:grpSp>
        <p:grpSp>
          <p:nvGrpSpPr>
            <p:cNvPr id="17420" name="Group 91"/>
            <p:cNvGrpSpPr>
              <a:grpSpLocks/>
            </p:cNvGrpSpPr>
            <p:nvPr/>
          </p:nvGrpSpPr>
          <p:grpSpPr bwMode="auto">
            <a:xfrm>
              <a:off x="3624" y="2736"/>
              <a:ext cx="408" cy="297"/>
              <a:chOff x="432" y="1680"/>
              <a:chExt cx="408" cy="297"/>
            </a:xfrm>
          </p:grpSpPr>
          <p:sp>
            <p:nvSpPr>
              <p:cNvPr id="17421" name="Oval 92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17422" name="Text Box 93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V4</a:t>
                </a:r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基本术语</a:t>
            </a:r>
          </a:p>
        </p:txBody>
      </p:sp>
      <p:sp>
        <p:nvSpPr>
          <p:cNvPr id="23555" name="内容占位符 2"/>
          <p:cNvSpPr>
            <a:spLocks noGrp="1"/>
          </p:cNvSpPr>
          <p:nvPr>
            <p:ph idx="1"/>
          </p:nvPr>
        </p:nvSpPr>
        <p:spPr>
          <a:xfrm>
            <a:off x="468313" y="1125538"/>
            <a:ext cx="8207375" cy="3382962"/>
          </a:xfrm>
        </p:spPr>
        <p:txBody>
          <a:bodyPr/>
          <a:lstStyle/>
          <a:p>
            <a:r>
              <a:rPr lang="zh-CN" altLang="zh-CN" dirty="0">
                <a:latin typeface="Times New Roman" panose="02020603050405020304" pitchFamily="18" charset="0"/>
              </a:rPr>
              <a:t>在</a:t>
            </a:r>
            <a:r>
              <a:rPr kumimoji="1" lang="zh-CN" altLang="en-US" dirty="0">
                <a:solidFill>
                  <a:srgbClr val="009900"/>
                </a:solidFill>
                <a:latin typeface="宋体" panose="02010600030101010101" pitchFamily="2" charset="-122"/>
              </a:rPr>
              <a:t>有向图</a:t>
            </a:r>
            <a:r>
              <a:rPr lang="zh-CN" altLang="zh-CN" dirty="0">
                <a:latin typeface="Times New Roman" panose="02020603050405020304" pitchFamily="18" charset="0"/>
              </a:rPr>
              <a:t>中，</a:t>
            </a:r>
            <a:r>
              <a:rPr lang="zh-CN" altLang="zh-CN" dirty="0">
                <a:solidFill>
                  <a:srgbClr val="000000"/>
                </a:solidFill>
              </a:rPr>
              <a:t>如果从一个顶点v</a:t>
            </a:r>
            <a:r>
              <a:rPr lang="zh-CN" altLang="zh-CN" baseline="-25000" dirty="0">
                <a:solidFill>
                  <a:srgbClr val="000000"/>
                </a:solidFill>
              </a:rPr>
              <a:t>i</a:t>
            </a:r>
            <a:r>
              <a:rPr lang="zh-CN" altLang="zh-CN" dirty="0">
                <a:solidFill>
                  <a:srgbClr val="000000"/>
                </a:solidFill>
              </a:rPr>
              <a:t>到</a:t>
            </a:r>
            <a:r>
              <a:rPr lang="zh-CN" altLang="en-US" dirty="0">
                <a:solidFill>
                  <a:srgbClr val="000000"/>
                </a:solidFill>
              </a:rPr>
              <a:t>任何</a:t>
            </a:r>
            <a:r>
              <a:rPr lang="zh-CN" altLang="zh-CN" dirty="0">
                <a:solidFill>
                  <a:srgbClr val="000000"/>
                </a:solidFill>
              </a:rPr>
              <a:t>一个顶点v</a:t>
            </a:r>
            <a:r>
              <a:rPr lang="zh-CN" altLang="zh-CN" baseline="-25000" dirty="0">
                <a:solidFill>
                  <a:srgbClr val="000000"/>
                </a:solidFill>
              </a:rPr>
              <a:t>j</a:t>
            </a:r>
            <a:r>
              <a:rPr lang="zh-CN" altLang="zh-CN" dirty="0">
                <a:solidFill>
                  <a:srgbClr val="000000"/>
                </a:solidFill>
              </a:rPr>
              <a:t>(i≠j)有</a:t>
            </a:r>
            <a:r>
              <a:rPr lang="zh-CN" altLang="zh-CN" dirty="0">
                <a:solidFill>
                  <a:srgbClr val="4C34FE"/>
                </a:solidFill>
              </a:rPr>
              <a:t>路径</a:t>
            </a:r>
            <a:r>
              <a:rPr lang="zh-CN" altLang="zh-CN" dirty="0">
                <a:solidFill>
                  <a:srgbClr val="000000"/>
                </a:solidFill>
              </a:rPr>
              <a:t>，</a:t>
            </a:r>
            <a:r>
              <a:rPr kumimoji="1" lang="zh-CN" altLang="en-US" dirty="0">
                <a:latin typeface="宋体" panose="02010600030101010101" pitchFamily="2" charset="-122"/>
              </a:rPr>
              <a:t>则称</a:t>
            </a:r>
            <a:r>
              <a:rPr kumimoji="1" lang="zh-CN" altLang="en-US" dirty="0"/>
              <a:t>该图</a:t>
            </a:r>
            <a:r>
              <a:rPr kumimoji="1" lang="zh-CN" altLang="en-US" dirty="0">
                <a:latin typeface="宋体" panose="02010600030101010101" pitchFamily="2" charset="-122"/>
              </a:rPr>
              <a:t>是</a:t>
            </a:r>
            <a:r>
              <a:rPr kumimoji="1"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强连通图</a:t>
            </a:r>
            <a:endParaRPr kumimoji="1" lang="en-US" altLang="zh-CN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r>
              <a:rPr lang="zh-CN" altLang="en-US" dirty="0"/>
              <a:t>有向图中的极大连通子图称作有向图的</a:t>
            </a:r>
            <a:r>
              <a:rPr lang="zh-CN" altLang="en-US" b="1" dirty="0">
                <a:solidFill>
                  <a:srgbClr val="FF0000"/>
                </a:solidFill>
              </a:rPr>
              <a:t>强</a:t>
            </a:r>
            <a:r>
              <a:rPr kumimoji="1"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连通分量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843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E2EDBC9-FB7D-4D43-8F2A-F41362E5F463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zh-CN" altLang="en-US" sz="1000"/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1211263" y="4005263"/>
            <a:ext cx="549275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b="1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kumimoji="1" lang="zh-CN" altLang="en-US" sz="2400" b="1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强连通图</a:t>
            </a:r>
          </a:p>
        </p:txBody>
      </p:sp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7451725" y="3860800"/>
            <a:ext cx="554038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b="1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kumimoji="1" lang="zh-CN" altLang="en-US" sz="2400" b="1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非强连通图</a:t>
            </a:r>
          </a:p>
        </p:txBody>
      </p:sp>
      <p:grpSp>
        <p:nvGrpSpPr>
          <p:cNvPr id="2" name="Group 49"/>
          <p:cNvGrpSpPr>
            <a:grpSpLocks/>
          </p:cNvGrpSpPr>
          <p:nvPr/>
        </p:nvGrpSpPr>
        <p:grpSpPr bwMode="auto">
          <a:xfrm>
            <a:off x="1854200" y="4143375"/>
            <a:ext cx="1866900" cy="1690688"/>
            <a:chOff x="1200" y="2736"/>
            <a:chExt cx="1176" cy="1065"/>
          </a:xfrm>
        </p:grpSpPr>
        <p:sp>
          <p:nvSpPr>
            <p:cNvPr id="18457" name="Line 50"/>
            <p:cNvSpPr>
              <a:spLocks noChangeShapeType="1"/>
            </p:cNvSpPr>
            <p:nvPr/>
          </p:nvSpPr>
          <p:spPr bwMode="auto">
            <a:xfrm>
              <a:off x="1392" y="3024"/>
              <a:ext cx="0" cy="48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8" name="Line 51"/>
            <p:cNvSpPr>
              <a:spLocks noChangeShapeType="1"/>
            </p:cNvSpPr>
            <p:nvPr/>
          </p:nvSpPr>
          <p:spPr bwMode="auto">
            <a:xfrm>
              <a:off x="1520" y="3658"/>
              <a:ext cx="506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9" name="Line 52"/>
            <p:cNvSpPr>
              <a:spLocks noChangeShapeType="1"/>
            </p:cNvSpPr>
            <p:nvPr/>
          </p:nvSpPr>
          <p:spPr bwMode="auto">
            <a:xfrm>
              <a:off x="1520" y="2904"/>
              <a:ext cx="472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0" name="Line 53"/>
            <p:cNvSpPr>
              <a:spLocks noChangeShapeType="1"/>
            </p:cNvSpPr>
            <p:nvPr/>
          </p:nvSpPr>
          <p:spPr bwMode="auto">
            <a:xfrm flipH="1" flipV="1">
              <a:off x="1440" y="2976"/>
              <a:ext cx="672" cy="624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8461" name="Group 54"/>
            <p:cNvGrpSpPr>
              <a:grpSpLocks/>
            </p:cNvGrpSpPr>
            <p:nvPr/>
          </p:nvGrpSpPr>
          <p:grpSpPr bwMode="auto">
            <a:xfrm>
              <a:off x="1200" y="2736"/>
              <a:ext cx="408" cy="297"/>
              <a:chOff x="432" y="1680"/>
              <a:chExt cx="408" cy="297"/>
            </a:xfrm>
          </p:grpSpPr>
          <p:sp>
            <p:nvSpPr>
              <p:cNvPr id="18472" name="Oval 55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18473" name="Text Box 56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V0</a:t>
                </a:r>
              </a:p>
            </p:txBody>
          </p:sp>
        </p:grpSp>
        <p:grpSp>
          <p:nvGrpSpPr>
            <p:cNvPr id="18462" name="Group 57"/>
            <p:cNvGrpSpPr>
              <a:grpSpLocks/>
            </p:cNvGrpSpPr>
            <p:nvPr/>
          </p:nvGrpSpPr>
          <p:grpSpPr bwMode="auto">
            <a:xfrm>
              <a:off x="1968" y="2738"/>
              <a:ext cx="408" cy="297"/>
              <a:chOff x="432" y="1680"/>
              <a:chExt cx="408" cy="297"/>
            </a:xfrm>
          </p:grpSpPr>
          <p:sp>
            <p:nvSpPr>
              <p:cNvPr id="18470" name="Oval 58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18471" name="Text Box 59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V1</a:t>
                </a:r>
              </a:p>
            </p:txBody>
          </p:sp>
        </p:grpSp>
        <p:grpSp>
          <p:nvGrpSpPr>
            <p:cNvPr id="18463" name="Group 60"/>
            <p:cNvGrpSpPr>
              <a:grpSpLocks/>
            </p:cNvGrpSpPr>
            <p:nvPr/>
          </p:nvGrpSpPr>
          <p:grpSpPr bwMode="auto">
            <a:xfrm>
              <a:off x="1200" y="3504"/>
              <a:ext cx="408" cy="297"/>
              <a:chOff x="432" y="1680"/>
              <a:chExt cx="408" cy="297"/>
            </a:xfrm>
          </p:grpSpPr>
          <p:sp>
            <p:nvSpPr>
              <p:cNvPr id="18468" name="Oval 61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18469" name="Text Box 62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V2</a:t>
                </a:r>
              </a:p>
            </p:txBody>
          </p:sp>
        </p:grpSp>
        <p:grpSp>
          <p:nvGrpSpPr>
            <p:cNvPr id="18464" name="Group 63"/>
            <p:cNvGrpSpPr>
              <a:grpSpLocks/>
            </p:cNvGrpSpPr>
            <p:nvPr/>
          </p:nvGrpSpPr>
          <p:grpSpPr bwMode="auto">
            <a:xfrm>
              <a:off x="1968" y="3504"/>
              <a:ext cx="408" cy="297"/>
              <a:chOff x="432" y="1680"/>
              <a:chExt cx="408" cy="297"/>
            </a:xfrm>
          </p:grpSpPr>
          <p:sp>
            <p:nvSpPr>
              <p:cNvPr id="18466" name="Oval 64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18467" name="Text Box 65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V3</a:t>
                </a:r>
              </a:p>
            </p:txBody>
          </p:sp>
        </p:grpSp>
        <p:sp>
          <p:nvSpPr>
            <p:cNvPr id="18465" name="Line 66"/>
            <p:cNvSpPr>
              <a:spLocks noChangeShapeType="1"/>
            </p:cNvSpPr>
            <p:nvPr/>
          </p:nvSpPr>
          <p:spPr bwMode="auto">
            <a:xfrm flipV="1">
              <a:off x="1488" y="3024"/>
              <a:ext cx="576" cy="528"/>
            </a:xfrm>
            <a:prstGeom prst="line">
              <a:avLst/>
            </a:prstGeom>
            <a:noFill/>
            <a:ln w="34925">
              <a:solidFill>
                <a:srgbClr val="FF66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32"/>
          <p:cNvGrpSpPr>
            <a:grpSpLocks/>
          </p:cNvGrpSpPr>
          <p:nvPr/>
        </p:nvGrpSpPr>
        <p:grpSpPr bwMode="auto">
          <a:xfrm>
            <a:off x="5219700" y="4148138"/>
            <a:ext cx="1866900" cy="1690687"/>
            <a:chOff x="432" y="1680"/>
            <a:chExt cx="1176" cy="1065"/>
          </a:xfrm>
        </p:grpSpPr>
        <p:sp>
          <p:nvSpPr>
            <p:cNvPr id="18441" name="Line 33"/>
            <p:cNvSpPr>
              <a:spLocks noChangeShapeType="1"/>
            </p:cNvSpPr>
            <p:nvPr/>
          </p:nvSpPr>
          <p:spPr bwMode="auto">
            <a:xfrm>
              <a:off x="618" y="2019"/>
              <a:ext cx="0" cy="412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2" name="Line 34"/>
            <p:cNvSpPr>
              <a:spLocks noChangeShapeType="1"/>
            </p:cNvSpPr>
            <p:nvPr/>
          </p:nvSpPr>
          <p:spPr bwMode="auto">
            <a:xfrm>
              <a:off x="752" y="2602"/>
              <a:ext cx="506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3" name="Line 35"/>
            <p:cNvSpPr>
              <a:spLocks noChangeShapeType="1"/>
            </p:cNvSpPr>
            <p:nvPr/>
          </p:nvSpPr>
          <p:spPr bwMode="auto">
            <a:xfrm>
              <a:off x="752" y="1848"/>
              <a:ext cx="472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4" name="Line 36"/>
            <p:cNvSpPr>
              <a:spLocks noChangeShapeType="1"/>
            </p:cNvSpPr>
            <p:nvPr/>
          </p:nvSpPr>
          <p:spPr bwMode="auto">
            <a:xfrm flipH="1" flipV="1">
              <a:off x="672" y="1920"/>
              <a:ext cx="672" cy="624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8445" name="Group 37"/>
            <p:cNvGrpSpPr>
              <a:grpSpLocks/>
            </p:cNvGrpSpPr>
            <p:nvPr/>
          </p:nvGrpSpPr>
          <p:grpSpPr bwMode="auto">
            <a:xfrm>
              <a:off x="432" y="1680"/>
              <a:ext cx="408" cy="297"/>
              <a:chOff x="432" y="1680"/>
              <a:chExt cx="408" cy="297"/>
            </a:xfrm>
          </p:grpSpPr>
          <p:sp>
            <p:nvSpPr>
              <p:cNvPr id="18455" name="Oval 38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18456" name="Text Box 39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V0</a:t>
                </a:r>
              </a:p>
            </p:txBody>
          </p:sp>
        </p:grpSp>
        <p:grpSp>
          <p:nvGrpSpPr>
            <p:cNvPr id="18446" name="Group 40"/>
            <p:cNvGrpSpPr>
              <a:grpSpLocks/>
            </p:cNvGrpSpPr>
            <p:nvPr/>
          </p:nvGrpSpPr>
          <p:grpSpPr bwMode="auto">
            <a:xfrm>
              <a:off x="1200" y="1682"/>
              <a:ext cx="408" cy="297"/>
              <a:chOff x="432" y="1680"/>
              <a:chExt cx="408" cy="297"/>
            </a:xfrm>
          </p:grpSpPr>
          <p:sp>
            <p:nvSpPr>
              <p:cNvPr id="18453" name="Oval 41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18454" name="Text Box 42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V1</a:t>
                </a:r>
              </a:p>
            </p:txBody>
          </p:sp>
        </p:grpSp>
        <p:grpSp>
          <p:nvGrpSpPr>
            <p:cNvPr id="18447" name="Group 43"/>
            <p:cNvGrpSpPr>
              <a:grpSpLocks/>
            </p:cNvGrpSpPr>
            <p:nvPr/>
          </p:nvGrpSpPr>
          <p:grpSpPr bwMode="auto">
            <a:xfrm>
              <a:off x="432" y="2448"/>
              <a:ext cx="408" cy="297"/>
              <a:chOff x="432" y="1680"/>
              <a:chExt cx="408" cy="297"/>
            </a:xfrm>
          </p:grpSpPr>
          <p:sp>
            <p:nvSpPr>
              <p:cNvPr id="18451" name="Oval 44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18452" name="Text Box 45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V2</a:t>
                </a:r>
              </a:p>
            </p:txBody>
          </p:sp>
        </p:grpSp>
        <p:grpSp>
          <p:nvGrpSpPr>
            <p:cNvPr id="18448" name="Group 46"/>
            <p:cNvGrpSpPr>
              <a:grpSpLocks/>
            </p:cNvGrpSpPr>
            <p:nvPr/>
          </p:nvGrpSpPr>
          <p:grpSpPr bwMode="auto">
            <a:xfrm>
              <a:off x="1200" y="2448"/>
              <a:ext cx="408" cy="297"/>
              <a:chOff x="432" y="1680"/>
              <a:chExt cx="408" cy="297"/>
            </a:xfrm>
          </p:grpSpPr>
          <p:sp>
            <p:nvSpPr>
              <p:cNvPr id="18449" name="Oval 47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18450" name="Text Box 48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V3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Line 31"/>
          <p:cNvSpPr>
            <a:spLocks noChangeShapeType="1"/>
          </p:cNvSpPr>
          <p:nvPr/>
        </p:nvSpPr>
        <p:spPr bwMode="auto">
          <a:xfrm flipH="1">
            <a:off x="7044216" y="3677367"/>
            <a:ext cx="271463" cy="274638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基本术语</a:t>
            </a:r>
          </a:p>
        </p:txBody>
      </p:sp>
      <p:sp>
        <p:nvSpPr>
          <p:cNvPr id="17411" name="内容占位符 2"/>
          <p:cNvSpPr>
            <a:spLocks noGrp="1"/>
          </p:cNvSpPr>
          <p:nvPr>
            <p:ph idx="1"/>
          </p:nvPr>
        </p:nvSpPr>
        <p:spPr>
          <a:xfrm>
            <a:off x="468313" y="1125539"/>
            <a:ext cx="8207375" cy="1717674"/>
          </a:xfrm>
        </p:spPr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连通图的生成树</a:t>
            </a:r>
            <a:r>
              <a:rPr lang="zh-CN" altLang="en-US" dirty="0"/>
              <a:t>：一个极小连通子图，它含有图中全部的顶点，但只有足以构成一棵树的</a:t>
            </a:r>
            <a:r>
              <a:rPr lang="en-US" altLang="zh-CN" dirty="0"/>
              <a:t>n-1</a:t>
            </a:r>
            <a:r>
              <a:rPr lang="zh-CN" altLang="en-US" dirty="0"/>
              <a:t>条边</a:t>
            </a:r>
            <a:endParaRPr lang="en-US" altLang="zh-CN" dirty="0"/>
          </a:p>
        </p:txBody>
      </p:sp>
      <p:sp>
        <p:nvSpPr>
          <p:cNvPr id="17412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83B73F5-F8A2-4815-8F72-20C2E196EA74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zh-CN" altLang="en-US" sz="1000"/>
          </a:p>
        </p:txBody>
      </p:sp>
      <p:grpSp>
        <p:nvGrpSpPr>
          <p:cNvPr id="17415" name="Group 26"/>
          <p:cNvGrpSpPr>
            <a:grpSpLocks/>
          </p:cNvGrpSpPr>
          <p:nvPr/>
        </p:nvGrpSpPr>
        <p:grpSpPr bwMode="auto">
          <a:xfrm>
            <a:off x="994041" y="3287666"/>
            <a:ext cx="1790700" cy="1614488"/>
            <a:chOff x="672" y="1920"/>
            <a:chExt cx="1128" cy="1017"/>
          </a:xfrm>
        </p:grpSpPr>
        <p:grpSp>
          <p:nvGrpSpPr>
            <p:cNvPr id="17443" name="Group 27"/>
            <p:cNvGrpSpPr>
              <a:grpSpLocks/>
            </p:cNvGrpSpPr>
            <p:nvPr/>
          </p:nvGrpSpPr>
          <p:grpSpPr bwMode="auto">
            <a:xfrm>
              <a:off x="816" y="2064"/>
              <a:ext cx="783" cy="658"/>
              <a:chOff x="794" y="2106"/>
              <a:chExt cx="783" cy="658"/>
            </a:xfrm>
          </p:grpSpPr>
          <p:sp>
            <p:nvSpPr>
              <p:cNvPr id="17459" name="Line 28"/>
              <p:cNvSpPr>
                <a:spLocks noChangeShapeType="1"/>
              </p:cNvSpPr>
              <p:nvPr/>
            </p:nvSpPr>
            <p:spPr bwMode="auto">
              <a:xfrm>
                <a:off x="794" y="2280"/>
                <a:ext cx="0" cy="415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60" name="Line 29"/>
              <p:cNvSpPr>
                <a:spLocks noChangeShapeType="1"/>
              </p:cNvSpPr>
              <p:nvPr/>
            </p:nvSpPr>
            <p:spPr bwMode="auto">
              <a:xfrm>
                <a:off x="965" y="2106"/>
                <a:ext cx="476" cy="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61" name="Line 30"/>
              <p:cNvSpPr>
                <a:spLocks noChangeShapeType="1"/>
              </p:cNvSpPr>
              <p:nvPr/>
            </p:nvSpPr>
            <p:spPr bwMode="auto">
              <a:xfrm>
                <a:off x="1577" y="2280"/>
                <a:ext cx="0" cy="415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62" name="Line 31"/>
              <p:cNvSpPr>
                <a:spLocks noChangeShapeType="1"/>
              </p:cNvSpPr>
              <p:nvPr/>
            </p:nvSpPr>
            <p:spPr bwMode="auto">
              <a:xfrm flipH="1">
                <a:off x="930" y="2591"/>
                <a:ext cx="171" cy="173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63" name="Line 32"/>
              <p:cNvSpPr>
                <a:spLocks noChangeShapeType="1"/>
              </p:cNvSpPr>
              <p:nvPr/>
            </p:nvSpPr>
            <p:spPr bwMode="auto">
              <a:xfrm flipH="1">
                <a:off x="1305" y="2245"/>
                <a:ext cx="171" cy="173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64" name="Line 33"/>
              <p:cNvSpPr>
                <a:spLocks noChangeShapeType="1"/>
              </p:cNvSpPr>
              <p:nvPr/>
            </p:nvSpPr>
            <p:spPr bwMode="auto">
              <a:xfrm>
                <a:off x="1292" y="2614"/>
                <a:ext cx="149" cy="147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7444" name="Group 34"/>
            <p:cNvGrpSpPr>
              <a:grpSpLocks/>
            </p:cNvGrpSpPr>
            <p:nvPr/>
          </p:nvGrpSpPr>
          <p:grpSpPr bwMode="auto">
            <a:xfrm>
              <a:off x="674" y="1920"/>
              <a:ext cx="408" cy="297"/>
              <a:chOff x="432" y="1680"/>
              <a:chExt cx="408" cy="297"/>
            </a:xfrm>
          </p:grpSpPr>
          <p:sp>
            <p:nvSpPr>
              <p:cNvPr id="17457" name="Oval 35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17458" name="Text Box 36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V0</a:t>
                </a:r>
              </a:p>
            </p:txBody>
          </p:sp>
        </p:grpSp>
        <p:grpSp>
          <p:nvGrpSpPr>
            <p:cNvPr id="17445" name="Group 37"/>
            <p:cNvGrpSpPr>
              <a:grpSpLocks/>
            </p:cNvGrpSpPr>
            <p:nvPr/>
          </p:nvGrpSpPr>
          <p:grpSpPr bwMode="auto">
            <a:xfrm>
              <a:off x="1392" y="2640"/>
              <a:ext cx="408" cy="297"/>
              <a:chOff x="432" y="1680"/>
              <a:chExt cx="408" cy="297"/>
            </a:xfrm>
          </p:grpSpPr>
          <p:sp>
            <p:nvSpPr>
              <p:cNvPr id="17455" name="Oval 38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17456" name="Text Box 39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V4</a:t>
                </a:r>
              </a:p>
            </p:txBody>
          </p:sp>
        </p:grpSp>
        <p:grpSp>
          <p:nvGrpSpPr>
            <p:cNvPr id="17446" name="Group 40"/>
            <p:cNvGrpSpPr>
              <a:grpSpLocks/>
            </p:cNvGrpSpPr>
            <p:nvPr/>
          </p:nvGrpSpPr>
          <p:grpSpPr bwMode="auto">
            <a:xfrm>
              <a:off x="672" y="2640"/>
              <a:ext cx="408" cy="297"/>
              <a:chOff x="432" y="1680"/>
              <a:chExt cx="408" cy="297"/>
            </a:xfrm>
          </p:grpSpPr>
          <p:sp>
            <p:nvSpPr>
              <p:cNvPr id="17453" name="Oval 41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17454" name="Text Box 42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V3</a:t>
                </a:r>
              </a:p>
            </p:txBody>
          </p:sp>
        </p:grpSp>
        <p:grpSp>
          <p:nvGrpSpPr>
            <p:cNvPr id="17447" name="Group 43"/>
            <p:cNvGrpSpPr>
              <a:grpSpLocks/>
            </p:cNvGrpSpPr>
            <p:nvPr/>
          </p:nvGrpSpPr>
          <p:grpSpPr bwMode="auto">
            <a:xfrm>
              <a:off x="1370" y="1920"/>
              <a:ext cx="408" cy="294"/>
              <a:chOff x="2928" y="3312"/>
              <a:chExt cx="408" cy="294"/>
            </a:xfrm>
          </p:grpSpPr>
          <p:sp>
            <p:nvSpPr>
              <p:cNvPr id="17451" name="Oval 44"/>
              <p:cNvSpPr>
                <a:spLocks noChangeArrowheads="1"/>
              </p:cNvSpPr>
              <p:nvPr/>
            </p:nvSpPr>
            <p:spPr bwMode="auto">
              <a:xfrm>
                <a:off x="2976" y="3312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17452" name="Text Box 45"/>
              <p:cNvSpPr txBox="1">
                <a:spLocks noChangeArrowheads="1"/>
              </p:cNvSpPr>
              <p:nvPr/>
            </p:nvSpPr>
            <p:spPr bwMode="auto">
              <a:xfrm>
                <a:off x="2928" y="3312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V1</a:t>
                </a:r>
              </a:p>
            </p:txBody>
          </p:sp>
        </p:grpSp>
        <p:grpSp>
          <p:nvGrpSpPr>
            <p:cNvPr id="17448" name="Group 46"/>
            <p:cNvGrpSpPr>
              <a:grpSpLocks/>
            </p:cNvGrpSpPr>
            <p:nvPr/>
          </p:nvGrpSpPr>
          <p:grpSpPr bwMode="auto">
            <a:xfrm>
              <a:off x="1008" y="2304"/>
              <a:ext cx="408" cy="294"/>
              <a:chOff x="1008" y="2304"/>
              <a:chExt cx="408" cy="294"/>
            </a:xfrm>
          </p:grpSpPr>
          <p:sp>
            <p:nvSpPr>
              <p:cNvPr id="17449" name="Oval 47"/>
              <p:cNvSpPr>
                <a:spLocks noChangeArrowheads="1"/>
              </p:cNvSpPr>
              <p:nvPr/>
            </p:nvSpPr>
            <p:spPr bwMode="auto">
              <a:xfrm>
                <a:off x="1056" y="2304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17450" name="Text Box 48"/>
              <p:cNvSpPr txBox="1">
                <a:spLocks noChangeArrowheads="1"/>
              </p:cNvSpPr>
              <p:nvPr/>
            </p:nvSpPr>
            <p:spPr bwMode="auto">
              <a:xfrm>
                <a:off x="1008" y="2304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V2</a:t>
                </a:r>
              </a:p>
            </p:txBody>
          </p:sp>
        </p:grpSp>
      </p:grpSp>
      <p:grpSp>
        <p:nvGrpSpPr>
          <p:cNvPr id="57" name="Group 26"/>
          <p:cNvGrpSpPr>
            <a:grpSpLocks/>
          </p:cNvGrpSpPr>
          <p:nvPr/>
        </p:nvGrpSpPr>
        <p:grpSpPr bwMode="auto">
          <a:xfrm>
            <a:off x="3991346" y="2676449"/>
            <a:ext cx="1790700" cy="1614488"/>
            <a:chOff x="672" y="1920"/>
            <a:chExt cx="1128" cy="1017"/>
          </a:xfrm>
        </p:grpSpPr>
        <p:grpSp>
          <p:nvGrpSpPr>
            <p:cNvPr id="58" name="Group 27"/>
            <p:cNvGrpSpPr>
              <a:grpSpLocks/>
            </p:cNvGrpSpPr>
            <p:nvPr/>
          </p:nvGrpSpPr>
          <p:grpSpPr bwMode="auto">
            <a:xfrm>
              <a:off x="816" y="2064"/>
              <a:ext cx="783" cy="658"/>
              <a:chOff x="794" y="2106"/>
              <a:chExt cx="783" cy="658"/>
            </a:xfrm>
          </p:grpSpPr>
          <p:sp>
            <p:nvSpPr>
              <p:cNvPr id="74" name="Line 28"/>
              <p:cNvSpPr>
                <a:spLocks noChangeShapeType="1"/>
              </p:cNvSpPr>
              <p:nvPr/>
            </p:nvSpPr>
            <p:spPr bwMode="auto">
              <a:xfrm>
                <a:off x="794" y="2280"/>
                <a:ext cx="0" cy="415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" name="Line 29"/>
              <p:cNvSpPr>
                <a:spLocks noChangeShapeType="1"/>
              </p:cNvSpPr>
              <p:nvPr/>
            </p:nvSpPr>
            <p:spPr bwMode="auto">
              <a:xfrm>
                <a:off x="965" y="2106"/>
                <a:ext cx="476" cy="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" name="Line 30"/>
              <p:cNvSpPr>
                <a:spLocks noChangeShapeType="1"/>
              </p:cNvSpPr>
              <p:nvPr/>
            </p:nvSpPr>
            <p:spPr bwMode="auto">
              <a:xfrm>
                <a:off x="1577" y="2280"/>
                <a:ext cx="0" cy="415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" name="Line 31"/>
              <p:cNvSpPr>
                <a:spLocks noChangeShapeType="1"/>
              </p:cNvSpPr>
              <p:nvPr/>
            </p:nvSpPr>
            <p:spPr bwMode="auto">
              <a:xfrm flipH="1">
                <a:off x="930" y="2591"/>
                <a:ext cx="171" cy="173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9" name="Group 34"/>
            <p:cNvGrpSpPr>
              <a:grpSpLocks/>
            </p:cNvGrpSpPr>
            <p:nvPr/>
          </p:nvGrpSpPr>
          <p:grpSpPr bwMode="auto">
            <a:xfrm>
              <a:off x="674" y="1920"/>
              <a:ext cx="408" cy="297"/>
              <a:chOff x="432" y="1680"/>
              <a:chExt cx="408" cy="297"/>
            </a:xfrm>
          </p:grpSpPr>
          <p:sp>
            <p:nvSpPr>
              <p:cNvPr id="72" name="Oval 35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73" name="Text Box 36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V0</a:t>
                </a:r>
              </a:p>
            </p:txBody>
          </p:sp>
        </p:grpSp>
        <p:grpSp>
          <p:nvGrpSpPr>
            <p:cNvPr id="60" name="Group 37"/>
            <p:cNvGrpSpPr>
              <a:grpSpLocks/>
            </p:cNvGrpSpPr>
            <p:nvPr/>
          </p:nvGrpSpPr>
          <p:grpSpPr bwMode="auto">
            <a:xfrm>
              <a:off x="1392" y="2640"/>
              <a:ext cx="408" cy="297"/>
              <a:chOff x="432" y="1680"/>
              <a:chExt cx="408" cy="297"/>
            </a:xfrm>
          </p:grpSpPr>
          <p:sp>
            <p:nvSpPr>
              <p:cNvPr id="70" name="Oval 38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71" name="Text Box 39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V4</a:t>
                </a:r>
              </a:p>
            </p:txBody>
          </p:sp>
        </p:grpSp>
        <p:grpSp>
          <p:nvGrpSpPr>
            <p:cNvPr id="61" name="Group 40"/>
            <p:cNvGrpSpPr>
              <a:grpSpLocks/>
            </p:cNvGrpSpPr>
            <p:nvPr/>
          </p:nvGrpSpPr>
          <p:grpSpPr bwMode="auto">
            <a:xfrm>
              <a:off x="672" y="2640"/>
              <a:ext cx="408" cy="297"/>
              <a:chOff x="432" y="1680"/>
              <a:chExt cx="408" cy="297"/>
            </a:xfrm>
          </p:grpSpPr>
          <p:sp>
            <p:nvSpPr>
              <p:cNvPr id="68" name="Oval 41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69" name="Text Box 42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V3</a:t>
                </a:r>
              </a:p>
            </p:txBody>
          </p:sp>
        </p:grpSp>
        <p:grpSp>
          <p:nvGrpSpPr>
            <p:cNvPr id="62" name="Group 43"/>
            <p:cNvGrpSpPr>
              <a:grpSpLocks/>
            </p:cNvGrpSpPr>
            <p:nvPr/>
          </p:nvGrpSpPr>
          <p:grpSpPr bwMode="auto">
            <a:xfrm>
              <a:off x="1370" y="1920"/>
              <a:ext cx="408" cy="294"/>
              <a:chOff x="2928" y="3312"/>
              <a:chExt cx="408" cy="294"/>
            </a:xfrm>
          </p:grpSpPr>
          <p:sp>
            <p:nvSpPr>
              <p:cNvPr id="66" name="Oval 44"/>
              <p:cNvSpPr>
                <a:spLocks noChangeArrowheads="1"/>
              </p:cNvSpPr>
              <p:nvPr/>
            </p:nvSpPr>
            <p:spPr bwMode="auto">
              <a:xfrm>
                <a:off x="2976" y="3312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67" name="Text Box 45"/>
              <p:cNvSpPr txBox="1">
                <a:spLocks noChangeArrowheads="1"/>
              </p:cNvSpPr>
              <p:nvPr/>
            </p:nvSpPr>
            <p:spPr bwMode="auto">
              <a:xfrm>
                <a:off x="2928" y="3312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V1</a:t>
                </a:r>
              </a:p>
            </p:txBody>
          </p:sp>
        </p:grpSp>
        <p:grpSp>
          <p:nvGrpSpPr>
            <p:cNvPr id="63" name="Group 46"/>
            <p:cNvGrpSpPr>
              <a:grpSpLocks/>
            </p:cNvGrpSpPr>
            <p:nvPr/>
          </p:nvGrpSpPr>
          <p:grpSpPr bwMode="auto">
            <a:xfrm>
              <a:off x="1008" y="2304"/>
              <a:ext cx="408" cy="294"/>
              <a:chOff x="1008" y="2304"/>
              <a:chExt cx="408" cy="294"/>
            </a:xfrm>
          </p:grpSpPr>
          <p:sp>
            <p:nvSpPr>
              <p:cNvPr id="64" name="Oval 47"/>
              <p:cNvSpPr>
                <a:spLocks noChangeArrowheads="1"/>
              </p:cNvSpPr>
              <p:nvPr/>
            </p:nvSpPr>
            <p:spPr bwMode="auto">
              <a:xfrm>
                <a:off x="1056" y="2304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65" name="Text Box 48"/>
              <p:cNvSpPr txBox="1">
                <a:spLocks noChangeArrowheads="1"/>
              </p:cNvSpPr>
              <p:nvPr/>
            </p:nvSpPr>
            <p:spPr bwMode="auto">
              <a:xfrm>
                <a:off x="1008" y="2304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V2</a:t>
                </a:r>
              </a:p>
            </p:txBody>
          </p:sp>
        </p:grpSp>
      </p:grpSp>
      <p:grpSp>
        <p:nvGrpSpPr>
          <p:cNvPr id="103" name="Group 26"/>
          <p:cNvGrpSpPr>
            <a:grpSpLocks/>
          </p:cNvGrpSpPr>
          <p:nvPr/>
        </p:nvGrpSpPr>
        <p:grpSpPr bwMode="auto">
          <a:xfrm>
            <a:off x="6612415" y="2662161"/>
            <a:ext cx="1790700" cy="1630363"/>
            <a:chOff x="672" y="1920"/>
            <a:chExt cx="1128" cy="1027"/>
          </a:xfrm>
        </p:grpSpPr>
        <p:grpSp>
          <p:nvGrpSpPr>
            <p:cNvPr id="104" name="Group 27"/>
            <p:cNvGrpSpPr>
              <a:grpSpLocks/>
            </p:cNvGrpSpPr>
            <p:nvPr/>
          </p:nvGrpSpPr>
          <p:grpSpPr bwMode="auto">
            <a:xfrm>
              <a:off x="816" y="2064"/>
              <a:ext cx="647" cy="589"/>
              <a:chOff x="794" y="2106"/>
              <a:chExt cx="647" cy="589"/>
            </a:xfrm>
          </p:grpSpPr>
          <p:sp>
            <p:nvSpPr>
              <p:cNvPr id="120" name="Line 28"/>
              <p:cNvSpPr>
                <a:spLocks noChangeShapeType="1"/>
              </p:cNvSpPr>
              <p:nvPr/>
            </p:nvSpPr>
            <p:spPr bwMode="auto">
              <a:xfrm>
                <a:off x="794" y="2280"/>
                <a:ext cx="0" cy="415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1" name="Line 29"/>
              <p:cNvSpPr>
                <a:spLocks noChangeShapeType="1"/>
              </p:cNvSpPr>
              <p:nvPr/>
            </p:nvSpPr>
            <p:spPr bwMode="auto">
              <a:xfrm>
                <a:off x="965" y="2106"/>
                <a:ext cx="476" cy="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05" name="Group 34"/>
            <p:cNvGrpSpPr>
              <a:grpSpLocks/>
            </p:cNvGrpSpPr>
            <p:nvPr/>
          </p:nvGrpSpPr>
          <p:grpSpPr bwMode="auto">
            <a:xfrm>
              <a:off x="674" y="1920"/>
              <a:ext cx="408" cy="297"/>
              <a:chOff x="432" y="1680"/>
              <a:chExt cx="408" cy="297"/>
            </a:xfrm>
          </p:grpSpPr>
          <p:sp>
            <p:nvSpPr>
              <p:cNvPr id="118" name="Oval 35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119" name="Text Box 36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V0</a:t>
                </a:r>
              </a:p>
            </p:txBody>
          </p:sp>
        </p:grpSp>
        <p:grpSp>
          <p:nvGrpSpPr>
            <p:cNvPr id="106" name="Group 37"/>
            <p:cNvGrpSpPr>
              <a:grpSpLocks/>
            </p:cNvGrpSpPr>
            <p:nvPr/>
          </p:nvGrpSpPr>
          <p:grpSpPr bwMode="auto">
            <a:xfrm>
              <a:off x="1392" y="2640"/>
              <a:ext cx="408" cy="297"/>
              <a:chOff x="432" y="1680"/>
              <a:chExt cx="408" cy="297"/>
            </a:xfrm>
          </p:grpSpPr>
          <p:sp>
            <p:nvSpPr>
              <p:cNvPr id="116" name="Oval 38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117" name="Text Box 39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V4</a:t>
                </a:r>
              </a:p>
            </p:txBody>
          </p:sp>
        </p:grpSp>
        <p:grpSp>
          <p:nvGrpSpPr>
            <p:cNvPr id="107" name="Group 40"/>
            <p:cNvGrpSpPr>
              <a:grpSpLocks/>
            </p:cNvGrpSpPr>
            <p:nvPr/>
          </p:nvGrpSpPr>
          <p:grpSpPr bwMode="auto">
            <a:xfrm>
              <a:off x="672" y="2643"/>
              <a:ext cx="451" cy="304"/>
              <a:chOff x="432" y="1683"/>
              <a:chExt cx="451" cy="304"/>
            </a:xfrm>
          </p:grpSpPr>
          <p:sp>
            <p:nvSpPr>
              <p:cNvPr id="114" name="Oval 41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115" name="Text Box 42"/>
              <p:cNvSpPr txBox="1">
                <a:spLocks noChangeArrowheads="1"/>
              </p:cNvSpPr>
              <p:nvPr/>
            </p:nvSpPr>
            <p:spPr bwMode="auto">
              <a:xfrm>
                <a:off x="432" y="1696"/>
                <a:ext cx="451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V3</a:t>
                </a:r>
              </a:p>
            </p:txBody>
          </p:sp>
        </p:grpSp>
        <p:grpSp>
          <p:nvGrpSpPr>
            <p:cNvPr id="108" name="Group 43"/>
            <p:cNvGrpSpPr>
              <a:grpSpLocks/>
            </p:cNvGrpSpPr>
            <p:nvPr/>
          </p:nvGrpSpPr>
          <p:grpSpPr bwMode="auto">
            <a:xfrm>
              <a:off x="1370" y="1920"/>
              <a:ext cx="408" cy="294"/>
              <a:chOff x="2928" y="3312"/>
              <a:chExt cx="408" cy="294"/>
            </a:xfrm>
          </p:grpSpPr>
          <p:sp>
            <p:nvSpPr>
              <p:cNvPr id="112" name="Oval 44"/>
              <p:cNvSpPr>
                <a:spLocks noChangeArrowheads="1"/>
              </p:cNvSpPr>
              <p:nvPr/>
            </p:nvSpPr>
            <p:spPr bwMode="auto">
              <a:xfrm>
                <a:off x="2976" y="3312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113" name="Text Box 45"/>
              <p:cNvSpPr txBox="1">
                <a:spLocks noChangeArrowheads="1"/>
              </p:cNvSpPr>
              <p:nvPr/>
            </p:nvSpPr>
            <p:spPr bwMode="auto">
              <a:xfrm>
                <a:off x="2928" y="3312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V1</a:t>
                </a:r>
              </a:p>
            </p:txBody>
          </p:sp>
        </p:grpSp>
        <p:grpSp>
          <p:nvGrpSpPr>
            <p:cNvPr id="109" name="Group 46"/>
            <p:cNvGrpSpPr>
              <a:grpSpLocks/>
            </p:cNvGrpSpPr>
            <p:nvPr/>
          </p:nvGrpSpPr>
          <p:grpSpPr bwMode="auto">
            <a:xfrm>
              <a:off x="1008" y="2304"/>
              <a:ext cx="408" cy="294"/>
              <a:chOff x="1008" y="2304"/>
              <a:chExt cx="408" cy="294"/>
            </a:xfrm>
          </p:grpSpPr>
          <p:sp>
            <p:nvSpPr>
              <p:cNvPr id="110" name="Oval 47"/>
              <p:cNvSpPr>
                <a:spLocks noChangeArrowheads="1"/>
              </p:cNvSpPr>
              <p:nvPr/>
            </p:nvSpPr>
            <p:spPr bwMode="auto">
              <a:xfrm>
                <a:off x="1056" y="2304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111" name="Text Box 48"/>
              <p:cNvSpPr txBox="1">
                <a:spLocks noChangeArrowheads="1"/>
              </p:cNvSpPr>
              <p:nvPr/>
            </p:nvSpPr>
            <p:spPr bwMode="auto">
              <a:xfrm>
                <a:off x="1008" y="2304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V2</a:t>
                </a:r>
              </a:p>
            </p:txBody>
          </p:sp>
        </p:grpSp>
      </p:grpSp>
      <p:sp>
        <p:nvSpPr>
          <p:cNvPr id="126" name="Text Box 6"/>
          <p:cNvSpPr txBox="1">
            <a:spLocks noChangeArrowheads="1"/>
          </p:cNvSpPr>
          <p:nvPr/>
        </p:nvSpPr>
        <p:spPr bwMode="auto">
          <a:xfrm>
            <a:off x="382853" y="3154992"/>
            <a:ext cx="549275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400" b="1" dirty="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kumimoji="1" lang="zh-CN" altLang="en-US" sz="2400" b="1" dirty="0">
                <a:solidFill>
                  <a:srgbClr val="00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连通图</a:t>
            </a:r>
          </a:p>
        </p:txBody>
      </p:sp>
      <p:grpSp>
        <p:nvGrpSpPr>
          <p:cNvPr id="150" name="Group 26"/>
          <p:cNvGrpSpPr>
            <a:grpSpLocks/>
          </p:cNvGrpSpPr>
          <p:nvPr/>
        </p:nvGrpSpPr>
        <p:grpSpPr bwMode="auto">
          <a:xfrm>
            <a:off x="6612415" y="4749547"/>
            <a:ext cx="1790700" cy="1614488"/>
            <a:chOff x="672" y="1920"/>
            <a:chExt cx="1128" cy="1017"/>
          </a:xfrm>
        </p:grpSpPr>
        <p:grpSp>
          <p:nvGrpSpPr>
            <p:cNvPr id="151" name="Group 27"/>
            <p:cNvGrpSpPr>
              <a:grpSpLocks/>
            </p:cNvGrpSpPr>
            <p:nvPr/>
          </p:nvGrpSpPr>
          <p:grpSpPr bwMode="auto">
            <a:xfrm>
              <a:off x="816" y="2064"/>
              <a:ext cx="783" cy="658"/>
              <a:chOff x="794" y="2106"/>
              <a:chExt cx="783" cy="658"/>
            </a:xfrm>
          </p:grpSpPr>
          <p:sp>
            <p:nvSpPr>
              <p:cNvPr id="167" name="Line 28"/>
              <p:cNvSpPr>
                <a:spLocks noChangeShapeType="1"/>
              </p:cNvSpPr>
              <p:nvPr/>
            </p:nvSpPr>
            <p:spPr bwMode="auto">
              <a:xfrm>
                <a:off x="794" y="2280"/>
                <a:ext cx="0" cy="415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" name="Line 29"/>
              <p:cNvSpPr>
                <a:spLocks noChangeShapeType="1"/>
              </p:cNvSpPr>
              <p:nvPr/>
            </p:nvSpPr>
            <p:spPr bwMode="auto">
              <a:xfrm>
                <a:off x="965" y="2106"/>
                <a:ext cx="476" cy="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" name="Line 30"/>
              <p:cNvSpPr>
                <a:spLocks noChangeShapeType="1"/>
              </p:cNvSpPr>
              <p:nvPr/>
            </p:nvSpPr>
            <p:spPr bwMode="auto">
              <a:xfrm>
                <a:off x="1577" y="2280"/>
                <a:ext cx="0" cy="415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0" name="Line 31"/>
              <p:cNvSpPr>
                <a:spLocks noChangeShapeType="1"/>
              </p:cNvSpPr>
              <p:nvPr/>
            </p:nvSpPr>
            <p:spPr bwMode="auto">
              <a:xfrm flipH="1">
                <a:off x="930" y="2591"/>
                <a:ext cx="171" cy="173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2" name="Line 33"/>
              <p:cNvSpPr>
                <a:spLocks noChangeShapeType="1"/>
              </p:cNvSpPr>
              <p:nvPr/>
            </p:nvSpPr>
            <p:spPr bwMode="auto">
              <a:xfrm>
                <a:off x="1292" y="2614"/>
                <a:ext cx="149" cy="147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52" name="Group 34"/>
            <p:cNvGrpSpPr>
              <a:grpSpLocks/>
            </p:cNvGrpSpPr>
            <p:nvPr/>
          </p:nvGrpSpPr>
          <p:grpSpPr bwMode="auto">
            <a:xfrm>
              <a:off x="674" y="1920"/>
              <a:ext cx="408" cy="297"/>
              <a:chOff x="432" y="1680"/>
              <a:chExt cx="408" cy="297"/>
            </a:xfrm>
          </p:grpSpPr>
          <p:sp>
            <p:nvSpPr>
              <p:cNvPr id="165" name="Oval 35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166" name="Text Box 36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V0</a:t>
                </a:r>
              </a:p>
            </p:txBody>
          </p:sp>
        </p:grpSp>
        <p:grpSp>
          <p:nvGrpSpPr>
            <p:cNvPr id="153" name="Group 37"/>
            <p:cNvGrpSpPr>
              <a:grpSpLocks/>
            </p:cNvGrpSpPr>
            <p:nvPr/>
          </p:nvGrpSpPr>
          <p:grpSpPr bwMode="auto">
            <a:xfrm>
              <a:off x="1392" y="2640"/>
              <a:ext cx="408" cy="297"/>
              <a:chOff x="432" y="1680"/>
              <a:chExt cx="408" cy="297"/>
            </a:xfrm>
          </p:grpSpPr>
          <p:sp>
            <p:nvSpPr>
              <p:cNvPr id="163" name="Oval 38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164" name="Text Box 39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V4</a:t>
                </a:r>
              </a:p>
            </p:txBody>
          </p:sp>
        </p:grpSp>
        <p:grpSp>
          <p:nvGrpSpPr>
            <p:cNvPr id="154" name="Group 40"/>
            <p:cNvGrpSpPr>
              <a:grpSpLocks/>
            </p:cNvGrpSpPr>
            <p:nvPr/>
          </p:nvGrpSpPr>
          <p:grpSpPr bwMode="auto">
            <a:xfrm>
              <a:off x="672" y="2640"/>
              <a:ext cx="408" cy="297"/>
              <a:chOff x="432" y="1680"/>
              <a:chExt cx="408" cy="297"/>
            </a:xfrm>
          </p:grpSpPr>
          <p:sp>
            <p:nvSpPr>
              <p:cNvPr id="161" name="Oval 41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162" name="Text Box 42"/>
              <p:cNvSpPr txBox="1">
                <a:spLocks noChangeArrowheads="1"/>
              </p:cNvSpPr>
              <p:nvPr/>
            </p:nvSpPr>
            <p:spPr bwMode="auto">
              <a:xfrm>
                <a:off x="432" y="1680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V3</a:t>
                </a:r>
              </a:p>
            </p:txBody>
          </p:sp>
        </p:grpSp>
        <p:grpSp>
          <p:nvGrpSpPr>
            <p:cNvPr id="155" name="Group 43"/>
            <p:cNvGrpSpPr>
              <a:grpSpLocks/>
            </p:cNvGrpSpPr>
            <p:nvPr/>
          </p:nvGrpSpPr>
          <p:grpSpPr bwMode="auto">
            <a:xfrm>
              <a:off x="1370" y="1920"/>
              <a:ext cx="408" cy="294"/>
              <a:chOff x="2928" y="3312"/>
              <a:chExt cx="408" cy="294"/>
            </a:xfrm>
          </p:grpSpPr>
          <p:sp>
            <p:nvSpPr>
              <p:cNvPr id="159" name="Oval 44"/>
              <p:cNvSpPr>
                <a:spLocks noChangeArrowheads="1"/>
              </p:cNvSpPr>
              <p:nvPr/>
            </p:nvSpPr>
            <p:spPr bwMode="auto">
              <a:xfrm>
                <a:off x="2976" y="3312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160" name="Text Box 45"/>
              <p:cNvSpPr txBox="1">
                <a:spLocks noChangeArrowheads="1"/>
              </p:cNvSpPr>
              <p:nvPr/>
            </p:nvSpPr>
            <p:spPr bwMode="auto">
              <a:xfrm>
                <a:off x="2928" y="3312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V1</a:t>
                </a:r>
              </a:p>
            </p:txBody>
          </p:sp>
        </p:grpSp>
        <p:grpSp>
          <p:nvGrpSpPr>
            <p:cNvPr id="156" name="Group 46"/>
            <p:cNvGrpSpPr>
              <a:grpSpLocks/>
            </p:cNvGrpSpPr>
            <p:nvPr/>
          </p:nvGrpSpPr>
          <p:grpSpPr bwMode="auto">
            <a:xfrm>
              <a:off x="1008" y="2304"/>
              <a:ext cx="408" cy="294"/>
              <a:chOff x="1008" y="2304"/>
              <a:chExt cx="408" cy="294"/>
            </a:xfrm>
          </p:grpSpPr>
          <p:sp>
            <p:nvSpPr>
              <p:cNvPr id="157" name="Oval 47"/>
              <p:cNvSpPr>
                <a:spLocks noChangeArrowheads="1"/>
              </p:cNvSpPr>
              <p:nvPr/>
            </p:nvSpPr>
            <p:spPr bwMode="auto">
              <a:xfrm>
                <a:off x="1056" y="2304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158" name="Text Box 48"/>
              <p:cNvSpPr txBox="1">
                <a:spLocks noChangeArrowheads="1"/>
              </p:cNvSpPr>
              <p:nvPr/>
            </p:nvSpPr>
            <p:spPr bwMode="auto">
              <a:xfrm>
                <a:off x="1008" y="2304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V2</a:t>
                </a:r>
              </a:p>
            </p:txBody>
          </p:sp>
        </p:grpSp>
      </p:grpSp>
      <p:grpSp>
        <p:nvGrpSpPr>
          <p:cNvPr id="2" name="组合 1"/>
          <p:cNvGrpSpPr/>
          <p:nvPr/>
        </p:nvGrpSpPr>
        <p:grpSpPr>
          <a:xfrm>
            <a:off x="4037667" y="4722560"/>
            <a:ext cx="1790700" cy="1614488"/>
            <a:chOff x="4037667" y="4722560"/>
            <a:chExt cx="1790700" cy="1614488"/>
          </a:xfrm>
        </p:grpSpPr>
        <p:grpSp>
          <p:nvGrpSpPr>
            <p:cNvPr id="127" name="Group 26"/>
            <p:cNvGrpSpPr>
              <a:grpSpLocks/>
            </p:cNvGrpSpPr>
            <p:nvPr/>
          </p:nvGrpSpPr>
          <p:grpSpPr bwMode="auto">
            <a:xfrm>
              <a:off x="4037667" y="4722560"/>
              <a:ext cx="1790700" cy="1614488"/>
              <a:chOff x="672" y="1920"/>
              <a:chExt cx="1128" cy="1017"/>
            </a:xfrm>
          </p:grpSpPr>
          <p:grpSp>
            <p:nvGrpSpPr>
              <p:cNvPr id="128" name="Group 27"/>
              <p:cNvGrpSpPr>
                <a:grpSpLocks/>
              </p:cNvGrpSpPr>
              <p:nvPr/>
            </p:nvGrpSpPr>
            <p:grpSpPr bwMode="auto">
              <a:xfrm>
                <a:off x="816" y="2064"/>
                <a:ext cx="647" cy="589"/>
                <a:chOff x="794" y="2106"/>
                <a:chExt cx="647" cy="589"/>
              </a:xfrm>
            </p:grpSpPr>
            <p:sp>
              <p:nvSpPr>
                <p:cNvPr id="144" name="Line 28"/>
                <p:cNvSpPr>
                  <a:spLocks noChangeShapeType="1"/>
                </p:cNvSpPr>
                <p:nvPr/>
              </p:nvSpPr>
              <p:spPr bwMode="auto">
                <a:xfrm>
                  <a:off x="794" y="2280"/>
                  <a:ext cx="0" cy="415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" name="Line 29"/>
                <p:cNvSpPr>
                  <a:spLocks noChangeShapeType="1"/>
                </p:cNvSpPr>
                <p:nvPr/>
              </p:nvSpPr>
              <p:spPr bwMode="auto">
                <a:xfrm>
                  <a:off x="965" y="2106"/>
                  <a:ext cx="476" cy="0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9" name="Group 34"/>
              <p:cNvGrpSpPr>
                <a:grpSpLocks/>
              </p:cNvGrpSpPr>
              <p:nvPr/>
            </p:nvGrpSpPr>
            <p:grpSpPr bwMode="auto">
              <a:xfrm>
                <a:off x="674" y="1920"/>
                <a:ext cx="408" cy="297"/>
                <a:chOff x="432" y="1680"/>
                <a:chExt cx="408" cy="297"/>
              </a:xfrm>
            </p:grpSpPr>
            <p:sp>
              <p:nvSpPr>
                <p:cNvPr id="142" name="Oval 35"/>
                <p:cNvSpPr>
                  <a:spLocks noChangeArrowheads="1"/>
                </p:cNvSpPr>
                <p:nvPr/>
              </p:nvSpPr>
              <p:spPr bwMode="auto">
                <a:xfrm>
                  <a:off x="462" y="1683"/>
                  <a:ext cx="289" cy="294"/>
                </a:xfrm>
                <a:prstGeom prst="ellipse">
                  <a:avLst/>
                </a:prstGeom>
                <a:solidFill>
                  <a:srgbClr val="FFFFCC"/>
                </a:solidFill>
                <a:ln w="28575" cap="rnd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18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3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432" y="1680"/>
                  <a:ext cx="40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000" b="1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 </a:t>
                  </a:r>
                  <a:r>
                    <a:rPr lang="en-US" altLang="zh-CN" sz="2400" b="1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V0</a:t>
                  </a:r>
                </a:p>
              </p:txBody>
            </p:sp>
          </p:grpSp>
          <p:grpSp>
            <p:nvGrpSpPr>
              <p:cNvPr id="130" name="Group 37"/>
              <p:cNvGrpSpPr>
                <a:grpSpLocks/>
              </p:cNvGrpSpPr>
              <p:nvPr/>
            </p:nvGrpSpPr>
            <p:grpSpPr bwMode="auto">
              <a:xfrm>
                <a:off x="1392" y="2640"/>
                <a:ext cx="408" cy="297"/>
                <a:chOff x="432" y="1680"/>
                <a:chExt cx="408" cy="297"/>
              </a:xfrm>
            </p:grpSpPr>
            <p:sp>
              <p:nvSpPr>
                <p:cNvPr id="140" name="Oval 38"/>
                <p:cNvSpPr>
                  <a:spLocks noChangeArrowheads="1"/>
                </p:cNvSpPr>
                <p:nvPr/>
              </p:nvSpPr>
              <p:spPr bwMode="auto">
                <a:xfrm>
                  <a:off x="462" y="1683"/>
                  <a:ext cx="289" cy="294"/>
                </a:xfrm>
                <a:prstGeom prst="ellipse">
                  <a:avLst/>
                </a:prstGeom>
                <a:solidFill>
                  <a:srgbClr val="FFFFCC"/>
                </a:solidFill>
                <a:ln w="28575" cap="rnd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18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1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432" y="1680"/>
                  <a:ext cx="40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000" b="1" dirty="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 </a:t>
                  </a:r>
                  <a:r>
                    <a:rPr lang="en-US" altLang="zh-CN" sz="2400" b="1" dirty="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V4</a:t>
                  </a:r>
                </a:p>
              </p:txBody>
            </p:sp>
          </p:grpSp>
          <p:grpSp>
            <p:nvGrpSpPr>
              <p:cNvPr id="131" name="Group 40"/>
              <p:cNvGrpSpPr>
                <a:grpSpLocks/>
              </p:cNvGrpSpPr>
              <p:nvPr/>
            </p:nvGrpSpPr>
            <p:grpSpPr bwMode="auto">
              <a:xfrm>
                <a:off x="672" y="2640"/>
                <a:ext cx="408" cy="297"/>
                <a:chOff x="432" y="1680"/>
                <a:chExt cx="408" cy="297"/>
              </a:xfrm>
            </p:grpSpPr>
            <p:sp>
              <p:nvSpPr>
                <p:cNvPr id="138" name="Oval 41"/>
                <p:cNvSpPr>
                  <a:spLocks noChangeArrowheads="1"/>
                </p:cNvSpPr>
                <p:nvPr/>
              </p:nvSpPr>
              <p:spPr bwMode="auto">
                <a:xfrm>
                  <a:off x="462" y="1683"/>
                  <a:ext cx="289" cy="294"/>
                </a:xfrm>
                <a:prstGeom prst="ellipse">
                  <a:avLst/>
                </a:prstGeom>
                <a:solidFill>
                  <a:srgbClr val="FFFFCC"/>
                </a:solidFill>
                <a:ln w="28575" cap="rnd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18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9" name="Text Box 42"/>
                <p:cNvSpPr txBox="1">
                  <a:spLocks noChangeArrowheads="1"/>
                </p:cNvSpPr>
                <p:nvPr/>
              </p:nvSpPr>
              <p:spPr bwMode="auto">
                <a:xfrm>
                  <a:off x="432" y="1680"/>
                  <a:ext cx="40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000" b="1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 </a:t>
                  </a:r>
                  <a:r>
                    <a:rPr lang="en-US" altLang="zh-CN" sz="2400" b="1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V3</a:t>
                  </a:r>
                </a:p>
              </p:txBody>
            </p:sp>
          </p:grpSp>
          <p:grpSp>
            <p:nvGrpSpPr>
              <p:cNvPr id="132" name="Group 43"/>
              <p:cNvGrpSpPr>
                <a:grpSpLocks/>
              </p:cNvGrpSpPr>
              <p:nvPr/>
            </p:nvGrpSpPr>
            <p:grpSpPr bwMode="auto">
              <a:xfrm>
                <a:off x="1370" y="1920"/>
                <a:ext cx="408" cy="294"/>
                <a:chOff x="2928" y="3312"/>
                <a:chExt cx="408" cy="294"/>
              </a:xfrm>
            </p:grpSpPr>
            <p:sp>
              <p:nvSpPr>
                <p:cNvPr id="136" name="Oval 44"/>
                <p:cNvSpPr>
                  <a:spLocks noChangeArrowheads="1"/>
                </p:cNvSpPr>
                <p:nvPr/>
              </p:nvSpPr>
              <p:spPr bwMode="auto">
                <a:xfrm>
                  <a:off x="2976" y="3312"/>
                  <a:ext cx="295" cy="294"/>
                </a:xfrm>
                <a:prstGeom prst="ellipse">
                  <a:avLst/>
                </a:prstGeom>
                <a:solidFill>
                  <a:srgbClr val="FFFFCC"/>
                </a:solidFill>
                <a:ln w="28575" cap="rnd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18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7" name="Text Box 45"/>
                <p:cNvSpPr txBox="1">
                  <a:spLocks noChangeArrowheads="1"/>
                </p:cNvSpPr>
                <p:nvPr/>
              </p:nvSpPr>
              <p:spPr bwMode="auto">
                <a:xfrm>
                  <a:off x="2928" y="3312"/>
                  <a:ext cx="40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cap="rnd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华文细黑" panose="0201060004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1000" b="1" dirty="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 </a:t>
                  </a:r>
                  <a:r>
                    <a:rPr lang="en-US" altLang="zh-CN" sz="2400" b="1" dirty="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V1</a:t>
                  </a:r>
                </a:p>
              </p:txBody>
            </p:sp>
          </p:grpSp>
        </p:grpSp>
        <p:sp>
          <p:nvSpPr>
            <p:cNvPr id="173" name="Line 30"/>
            <p:cNvSpPr>
              <a:spLocks noChangeShapeType="1"/>
            </p:cNvSpPr>
            <p:nvPr/>
          </p:nvSpPr>
          <p:spPr bwMode="auto">
            <a:xfrm flipH="1">
              <a:off x="5456139" y="5179761"/>
              <a:ext cx="6820" cy="71755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4" name="Line 32"/>
          <p:cNvSpPr>
            <a:spLocks noChangeShapeType="1"/>
          </p:cNvSpPr>
          <p:nvPr/>
        </p:nvSpPr>
        <p:spPr bwMode="auto">
          <a:xfrm flipH="1">
            <a:off x="7590748" y="3070220"/>
            <a:ext cx="271463" cy="274638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5C6C835-795A-A845-A399-7142DC7CE2D5}"/>
              </a:ext>
            </a:extLst>
          </p:cNvPr>
          <p:cNvSpPr txBox="1"/>
          <p:nvPr/>
        </p:nvSpPr>
        <p:spPr>
          <a:xfrm>
            <a:off x="6423199" y="2412892"/>
            <a:ext cx="2198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不是生成树 无</a:t>
            </a:r>
            <a:r>
              <a:rPr kumimoji="1" lang="en-US" altLang="zh-CN" dirty="0"/>
              <a:t>v2-v4</a:t>
            </a:r>
            <a:endParaRPr kumimoji="1" lang="zh-CN" altLang="en-US" dirty="0"/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28891290-7F11-C64A-B532-9D362BD5CDC3}"/>
              </a:ext>
            </a:extLst>
          </p:cNvPr>
          <p:cNvSpPr txBox="1"/>
          <p:nvPr/>
        </p:nvSpPr>
        <p:spPr>
          <a:xfrm>
            <a:off x="4154205" y="5413122"/>
            <a:ext cx="1941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不是生成树  无</a:t>
            </a:r>
            <a:r>
              <a:rPr kumimoji="1" lang="en-US" altLang="zh-CN" dirty="0"/>
              <a:t>v2</a:t>
            </a:r>
            <a:endParaRPr kumimoji="1" lang="zh-CN" altLang="en-US" dirty="0"/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5F3F982B-1156-2948-8352-49F3E434AEF2}"/>
              </a:ext>
            </a:extLst>
          </p:cNvPr>
          <p:cNvSpPr txBox="1"/>
          <p:nvPr/>
        </p:nvSpPr>
        <p:spPr>
          <a:xfrm>
            <a:off x="6549402" y="5204128"/>
            <a:ext cx="2164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不是生成树 有回路</a:t>
            </a:r>
          </a:p>
        </p:txBody>
      </p:sp>
    </p:spTree>
    <p:extLst>
      <p:ext uri="{BB962C8B-B14F-4D97-AF65-F5344CB8AC3E}">
        <p14:creationId xmlns:p14="http://schemas.microsoft.com/office/powerpoint/2010/main" val="7595094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31640" y="2615406"/>
            <a:ext cx="6624736" cy="10795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练习 </a:t>
            </a:r>
            <a:r>
              <a:rPr lang="en-US" altLang="zh-CN" dirty="0"/>
              <a:t>6-1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8753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FC9BE59-6BE6-4719-943D-2F0BF22505B9}" type="slidenum">
              <a:rPr lang="zh-CN" altLang="en-US" smtClean="0"/>
              <a:pPr>
                <a:defRPr/>
              </a:pPr>
              <a:t>16</a:t>
            </a:fld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96157" y="883346"/>
            <a:ext cx="9445302" cy="3560042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zh-CN" altLang="en-US" sz="2800" dirty="0"/>
              <a:t>给出顶点</a:t>
            </a:r>
            <a:r>
              <a:rPr lang="en-US" altLang="zh-CN" sz="2800" dirty="0"/>
              <a:t>D</a:t>
            </a:r>
            <a:r>
              <a:rPr lang="zh-CN" altLang="en-US" sz="2800" dirty="0"/>
              <a:t>的所有邻接点和关联边  </a:t>
            </a:r>
            <a:r>
              <a:rPr lang="en-US" altLang="zh-CN" sz="2800" dirty="0">
                <a:solidFill>
                  <a:srgbClr val="FF0000"/>
                </a:solidFill>
              </a:rPr>
              <a:t>C</a:t>
            </a:r>
            <a:r>
              <a:rPr lang="zh-CN" altLang="en-US" sz="2800" dirty="0">
                <a:solidFill>
                  <a:srgbClr val="FF0000"/>
                </a:solidFill>
              </a:rPr>
              <a:t>、</a:t>
            </a:r>
            <a:r>
              <a:rPr lang="en-US" altLang="zh-CN" sz="2800" dirty="0">
                <a:solidFill>
                  <a:srgbClr val="FF0000"/>
                </a:solidFill>
              </a:rPr>
              <a:t>A</a:t>
            </a:r>
            <a:r>
              <a:rPr lang="zh-CN" altLang="en-US" sz="2800" dirty="0">
                <a:solidFill>
                  <a:srgbClr val="FF0000"/>
                </a:solidFill>
              </a:rPr>
              <a:t>  </a:t>
            </a:r>
            <a:r>
              <a:rPr lang="en-US" altLang="zh-CN" sz="2800" dirty="0">
                <a:solidFill>
                  <a:srgbClr val="FF0000"/>
                </a:solidFill>
              </a:rPr>
              <a:t>CD</a:t>
            </a:r>
            <a:r>
              <a:rPr lang="zh-CN" altLang="en-US" sz="2800" dirty="0">
                <a:solidFill>
                  <a:srgbClr val="FF0000"/>
                </a:solidFill>
              </a:rPr>
              <a:t>、</a:t>
            </a:r>
            <a:r>
              <a:rPr lang="en-US" altLang="zh-CN" sz="2800" dirty="0">
                <a:solidFill>
                  <a:srgbClr val="FF0000"/>
                </a:solidFill>
              </a:rPr>
              <a:t>AD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zh-CN" altLang="en-US" sz="2800" dirty="0"/>
              <a:t>给出顶点</a:t>
            </a:r>
            <a:r>
              <a:rPr lang="en-US" altLang="zh-CN" sz="2800" dirty="0"/>
              <a:t>A</a:t>
            </a:r>
            <a:r>
              <a:rPr lang="zh-CN" altLang="en-US" sz="2800" dirty="0"/>
              <a:t>的度   </a:t>
            </a:r>
            <a:r>
              <a:rPr lang="en-US" altLang="zh-CN" sz="2800" dirty="0">
                <a:solidFill>
                  <a:srgbClr val="FF0000"/>
                </a:solidFill>
              </a:rPr>
              <a:t>3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zh-CN" altLang="en-US" sz="2800" dirty="0"/>
              <a:t>是完全图吗？是连通图吗？ </a:t>
            </a:r>
            <a:r>
              <a:rPr lang="zh-CN" altLang="en-US" sz="2800" dirty="0">
                <a:solidFill>
                  <a:srgbClr val="FF0000"/>
                </a:solidFill>
              </a:rPr>
              <a:t>否  是</a:t>
            </a:r>
            <a:r>
              <a:rPr lang="zh-CN" altLang="en-US" sz="2800" dirty="0"/>
              <a:t>    </a:t>
            </a:r>
            <a:endParaRPr lang="en-US" altLang="zh-CN" sz="2800" dirty="0"/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zh-CN" altLang="en-US" sz="2800" dirty="0"/>
              <a:t>给出一条简单回路    </a:t>
            </a:r>
            <a:r>
              <a:rPr lang="zh-CN" altLang="en-US" sz="2800" dirty="0">
                <a:solidFill>
                  <a:srgbClr val="FF0000"/>
                </a:solidFill>
              </a:rPr>
              <a:t>（</a:t>
            </a:r>
            <a:r>
              <a:rPr lang="en-US" altLang="zh-CN" sz="2800" dirty="0">
                <a:solidFill>
                  <a:srgbClr val="FF0000"/>
                </a:solidFill>
              </a:rPr>
              <a:t>A,D,C,A)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zh-CN" altLang="en-US" sz="2800" dirty="0"/>
              <a:t>给出一个子图     </a:t>
            </a:r>
            <a:endParaRPr lang="en-US" altLang="zh-CN" sz="2800" dirty="0"/>
          </a:p>
        </p:txBody>
      </p:sp>
      <p:sp>
        <p:nvSpPr>
          <p:cNvPr id="7" name="圆角矩形 6"/>
          <p:cNvSpPr/>
          <p:nvPr>
            <p:custDataLst>
              <p:tags r:id="rId3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3" name="矩形 12"/>
          <p:cNvSpPr/>
          <p:nvPr>
            <p:custDataLst>
              <p:tags r:id="rId4"/>
            </p:custDataLst>
          </p:nvPr>
        </p:nvSpPr>
        <p:spPr bwMode="auto">
          <a:xfrm>
            <a:off x="0" y="5849303"/>
            <a:ext cx="9144000" cy="365760"/>
          </a:xfrm>
          <a:prstGeom prst="rect">
            <a:avLst/>
          </a:prstGeom>
          <a:solidFill>
            <a:srgbClr val="FBFAE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eaLnBrk="1" hangingPunct="1"/>
            <a:r>
              <a:rPr kumimoji="0" lang="zh-CN" altLang="en-US" sz="1200" b="0" i="1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kumimoji="0" lang="en-US" altLang="zh-CN" sz="1200" b="0" i="1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kumimoji="0" lang="zh-CN" altLang="en-US" sz="1200" b="0" i="1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4" name="组合 1"/>
          <p:cNvGrpSpPr>
            <a:grpSpLocks/>
          </p:cNvGrpSpPr>
          <p:nvPr/>
        </p:nvGrpSpPr>
        <p:grpSpPr bwMode="auto">
          <a:xfrm>
            <a:off x="6006294" y="2924944"/>
            <a:ext cx="2276475" cy="1757363"/>
            <a:chOff x="2413000" y="4119910"/>
            <a:chExt cx="2276475" cy="1757362"/>
          </a:xfrm>
        </p:grpSpPr>
        <p:sp>
          <p:nvSpPr>
            <p:cNvPr id="15" name="Line 3"/>
            <p:cNvSpPr>
              <a:spLocks noChangeShapeType="1"/>
            </p:cNvSpPr>
            <p:nvPr/>
          </p:nvSpPr>
          <p:spPr bwMode="auto">
            <a:xfrm>
              <a:off x="2987675" y="4334222"/>
              <a:ext cx="1152525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Line 6"/>
            <p:cNvSpPr>
              <a:spLocks noChangeShapeType="1"/>
            </p:cNvSpPr>
            <p:nvPr/>
          </p:nvSpPr>
          <p:spPr bwMode="auto">
            <a:xfrm>
              <a:off x="2700338" y="4694585"/>
              <a:ext cx="0" cy="70485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Line 8"/>
            <p:cNvSpPr>
              <a:spLocks noChangeShapeType="1"/>
            </p:cNvSpPr>
            <p:nvPr/>
          </p:nvSpPr>
          <p:spPr bwMode="auto">
            <a:xfrm flipH="1" flipV="1">
              <a:off x="2916238" y="4551710"/>
              <a:ext cx="1295400" cy="86360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Line 9"/>
            <p:cNvSpPr>
              <a:spLocks noChangeShapeType="1"/>
            </p:cNvSpPr>
            <p:nvPr/>
          </p:nvSpPr>
          <p:spPr bwMode="auto">
            <a:xfrm flipV="1">
              <a:off x="2987675" y="5631210"/>
              <a:ext cx="1152525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Oval 10"/>
            <p:cNvSpPr>
              <a:spLocks noChangeArrowheads="1"/>
            </p:cNvSpPr>
            <p:nvPr/>
          </p:nvSpPr>
          <p:spPr bwMode="auto">
            <a:xfrm>
              <a:off x="2413000" y="4119910"/>
              <a:ext cx="574675" cy="533400"/>
            </a:xfrm>
            <a:prstGeom prst="ellips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kumimoji="1" lang="en-US" altLang="zh-CN" sz="3600" dirty="0">
                  <a:latin typeface="+mn-lt"/>
                </a:rPr>
                <a:t>A</a:t>
              </a:r>
              <a:endParaRPr kumimoji="1" lang="en-US" altLang="zh-CN" sz="2400" dirty="0">
                <a:latin typeface="+mn-lt"/>
              </a:endParaRPr>
            </a:p>
          </p:txBody>
        </p:sp>
        <p:sp>
          <p:nvSpPr>
            <p:cNvPr id="20" name="Oval 11"/>
            <p:cNvSpPr>
              <a:spLocks noChangeArrowheads="1"/>
            </p:cNvSpPr>
            <p:nvPr/>
          </p:nvSpPr>
          <p:spPr bwMode="auto">
            <a:xfrm>
              <a:off x="2484438" y="5399435"/>
              <a:ext cx="496887" cy="477837"/>
            </a:xfrm>
            <a:prstGeom prst="ellips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3600"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21" name="Oval 12"/>
            <p:cNvSpPr>
              <a:spLocks noChangeArrowheads="1"/>
            </p:cNvSpPr>
            <p:nvPr/>
          </p:nvSpPr>
          <p:spPr bwMode="auto">
            <a:xfrm>
              <a:off x="4141788" y="5343872"/>
              <a:ext cx="547687" cy="533400"/>
            </a:xfrm>
            <a:prstGeom prst="ellips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3600" dirty="0">
                  <a:ea typeface="宋体" panose="02010600030101010101" pitchFamily="2" charset="-122"/>
                </a:rPr>
                <a:t>D</a:t>
              </a:r>
            </a:p>
          </p:txBody>
        </p:sp>
        <p:sp>
          <p:nvSpPr>
            <p:cNvPr id="22" name="Oval 13"/>
            <p:cNvSpPr>
              <a:spLocks noChangeArrowheads="1"/>
            </p:cNvSpPr>
            <p:nvPr/>
          </p:nvSpPr>
          <p:spPr bwMode="auto">
            <a:xfrm>
              <a:off x="4141788" y="4119910"/>
              <a:ext cx="547687" cy="533400"/>
            </a:xfrm>
            <a:prstGeom prst="ellips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3600">
                  <a:ea typeface="宋体" panose="02010600030101010101" pitchFamily="2" charset="-122"/>
                </a:rPr>
                <a:t>B</a:t>
              </a:r>
            </a:p>
          </p:txBody>
        </p:sp>
      </p:grpSp>
      <p:grpSp>
        <p:nvGrpSpPr>
          <p:cNvPr id="12" name="组合 11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8" name="TitleBackground"/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华文细黑" pitchFamily="2" charset="-122"/>
              </a:endParaRPr>
            </a:p>
          </p:txBody>
        </p:sp>
        <p:sp>
          <p:nvSpPr>
            <p:cNvPr id="9" name="ColorBlock"/>
            <p:cNvSpPr/>
            <p:nvPr>
              <p:custDataLst>
                <p:tags r:id="rId8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华文细黑" pitchFamily="2" charset="-122"/>
              </a:endParaRPr>
            </a:p>
          </p:txBody>
        </p:sp>
        <p:sp>
          <p:nvSpPr>
            <p:cNvPr id="10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1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  <p:grpSp>
        <p:nvGrpSpPr>
          <p:cNvPr id="23" name="组合 1">
            <a:extLst>
              <a:ext uri="{FF2B5EF4-FFF2-40B4-BE49-F238E27FC236}">
                <a16:creationId xmlns:a16="http://schemas.microsoft.com/office/drawing/2014/main" id="{6EC34DCF-DBD4-C24F-BB16-DEBBE0228923}"/>
              </a:ext>
            </a:extLst>
          </p:cNvPr>
          <p:cNvGrpSpPr>
            <a:grpSpLocks/>
          </p:cNvGrpSpPr>
          <p:nvPr/>
        </p:nvGrpSpPr>
        <p:grpSpPr bwMode="auto">
          <a:xfrm>
            <a:off x="1189155" y="3853021"/>
            <a:ext cx="2276475" cy="1757363"/>
            <a:chOff x="2413000" y="4119910"/>
            <a:chExt cx="2276475" cy="1757362"/>
          </a:xfrm>
        </p:grpSpPr>
        <p:sp>
          <p:nvSpPr>
            <p:cNvPr id="24" name="Line 3">
              <a:extLst>
                <a:ext uri="{FF2B5EF4-FFF2-40B4-BE49-F238E27FC236}">
                  <a16:creationId xmlns:a16="http://schemas.microsoft.com/office/drawing/2014/main" id="{35F542BB-A968-6741-A7D5-673C331CAD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87675" y="4334222"/>
              <a:ext cx="1152525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5" name="Line 6">
              <a:extLst>
                <a:ext uri="{FF2B5EF4-FFF2-40B4-BE49-F238E27FC236}">
                  <a16:creationId xmlns:a16="http://schemas.microsoft.com/office/drawing/2014/main" id="{81633CC3-B606-4946-A2AE-13D7E927BB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00338" y="4694585"/>
              <a:ext cx="0" cy="70485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Line 9">
              <a:extLst>
                <a:ext uri="{FF2B5EF4-FFF2-40B4-BE49-F238E27FC236}">
                  <a16:creationId xmlns:a16="http://schemas.microsoft.com/office/drawing/2014/main" id="{A6A7EF23-52FC-3441-8AF9-66C99F6285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87675" y="5631210"/>
              <a:ext cx="1152525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Oval 10">
              <a:extLst>
                <a:ext uri="{FF2B5EF4-FFF2-40B4-BE49-F238E27FC236}">
                  <a16:creationId xmlns:a16="http://schemas.microsoft.com/office/drawing/2014/main" id="{825DD868-1A61-2644-A899-5204C40B49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3000" y="4119910"/>
              <a:ext cx="574675" cy="533400"/>
            </a:xfrm>
            <a:prstGeom prst="ellips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kumimoji="1" lang="en-US" altLang="zh-CN" sz="3600" dirty="0">
                  <a:latin typeface="+mn-lt"/>
                </a:rPr>
                <a:t>A</a:t>
              </a:r>
              <a:endParaRPr kumimoji="1" lang="en-US" altLang="zh-CN" sz="2400" dirty="0">
                <a:latin typeface="+mn-lt"/>
              </a:endParaRPr>
            </a:p>
          </p:txBody>
        </p:sp>
        <p:sp>
          <p:nvSpPr>
            <p:cNvPr id="29" name="Oval 11">
              <a:extLst>
                <a:ext uri="{FF2B5EF4-FFF2-40B4-BE49-F238E27FC236}">
                  <a16:creationId xmlns:a16="http://schemas.microsoft.com/office/drawing/2014/main" id="{D3586B0C-2486-244D-A676-0B36DA5ECD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4438" y="5399435"/>
              <a:ext cx="496887" cy="477837"/>
            </a:xfrm>
            <a:prstGeom prst="ellips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3600"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30" name="Oval 12">
              <a:extLst>
                <a:ext uri="{FF2B5EF4-FFF2-40B4-BE49-F238E27FC236}">
                  <a16:creationId xmlns:a16="http://schemas.microsoft.com/office/drawing/2014/main" id="{DDD91613-135D-524E-9EFB-CEFD7DAE3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1788" y="5343872"/>
              <a:ext cx="547687" cy="533400"/>
            </a:xfrm>
            <a:prstGeom prst="ellips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3600" dirty="0">
                  <a:ea typeface="宋体" panose="02010600030101010101" pitchFamily="2" charset="-122"/>
                </a:rPr>
                <a:t>D</a:t>
              </a:r>
            </a:p>
          </p:txBody>
        </p:sp>
        <p:sp>
          <p:nvSpPr>
            <p:cNvPr id="31" name="Oval 13">
              <a:extLst>
                <a:ext uri="{FF2B5EF4-FFF2-40B4-BE49-F238E27FC236}">
                  <a16:creationId xmlns:a16="http://schemas.microsoft.com/office/drawing/2014/main" id="{C1B0787F-9B37-FA44-AB41-35EFCDAB7A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1788" y="4119910"/>
              <a:ext cx="547687" cy="533400"/>
            </a:xfrm>
            <a:prstGeom prst="ellips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3600" dirty="0">
                  <a:ea typeface="宋体" panose="02010600030101010101" pitchFamily="2" charset="-122"/>
                </a:rPr>
                <a:t>B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3140279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F2CCC24-B95D-4B93-860D-70944822D015}" type="slidenum">
              <a:rPr lang="zh-CN" altLang="en-US" smtClean="0"/>
              <a:pPr>
                <a:defRPr/>
              </a:pPr>
              <a:t>17</a:t>
            </a:fld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914400" y="16288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marL="514350" indent="-514350">
              <a:buFont typeface="Arial" panose="020B0604020202020204" pitchFamily="34" charset="0"/>
              <a:buAutoNum type="arabicPeriod"/>
              <a:defRPr/>
            </a:pPr>
            <a:r>
              <a:rPr lang="zh-CN" altLang="en-US" sz="2800" kern="0" dirty="0"/>
              <a:t>给出顶点</a:t>
            </a:r>
            <a:r>
              <a:rPr lang="en-US" altLang="zh-CN" sz="2800" kern="0" dirty="0"/>
              <a:t>D</a:t>
            </a:r>
            <a:r>
              <a:rPr lang="zh-CN" altLang="en-US" sz="2800" kern="0" dirty="0"/>
              <a:t>的度、入度和出度</a:t>
            </a:r>
            <a:endParaRPr lang="en-US" altLang="zh-CN" sz="2800" kern="0" dirty="0"/>
          </a:p>
          <a:p>
            <a:pPr marL="514350" indent="-514350">
              <a:buFont typeface="Arial" panose="020B0604020202020204" pitchFamily="34" charset="0"/>
              <a:buAutoNum type="arabicPeriod"/>
              <a:defRPr/>
            </a:pPr>
            <a:r>
              <a:rPr lang="zh-CN" altLang="en-US" sz="2800" kern="0" dirty="0"/>
              <a:t>是完全图吗？是强联通图吗？</a:t>
            </a:r>
            <a:endParaRPr lang="en-US" altLang="zh-CN" sz="2800" kern="0" dirty="0"/>
          </a:p>
          <a:p>
            <a:pPr marL="514350" indent="-514350">
              <a:buFont typeface="Arial" panose="020B0604020202020204" pitchFamily="34" charset="0"/>
              <a:buAutoNum type="arabicPeriod"/>
              <a:defRPr/>
            </a:pPr>
            <a:r>
              <a:rPr lang="zh-CN" altLang="en-US" sz="2800" kern="0" dirty="0"/>
              <a:t>给出一条简单回路</a:t>
            </a:r>
            <a:endParaRPr lang="en-US" altLang="zh-CN" sz="2800" kern="0" dirty="0"/>
          </a:p>
          <a:p>
            <a:pPr marL="514350" indent="-514350">
              <a:buFont typeface="Arial" panose="020B0604020202020204" pitchFamily="34" charset="0"/>
              <a:buAutoNum type="arabicPeriod"/>
              <a:defRPr/>
            </a:pPr>
            <a:r>
              <a:rPr lang="zh-CN" altLang="en-US" sz="2800" kern="0" dirty="0"/>
              <a:t>给出一个子图</a:t>
            </a:r>
            <a:endParaRPr lang="en-US" altLang="zh-CN" sz="2800" kern="0" dirty="0"/>
          </a:p>
        </p:txBody>
      </p:sp>
      <p:sp>
        <p:nvSpPr>
          <p:cNvPr id="5" name="圆角矩形 4"/>
          <p:cNvSpPr/>
          <p:nvPr>
            <p:custDataLst>
              <p:tags r:id="rId3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 bwMode="auto">
          <a:xfrm>
            <a:off x="0" y="5849303"/>
            <a:ext cx="9144000" cy="365760"/>
          </a:xfrm>
          <a:prstGeom prst="rect">
            <a:avLst/>
          </a:prstGeom>
          <a:solidFill>
            <a:srgbClr val="FBFAE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eaLnBrk="1" hangingPunct="1"/>
            <a:r>
              <a:rPr kumimoji="0" lang="zh-CN" altLang="en-US" sz="1200" b="0" i="1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kumimoji="0" lang="en-US" altLang="zh-CN" sz="1200" b="0" i="1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kumimoji="0" lang="zh-CN" altLang="en-US" sz="1200" b="0" i="1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5827712" y="3030380"/>
            <a:ext cx="2232025" cy="1757362"/>
            <a:chOff x="6045200" y="4354513"/>
            <a:chExt cx="2232025" cy="1757362"/>
          </a:xfrm>
        </p:grpSpPr>
        <p:sp>
          <p:nvSpPr>
            <p:cNvPr id="13" name="Line 3"/>
            <p:cNvSpPr>
              <a:spLocks noChangeShapeType="1"/>
            </p:cNvSpPr>
            <p:nvPr/>
          </p:nvSpPr>
          <p:spPr bwMode="auto">
            <a:xfrm flipV="1">
              <a:off x="6588125" y="4641850"/>
              <a:ext cx="1184275" cy="11113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Line 6"/>
            <p:cNvSpPr>
              <a:spLocks noChangeShapeType="1"/>
            </p:cNvSpPr>
            <p:nvPr/>
          </p:nvSpPr>
          <p:spPr bwMode="auto">
            <a:xfrm>
              <a:off x="6332538" y="4929188"/>
              <a:ext cx="0" cy="70485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Line 7"/>
            <p:cNvSpPr>
              <a:spLocks noChangeShapeType="1"/>
            </p:cNvSpPr>
            <p:nvPr/>
          </p:nvSpPr>
          <p:spPr bwMode="auto">
            <a:xfrm flipH="1" flipV="1">
              <a:off x="7989888" y="4857750"/>
              <a:ext cx="0" cy="720725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Line 8"/>
            <p:cNvSpPr>
              <a:spLocks noChangeShapeType="1"/>
            </p:cNvSpPr>
            <p:nvPr/>
          </p:nvSpPr>
          <p:spPr bwMode="auto">
            <a:xfrm flipH="1" flipV="1">
              <a:off x="6548438" y="4786313"/>
              <a:ext cx="1296987" cy="86360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Line 9"/>
            <p:cNvSpPr>
              <a:spLocks noChangeShapeType="1"/>
            </p:cNvSpPr>
            <p:nvPr/>
          </p:nvSpPr>
          <p:spPr bwMode="auto">
            <a:xfrm flipV="1">
              <a:off x="6548438" y="5865813"/>
              <a:ext cx="1225550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Oval 10"/>
            <p:cNvSpPr>
              <a:spLocks noChangeArrowheads="1"/>
            </p:cNvSpPr>
            <p:nvPr/>
          </p:nvSpPr>
          <p:spPr bwMode="auto">
            <a:xfrm>
              <a:off x="6045200" y="4354513"/>
              <a:ext cx="528638" cy="533400"/>
            </a:xfrm>
            <a:prstGeom prst="ellips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kumimoji="1" lang="en-US" altLang="zh-CN" sz="3600" b="1" dirty="0">
                  <a:latin typeface="+mn-ea"/>
                  <a:ea typeface="+mn-ea"/>
                </a:rPr>
                <a:t>A</a:t>
              </a:r>
              <a:endParaRPr kumimoji="1" lang="en-US" altLang="zh-CN" sz="2400" dirty="0">
                <a:latin typeface="+mn-ea"/>
                <a:ea typeface="+mn-ea"/>
              </a:endParaRPr>
            </a:p>
          </p:txBody>
        </p:sp>
        <p:sp>
          <p:nvSpPr>
            <p:cNvPr id="19" name="Oval 11"/>
            <p:cNvSpPr>
              <a:spLocks noChangeArrowheads="1"/>
            </p:cNvSpPr>
            <p:nvPr/>
          </p:nvSpPr>
          <p:spPr bwMode="auto">
            <a:xfrm>
              <a:off x="6116638" y="5634038"/>
              <a:ext cx="457200" cy="477837"/>
            </a:xfrm>
            <a:prstGeom prst="ellips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kumimoji="1" lang="en-US" altLang="zh-CN" sz="3600" b="1" dirty="0">
                  <a:latin typeface="+mn-ea"/>
                  <a:ea typeface="+mn-ea"/>
                </a:rPr>
                <a:t>C</a:t>
              </a:r>
              <a:endParaRPr kumimoji="1" lang="en-US" altLang="zh-CN" sz="2400" dirty="0">
                <a:latin typeface="+mn-ea"/>
                <a:ea typeface="+mn-ea"/>
              </a:endParaRPr>
            </a:p>
          </p:txBody>
        </p:sp>
        <p:sp>
          <p:nvSpPr>
            <p:cNvPr id="20" name="Oval 12"/>
            <p:cNvSpPr>
              <a:spLocks noChangeArrowheads="1"/>
            </p:cNvSpPr>
            <p:nvPr/>
          </p:nvSpPr>
          <p:spPr bwMode="auto">
            <a:xfrm>
              <a:off x="7773988" y="5578475"/>
              <a:ext cx="503237" cy="533400"/>
            </a:xfrm>
            <a:prstGeom prst="ellips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kumimoji="1" lang="en-US" altLang="zh-CN" sz="3600" b="1" dirty="0">
                  <a:latin typeface="+mn-ea"/>
                  <a:ea typeface="+mn-ea"/>
                </a:rPr>
                <a:t>D</a:t>
              </a:r>
              <a:endParaRPr kumimoji="1" lang="en-US" altLang="zh-CN" sz="2400" dirty="0">
                <a:latin typeface="+mn-ea"/>
                <a:ea typeface="+mn-ea"/>
              </a:endParaRPr>
            </a:p>
          </p:txBody>
        </p:sp>
        <p:sp>
          <p:nvSpPr>
            <p:cNvPr id="21" name="Oval 13"/>
            <p:cNvSpPr>
              <a:spLocks noChangeArrowheads="1"/>
            </p:cNvSpPr>
            <p:nvPr/>
          </p:nvSpPr>
          <p:spPr bwMode="auto">
            <a:xfrm>
              <a:off x="7773988" y="4354513"/>
              <a:ext cx="503237" cy="533400"/>
            </a:xfrm>
            <a:prstGeom prst="ellips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3600" b="1">
                  <a:latin typeface="华文细黑" panose="02010600040101010101" pitchFamily="2" charset="-122"/>
                </a:rPr>
                <a:t>B</a:t>
              </a:r>
            </a:p>
          </p:txBody>
        </p:sp>
      </p:grpSp>
      <p:grpSp>
        <p:nvGrpSpPr>
          <p:cNvPr id="10" name="组合 9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6" name="TitleBackground"/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华文细黑" pitchFamily="2" charset="-122"/>
              </a:endParaRPr>
            </a:p>
          </p:txBody>
        </p:sp>
        <p:sp>
          <p:nvSpPr>
            <p:cNvPr id="7" name="ColorBlock"/>
            <p:cNvSpPr/>
            <p:nvPr>
              <p:custDataLst>
                <p:tags r:id="rId8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华文细黑" pitchFamily="2" charset="-122"/>
              </a:endParaRPr>
            </a:p>
          </p:txBody>
        </p:sp>
        <p:sp>
          <p:nvSpPr>
            <p:cNvPr id="8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841346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图的基本操作</a:t>
            </a:r>
          </a:p>
        </p:txBody>
      </p:sp>
      <p:sp>
        <p:nvSpPr>
          <p:cNvPr id="2150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solidFill>
                  <a:srgbClr val="4C34FE"/>
                </a:solidFill>
              </a:rPr>
              <a:t>创建</a:t>
            </a:r>
            <a:endParaRPr lang="en-US" altLang="zh-CN">
              <a:solidFill>
                <a:srgbClr val="4C34FE"/>
              </a:solidFill>
            </a:endParaRPr>
          </a:p>
          <a:p>
            <a:r>
              <a:rPr lang="zh-CN" altLang="en-US"/>
              <a:t>销毁</a:t>
            </a:r>
            <a:endParaRPr lang="en-US" altLang="zh-CN"/>
          </a:p>
          <a:p>
            <a:r>
              <a:rPr lang="zh-CN" altLang="en-US"/>
              <a:t>返回某个顶点的相关信息</a:t>
            </a:r>
            <a:endParaRPr lang="en-US" altLang="zh-CN"/>
          </a:p>
          <a:p>
            <a:r>
              <a:rPr lang="zh-CN" altLang="en-US"/>
              <a:t>添加新顶点</a:t>
            </a:r>
            <a:endParaRPr lang="en-US" altLang="zh-CN"/>
          </a:p>
          <a:p>
            <a:r>
              <a:rPr lang="zh-CN" altLang="en-US"/>
              <a:t>添加新边或弧</a:t>
            </a:r>
            <a:endParaRPr lang="en-US" altLang="zh-CN"/>
          </a:p>
          <a:p>
            <a:r>
              <a:rPr lang="zh-CN" altLang="en-US"/>
              <a:t>删除顶点</a:t>
            </a:r>
            <a:endParaRPr lang="en-US" altLang="zh-CN"/>
          </a:p>
          <a:p>
            <a:r>
              <a:rPr lang="zh-CN" altLang="en-US"/>
              <a:t>删除边或弧</a:t>
            </a:r>
            <a:endParaRPr lang="en-US" altLang="zh-CN"/>
          </a:p>
          <a:p>
            <a:r>
              <a:rPr lang="zh-CN" altLang="en-US">
                <a:solidFill>
                  <a:srgbClr val="4C34FE"/>
                </a:solidFill>
              </a:rPr>
              <a:t>遍历</a:t>
            </a:r>
          </a:p>
        </p:txBody>
      </p:sp>
      <p:sp>
        <p:nvSpPr>
          <p:cNvPr id="21508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05BFF01-7973-44B1-BF3C-EC73DE9F0B72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zh-CN" altLang="en-US" sz="1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图的存储结构</a:t>
            </a:r>
          </a:p>
        </p:txBody>
      </p:sp>
      <p:sp>
        <p:nvSpPr>
          <p:cNvPr id="2253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没有严格意义上的顺序存储结构</a:t>
            </a:r>
            <a:endParaRPr lang="en-US" altLang="zh-CN" dirty="0"/>
          </a:p>
          <a:p>
            <a:pPr lvl="1"/>
            <a:r>
              <a:rPr lang="zh-CN" altLang="en-US" dirty="0"/>
              <a:t>无法以数据元素在存储区中的物理位置来表示数据元素之间的关系</a:t>
            </a:r>
            <a:endParaRPr lang="en-US" altLang="zh-CN" dirty="0"/>
          </a:p>
          <a:p>
            <a:pPr lvl="1"/>
            <a:r>
              <a:rPr lang="zh-CN" altLang="en-US" dirty="0"/>
              <a:t>可以借助二维数组来表示元素之间的关系</a:t>
            </a:r>
            <a:r>
              <a:rPr lang="en-US" altLang="zh-CN" dirty="0"/>
              <a:t>—</a:t>
            </a:r>
            <a:r>
              <a:rPr lang="zh-CN" altLang="en-US" dirty="0"/>
              <a:t>邻接矩阵表示法（邻接矩阵）</a:t>
            </a:r>
            <a:endParaRPr lang="en-US" altLang="zh-CN" dirty="0"/>
          </a:p>
          <a:p>
            <a:r>
              <a:rPr lang="zh-CN" altLang="en-US" dirty="0"/>
              <a:t>图的链式存储有多种</a:t>
            </a:r>
            <a:endParaRPr lang="en-US" altLang="zh-CN" dirty="0"/>
          </a:p>
          <a:p>
            <a:pPr lvl="1"/>
            <a:r>
              <a:rPr lang="zh-CN" altLang="en-US" dirty="0"/>
              <a:t>邻接表</a:t>
            </a:r>
            <a:endParaRPr lang="en-US" altLang="zh-CN" dirty="0"/>
          </a:p>
          <a:p>
            <a:pPr lvl="1"/>
            <a:r>
              <a:rPr lang="zh-CN" altLang="en-US" dirty="0"/>
              <a:t>十字链表</a:t>
            </a:r>
            <a:endParaRPr lang="en-US" altLang="zh-CN" dirty="0"/>
          </a:p>
          <a:p>
            <a:pPr lvl="1"/>
            <a:r>
              <a:rPr lang="zh-CN" altLang="en-US" dirty="0"/>
              <a:t>邻接多重表</a:t>
            </a:r>
            <a:endParaRPr lang="en-US" altLang="zh-CN" dirty="0"/>
          </a:p>
        </p:txBody>
      </p:sp>
      <p:sp>
        <p:nvSpPr>
          <p:cNvPr id="22532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A44C7CE-9A06-4545-B655-2A335D8A2DE9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zh-CN" altLang="en-US" sz="1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邻接矩阵</a:t>
            </a:r>
          </a:p>
        </p:txBody>
      </p:sp>
      <p:sp>
        <p:nvSpPr>
          <p:cNvPr id="1028" name="内容占位符 2"/>
          <p:cNvSpPr>
            <a:spLocks noGrp="1"/>
          </p:cNvSpPr>
          <p:nvPr>
            <p:ph idx="1"/>
          </p:nvPr>
        </p:nvSpPr>
        <p:spPr>
          <a:xfrm>
            <a:off x="468313" y="1125538"/>
            <a:ext cx="8207375" cy="2590800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FF0000"/>
                </a:solidFill>
              </a:rPr>
              <a:t>邻接矩阵</a:t>
            </a:r>
            <a:r>
              <a:rPr lang="en-US" altLang="zh-CN" dirty="0">
                <a:latin typeface="+mj-ea"/>
                <a:ea typeface="+mj-ea"/>
              </a:rPr>
              <a:t>(Adjacency Matrix)</a:t>
            </a:r>
            <a:r>
              <a:rPr lang="zh-CN" altLang="en-US" dirty="0">
                <a:latin typeface="+mj-ea"/>
                <a:ea typeface="+mj-ea"/>
              </a:rPr>
              <a:t>是表示顶点间相联关系的矩阵</a:t>
            </a:r>
            <a:endParaRPr lang="en-US" altLang="zh-CN" dirty="0">
              <a:latin typeface="+mj-ea"/>
              <a:ea typeface="+mj-ea"/>
            </a:endParaRPr>
          </a:p>
          <a:p>
            <a:pPr>
              <a:defRPr/>
            </a:pPr>
            <a:r>
              <a:rPr lang="zh-CN" altLang="en-US" dirty="0"/>
              <a:t>设图</a:t>
            </a:r>
            <a:r>
              <a:rPr lang="en-US" altLang="zh-CN" dirty="0"/>
              <a:t>G(V, E)</a:t>
            </a:r>
            <a:r>
              <a:rPr lang="zh-CN" altLang="en-US" dirty="0"/>
              <a:t>有</a:t>
            </a:r>
            <a:r>
              <a:rPr lang="en-US" altLang="zh-CN" dirty="0"/>
              <a:t>n</a:t>
            </a:r>
            <a:r>
              <a:rPr lang="zh-CN" altLang="en-US" dirty="0"/>
              <a:t>个顶点，即</a:t>
            </a:r>
            <a:r>
              <a:rPr lang="en-US" altLang="zh-CN" dirty="0"/>
              <a:t>V={v</a:t>
            </a:r>
            <a:r>
              <a:rPr lang="en-US" altLang="zh-CN" baseline="-25000" dirty="0"/>
              <a:t>0</a:t>
            </a:r>
            <a:r>
              <a:rPr lang="zh-CN" altLang="en-US" dirty="0"/>
              <a:t>，</a:t>
            </a:r>
            <a:r>
              <a:rPr lang="en-US" altLang="zh-CN" dirty="0"/>
              <a:t>v</a:t>
            </a:r>
            <a:r>
              <a:rPr lang="en-US" altLang="zh-CN" baseline="-25000" dirty="0"/>
              <a:t>1</a:t>
            </a:r>
            <a:r>
              <a:rPr lang="zh-CN" altLang="en-US" dirty="0"/>
              <a:t>，</a:t>
            </a:r>
            <a:r>
              <a:rPr lang="en-US" altLang="zh-CN" dirty="0">
                <a:latin typeface="Times New Roman" panose="02020603050405020304" pitchFamily="18" charset="0"/>
              </a:rPr>
              <a:t>…</a:t>
            </a:r>
            <a:r>
              <a:rPr lang="zh-CN" altLang="en-US" dirty="0"/>
              <a:t>，</a:t>
            </a:r>
            <a:r>
              <a:rPr lang="en-US" altLang="zh-CN" dirty="0"/>
              <a:t>v</a:t>
            </a:r>
            <a:r>
              <a:rPr lang="en-US" altLang="zh-CN" baseline="-25000" dirty="0"/>
              <a:t>n-1</a:t>
            </a:r>
            <a:r>
              <a:rPr lang="en-US" altLang="zh-CN" dirty="0"/>
              <a:t>}</a:t>
            </a:r>
            <a:r>
              <a:rPr lang="zh-CN" altLang="en-US" dirty="0"/>
              <a:t>，则表示</a:t>
            </a:r>
            <a:r>
              <a:rPr lang="en-US" altLang="zh-CN" dirty="0"/>
              <a:t>G</a:t>
            </a:r>
            <a:r>
              <a:rPr lang="zh-CN" altLang="en-US" dirty="0"/>
              <a:t>中各顶点相邻关系为一个</a:t>
            </a:r>
            <a:r>
              <a:rPr lang="en-US" altLang="zh-CN" dirty="0" err="1"/>
              <a:t>n×n</a:t>
            </a:r>
            <a:r>
              <a:rPr lang="zh-CN" altLang="en-US" dirty="0"/>
              <a:t>的矩阵，矩阵的元素为</a:t>
            </a:r>
          </a:p>
        </p:txBody>
      </p:sp>
      <p:sp>
        <p:nvSpPr>
          <p:cNvPr id="2355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0F2CCE5-ADB1-4E3D-8BD3-01C8AAC72273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zh-CN" altLang="en-US" sz="1000"/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1476375" y="4038600"/>
            <a:ext cx="9350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zh-CN" sz="2000">
                <a:ea typeface="宋体" panose="02010600030101010101" pitchFamily="2" charset="-122"/>
              </a:rPr>
              <a:t>A[i][j]=</a:t>
            </a:r>
            <a:r>
              <a:rPr lang="zh-CN" altLang="zh-CN" sz="180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23558" name="AutoShape 5"/>
          <p:cNvSpPr>
            <a:spLocks/>
          </p:cNvSpPr>
          <p:nvPr/>
        </p:nvSpPr>
        <p:spPr bwMode="auto">
          <a:xfrm>
            <a:off x="2339975" y="3822700"/>
            <a:ext cx="71438" cy="719138"/>
          </a:xfrm>
          <a:prstGeom prst="leftBrace">
            <a:avLst>
              <a:gd name="adj1" fmla="val 83888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>
              <a:ea typeface="宋体" panose="02010600030101010101" pitchFamily="2" charset="-122"/>
            </a:endParaRPr>
          </a:p>
        </p:txBody>
      </p:sp>
      <p:sp>
        <p:nvSpPr>
          <p:cNvPr id="23559" name="Text Box 6"/>
          <p:cNvSpPr txBox="1">
            <a:spLocks noChangeArrowheads="1"/>
          </p:cNvSpPr>
          <p:nvPr/>
        </p:nvSpPr>
        <p:spPr bwMode="auto">
          <a:xfrm>
            <a:off x="2411413" y="3760788"/>
            <a:ext cx="360045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zh-CN" sz="2000">
                <a:ea typeface="宋体" panose="02010600030101010101" pitchFamily="2" charset="-122"/>
              </a:rPr>
              <a:t>1 当顶点i与j之间有边或弧时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zh-CN" sz="2000">
                <a:ea typeface="宋体" panose="02010600030101010101" pitchFamily="2" charset="-122"/>
              </a:rPr>
              <a:t>0 当顶点i与j之间无边或弧时</a:t>
            </a:r>
            <a:r>
              <a:rPr lang="zh-CN" altLang="zh-CN" sz="180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23560" name="Text Box 7"/>
          <p:cNvSpPr txBox="1">
            <a:spLocks noChangeArrowheads="1"/>
          </p:cNvSpPr>
          <p:nvPr/>
        </p:nvSpPr>
        <p:spPr bwMode="auto">
          <a:xfrm>
            <a:off x="1116013" y="4902200"/>
            <a:ext cx="46085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zh-CN" sz="2000" b="1">
                <a:ea typeface="宋体" panose="02010600030101010101" pitchFamily="2" charset="-122"/>
              </a:rPr>
              <a:t>对于带权图，则邻接矩阵定义为：</a:t>
            </a:r>
          </a:p>
        </p:txBody>
      </p:sp>
      <p:sp>
        <p:nvSpPr>
          <p:cNvPr id="23561" name="Text Box 8"/>
          <p:cNvSpPr txBox="1">
            <a:spLocks noChangeArrowheads="1"/>
          </p:cNvSpPr>
          <p:nvPr/>
        </p:nvSpPr>
        <p:spPr bwMode="auto">
          <a:xfrm>
            <a:off x="1476375" y="5516563"/>
            <a:ext cx="9350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zh-CN" sz="2000">
                <a:ea typeface="宋体" panose="02010600030101010101" pitchFamily="2" charset="-122"/>
              </a:rPr>
              <a:t>A[i][j]=</a:t>
            </a:r>
            <a:r>
              <a:rPr lang="zh-CN" altLang="zh-CN" sz="180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23562" name="Text Box 9"/>
          <p:cNvSpPr txBox="1">
            <a:spLocks noChangeArrowheads="1"/>
          </p:cNvSpPr>
          <p:nvPr/>
        </p:nvSpPr>
        <p:spPr bwMode="auto">
          <a:xfrm>
            <a:off x="2700338" y="5445125"/>
            <a:ext cx="55451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zh-CN" sz="1800">
                <a:ea typeface="宋体" panose="02010600030101010101" pitchFamily="2" charset="-122"/>
              </a:rPr>
              <a:t>w</a:t>
            </a:r>
            <a:r>
              <a:rPr lang="zh-CN" altLang="zh-CN" sz="1800" baseline="-25000">
                <a:ea typeface="宋体" panose="02010600030101010101" pitchFamily="2" charset="-122"/>
              </a:rPr>
              <a:t>ij</a:t>
            </a:r>
            <a:r>
              <a:rPr lang="zh-CN" altLang="zh-CN" sz="1800">
                <a:ea typeface="宋体" panose="02010600030101010101" pitchFamily="2" charset="-122"/>
              </a:rPr>
              <a:t>    当顶点i与j之间有边或弧，且权值为w</a:t>
            </a:r>
            <a:r>
              <a:rPr lang="zh-CN" altLang="zh-CN" sz="1800" baseline="-25000">
                <a:ea typeface="宋体" panose="02010600030101010101" pitchFamily="2" charset="-122"/>
              </a:rPr>
              <a:t>ij</a:t>
            </a:r>
            <a:r>
              <a:rPr lang="zh-CN" altLang="zh-CN" sz="1800">
                <a:ea typeface="宋体" panose="02010600030101010101" pitchFamily="2" charset="-122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zh-CN" sz="1800">
                <a:ea typeface="宋体" panose="02010600030101010101" pitchFamily="2" charset="-122"/>
              </a:rPr>
              <a:t>∞   </a:t>
            </a:r>
            <a:r>
              <a:rPr lang="en-US" altLang="zh-CN" sz="1800">
                <a:ea typeface="宋体" panose="02010600030101010101" pitchFamily="2" charset="-122"/>
              </a:rPr>
              <a:t>   </a:t>
            </a:r>
            <a:r>
              <a:rPr lang="zh-CN" altLang="en-US" sz="1800">
                <a:ea typeface="宋体" panose="02010600030101010101" pitchFamily="2" charset="-122"/>
              </a:rPr>
              <a:t>反之</a:t>
            </a:r>
            <a:endParaRPr lang="zh-CN" altLang="zh-CN" sz="1800">
              <a:ea typeface="宋体" panose="02010600030101010101" pitchFamily="2" charset="-122"/>
            </a:endParaRPr>
          </a:p>
        </p:txBody>
      </p:sp>
      <p:sp>
        <p:nvSpPr>
          <p:cNvPr id="23563" name="AutoShape 10"/>
          <p:cNvSpPr>
            <a:spLocks/>
          </p:cNvSpPr>
          <p:nvPr/>
        </p:nvSpPr>
        <p:spPr bwMode="auto">
          <a:xfrm>
            <a:off x="2411413" y="5300663"/>
            <a:ext cx="73025" cy="923925"/>
          </a:xfrm>
          <a:prstGeom prst="leftBrace">
            <a:avLst>
              <a:gd name="adj1" fmla="val 65838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图的邻接矩阵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68313" y="1125538"/>
                <a:ext cx="4608057" cy="5162550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𝑎𝑟𝑐𝑠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0 1 0 1 0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1 0 1 0 1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0 1 0 1 1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1 0 1 0 0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0 1 1 0 0</m:t>
                            </m:r>
                          </m:e>
                        </m:eqArr>
                      </m:e>
                    </m:d>
                  </m:oMath>
                </a14:m>
                <a:endParaRPr lang="en-US" altLang="zh-CN" dirty="0"/>
              </a:p>
              <a:p>
                <a:endParaRPr lang="en-US" altLang="zh-C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𝑎𝑟𝑐𝑠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0 1 1 0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0 0 0 0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0 0 0 1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1 0 0 0</m:t>
                            </m:r>
                          </m:e>
                        </m:eqArr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8313" y="1125538"/>
                <a:ext cx="4608057" cy="5162550"/>
              </a:xfr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FC9BE59-6BE6-4719-943D-2F0BF22505B9}" type="slidenum">
              <a:rPr lang="zh-CN" altLang="en-US" smtClean="0"/>
              <a:pPr>
                <a:defRPr/>
              </a:pPr>
              <a:t>21</a:t>
            </a:fld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5492296" y="1498042"/>
            <a:ext cx="1806582" cy="1655762"/>
            <a:chOff x="6235701" y="3859213"/>
            <a:chExt cx="1806582" cy="1655762"/>
          </a:xfrm>
        </p:grpSpPr>
        <p:sp>
          <p:nvSpPr>
            <p:cNvPr id="7" name="Line 10"/>
            <p:cNvSpPr>
              <a:spLocks noChangeShapeType="1"/>
            </p:cNvSpPr>
            <p:nvPr/>
          </p:nvSpPr>
          <p:spPr bwMode="auto">
            <a:xfrm>
              <a:off x="6477000" y="4405313"/>
              <a:ext cx="0" cy="658812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11"/>
            <p:cNvSpPr>
              <a:spLocks noChangeShapeType="1"/>
            </p:cNvSpPr>
            <p:nvPr/>
          </p:nvSpPr>
          <p:spPr bwMode="auto">
            <a:xfrm>
              <a:off x="6748463" y="4129088"/>
              <a:ext cx="755650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12"/>
            <p:cNvSpPr>
              <a:spLocks noChangeShapeType="1"/>
            </p:cNvSpPr>
            <p:nvPr/>
          </p:nvSpPr>
          <p:spPr bwMode="auto">
            <a:xfrm>
              <a:off x="7720013" y="4405313"/>
              <a:ext cx="0" cy="658812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13"/>
            <p:cNvSpPr>
              <a:spLocks noChangeShapeType="1"/>
            </p:cNvSpPr>
            <p:nvPr/>
          </p:nvSpPr>
          <p:spPr bwMode="auto">
            <a:xfrm flipH="1">
              <a:off x="6692900" y="4899025"/>
              <a:ext cx="271463" cy="274638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14"/>
            <p:cNvSpPr>
              <a:spLocks noChangeShapeType="1"/>
            </p:cNvSpPr>
            <p:nvPr/>
          </p:nvSpPr>
          <p:spPr bwMode="auto">
            <a:xfrm flipH="1">
              <a:off x="7288213" y="4349750"/>
              <a:ext cx="271462" cy="274638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5"/>
            <p:cNvSpPr>
              <a:spLocks noChangeShapeType="1"/>
            </p:cNvSpPr>
            <p:nvPr/>
          </p:nvSpPr>
          <p:spPr bwMode="auto">
            <a:xfrm>
              <a:off x="7267575" y="4935538"/>
              <a:ext cx="236538" cy="233362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" name="Group 16"/>
            <p:cNvGrpSpPr>
              <a:grpSpLocks/>
            </p:cNvGrpSpPr>
            <p:nvPr/>
          </p:nvGrpSpPr>
          <p:grpSpPr bwMode="auto">
            <a:xfrm>
              <a:off x="6235701" y="3871913"/>
              <a:ext cx="647700" cy="500062"/>
              <a:chOff x="422" y="1662"/>
              <a:chExt cx="408" cy="315"/>
            </a:xfrm>
          </p:grpSpPr>
          <p:sp>
            <p:nvSpPr>
              <p:cNvPr id="26" name="Oval 17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27" name="Text Box 18"/>
              <p:cNvSpPr txBox="1">
                <a:spLocks noChangeArrowheads="1"/>
              </p:cNvSpPr>
              <p:nvPr/>
            </p:nvSpPr>
            <p:spPr bwMode="auto">
              <a:xfrm>
                <a:off x="422" y="1662"/>
                <a:ext cx="408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</a:t>
                </a:r>
                <a:r>
                  <a:rPr lang="en-US" altLang="zh-CN" sz="2400" b="1" baseline="-25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</a:p>
            </p:txBody>
          </p:sp>
        </p:grpSp>
        <p:grpSp>
          <p:nvGrpSpPr>
            <p:cNvPr id="14" name="Group 19"/>
            <p:cNvGrpSpPr>
              <a:grpSpLocks/>
            </p:cNvGrpSpPr>
            <p:nvPr/>
          </p:nvGrpSpPr>
          <p:grpSpPr bwMode="auto">
            <a:xfrm>
              <a:off x="7394575" y="4986338"/>
              <a:ext cx="647700" cy="528637"/>
              <a:chOff x="434" y="1644"/>
              <a:chExt cx="408" cy="333"/>
            </a:xfrm>
          </p:grpSpPr>
          <p:sp>
            <p:nvSpPr>
              <p:cNvPr id="24" name="Oval 20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25" name="Text Box 21"/>
              <p:cNvSpPr txBox="1">
                <a:spLocks noChangeArrowheads="1"/>
              </p:cNvSpPr>
              <p:nvPr/>
            </p:nvSpPr>
            <p:spPr bwMode="auto">
              <a:xfrm>
                <a:off x="434" y="1644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</a:t>
                </a:r>
                <a:r>
                  <a:rPr lang="en-US" altLang="zh-CN" sz="2400" b="1" baseline="-25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4</a:t>
                </a:r>
              </a:p>
            </p:txBody>
          </p:sp>
        </p:grpSp>
        <p:grpSp>
          <p:nvGrpSpPr>
            <p:cNvPr id="15" name="Group 22"/>
            <p:cNvGrpSpPr>
              <a:grpSpLocks/>
            </p:cNvGrpSpPr>
            <p:nvPr/>
          </p:nvGrpSpPr>
          <p:grpSpPr bwMode="auto">
            <a:xfrm>
              <a:off x="6246813" y="4999038"/>
              <a:ext cx="647700" cy="515937"/>
              <a:chOff x="431" y="1652"/>
              <a:chExt cx="408" cy="325"/>
            </a:xfrm>
          </p:grpSpPr>
          <p:sp>
            <p:nvSpPr>
              <p:cNvPr id="22" name="Oval 23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23" name="Text Box 24"/>
              <p:cNvSpPr txBox="1">
                <a:spLocks noChangeArrowheads="1"/>
              </p:cNvSpPr>
              <p:nvPr/>
            </p:nvSpPr>
            <p:spPr bwMode="auto">
              <a:xfrm>
                <a:off x="431" y="1652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</a:t>
                </a:r>
                <a:r>
                  <a:rPr lang="en-US" altLang="zh-CN" sz="2400" b="1" baseline="-25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3</a:t>
                </a:r>
              </a:p>
            </p:txBody>
          </p:sp>
        </p:grpSp>
        <p:grpSp>
          <p:nvGrpSpPr>
            <p:cNvPr id="16" name="Group 25"/>
            <p:cNvGrpSpPr>
              <a:grpSpLocks/>
            </p:cNvGrpSpPr>
            <p:nvPr/>
          </p:nvGrpSpPr>
          <p:grpSpPr bwMode="auto">
            <a:xfrm>
              <a:off x="7394582" y="3859213"/>
              <a:ext cx="647701" cy="508000"/>
              <a:chOff x="2952" y="3286"/>
              <a:chExt cx="408" cy="320"/>
            </a:xfrm>
          </p:grpSpPr>
          <p:sp>
            <p:nvSpPr>
              <p:cNvPr id="20" name="Oval 26"/>
              <p:cNvSpPr>
                <a:spLocks noChangeArrowheads="1"/>
              </p:cNvSpPr>
              <p:nvPr/>
            </p:nvSpPr>
            <p:spPr bwMode="auto">
              <a:xfrm>
                <a:off x="2976" y="3312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21" name="Text Box 27"/>
              <p:cNvSpPr txBox="1">
                <a:spLocks noChangeArrowheads="1"/>
              </p:cNvSpPr>
              <p:nvPr/>
            </p:nvSpPr>
            <p:spPr bwMode="auto">
              <a:xfrm>
                <a:off x="2952" y="3286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</a:t>
                </a:r>
                <a:r>
                  <a:rPr lang="en-US" altLang="zh-CN" sz="2400" b="1" baseline="-25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</a:p>
            </p:txBody>
          </p:sp>
        </p:grpSp>
        <p:grpSp>
          <p:nvGrpSpPr>
            <p:cNvPr id="17" name="Group 28"/>
            <p:cNvGrpSpPr>
              <a:grpSpLocks/>
            </p:cNvGrpSpPr>
            <p:nvPr/>
          </p:nvGrpSpPr>
          <p:grpSpPr bwMode="auto">
            <a:xfrm>
              <a:off x="6804026" y="4484695"/>
              <a:ext cx="647700" cy="514351"/>
              <a:chOff x="1029" y="2274"/>
              <a:chExt cx="408" cy="324"/>
            </a:xfrm>
          </p:grpSpPr>
          <p:sp>
            <p:nvSpPr>
              <p:cNvPr id="18" name="Oval 29"/>
              <p:cNvSpPr>
                <a:spLocks noChangeArrowheads="1"/>
              </p:cNvSpPr>
              <p:nvPr/>
            </p:nvSpPr>
            <p:spPr bwMode="auto">
              <a:xfrm>
                <a:off x="1056" y="2304"/>
                <a:ext cx="295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19" name="Text Box 30"/>
              <p:cNvSpPr txBox="1">
                <a:spLocks noChangeArrowheads="1"/>
              </p:cNvSpPr>
              <p:nvPr/>
            </p:nvSpPr>
            <p:spPr bwMode="auto">
              <a:xfrm>
                <a:off x="1029" y="2274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</a:t>
                </a:r>
                <a:r>
                  <a:rPr lang="en-US" altLang="zh-CN" sz="2400" b="1" baseline="-25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</a:p>
            </p:txBody>
          </p:sp>
        </p:grpSp>
      </p:grpSp>
      <p:grpSp>
        <p:nvGrpSpPr>
          <p:cNvPr id="28" name="组合 27"/>
          <p:cNvGrpSpPr/>
          <p:nvPr/>
        </p:nvGrpSpPr>
        <p:grpSpPr>
          <a:xfrm>
            <a:off x="5492296" y="4293096"/>
            <a:ext cx="1865313" cy="1728791"/>
            <a:chOff x="6962775" y="3571875"/>
            <a:chExt cx="1865313" cy="1728791"/>
          </a:xfrm>
        </p:grpSpPr>
        <p:sp>
          <p:nvSpPr>
            <p:cNvPr id="29" name="Line 7"/>
            <p:cNvSpPr>
              <a:spLocks noChangeShapeType="1"/>
            </p:cNvSpPr>
            <p:nvPr/>
          </p:nvSpPr>
          <p:spPr bwMode="auto">
            <a:xfrm>
              <a:off x="7243415" y="4089400"/>
              <a:ext cx="0" cy="744538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8"/>
            <p:cNvSpPr>
              <a:spLocks noChangeShapeType="1"/>
            </p:cNvSpPr>
            <p:nvPr/>
          </p:nvSpPr>
          <p:spPr bwMode="auto">
            <a:xfrm>
              <a:off x="7461250" y="5073650"/>
              <a:ext cx="803275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9"/>
            <p:cNvSpPr>
              <a:spLocks noChangeShapeType="1"/>
            </p:cNvSpPr>
            <p:nvPr/>
          </p:nvSpPr>
          <p:spPr bwMode="auto">
            <a:xfrm>
              <a:off x="7461250" y="3876675"/>
              <a:ext cx="749300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Line 10"/>
            <p:cNvSpPr>
              <a:spLocks noChangeShapeType="1"/>
            </p:cNvSpPr>
            <p:nvPr/>
          </p:nvSpPr>
          <p:spPr bwMode="auto">
            <a:xfrm flipH="1" flipV="1">
              <a:off x="7334250" y="3990975"/>
              <a:ext cx="1066800" cy="99060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3" name="Group 11"/>
            <p:cNvGrpSpPr>
              <a:grpSpLocks/>
            </p:cNvGrpSpPr>
            <p:nvPr/>
          </p:nvGrpSpPr>
          <p:grpSpPr bwMode="auto">
            <a:xfrm>
              <a:off x="6969125" y="3571875"/>
              <a:ext cx="647700" cy="509588"/>
              <a:chOff x="442" y="1656"/>
              <a:chExt cx="408" cy="321"/>
            </a:xfrm>
          </p:grpSpPr>
          <p:sp>
            <p:nvSpPr>
              <p:cNvPr id="43" name="Oval 12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44" name="Text Box 13"/>
              <p:cNvSpPr txBox="1">
                <a:spLocks noChangeArrowheads="1"/>
              </p:cNvSpPr>
              <p:nvPr/>
            </p:nvSpPr>
            <p:spPr bwMode="auto">
              <a:xfrm>
                <a:off x="442" y="1656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</a:t>
                </a:r>
                <a:r>
                  <a:rPr lang="en-US" altLang="zh-CN" sz="2400" b="1" baseline="-25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</a:p>
            </p:txBody>
          </p:sp>
        </p:grpSp>
        <p:grpSp>
          <p:nvGrpSpPr>
            <p:cNvPr id="34" name="Group 14"/>
            <p:cNvGrpSpPr>
              <a:grpSpLocks/>
            </p:cNvGrpSpPr>
            <p:nvPr/>
          </p:nvGrpSpPr>
          <p:grpSpPr bwMode="auto">
            <a:xfrm>
              <a:off x="8180388" y="3571875"/>
              <a:ext cx="647700" cy="512763"/>
              <a:chOff x="437" y="1654"/>
              <a:chExt cx="408" cy="323"/>
            </a:xfrm>
          </p:grpSpPr>
          <p:sp>
            <p:nvSpPr>
              <p:cNvPr id="41" name="Oval 15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42" name="Text Box 16"/>
              <p:cNvSpPr txBox="1">
                <a:spLocks noChangeArrowheads="1"/>
              </p:cNvSpPr>
              <p:nvPr/>
            </p:nvSpPr>
            <p:spPr bwMode="auto">
              <a:xfrm>
                <a:off x="437" y="1654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</a:t>
                </a:r>
                <a:r>
                  <a:rPr lang="en-US" altLang="zh-CN" sz="2400" b="1" baseline="-25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</a:p>
            </p:txBody>
          </p:sp>
        </p:grpSp>
        <p:grpSp>
          <p:nvGrpSpPr>
            <p:cNvPr id="35" name="Group 17"/>
            <p:cNvGrpSpPr>
              <a:grpSpLocks/>
            </p:cNvGrpSpPr>
            <p:nvPr/>
          </p:nvGrpSpPr>
          <p:grpSpPr bwMode="auto">
            <a:xfrm>
              <a:off x="6962775" y="4773615"/>
              <a:ext cx="647700" cy="527051"/>
              <a:chOff x="438" y="1645"/>
              <a:chExt cx="408" cy="332"/>
            </a:xfrm>
          </p:grpSpPr>
          <p:sp>
            <p:nvSpPr>
              <p:cNvPr id="39" name="Oval 18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40" name="Text Box 19"/>
              <p:cNvSpPr txBox="1">
                <a:spLocks noChangeArrowheads="1"/>
              </p:cNvSpPr>
              <p:nvPr/>
            </p:nvSpPr>
            <p:spPr bwMode="auto">
              <a:xfrm>
                <a:off x="438" y="1645"/>
                <a:ext cx="408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</a:t>
                </a:r>
                <a:r>
                  <a:rPr lang="en-US" altLang="zh-CN" sz="2400" b="1" baseline="-25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</a:p>
            </p:txBody>
          </p:sp>
        </p:grpSp>
        <p:grpSp>
          <p:nvGrpSpPr>
            <p:cNvPr id="36" name="Group 20"/>
            <p:cNvGrpSpPr>
              <a:grpSpLocks/>
            </p:cNvGrpSpPr>
            <p:nvPr/>
          </p:nvGrpSpPr>
          <p:grpSpPr bwMode="auto">
            <a:xfrm>
              <a:off x="8180388" y="4787900"/>
              <a:ext cx="647700" cy="512763"/>
              <a:chOff x="437" y="1654"/>
              <a:chExt cx="408" cy="323"/>
            </a:xfrm>
          </p:grpSpPr>
          <p:sp>
            <p:nvSpPr>
              <p:cNvPr id="37" name="Oval 21"/>
              <p:cNvSpPr>
                <a:spLocks noChangeArrowheads="1"/>
              </p:cNvSpPr>
              <p:nvPr/>
            </p:nvSpPr>
            <p:spPr bwMode="auto">
              <a:xfrm>
                <a:off x="462" y="1683"/>
                <a:ext cx="289" cy="294"/>
              </a:xfrm>
              <a:prstGeom prst="ellipse">
                <a:avLst/>
              </a:prstGeom>
              <a:solidFill>
                <a:srgbClr val="FFFFCC"/>
              </a:solidFill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38" name="Text Box 22"/>
              <p:cNvSpPr txBox="1">
                <a:spLocks noChangeArrowheads="1"/>
              </p:cNvSpPr>
              <p:nvPr/>
            </p:nvSpPr>
            <p:spPr bwMode="auto">
              <a:xfrm>
                <a:off x="437" y="1654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rnd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0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v</a:t>
                </a:r>
                <a:r>
                  <a:rPr lang="en-US" altLang="zh-CN" sz="2400" b="1" baseline="-25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3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297522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图的邻接矩阵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68313" y="1125538"/>
                <a:ext cx="4608057" cy="5162550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𝑎𝑟𝑐𝑠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5  7  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5 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4  8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7 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2  1</m:t>
                            </m:r>
                          </m:e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4  2 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3  8  1  6 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e>
                        </m:eqArr>
                      </m:e>
                    </m:d>
                  </m:oMath>
                </a14:m>
                <a:endParaRPr lang="en-US" altLang="zh-CN" dirty="0"/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8313" y="1125538"/>
                <a:ext cx="4608057" cy="5162550"/>
              </a:xfr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FC9BE59-6BE6-4719-943D-2F0BF22505B9}" type="slidenum">
              <a:rPr lang="zh-CN" altLang="en-US" smtClean="0"/>
              <a:pPr>
                <a:defRPr/>
              </a:pPr>
              <a:t>22</a:t>
            </a:fld>
            <a:endParaRPr lang="zh-CN" altLang="en-US"/>
          </a:p>
        </p:txBody>
      </p:sp>
      <p:grpSp>
        <p:nvGrpSpPr>
          <p:cNvPr id="45" name="Group 26"/>
          <p:cNvGrpSpPr>
            <a:grpSpLocks/>
          </p:cNvGrpSpPr>
          <p:nvPr/>
        </p:nvGrpSpPr>
        <p:grpSpPr bwMode="auto">
          <a:xfrm>
            <a:off x="5851283" y="1547293"/>
            <a:ext cx="1635125" cy="1847850"/>
            <a:chOff x="1213" y="1097"/>
            <a:chExt cx="1030" cy="1164"/>
          </a:xfrm>
        </p:grpSpPr>
        <p:sp>
          <p:nvSpPr>
            <p:cNvPr id="46" name="Oval 28"/>
            <p:cNvSpPr>
              <a:spLocks noChangeArrowheads="1"/>
            </p:cNvSpPr>
            <p:nvPr/>
          </p:nvSpPr>
          <p:spPr bwMode="auto">
            <a:xfrm>
              <a:off x="1291" y="1170"/>
              <a:ext cx="200" cy="21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47" name="Oval 29"/>
            <p:cNvSpPr>
              <a:spLocks noChangeArrowheads="1"/>
            </p:cNvSpPr>
            <p:nvPr/>
          </p:nvSpPr>
          <p:spPr bwMode="auto">
            <a:xfrm>
              <a:off x="1954" y="1888"/>
              <a:ext cx="200" cy="21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48" name="Oval 30"/>
            <p:cNvSpPr>
              <a:spLocks noChangeArrowheads="1"/>
            </p:cNvSpPr>
            <p:nvPr/>
          </p:nvSpPr>
          <p:spPr bwMode="auto">
            <a:xfrm>
              <a:off x="1625" y="1555"/>
              <a:ext cx="200" cy="21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49" name="Oval 31"/>
            <p:cNvSpPr>
              <a:spLocks noChangeArrowheads="1"/>
            </p:cNvSpPr>
            <p:nvPr/>
          </p:nvSpPr>
          <p:spPr bwMode="auto">
            <a:xfrm>
              <a:off x="1954" y="1177"/>
              <a:ext cx="200" cy="21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50" name="Oval 32"/>
            <p:cNvSpPr>
              <a:spLocks noChangeArrowheads="1"/>
            </p:cNvSpPr>
            <p:nvPr/>
          </p:nvSpPr>
          <p:spPr bwMode="auto">
            <a:xfrm>
              <a:off x="1291" y="1888"/>
              <a:ext cx="200" cy="21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51" name="Text Box 33"/>
            <p:cNvSpPr txBox="1">
              <a:spLocks noChangeArrowheads="1"/>
            </p:cNvSpPr>
            <p:nvPr/>
          </p:nvSpPr>
          <p:spPr bwMode="auto">
            <a:xfrm>
              <a:off x="1649" y="2011"/>
              <a:ext cx="1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1" lang="zh-CN" altLang="zh-CN" sz="20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" name="Line 34"/>
            <p:cNvSpPr>
              <a:spLocks noChangeShapeType="1"/>
            </p:cNvSpPr>
            <p:nvPr/>
          </p:nvSpPr>
          <p:spPr bwMode="auto">
            <a:xfrm>
              <a:off x="1489" y="1285"/>
              <a:ext cx="4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" name="Line 35"/>
            <p:cNvSpPr>
              <a:spLocks noChangeShapeType="1"/>
            </p:cNvSpPr>
            <p:nvPr/>
          </p:nvSpPr>
          <p:spPr bwMode="auto">
            <a:xfrm>
              <a:off x="1378" y="1385"/>
              <a:ext cx="0" cy="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" name="Line 36"/>
            <p:cNvSpPr>
              <a:spLocks noChangeShapeType="1"/>
            </p:cNvSpPr>
            <p:nvPr/>
          </p:nvSpPr>
          <p:spPr bwMode="auto">
            <a:xfrm>
              <a:off x="2078" y="1385"/>
              <a:ext cx="0" cy="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" name="Line 37"/>
            <p:cNvSpPr>
              <a:spLocks noChangeShapeType="1"/>
            </p:cNvSpPr>
            <p:nvPr/>
          </p:nvSpPr>
          <p:spPr bwMode="auto">
            <a:xfrm>
              <a:off x="1778" y="1741"/>
              <a:ext cx="211" cy="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" name="Line 38"/>
            <p:cNvSpPr>
              <a:spLocks noChangeShapeType="1"/>
            </p:cNvSpPr>
            <p:nvPr/>
          </p:nvSpPr>
          <p:spPr bwMode="auto">
            <a:xfrm flipH="1">
              <a:off x="1767" y="1374"/>
              <a:ext cx="222" cy="2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" name="Line 39"/>
            <p:cNvSpPr>
              <a:spLocks noChangeShapeType="1"/>
            </p:cNvSpPr>
            <p:nvPr/>
          </p:nvSpPr>
          <p:spPr bwMode="auto">
            <a:xfrm flipH="1">
              <a:off x="1467" y="1741"/>
              <a:ext cx="189" cy="1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" name="Line 40"/>
            <p:cNvSpPr>
              <a:spLocks noChangeShapeType="1"/>
            </p:cNvSpPr>
            <p:nvPr/>
          </p:nvSpPr>
          <p:spPr bwMode="auto">
            <a:xfrm>
              <a:off x="1489" y="2022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" name="Line 41"/>
            <p:cNvSpPr>
              <a:spLocks noChangeShapeType="1"/>
            </p:cNvSpPr>
            <p:nvPr/>
          </p:nvSpPr>
          <p:spPr bwMode="auto">
            <a:xfrm>
              <a:off x="1434" y="1333"/>
              <a:ext cx="244" cy="2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" name="Text Box 42"/>
            <p:cNvSpPr txBox="1">
              <a:spLocks noChangeArrowheads="1"/>
            </p:cNvSpPr>
            <p:nvPr/>
          </p:nvSpPr>
          <p:spPr bwMode="auto">
            <a:xfrm>
              <a:off x="1213" y="1497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61" name="Text Box 43"/>
            <p:cNvSpPr txBox="1">
              <a:spLocks noChangeArrowheads="1"/>
            </p:cNvSpPr>
            <p:nvPr/>
          </p:nvSpPr>
          <p:spPr bwMode="auto">
            <a:xfrm>
              <a:off x="1636" y="1097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62" name="Text Box 44"/>
            <p:cNvSpPr txBox="1">
              <a:spLocks noChangeArrowheads="1"/>
            </p:cNvSpPr>
            <p:nvPr/>
          </p:nvSpPr>
          <p:spPr bwMode="auto">
            <a:xfrm>
              <a:off x="1513" y="1308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63" name="Text Box 45"/>
            <p:cNvSpPr txBox="1">
              <a:spLocks noChangeArrowheads="1"/>
            </p:cNvSpPr>
            <p:nvPr/>
          </p:nvSpPr>
          <p:spPr bwMode="auto">
            <a:xfrm>
              <a:off x="1458" y="1653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64" name="Text Box 46"/>
            <p:cNvSpPr txBox="1">
              <a:spLocks noChangeArrowheads="1"/>
            </p:cNvSpPr>
            <p:nvPr/>
          </p:nvSpPr>
          <p:spPr bwMode="auto">
            <a:xfrm>
              <a:off x="1813" y="1452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65" name="Text Box 47"/>
            <p:cNvSpPr txBox="1">
              <a:spLocks noChangeArrowheads="1"/>
            </p:cNvSpPr>
            <p:nvPr/>
          </p:nvSpPr>
          <p:spPr bwMode="auto">
            <a:xfrm>
              <a:off x="1724" y="1753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66" name="Text Box 48"/>
            <p:cNvSpPr txBox="1">
              <a:spLocks noChangeArrowheads="1"/>
            </p:cNvSpPr>
            <p:nvPr/>
          </p:nvSpPr>
          <p:spPr bwMode="auto">
            <a:xfrm>
              <a:off x="2047" y="1508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67" name="Text Box 49"/>
            <p:cNvSpPr txBox="1">
              <a:spLocks noChangeArrowheads="1"/>
            </p:cNvSpPr>
            <p:nvPr/>
          </p:nvSpPr>
          <p:spPr bwMode="auto">
            <a:xfrm>
              <a:off x="1624" y="1976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14719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邻接矩阵的类型定义</a:t>
            </a:r>
          </a:p>
        </p:txBody>
      </p:sp>
      <p:sp>
        <p:nvSpPr>
          <p:cNvPr id="28675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17BBE33-428F-4BE8-B799-435248D1290F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zh-CN" altLang="en-US" sz="1000"/>
          </a:p>
        </p:txBody>
      </p:sp>
      <p:sp>
        <p:nvSpPr>
          <p:cNvPr id="28676" name="TextBox 4"/>
          <p:cNvSpPr txBox="1">
            <a:spLocks noChangeArrowheads="1"/>
          </p:cNvSpPr>
          <p:nvPr/>
        </p:nvSpPr>
        <p:spPr bwMode="auto">
          <a:xfrm>
            <a:off x="755650" y="1341438"/>
            <a:ext cx="7632700" cy="47085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//</a:t>
            </a:r>
            <a:r>
              <a:rPr lang="zh-CN" altLang="en-US" sz="20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用两个数组分别存储顶点表和邻接矩阵</a:t>
            </a:r>
            <a:endParaRPr lang="en-US" altLang="zh-CN" sz="2000" dirty="0">
              <a:latin typeface="Cambria Math" panose="020405030504060302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#define </a:t>
            </a:r>
            <a:r>
              <a:rPr lang="en-US" altLang="zh-CN" sz="2000" dirty="0" err="1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MaxInt</a:t>
            </a: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32767                    	//</a:t>
            </a:r>
            <a:r>
              <a:rPr lang="zh-CN" altLang="en-US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表示极大值，即∞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#define </a:t>
            </a:r>
            <a:r>
              <a:rPr lang="en-US" altLang="zh-CN" sz="2000" dirty="0" err="1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MVNum</a:t>
            </a: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100                       	//</a:t>
            </a:r>
            <a:r>
              <a:rPr lang="zh-CN" altLang="en-US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最大顶点数 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typedef char </a:t>
            </a:r>
            <a:r>
              <a:rPr lang="en-US" altLang="zh-CN" sz="2000" dirty="0" err="1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VertexType</a:t>
            </a: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;              	//</a:t>
            </a:r>
            <a:r>
              <a:rPr lang="zh-CN" altLang="en-US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假设顶点的数据类型为字符型 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typedef int </a:t>
            </a:r>
            <a:r>
              <a:rPr lang="en-US" altLang="zh-CN" sz="2000" dirty="0" err="1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ArcType</a:t>
            </a: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;                  	//</a:t>
            </a:r>
            <a:r>
              <a:rPr lang="zh-CN" altLang="en-US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假设边的权值类型为整型 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typedef struct{ 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	</a:t>
            </a:r>
            <a:r>
              <a:rPr lang="en-US" altLang="zh-CN" sz="2000" dirty="0" err="1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VertexType</a:t>
            </a: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000" dirty="0" err="1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vexs</a:t>
            </a: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[</a:t>
            </a:r>
            <a:r>
              <a:rPr lang="en-US" altLang="zh-CN" sz="2000" dirty="0" err="1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MVNum</a:t>
            </a: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];            		//</a:t>
            </a:r>
            <a:r>
              <a:rPr lang="zh-CN" altLang="en-US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顶点表 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</a:t>
            </a: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en-US" altLang="zh-CN" sz="2000" dirty="0" err="1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ArcType</a:t>
            </a: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arcs[</a:t>
            </a:r>
            <a:r>
              <a:rPr lang="en-US" altLang="zh-CN" sz="2000" dirty="0" err="1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MVNum</a:t>
            </a: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][</a:t>
            </a:r>
            <a:r>
              <a:rPr lang="en-US" altLang="zh-CN" sz="2000" dirty="0" err="1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MVNum</a:t>
            </a: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];      	//</a:t>
            </a:r>
            <a:r>
              <a:rPr lang="zh-CN" altLang="en-US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邻接矩阵 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</a:t>
            </a: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	int </a:t>
            </a:r>
            <a:r>
              <a:rPr lang="en-US" altLang="zh-CN" sz="2000" dirty="0" err="1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vexnum,arcnum</a:t>
            </a: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;                	//</a:t>
            </a:r>
            <a:r>
              <a:rPr lang="zh-CN" altLang="en-US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图的当前点数和边数 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}</a:t>
            </a:r>
            <a:r>
              <a:rPr lang="en-US" altLang="zh-CN" sz="2000" dirty="0" err="1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AMGraph</a:t>
            </a: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;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邻接矩阵特点</a:t>
            </a:r>
          </a:p>
        </p:txBody>
      </p:sp>
      <p:sp>
        <p:nvSpPr>
          <p:cNvPr id="3072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latin typeface="+mn-ea"/>
              </a:rPr>
              <a:t>无向图</a:t>
            </a:r>
            <a:endParaRPr lang="en-US" altLang="zh-CN" dirty="0">
              <a:latin typeface="+mn-ea"/>
            </a:endParaRPr>
          </a:p>
          <a:p>
            <a:pPr lvl="1">
              <a:defRPr/>
            </a:pPr>
            <a:r>
              <a:rPr lang="zh-CN" altLang="en-US" dirty="0">
                <a:solidFill>
                  <a:srgbClr val="4C34FE"/>
                </a:solidFill>
                <a:latin typeface="+mn-ea"/>
              </a:rPr>
              <a:t>对称</a:t>
            </a:r>
            <a:r>
              <a:rPr lang="zh-CN" altLang="en-US" dirty="0">
                <a:latin typeface="+mn-ea"/>
              </a:rPr>
              <a:t>，可压缩存储</a:t>
            </a:r>
            <a:endParaRPr lang="en-US" altLang="zh-CN" dirty="0">
              <a:solidFill>
                <a:srgbClr val="4C34FE"/>
              </a:solidFill>
              <a:latin typeface="+mn-ea"/>
            </a:endParaRPr>
          </a:p>
          <a:p>
            <a:pPr lvl="1">
              <a:defRPr/>
            </a:pPr>
            <a:r>
              <a:rPr lang="zh-CN" altLang="zh-CN" dirty="0">
                <a:latin typeface="+mn-ea"/>
              </a:rPr>
              <a:t>顶点</a:t>
            </a:r>
            <a:r>
              <a:rPr lang="en-US" altLang="zh-CN" dirty="0">
                <a:latin typeface="+mn-ea"/>
              </a:rPr>
              <a:t>Vi</a:t>
            </a:r>
            <a:r>
              <a:rPr lang="zh-CN" altLang="zh-CN" dirty="0">
                <a:latin typeface="+mn-ea"/>
              </a:rPr>
              <a:t>的</a:t>
            </a:r>
            <a:r>
              <a:rPr lang="zh-CN" altLang="zh-CN" dirty="0">
                <a:solidFill>
                  <a:srgbClr val="4C34FE"/>
                </a:solidFill>
                <a:latin typeface="+mn-ea"/>
              </a:rPr>
              <a:t>度</a:t>
            </a:r>
            <a:r>
              <a:rPr lang="zh-CN" altLang="zh-CN" dirty="0">
                <a:latin typeface="+mn-ea"/>
              </a:rPr>
              <a:t>是邻接矩阵</a:t>
            </a:r>
            <a:r>
              <a:rPr lang="en-US" altLang="zh-CN" dirty="0">
                <a:latin typeface="+mn-ea"/>
              </a:rPr>
              <a:t>A</a:t>
            </a:r>
            <a:r>
              <a:rPr lang="zh-CN" altLang="zh-CN" dirty="0">
                <a:latin typeface="+mn-ea"/>
              </a:rPr>
              <a:t>中第</a:t>
            </a:r>
            <a:r>
              <a:rPr lang="en-US" altLang="zh-CN" dirty="0" err="1">
                <a:latin typeface="+mn-ea"/>
              </a:rPr>
              <a:t>i</a:t>
            </a:r>
            <a:r>
              <a:rPr lang="zh-CN" altLang="zh-CN" dirty="0">
                <a:latin typeface="+mn-ea"/>
              </a:rPr>
              <a:t>行</a:t>
            </a:r>
            <a:r>
              <a:rPr lang="en-US" altLang="zh-CN" dirty="0">
                <a:latin typeface="+mn-ea"/>
              </a:rPr>
              <a:t>(</a:t>
            </a:r>
            <a:r>
              <a:rPr lang="zh-CN" altLang="en-US" dirty="0">
                <a:latin typeface="+mn-ea"/>
              </a:rPr>
              <a:t>或第</a:t>
            </a:r>
            <a:r>
              <a:rPr lang="en-US" altLang="zh-CN" dirty="0" err="1">
                <a:latin typeface="+mn-ea"/>
              </a:rPr>
              <a:t>i</a:t>
            </a:r>
            <a:r>
              <a:rPr lang="zh-CN" altLang="en-US" dirty="0">
                <a:latin typeface="+mn-ea"/>
              </a:rPr>
              <a:t>列</a:t>
            </a:r>
            <a:r>
              <a:rPr lang="en-US" altLang="zh-CN" dirty="0">
                <a:latin typeface="+mn-ea"/>
              </a:rPr>
              <a:t>)</a:t>
            </a:r>
            <a:r>
              <a:rPr lang="zh-CN" altLang="en-US" dirty="0">
                <a:latin typeface="+mn-ea"/>
              </a:rPr>
              <a:t>非</a:t>
            </a:r>
            <a:r>
              <a:rPr lang="en-US" altLang="zh-CN" dirty="0">
                <a:latin typeface="+mn-ea"/>
              </a:rPr>
              <a:t>0</a:t>
            </a:r>
            <a:r>
              <a:rPr lang="zh-CN" altLang="zh-CN" dirty="0">
                <a:latin typeface="+mn-ea"/>
              </a:rPr>
              <a:t>元素</a:t>
            </a:r>
            <a:r>
              <a:rPr lang="zh-CN" altLang="en-US" dirty="0">
                <a:latin typeface="+mn-ea"/>
              </a:rPr>
              <a:t>的个数</a:t>
            </a:r>
            <a:endParaRPr lang="en-US" altLang="zh-CN" dirty="0">
              <a:latin typeface="+mn-ea"/>
            </a:endParaRPr>
          </a:p>
          <a:p>
            <a:pPr>
              <a:defRPr/>
            </a:pPr>
            <a:r>
              <a:rPr lang="zh-CN" altLang="en-US" dirty="0">
                <a:latin typeface="+mn-ea"/>
              </a:rPr>
              <a:t>有向图</a:t>
            </a:r>
            <a:endParaRPr lang="zh-CN" altLang="zh-CN" dirty="0">
              <a:latin typeface="+mn-ea"/>
            </a:endParaRPr>
          </a:p>
          <a:p>
            <a:pPr lvl="1">
              <a:defRPr/>
            </a:pPr>
            <a:r>
              <a:rPr lang="zh-CN" altLang="zh-CN" dirty="0">
                <a:solidFill>
                  <a:srgbClr val="009900"/>
                </a:solidFill>
                <a:latin typeface="+mn-ea"/>
              </a:rPr>
              <a:t>不一定对称</a:t>
            </a:r>
            <a:endParaRPr lang="en-US" altLang="zh-CN" dirty="0">
              <a:solidFill>
                <a:srgbClr val="009900"/>
              </a:solidFill>
              <a:latin typeface="+mn-ea"/>
            </a:endParaRPr>
          </a:p>
          <a:p>
            <a:pPr lvl="1">
              <a:defRPr/>
            </a:pPr>
            <a:r>
              <a:rPr lang="zh-CN" altLang="zh-CN" dirty="0">
                <a:latin typeface="+mn-ea"/>
              </a:rPr>
              <a:t>顶点</a:t>
            </a:r>
            <a:r>
              <a:rPr lang="en-US" altLang="zh-CN" dirty="0">
                <a:latin typeface="+mn-ea"/>
              </a:rPr>
              <a:t>Vi</a:t>
            </a:r>
            <a:r>
              <a:rPr lang="zh-CN" altLang="zh-CN" dirty="0">
                <a:latin typeface="+mn-ea"/>
              </a:rPr>
              <a:t>的</a:t>
            </a:r>
            <a:r>
              <a:rPr lang="zh-CN" altLang="zh-CN" dirty="0">
                <a:solidFill>
                  <a:srgbClr val="FF6600"/>
                </a:solidFill>
                <a:latin typeface="+mn-ea"/>
              </a:rPr>
              <a:t>出度</a:t>
            </a:r>
            <a:r>
              <a:rPr lang="zh-CN" altLang="zh-CN" dirty="0">
                <a:latin typeface="+mn-ea"/>
              </a:rPr>
              <a:t>是</a:t>
            </a:r>
            <a:r>
              <a:rPr lang="en-US" altLang="zh-CN" dirty="0">
                <a:latin typeface="+mn-ea"/>
              </a:rPr>
              <a:t>A</a:t>
            </a:r>
            <a:r>
              <a:rPr lang="zh-CN" altLang="zh-CN" dirty="0">
                <a:latin typeface="+mn-ea"/>
              </a:rPr>
              <a:t>中第</a:t>
            </a:r>
            <a:r>
              <a:rPr lang="en-US" altLang="zh-CN" dirty="0" err="1">
                <a:latin typeface="+mn-ea"/>
              </a:rPr>
              <a:t>i</a:t>
            </a:r>
            <a:r>
              <a:rPr lang="zh-CN" altLang="zh-CN" dirty="0">
                <a:solidFill>
                  <a:srgbClr val="FF6600"/>
                </a:solidFill>
                <a:latin typeface="+mn-ea"/>
              </a:rPr>
              <a:t>行</a:t>
            </a:r>
            <a:r>
              <a:rPr lang="zh-CN" altLang="en-US" dirty="0">
                <a:latin typeface="+mn-ea"/>
              </a:rPr>
              <a:t>非</a:t>
            </a:r>
            <a:r>
              <a:rPr lang="en-US" altLang="zh-CN" dirty="0">
                <a:latin typeface="+mn-ea"/>
              </a:rPr>
              <a:t>0</a:t>
            </a:r>
            <a:r>
              <a:rPr lang="zh-CN" altLang="zh-CN" dirty="0">
                <a:latin typeface="+mn-ea"/>
              </a:rPr>
              <a:t>元素</a:t>
            </a:r>
            <a:r>
              <a:rPr lang="zh-CN" altLang="en-US" dirty="0">
                <a:latin typeface="+mn-ea"/>
              </a:rPr>
              <a:t>的个数</a:t>
            </a:r>
            <a:endParaRPr lang="zh-CN" altLang="zh-CN" dirty="0">
              <a:latin typeface="+mn-ea"/>
            </a:endParaRPr>
          </a:p>
          <a:p>
            <a:pPr lvl="1">
              <a:defRPr/>
            </a:pPr>
            <a:r>
              <a:rPr lang="zh-CN" altLang="zh-CN" dirty="0">
                <a:latin typeface="+mn-ea"/>
              </a:rPr>
              <a:t>顶点</a:t>
            </a:r>
            <a:r>
              <a:rPr lang="en-US" altLang="zh-CN" dirty="0">
                <a:latin typeface="+mn-ea"/>
              </a:rPr>
              <a:t>Vi</a:t>
            </a:r>
            <a:r>
              <a:rPr lang="zh-CN" altLang="zh-CN" dirty="0">
                <a:latin typeface="+mn-ea"/>
              </a:rPr>
              <a:t>的</a:t>
            </a:r>
            <a:r>
              <a:rPr lang="zh-CN" altLang="zh-CN" dirty="0">
                <a:solidFill>
                  <a:srgbClr val="7030A0"/>
                </a:solidFill>
                <a:latin typeface="+mn-ea"/>
              </a:rPr>
              <a:t>入度</a:t>
            </a:r>
            <a:r>
              <a:rPr lang="zh-CN" altLang="zh-CN" dirty="0">
                <a:latin typeface="+mn-ea"/>
              </a:rPr>
              <a:t>是</a:t>
            </a:r>
            <a:r>
              <a:rPr lang="en-US" altLang="zh-CN" dirty="0">
                <a:latin typeface="+mn-ea"/>
              </a:rPr>
              <a:t>A</a:t>
            </a:r>
            <a:r>
              <a:rPr lang="zh-CN" altLang="zh-CN" dirty="0">
                <a:latin typeface="+mn-ea"/>
              </a:rPr>
              <a:t>中第</a:t>
            </a:r>
            <a:r>
              <a:rPr lang="en-US" altLang="zh-CN" dirty="0" err="1">
                <a:latin typeface="+mn-ea"/>
              </a:rPr>
              <a:t>i</a:t>
            </a:r>
            <a:r>
              <a:rPr lang="zh-CN" altLang="zh-CN" dirty="0">
                <a:solidFill>
                  <a:srgbClr val="7030A0"/>
                </a:solidFill>
                <a:latin typeface="+mn-ea"/>
              </a:rPr>
              <a:t>列</a:t>
            </a:r>
            <a:r>
              <a:rPr lang="zh-CN" altLang="en-US" dirty="0">
                <a:latin typeface="+mn-ea"/>
              </a:rPr>
              <a:t>非</a:t>
            </a:r>
            <a:r>
              <a:rPr lang="en-US" altLang="zh-CN" dirty="0">
                <a:latin typeface="+mn-ea"/>
              </a:rPr>
              <a:t>0</a:t>
            </a:r>
            <a:r>
              <a:rPr lang="zh-CN" altLang="zh-CN" dirty="0">
                <a:latin typeface="+mn-ea"/>
              </a:rPr>
              <a:t>元素</a:t>
            </a:r>
            <a:r>
              <a:rPr lang="zh-CN" altLang="en-US" dirty="0">
                <a:latin typeface="+mn-ea"/>
              </a:rPr>
              <a:t>的个数</a:t>
            </a:r>
            <a:endParaRPr lang="zh-CN" altLang="zh-CN" dirty="0">
              <a:latin typeface="+mn-ea"/>
            </a:endParaRPr>
          </a:p>
          <a:p>
            <a:pPr lvl="2">
              <a:defRPr/>
            </a:pPr>
            <a:endParaRPr lang="zh-CN" altLang="en-US" dirty="0"/>
          </a:p>
        </p:txBody>
      </p:sp>
      <p:sp>
        <p:nvSpPr>
          <p:cNvPr id="27652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DBA2286-3645-40D1-A234-34F02136273D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24</a:t>
            </a:fld>
            <a:endParaRPr lang="zh-CN" altLang="en-US" sz="1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邻接矩阵表示法的优缺点</a:t>
            </a:r>
          </a:p>
        </p:txBody>
      </p:sp>
      <p:sp>
        <p:nvSpPr>
          <p:cNvPr id="3072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优点</a:t>
            </a:r>
            <a:endParaRPr lang="en-US" altLang="zh-CN"/>
          </a:p>
          <a:p>
            <a:pPr lvl="1"/>
            <a:r>
              <a:rPr lang="zh-CN" altLang="en-US"/>
              <a:t>便于判断两个顶点是否有边</a:t>
            </a:r>
            <a:endParaRPr lang="en-US" altLang="zh-CN"/>
          </a:p>
          <a:p>
            <a:pPr lvl="1"/>
            <a:r>
              <a:rPr lang="zh-CN" altLang="en-US"/>
              <a:t>便于计算各个顶点的度</a:t>
            </a:r>
            <a:endParaRPr lang="en-US" altLang="zh-CN"/>
          </a:p>
          <a:p>
            <a:r>
              <a:rPr lang="zh-CN" altLang="en-US"/>
              <a:t>缺点</a:t>
            </a:r>
            <a:endParaRPr lang="en-US" altLang="zh-CN"/>
          </a:p>
          <a:p>
            <a:pPr lvl="1"/>
            <a:r>
              <a:rPr lang="zh-CN" altLang="en-US"/>
              <a:t>不便于增加和删除顶点</a:t>
            </a:r>
            <a:endParaRPr lang="en-US" altLang="zh-CN"/>
          </a:p>
          <a:p>
            <a:pPr lvl="1"/>
            <a:r>
              <a:rPr lang="zh-CN" altLang="en-US"/>
              <a:t>不便于统计边的数目</a:t>
            </a:r>
            <a:endParaRPr lang="en-US" altLang="zh-CN"/>
          </a:p>
          <a:p>
            <a:pPr lvl="1"/>
            <a:r>
              <a:rPr lang="zh-CN" altLang="en-US"/>
              <a:t>空间复杂度高</a:t>
            </a:r>
            <a:endParaRPr lang="en-US" altLang="zh-CN"/>
          </a:p>
          <a:p>
            <a:pPr lvl="2"/>
            <a:r>
              <a:rPr lang="zh-CN" altLang="en-US"/>
              <a:t>空间效率为</a:t>
            </a:r>
            <a:r>
              <a:rPr lang="en-US" altLang="zh-CN"/>
              <a:t>O(n</a:t>
            </a:r>
            <a:r>
              <a:rPr lang="en-US" altLang="zh-CN" baseline="30000"/>
              <a:t>2</a:t>
            </a:r>
            <a:r>
              <a:rPr lang="en-US" altLang="zh-CN"/>
              <a:t>)</a:t>
            </a:r>
          </a:p>
          <a:p>
            <a:pPr lvl="2"/>
            <a:r>
              <a:rPr lang="zh-CN" altLang="en-US"/>
              <a:t>对稀疏图而言尤其浪费空间</a:t>
            </a:r>
            <a:endParaRPr lang="en-US" altLang="zh-CN"/>
          </a:p>
          <a:p>
            <a:pPr lvl="1"/>
            <a:endParaRPr lang="zh-CN" altLang="en-US"/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1A4A661-3A85-4473-8BCB-F8029AD2AFE0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lang="zh-CN" altLang="en-US" sz="1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31640" y="2615406"/>
            <a:ext cx="6624736" cy="10795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练习 </a:t>
            </a:r>
            <a:r>
              <a:rPr lang="en-US" altLang="zh-CN" dirty="0"/>
              <a:t>6-2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0409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FC9BE59-6BE6-4719-943D-2F0BF22505B9}" type="slidenum">
              <a:rPr lang="zh-CN" altLang="en-US" smtClean="0"/>
              <a:pPr>
                <a:defRPr/>
              </a:pPr>
              <a:t>27</a:t>
            </a:fld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800" dirty="0"/>
              <a:t>假设图中的顶点按</a:t>
            </a:r>
            <a:r>
              <a:rPr lang="en-US" altLang="zh-CN" sz="2800" dirty="0"/>
              <a:t>{A, B, C, D}</a:t>
            </a:r>
            <a:r>
              <a:rPr lang="zh-CN" altLang="en-US" sz="2800" dirty="0"/>
              <a:t>的顺序存储，给出下面图的邻接矩阵</a:t>
            </a:r>
            <a:endParaRPr lang="en-US" altLang="zh-CN" sz="2800" dirty="0"/>
          </a:p>
        </p:txBody>
      </p:sp>
      <p:sp>
        <p:nvSpPr>
          <p:cNvPr id="7" name="圆角矩形 6"/>
          <p:cNvSpPr/>
          <p:nvPr>
            <p:custDataLst>
              <p:tags r:id="rId3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3" name="矩形 12"/>
          <p:cNvSpPr/>
          <p:nvPr>
            <p:custDataLst>
              <p:tags r:id="rId4"/>
            </p:custDataLst>
          </p:nvPr>
        </p:nvSpPr>
        <p:spPr bwMode="auto">
          <a:xfrm>
            <a:off x="0" y="5849303"/>
            <a:ext cx="9144000" cy="365760"/>
          </a:xfrm>
          <a:prstGeom prst="rect">
            <a:avLst/>
          </a:prstGeom>
          <a:solidFill>
            <a:srgbClr val="FBFAE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eaLnBrk="1" hangingPunct="1"/>
            <a:r>
              <a:rPr kumimoji="0" lang="zh-CN" altLang="en-US" sz="1200" b="0" i="1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kumimoji="0" lang="en-US" altLang="zh-CN" sz="1200" b="0" i="1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kumimoji="0" lang="zh-CN" altLang="en-US" sz="1200" b="0" i="1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495300" y="2924374"/>
            <a:ext cx="2276475" cy="2127250"/>
            <a:chOff x="495300" y="3284538"/>
            <a:chExt cx="2276475" cy="2127250"/>
          </a:xfrm>
        </p:grpSpPr>
        <p:grpSp>
          <p:nvGrpSpPr>
            <p:cNvPr id="15" name="组合 1"/>
            <p:cNvGrpSpPr>
              <a:grpSpLocks/>
            </p:cNvGrpSpPr>
            <p:nvPr/>
          </p:nvGrpSpPr>
          <p:grpSpPr bwMode="auto">
            <a:xfrm>
              <a:off x="495300" y="3284538"/>
              <a:ext cx="2276475" cy="1757362"/>
              <a:chOff x="2413000" y="4119910"/>
              <a:chExt cx="2276475" cy="1757362"/>
            </a:xfrm>
          </p:grpSpPr>
          <p:sp>
            <p:nvSpPr>
              <p:cNvPr id="17" name="Line 3"/>
              <p:cNvSpPr>
                <a:spLocks noChangeShapeType="1"/>
              </p:cNvSpPr>
              <p:nvPr/>
            </p:nvSpPr>
            <p:spPr bwMode="auto">
              <a:xfrm>
                <a:off x="2987675" y="4334222"/>
                <a:ext cx="1152525" cy="0"/>
              </a:xfrm>
              <a:prstGeom prst="line">
                <a:avLst/>
              </a:prstGeom>
              <a:noFill/>
              <a:ln w="2540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" name="Line 6"/>
              <p:cNvSpPr>
                <a:spLocks noChangeShapeType="1"/>
              </p:cNvSpPr>
              <p:nvPr/>
            </p:nvSpPr>
            <p:spPr bwMode="auto">
              <a:xfrm>
                <a:off x="2700338" y="4694585"/>
                <a:ext cx="0" cy="704850"/>
              </a:xfrm>
              <a:prstGeom prst="line">
                <a:avLst/>
              </a:prstGeom>
              <a:noFill/>
              <a:ln w="2540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" name="Line 8"/>
              <p:cNvSpPr>
                <a:spLocks noChangeShapeType="1"/>
              </p:cNvSpPr>
              <p:nvPr/>
            </p:nvSpPr>
            <p:spPr bwMode="auto">
              <a:xfrm flipH="1" flipV="1">
                <a:off x="2916238" y="4551710"/>
                <a:ext cx="1295400" cy="863600"/>
              </a:xfrm>
              <a:prstGeom prst="line">
                <a:avLst/>
              </a:prstGeom>
              <a:noFill/>
              <a:ln w="2540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" name="Line 9"/>
              <p:cNvSpPr>
                <a:spLocks noChangeShapeType="1"/>
              </p:cNvSpPr>
              <p:nvPr/>
            </p:nvSpPr>
            <p:spPr bwMode="auto">
              <a:xfrm flipV="1">
                <a:off x="2987675" y="5631210"/>
                <a:ext cx="1152525" cy="0"/>
              </a:xfrm>
              <a:prstGeom prst="line">
                <a:avLst/>
              </a:prstGeom>
              <a:noFill/>
              <a:ln w="2540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" name="Oval 10"/>
              <p:cNvSpPr>
                <a:spLocks noChangeArrowheads="1"/>
              </p:cNvSpPr>
              <p:nvPr/>
            </p:nvSpPr>
            <p:spPr bwMode="auto">
              <a:xfrm>
                <a:off x="2413000" y="4119910"/>
                <a:ext cx="574675" cy="533400"/>
              </a:xfrm>
              <a:prstGeom prst="ellipse">
                <a:avLst/>
              </a:prstGeom>
              <a:noFill/>
              <a:ln w="254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algn="ctr" eaLnBrk="1" hangingPunct="1">
                  <a:defRPr/>
                </a:pPr>
                <a:r>
                  <a:rPr kumimoji="1" lang="en-US" altLang="zh-CN" sz="3600" dirty="0">
                    <a:latin typeface="+mn-lt"/>
                  </a:rPr>
                  <a:t>A</a:t>
                </a:r>
                <a:endParaRPr kumimoji="1" lang="en-US" altLang="zh-CN" sz="2400" dirty="0">
                  <a:latin typeface="+mn-lt"/>
                </a:endParaRPr>
              </a:p>
            </p:txBody>
          </p:sp>
          <p:sp>
            <p:nvSpPr>
              <p:cNvPr id="22" name="Oval 11"/>
              <p:cNvSpPr>
                <a:spLocks noChangeArrowheads="1"/>
              </p:cNvSpPr>
              <p:nvPr/>
            </p:nvSpPr>
            <p:spPr bwMode="auto">
              <a:xfrm>
                <a:off x="2484438" y="5399435"/>
                <a:ext cx="496887" cy="477837"/>
              </a:xfrm>
              <a:prstGeom prst="ellipse">
                <a:avLst/>
              </a:prstGeom>
              <a:noFill/>
              <a:ln w="254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3600">
                    <a:ea typeface="宋体" panose="02010600030101010101" pitchFamily="2" charset="-122"/>
                  </a:rPr>
                  <a:t>C</a:t>
                </a:r>
              </a:p>
            </p:txBody>
          </p:sp>
          <p:sp>
            <p:nvSpPr>
              <p:cNvPr id="23" name="Oval 12"/>
              <p:cNvSpPr>
                <a:spLocks noChangeArrowheads="1"/>
              </p:cNvSpPr>
              <p:nvPr/>
            </p:nvSpPr>
            <p:spPr bwMode="auto">
              <a:xfrm>
                <a:off x="4141788" y="5343872"/>
                <a:ext cx="547687" cy="533400"/>
              </a:xfrm>
              <a:prstGeom prst="ellipse">
                <a:avLst/>
              </a:prstGeom>
              <a:noFill/>
              <a:ln w="254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3600">
                    <a:ea typeface="宋体" panose="02010600030101010101" pitchFamily="2" charset="-122"/>
                  </a:rPr>
                  <a:t>D</a:t>
                </a:r>
              </a:p>
            </p:txBody>
          </p:sp>
          <p:sp>
            <p:nvSpPr>
              <p:cNvPr id="24" name="Oval 13"/>
              <p:cNvSpPr>
                <a:spLocks noChangeArrowheads="1"/>
              </p:cNvSpPr>
              <p:nvPr/>
            </p:nvSpPr>
            <p:spPr bwMode="auto">
              <a:xfrm>
                <a:off x="4141788" y="4119910"/>
                <a:ext cx="547687" cy="533400"/>
              </a:xfrm>
              <a:prstGeom prst="ellipse">
                <a:avLst/>
              </a:prstGeom>
              <a:noFill/>
              <a:ln w="254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3600" dirty="0">
                    <a:ea typeface="宋体" panose="02010600030101010101" pitchFamily="2" charset="-122"/>
                  </a:rPr>
                  <a:t>B</a:t>
                </a:r>
              </a:p>
            </p:txBody>
          </p:sp>
        </p:grpSp>
        <p:sp>
          <p:nvSpPr>
            <p:cNvPr id="16" name="文本框 1"/>
            <p:cNvSpPr txBox="1">
              <a:spLocks noChangeArrowheads="1"/>
            </p:cNvSpPr>
            <p:nvPr/>
          </p:nvSpPr>
          <p:spPr bwMode="auto">
            <a:xfrm>
              <a:off x="1358900" y="5041900"/>
              <a:ext cx="576263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</a:rPr>
                <a:t>(a)</a:t>
              </a:r>
              <a:endParaRPr lang="zh-CN" altLang="en-US" sz="1800">
                <a:ea typeface="宋体" panose="02010600030101010101" pitchFamily="2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3492500" y="2924374"/>
            <a:ext cx="2232025" cy="2098675"/>
            <a:chOff x="3492500" y="3284538"/>
            <a:chExt cx="2232025" cy="2098675"/>
          </a:xfrm>
        </p:grpSpPr>
        <p:sp>
          <p:nvSpPr>
            <p:cNvPr id="26" name="Line 3"/>
            <p:cNvSpPr>
              <a:spLocks noChangeShapeType="1"/>
            </p:cNvSpPr>
            <p:nvPr/>
          </p:nvSpPr>
          <p:spPr bwMode="auto">
            <a:xfrm>
              <a:off x="3995738" y="3571875"/>
              <a:ext cx="1223962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Line 6"/>
            <p:cNvSpPr>
              <a:spLocks noChangeShapeType="1"/>
            </p:cNvSpPr>
            <p:nvPr/>
          </p:nvSpPr>
          <p:spPr bwMode="auto">
            <a:xfrm>
              <a:off x="3779838" y="3859213"/>
              <a:ext cx="0" cy="70485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Line 7"/>
            <p:cNvSpPr>
              <a:spLocks noChangeShapeType="1"/>
            </p:cNvSpPr>
            <p:nvPr/>
          </p:nvSpPr>
          <p:spPr bwMode="auto">
            <a:xfrm flipH="1" flipV="1">
              <a:off x="5437188" y="3787775"/>
              <a:ext cx="0" cy="720725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Line 8"/>
            <p:cNvSpPr>
              <a:spLocks noChangeShapeType="1"/>
            </p:cNvSpPr>
            <p:nvPr/>
          </p:nvSpPr>
          <p:spPr bwMode="auto">
            <a:xfrm flipH="1" flipV="1">
              <a:off x="3995738" y="3716338"/>
              <a:ext cx="1296987" cy="86360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Line 9"/>
            <p:cNvSpPr>
              <a:spLocks noChangeShapeType="1"/>
            </p:cNvSpPr>
            <p:nvPr/>
          </p:nvSpPr>
          <p:spPr bwMode="auto">
            <a:xfrm flipV="1">
              <a:off x="3995738" y="4795838"/>
              <a:ext cx="1225550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Oval 10"/>
            <p:cNvSpPr>
              <a:spLocks noChangeArrowheads="1"/>
            </p:cNvSpPr>
            <p:nvPr/>
          </p:nvSpPr>
          <p:spPr bwMode="auto">
            <a:xfrm>
              <a:off x="3492500" y="3284538"/>
              <a:ext cx="528638" cy="533400"/>
            </a:xfrm>
            <a:prstGeom prst="ellips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3600" b="1" dirty="0">
                  <a:latin typeface="+mn-ea"/>
                  <a:ea typeface="+mn-ea"/>
                </a:rPr>
                <a:t>A</a:t>
              </a:r>
              <a:endParaRPr kumimoji="1" lang="en-US" altLang="zh-CN" sz="2400" dirty="0">
                <a:latin typeface="+mn-ea"/>
                <a:ea typeface="+mn-ea"/>
              </a:endParaRPr>
            </a:p>
          </p:txBody>
        </p:sp>
        <p:sp>
          <p:nvSpPr>
            <p:cNvPr id="32" name="Oval 11"/>
            <p:cNvSpPr>
              <a:spLocks noChangeArrowheads="1"/>
            </p:cNvSpPr>
            <p:nvPr/>
          </p:nvSpPr>
          <p:spPr bwMode="auto">
            <a:xfrm>
              <a:off x="3563938" y="4564063"/>
              <a:ext cx="457200" cy="477837"/>
            </a:xfrm>
            <a:prstGeom prst="ellips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None/>
              </a:pPr>
              <a:r>
                <a:rPr kumimoji="1" lang="en-US" altLang="zh-CN" sz="3600" b="1" dirty="0">
                  <a:latin typeface="+mn-ea"/>
                  <a:ea typeface="+mn-ea"/>
                </a:rPr>
                <a:t>C</a:t>
              </a:r>
            </a:p>
          </p:txBody>
        </p:sp>
        <p:sp>
          <p:nvSpPr>
            <p:cNvPr id="33" name="Oval 12"/>
            <p:cNvSpPr>
              <a:spLocks noChangeArrowheads="1"/>
            </p:cNvSpPr>
            <p:nvPr/>
          </p:nvSpPr>
          <p:spPr bwMode="auto">
            <a:xfrm>
              <a:off x="5221288" y="4508500"/>
              <a:ext cx="503237" cy="533400"/>
            </a:xfrm>
            <a:prstGeom prst="ellips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None/>
              </a:pPr>
              <a:r>
                <a:rPr kumimoji="1" lang="en-US" altLang="zh-CN" sz="3600" b="1" dirty="0">
                  <a:latin typeface="+mn-ea"/>
                  <a:ea typeface="+mn-ea"/>
                </a:rPr>
                <a:t>D</a:t>
              </a:r>
            </a:p>
          </p:txBody>
        </p:sp>
        <p:sp>
          <p:nvSpPr>
            <p:cNvPr id="34" name="Oval 13"/>
            <p:cNvSpPr>
              <a:spLocks noChangeArrowheads="1"/>
            </p:cNvSpPr>
            <p:nvPr/>
          </p:nvSpPr>
          <p:spPr bwMode="auto">
            <a:xfrm>
              <a:off x="5221288" y="3284538"/>
              <a:ext cx="503237" cy="533400"/>
            </a:xfrm>
            <a:prstGeom prst="ellips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None/>
              </a:pPr>
              <a:r>
                <a:rPr kumimoji="1" lang="en-US" altLang="zh-CN" sz="3600" b="1" dirty="0">
                  <a:latin typeface="+mn-ea"/>
                  <a:ea typeface="+mn-ea"/>
                </a:rPr>
                <a:t>B</a:t>
              </a:r>
            </a:p>
          </p:txBody>
        </p:sp>
        <p:sp>
          <p:nvSpPr>
            <p:cNvPr id="35" name="文本框 23"/>
            <p:cNvSpPr txBox="1">
              <a:spLocks noChangeArrowheads="1"/>
            </p:cNvSpPr>
            <p:nvPr/>
          </p:nvSpPr>
          <p:spPr bwMode="auto">
            <a:xfrm>
              <a:off x="4356100" y="5013325"/>
              <a:ext cx="576263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ea typeface="宋体" panose="02010600030101010101" pitchFamily="2" charset="-122"/>
                </a:rPr>
                <a:t>(b)</a:t>
              </a:r>
              <a:endParaRPr lang="zh-CN" altLang="en-US" sz="1800" dirty="0">
                <a:ea typeface="宋体" panose="02010600030101010101" pitchFamily="2" charset="-122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6286500" y="2852936"/>
            <a:ext cx="2389188" cy="2198688"/>
            <a:chOff x="6286500" y="3213100"/>
            <a:chExt cx="2389188" cy="2198688"/>
          </a:xfrm>
        </p:grpSpPr>
        <p:grpSp>
          <p:nvGrpSpPr>
            <p:cNvPr id="37" name="组合 1"/>
            <p:cNvGrpSpPr>
              <a:grpSpLocks/>
            </p:cNvGrpSpPr>
            <p:nvPr/>
          </p:nvGrpSpPr>
          <p:grpSpPr bwMode="auto">
            <a:xfrm>
              <a:off x="6399213" y="3284538"/>
              <a:ext cx="2276475" cy="1757362"/>
              <a:chOff x="2413000" y="4119910"/>
              <a:chExt cx="2276475" cy="1757362"/>
            </a:xfrm>
          </p:grpSpPr>
          <p:sp>
            <p:nvSpPr>
              <p:cNvPr id="42" name="Line 3"/>
              <p:cNvSpPr>
                <a:spLocks noChangeShapeType="1"/>
              </p:cNvSpPr>
              <p:nvPr/>
            </p:nvSpPr>
            <p:spPr bwMode="auto">
              <a:xfrm>
                <a:off x="2987675" y="4334222"/>
                <a:ext cx="1152525" cy="0"/>
              </a:xfrm>
              <a:prstGeom prst="line">
                <a:avLst/>
              </a:prstGeom>
              <a:noFill/>
              <a:ln w="2540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" name="Line 6"/>
              <p:cNvSpPr>
                <a:spLocks noChangeShapeType="1"/>
              </p:cNvSpPr>
              <p:nvPr/>
            </p:nvSpPr>
            <p:spPr bwMode="auto">
              <a:xfrm>
                <a:off x="2700338" y="4694585"/>
                <a:ext cx="0" cy="704850"/>
              </a:xfrm>
              <a:prstGeom prst="line">
                <a:avLst/>
              </a:prstGeom>
              <a:noFill/>
              <a:ln w="2540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" name="Line 9"/>
              <p:cNvSpPr>
                <a:spLocks noChangeShapeType="1"/>
              </p:cNvSpPr>
              <p:nvPr/>
            </p:nvSpPr>
            <p:spPr bwMode="auto">
              <a:xfrm flipV="1">
                <a:off x="2987675" y="5631210"/>
                <a:ext cx="1152525" cy="0"/>
              </a:xfrm>
              <a:prstGeom prst="line">
                <a:avLst/>
              </a:prstGeom>
              <a:noFill/>
              <a:ln w="2540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" name="Oval 10"/>
              <p:cNvSpPr>
                <a:spLocks noChangeArrowheads="1"/>
              </p:cNvSpPr>
              <p:nvPr/>
            </p:nvSpPr>
            <p:spPr bwMode="auto">
              <a:xfrm>
                <a:off x="2413000" y="4119910"/>
                <a:ext cx="574675" cy="533400"/>
              </a:xfrm>
              <a:prstGeom prst="ellipse">
                <a:avLst/>
              </a:prstGeom>
              <a:noFill/>
              <a:ln w="254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algn="ctr" eaLnBrk="1" hangingPunct="1">
                  <a:defRPr/>
                </a:pPr>
                <a:r>
                  <a:rPr kumimoji="1" lang="en-US" altLang="zh-CN" sz="3600" dirty="0">
                    <a:latin typeface="+mn-lt"/>
                  </a:rPr>
                  <a:t>A</a:t>
                </a:r>
                <a:endParaRPr kumimoji="1" lang="en-US" altLang="zh-CN" sz="2400" dirty="0">
                  <a:latin typeface="+mn-lt"/>
                </a:endParaRPr>
              </a:p>
            </p:txBody>
          </p:sp>
          <p:sp>
            <p:nvSpPr>
              <p:cNvPr id="46" name="Oval 11"/>
              <p:cNvSpPr>
                <a:spLocks noChangeArrowheads="1"/>
              </p:cNvSpPr>
              <p:nvPr/>
            </p:nvSpPr>
            <p:spPr bwMode="auto">
              <a:xfrm>
                <a:off x="2484438" y="5399435"/>
                <a:ext cx="496887" cy="477837"/>
              </a:xfrm>
              <a:prstGeom prst="ellipse">
                <a:avLst/>
              </a:prstGeom>
              <a:noFill/>
              <a:ln w="254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3600">
                    <a:ea typeface="宋体" panose="02010600030101010101" pitchFamily="2" charset="-122"/>
                  </a:rPr>
                  <a:t>C</a:t>
                </a:r>
              </a:p>
            </p:txBody>
          </p:sp>
          <p:sp>
            <p:nvSpPr>
              <p:cNvPr id="47" name="Oval 12"/>
              <p:cNvSpPr>
                <a:spLocks noChangeArrowheads="1"/>
              </p:cNvSpPr>
              <p:nvPr/>
            </p:nvSpPr>
            <p:spPr bwMode="auto">
              <a:xfrm>
                <a:off x="4141788" y="5343872"/>
                <a:ext cx="547687" cy="533400"/>
              </a:xfrm>
              <a:prstGeom prst="ellipse">
                <a:avLst/>
              </a:prstGeom>
              <a:noFill/>
              <a:ln w="254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3600">
                    <a:ea typeface="宋体" panose="02010600030101010101" pitchFamily="2" charset="-122"/>
                  </a:rPr>
                  <a:t>D</a:t>
                </a:r>
              </a:p>
            </p:txBody>
          </p:sp>
          <p:sp>
            <p:nvSpPr>
              <p:cNvPr id="48" name="Oval 13"/>
              <p:cNvSpPr>
                <a:spLocks noChangeArrowheads="1"/>
              </p:cNvSpPr>
              <p:nvPr/>
            </p:nvSpPr>
            <p:spPr bwMode="auto">
              <a:xfrm>
                <a:off x="4141788" y="4119910"/>
                <a:ext cx="547687" cy="533400"/>
              </a:xfrm>
              <a:prstGeom prst="ellipse">
                <a:avLst/>
              </a:prstGeom>
              <a:noFill/>
              <a:ln w="254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3600">
                    <a:ea typeface="宋体" panose="02010600030101010101" pitchFamily="2" charset="-122"/>
                  </a:rPr>
                  <a:t>B</a:t>
                </a:r>
              </a:p>
            </p:txBody>
          </p:sp>
        </p:grpSp>
        <p:sp>
          <p:nvSpPr>
            <p:cNvPr id="38" name="文本框 33"/>
            <p:cNvSpPr txBox="1">
              <a:spLocks noChangeArrowheads="1"/>
            </p:cNvSpPr>
            <p:nvPr/>
          </p:nvSpPr>
          <p:spPr bwMode="auto">
            <a:xfrm>
              <a:off x="7264400" y="5041900"/>
              <a:ext cx="576263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</a:rPr>
                <a:t>(c)</a:t>
              </a: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39" name="文本框 2"/>
            <p:cNvSpPr txBox="1">
              <a:spLocks noChangeArrowheads="1"/>
            </p:cNvSpPr>
            <p:nvPr/>
          </p:nvSpPr>
          <p:spPr bwMode="auto">
            <a:xfrm>
              <a:off x="7380288" y="3213100"/>
              <a:ext cx="460375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</a:rPr>
                <a:t>8</a:t>
              </a: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40" name="文本框 35"/>
            <p:cNvSpPr txBox="1">
              <a:spLocks noChangeArrowheads="1"/>
            </p:cNvSpPr>
            <p:nvPr/>
          </p:nvSpPr>
          <p:spPr bwMode="auto">
            <a:xfrm>
              <a:off x="7419975" y="4483100"/>
              <a:ext cx="460375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</a:rPr>
                <a:t>3</a:t>
              </a: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41" name="文本框 36"/>
            <p:cNvSpPr txBox="1">
              <a:spLocks noChangeArrowheads="1"/>
            </p:cNvSpPr>
            <p:nvPr/>
          </p:nvSpPr>
          <p:spPr bwMode="auto">
            <a:xfrm>
              <a:off x="6286500" y="3938588"/>
              <a:ext cx="458788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</a:rPr>
                <a:t>12</a:t>
              </a:r>
              <a:endParaRPr lang="zh-CN" altLang="en-US" sz="1800">
                <a:ea typeface="宋体" panose="02010600030101010101" pitchFamily="2" charset="-122"/>
              </a:endParaRPr>
            </a:p>
          </p:txBody>
        </p:sp>
      </p:grpSp>
      <p:grpSp>
        <p:nvGrpSpPr>
          <p:cNvPr id="12" name="组合 11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8" name="TitleBackground"/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华文细黑" pitchFamily="2" charset="-122"/>
              </a:endParaRPr>
            </a:p>
          </p:txBody>
        </p:sp>
        <p:sp>
          <p:nvSpPr>
            <p:cNvPr id="9" name="ColorBlock"/>
            <p:cNvSpPr/>
            <p:nvPr>
              <p:custDataLst>
                <p:tags r:id="rId8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华文细黑" pitchFamily="2" charset="-122"/>
              </a:endParaRPr>
            </a:p>
          </p:txBody>
        </p:sp>
        <p:sp>
          <p:nvSpPr>
            <p:cNvPr id="10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1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411623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邻接表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邻接表（</a:t>
            </a:r>
            <a:r>
              <a:rPr lang="en-US" altLang="zh-CN" dirty="0"/>
              <a:t>Adjacency List</a:t>
            </a:r>
            <a:r>
              <a:rPr lang="zh-CN" altLang="en-US" dirty="0"/>
              <a:t>）是图的一种链式存储结构</a:t>
            </a:r>
            <a:endParaRPr lang="en-US" altLang="zh-CN" dirty="0"/>
          </a:p>
          <a:p>
            <a:r>
              <a:rPr lang="zh-CN" altLang="en-US" dirty="0"/>
              <a:t>对图中每个顶点</a:t>
            </a:r>
            <a:r>
              <a:rPr lang="en-US" altLang="zh-CN" dirty="0"/>
              <a:t>v</a:t>
            </a:r>
            <a:r>
              <a:rPr lang="en-US" altLang="zh-CN" baseline="-25000" dirty="0"/>
              <a:t>i</a:t>
            </a:r>
            <a:r>
              <a:rPr lang="zh-CN" altLang="en-US" dirty="0"/>
              <a:t>建立一个单链表，把与</a:t>
            </a:r>
            <a:r>
              <a:rPr lang="en-US" altLang="zh-CN" dirty="0"/>
              <a:t>vi</a:t>
            </a:r>
            <a:r>
              <a:rPr lang="zh-CN" altLang="en-US" dirty="0">
                <a:solidFill>
                  <a:srgbClr val="4C34FE"/>
                </a:solidFill>
              </a:rPr>
              <a:t>相邻的顶点</a:t>
            </a:r>
            <a:r>
              <a:rPr lang="zh-CN" altLang="en-US" dirty="0"/>
              <a:t>放到这个链表中</a:t>
            </a:r>
            <a:endParaRPr lang="en-US" altLang="zh-CN" dirty="0"/>
          </a:p>
          <a:p>
            <a:r>
              <a:rPr lang="zh-CN" altLang="en-US" dirty="0"/>
              <a:t>邻接表中每个单链表的第一个结点存放有关</a:t>
            </a:r>
            <a:r>
              <a:rPr lang="zh-CN" altLang="en-US" dirty="0">
                <a:solidFill>
                  <a:srgbClr val="009900"/>
                </a:solidFill>
              </a:rPr>
              <a:t>顶点</a:t>
            </a:r>
            <a:r>
              <a:rPr lang="zh-CN" altLang="en-US" dirty="0"/>
              <a:t>的信息</a:t>
            </a:r>
            <a:endParaRPr lang="en-US" altLang="zh-CN" dirty="0"/>
          </a:p>
          <a:p>
            <a:pPr lvl="1"/>
            <a:r>
              <a:rPr lang="zh-CN" altLang="en-US" dirty="0"/>
              <a:t>看成头结点</a:t>
            </a:r>
            <a:endParaRPr lang="en-US" altLang="zh-CN" dirty="0"/>
          </a:p>
          <a:p>
            <a:r>
              <a:rPr lang="zh-CN" altLang="en-US" dirty="0"/>
              <a:t>邻接表由</a:t>
            </a:r>
            <a:r>
              <a:rPr lang="zh-CN" altLang="en-US" dirty="0">
                <a:solidFill>
                  <a:srgbClr val="009900"/>
                </a:solidFill>
              </a:rPr>
              <a:t>表头结点表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4C34FE"/>
                </a:solidFill>
              </a:rPr>
              <a:t>边表</a:t>
            </a:r>
            <a:r>
              <a:rPr lang="zh-CN" altLang="en-US" dirty="0"/>
              <a:t>组成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FC9BE59-6BE6-4719-943D-2F0BF22505B9}" type="slidenum">
              <a:rPr lang="zh-CN" altLang="en-US" smtClean="0"/>
              <a:pPr>
                <a:defRPr/>
              </a:pPr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75083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latin typeface="+mn-ea"/>
              </a:rPr>
              <a:t>邻接表</a:t>
            </a:r>
            <a:endParaRPr lang="zh-CN" altLang="en-US" dirty="0"/>
          </a:p>
        </p:txBody>
      </p:sp>
      <p:sp>
        <p:nvSpPr>
          <p:cNvPr id="36867" name="内容占位符 2"/>
          <p:cNvSpPr>
            <a:spLocks noGrp="1"/>
          </p:cNvSpPr>
          <p:nvPr>
            <p:ph idx="1"/>
          </p:nvPr>
        </p:nvSpPr>
        <p:spPr>
          <a:xfrm>
            <a:off x="468313" y="1125537"/>
            <a:ext cx="4027735" cy="2663504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/>
              <a:t>表头结点表用顺序存储</a:t>
            </a:r>
            <a:endParaRPr lang="en-US" altLang="zh-CN" dirty="0"/>
          </a:p>
          <a:p>
            <a:pPr>
              <a:lnSpc>
                <a:spcPct val="90000"/>
              </a:lnSpc>
            </a:pPr>
            <a:r>
              <a:rPr lang="zh-CN" altLang="en-US" dirty="0"/>
              <a:t>表头结点包括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zh-CN" altLang="en-US" dirty="0"/>
              <a:t>数据域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zh-CN" altLang="en-US" dirty="0"/>
              <a:t>指针域</a:t>
            </a:r>
            <a:endParaRPr lang="en-US" altLang="zh-CN" dirty="0"/>
          </a:p>
        </p:txBody>
      </p:sp>
      <p:sp>
        <p:nvSpPr>
          <p:cNvPr id="36868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D0D1214-E3B1-4A05-BAED-324B03830018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29</a:t>
            </a:fld>
            <a:endParaRPr lang="zh-CN" altLang="en-US" sz="1000"/>
          </a:p>
        </p:txBody>
      </p:sp>
      <p:grpSp>
        <p:nvGrpSpPr>
          <p:cNvPr id="36869" name="组合 1"/>
          <p:cNvGrpSpPr>
            <a:grpSpLocks/>
          </p:cNvGrpSpPr>
          <p:nvPr/>
        </p:nvGrpSpPr>
        <p:grpSpPr bwMode="auto">
          <a:xfrm>
            <a:off x="6466656" y="1393950"/>
            <a:ext cx="2276475" cy="1757362"/>
            <a:chOff x="2413000" y="4119910"/>
            <a:chExt cx="2276475" cy="1757362"/>
          </a:xfrm>
        </p:grpSpPr>
        <p:sp>
          <p:nvSpPr>
            <p:cNvPr id="36949" name="Line 3"/>
            <p:cNvSpPr>
              <a:spLocks noChangeShapeType="1"/>
            </p:cNvSpPr>
            <p:nvPr/>
          </p:nvSpPr>
          <p:spPr bwMode="auto">
            <a:xfrm>
              <a:off x="2987675" y="4334222"/>
              <a:ext cx="1152525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50" name="Line 6"/>
            <p:cNvSpPr>
              <a:spLocks noChangeShapeType="1"/>
            </p:cNvSpPr>
            <p:nvPr/>
          </p:nvSpPr>
          <p:spPr bwMode="auto">
            <a:xfrm>
              <a:off x="2700338" y="4694585"/>
              <a:ext cx="0" cy="70485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51" name="Line 9"/>
            <p:cNvSpPr>
              <a:spLocks noChangeShapeType="1"/>
            </p:cNvSpPr>
            <p:nvPr/>
          </p:nvSpPr>
          <p:spPr bwMode="auto">
            <a:xfrm flipV="1">
              <a:off x="2987675" y="5631210"/>
              <a:ext cx="1152525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Oval 10"/>
            <p:cNvSpPr>
              <a:spLocks noChangeArrowheads="1"/>
            </p:cNvSpPr>
            <p:nvPr/>
          </p:nvSpPr>
          <p:spPr bwMode="auto">
            <a:xfrm>
              <a:off x="2413000" y="4119910"/>
              <a:ext cx="574675" cy="533400"/>
            </a:xfrm>
            <a:prstGeom prst="ellips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kumimoji="1" lang="en-US" altLang="zh-CN" sz="3600" dirty="0">
                  <a:latin typeface="+mn-lt"/>
                </a:rPr>
                <a:t>A</a:t>
              </a:r>
              <a:endParaRPr kumimoji="1" lang="en-US" altLang="zh-CN" sz="2400" dirty="0">
                <a:latin typeface="+mn-lt"/>
              </a:endParaRPr>
            </a:p>
          </p:txBody>
        </p:sp>
        <p:sp>
          <p:nvSpPr>
            <p:cNvPr id="36953" name="Oval 11"/>
            <p:cNvSpPr>
              <a:spLocks noChangeArrowheads="1"/>
            </p:cNvSpPr>
            <p:nvPr/>
          </p:nvSpPr>
          <p:spPr bwMode="auto">
            <a:xfrm>
              <a:off x="2484438" y="5399435"/>
              <a:ext cx="496887" cy="477837"/>
            </a:xfrm>
            <a:prstGeom prst="ellips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3600" dirty="0"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36954" name="Oval 12"/>
            <p:cNvSpPr>
              <a:spLocks noChangeArrowheads="1"/>
            </p:cNvSpPr>
            <p:nvPr/>
          </p:nvSpPr>
          <p:spPr bwMode="auto">
            <a:xfrm>
              <a:off x="4141788" y="5343872"/>
              <a:ext cx="547687" cy="533400"/>
            </a:xfrm>
            <a:prstGeom prst="ellips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3600">
                  <a:ea typeface="宋体" panose="02010600030101010101" pitchFamily="2" charset="-122"/>
                </a:rPr>
                <a:t>D</a:t>
              </a:r>
            </a:p>
          </p:txBody>
        </p:sp>
        <p:sp>
          <p:nvSpPr>
            <p:cNvPr id="36955" name="Oval 13"/>
            <p:cNvSpPr>
              <a:spLocks noChangeArrowheads="1"/>
            </p:cNvSpPr>
            <p:nvPr/>
          </p:nvSpPr>
          <p:spPr bwMode="auto">
            <a:xfrm>
              <a:off x="4141788" y="4119910"/>
              <a:ext cx="547687" cy="533400"/>
            </a:xfrm>
            <a:prstGeom prst="ellips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3600" dirty="0">
                  <a:ea typeface="宋体" panose="02010600030101010101" pitchFamily="2" charset="-122"/>
                </a:rPr>
                <a:t>B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572769" y="1340768"/>
            <a:ext cx="1019175" cy="1873250"/>
            <a:chOff x="1836465" y="4004022"/>
            <a:chExt cx="1019175" cy="1873250"/>
          </a:xfrm>
        </p:grpSpPr>
        <p:sp>
          <p:nvSpPr>
            <p:cNvPr id="36870" name="Rectangle 32"/>
            <p:cNvSpPr>
              <a:spLocks noChangeArrowheads="1"/>
            </p:cNvSpPr>
            <p:nvPr/>
          </p:nvSpPr>
          <p:spPr bwMode="auto">
            <a:xfrm>
              <a:off x="2347640" y="5370860"/>
              <a:ext cx="508000" cy="45561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zh-CN" sz="2400">
                <a:ea typeface="宋体" panose="02010600030101010101" pitchFamily="2" charset="-122"/>
              </a:endParaRPr>
            </a:p>
          </p:txBody>
        </p:sp>
        <p:sp>
          <p:nvSpPr>
            <p:cNvPr id="36871" name="Rectangle 33"/>
            <p:cNvSpPr>
              <a:spLocks noChangeArrowheads="1"/>
            </p:cNvSpPr>
            <p:nvPr/>
          </p:nvSpPr>
          <p:spPr bwMode="auto">
            <a:xfrm>
              <a:off x="1865040" y="5370860"/>
              <a:ext cx="482600" cy="45561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zh-CN" sz="2400" baseline="-25000">
                <a:solidFill>
                  <a:srgbClr val="0000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6872" name="Rectangle 34"/>
            <p:cNvSpPr>
              <a:spLocks noChangeArrowheads="1"/>
            </p:cNvSpPr>
            <p:nvPr/>
          </p:nvSpPr>
          <p:spPr bwMode="auto">
            <a:xfrm>
              <a:off x="2347640" y="4915247"/>
              <a:ext cx="508000" cy="455613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zh-CN" sz="2400">
                <a:ea typeface="宋体" panose="02010600030101010101" pitchFamily="2" charset="-122"/>
              </a:endParaRPr>
            </a:p>
          </p:txBody>
        </p:sp>
        <p:sp>
          <p:nvSpPr>
            <p:cNvPr id="36873" name="Rectangle 35"/>
            <p:cNvSpPr>
              <a:spLocks noChangeArrowheads="1"/>
            </p:cNvSpPr>
            <p:nvPr/>
          </p:nvSpPr>
          <p:spPr bwMode="auto">
            <a:xfrm>
              <a:off x="1865040" y="4915247"/>
              <a:ext cx="482600" cy="455613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zh-CN" sz="2400" baseline="-25000">
                <a:solidFill>
                  <a:srgbClr val="0000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6874" name="Rectangle 36"/>
            <p:cNvSpPr>
              <a:spLocks noChangeArrowheads="1"/>
            </p:cNvSpPr>
            <p:nvPr/>
          </p:nvSpPr>
          <p:spPr bwMode="auto">
            <a:xfrm>
              <a:off x="2347640" y="4459635"/>
              <a:ext cx="508000" cy="45561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zh-CN" sz="2400">
                <a:ea typeface="宋体" panose="02010600030101010101" pitchFamily="2" charset="-122"/>
              </a:endParaRPr>
            </a:p>
          </p:txBody>
        </p:sp>
        <p:sp>
          <p:nvSpPr>
            <p:cNvPr id="36875" name="Rectangle 37"/>
            <p:cNvSpPr>
              <a:spLocks noChangeArrowheads="1"/>
            </p:cNvSpPr>
            <p:nvPr/>
          </p:nvSpPr>
          <p:spPr bwMode="auto">
            <a:xfrm>
              <a:off x="1865040" y="4459635"/>
              <a:ext cx="482600" cy="455612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zh-CN" sz="2400" baseline="-25000">
                <a:solidFill>
                  <a:srgbClr val="0000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6876" name="Rectangle 38"/>
            <p:cNvSpPr>
              <a:spLocks noChangeArrowheads="1"/>
            </p:cNvSpPr>
            <p:nvPr/>
          </p:nvSpPr>
          <p:spPr bwMode="auto">
            <a:xfrm>
              <a:off x="2347640" y="4004022"/>
              <a:ext cx="508000" cy="455613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zh-CN" sz="2400">
                <a:ea typeface="宋体" panose="02010600030101010101" pitchFamily="2" charset="-122"/>
              </a:endParaRPr>
            </a:p>
          </p:txBody>
        </p:sp>
        <p:sp>
          <p:nvSpPr>
            <p:cNvPr id="36877" name="Rectangle 39"/>
            <p:cNvSpPr>
              <a:spLocks noChangeArrowheads="1"/>
            </p:cNvSpPr>
            <p:nvPr/>
          </p:nvSpPr>
          <p:spPr bwMode="auto">
            <a:xfrm>
              <a:off x="1865040" y="4004022"/>
              <a:ext cx="482600" cy="455613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zh-CN" sz="2400" baseline="-25000">
                <a:solidFill>
                  <a:srgbClr val="0000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6878" name="Line 40"/>
            <p:cNvSpPr>
              <a:spLocks noChangeShapeType="1"/>
            </p:cNvSpPr>
            <p:nvPr/>
          </p:nvSpPr>
          <p:spPr bwMode="auto">
            <a:xfrm flipH="1">
              <a:off x="1836465" y="4004022"/>
              <a:ext cx="0" cy="1800225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9" name="Line 41"/>
            <p:cNvSpPr>
              <a:spLocks noChangeShapeType="1"/>
            </p:cNvSpPr>
            <p:nvPr/>
          </p:nvSpPr>
          <p:spPr bwMode="auto">
            <a:xfrm flipH="1">
              <a:off x="2339702" y="4004022"/>
              <a:ext cx="7938" cy="187325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0" name="Line 42"/>
            <p:cNvSpPr>
              <a:spLocks noChangeShapeType="1"/>
            </p:cNvSpPr>
            <p:nvPr/>
          </p:nvSpPr>
          <p:spPr bwMode="auto">
            <a:xfrm flipH="1">
              <a:off x="2844527" y="4004022"/>
              <a:ext cx="11113" cy="1800225"/>
            </a:xfrm>
            <a:prstGeom prst="line">
              <a:avLst/>
            </a:prstGeom>
            <a:noFill/>
            <a:ln w="12700" cap="sq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1" name="Line 43"/>
            <p:cNvSpPr>
              <a:spLocks noChangeShapeType="1"/>
            </p:cNvSpPr>
            <p:nvPr/>
          </p:nvSpPr>
          <p:spPr bwMode="auto">
            <a:xfrm>
              <a:off x="1865040" y="4004022"/>
              <a:ext cx="990600" cy="0"/>
            </a:xfrm>
            <a:prstGeom prst="line">
              <a:avLst/>
            </a:prstGeom>
            <a:noFill/>
            <a:ln w="12700" cap="sq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2" name="Line 44"/>
            <p:cNvSpPr>
              <a:spLocks noChangeShapeType="1"/>
            </p:cNvSpPr>
            <p:nvPr/>
          </p:nvSpPr>
          <p:spPr bwMode="auto">
            <a:xfrm>
              <a:off x="1865040" y="4459635"/>
              <a:ext cx="990600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3" name="Line 45"/>
            <p:cNvSpPr>
              <a:spLocks noChangeShapeType="1"/>
            </p:cNvSpPr>
            <p:nvPr/>
          </p:nvSpPr>
          <p:spPr bwMode="auto">
            <a:xfrm>
              <a:off x="1865040" y="4915247"/>
              <a:ext cx="990600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4" name="Line 46"/>
            <p:cNvSpPr>
              <a:spLocks noChangeShapeType="1"/>
            </p:cNvSpPr>
            <p:nvPr/>
          </p:nvSpPr>
          <p:spPr bwMode="auto">
            <a:xfrm>
              <a:off x="1865040" y="5370860"/>
              <a:ext cx="990600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5" name="Line 47"/>
            <p:cNvSpPr>
              <a:spLocks noChangeShapeType="1"/>
            </p:cNvSpPr>
            <p:nvPr/>
          </p:nvSpPr>
          <p:spPr bwMode="auto">
            <a:xfrm>
              <a:off x="1865040" y="5826472"/>
              <a:ext cx="990600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40" name="Group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6104727"/>
              </p:ext>
            </p:extLst>
          </p:nvPr>
        </p:nvGraphicFramePr>
        <p:xfrm>
          <a:off x="4067944" y="1358231"/>
          <a:ext cx="533400" cy="1828800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56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6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itchFamily="49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6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itchFamily="49" charset="-122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6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itchFamily="49" charset="-122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1" name="Line 67"/>
          <p:cNvSpPr>
            <a:spLocks noChangeShapeType="1"/>
          </p:cNvSpPr>
          <p:nvPr/>
        </p:nvSpPr>
        <p:spPr bwMode="auto">
          <a:xfrm>
            <a:off x="5439544" y="1578893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" name="Line 68"/>
          <p:cNvSpPr>
            <a:spLocks noChangeShapeType="1"/>
          </p:cNvSpPr>
          <p:nvPr/>
        </p:nvSpPr>
        <p:spPr bwMode="auto">
          <a:xfrm>
            <a:off x="5439544" y="2950493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931" name="Line 109"/>
          <p:cNvSpPr>
            <a:spLocks noChangeShapeType="1"/>
          </p:cNvSpPr>
          <p:nvPr/>
        </p:nvSpPr>
        <p:spPr bwMode="auto">
          <a:xfrm>
            <a:off x="5436369" y="2523456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11" name="Group 2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6890295"/>
              </p:ext>
            </p:extLst>
          </p:nvPr>
        </p:nvGraphicFramePr>
        <p:xfrm>
          <a:off x="4575944" y="1358231"/>
          <a:ext cx="482600" cy="1828800"/>
        </p:xfrm>
        <a:graphic>
          <a:graphicData uri="http://schemas.openxmlformats.org/drawingml/2006/table">
            <a:tbl>
              <a:tblPr/>
              <a:tblGrid>
                <a:gridCol w="48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56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仿宋_GB2312" pitchFamily="49" charset="-122"/>
                        </a:rPr>
                        <a:t>A</a:t>
                      </a:r>
                      <a:endParaRPr kumimoji="1" lang="en-US" altLang="zh-CN" sz="2400" b="1" i="0" u="none" strike="noStrike" cap="none" normalizeH="0" baseline="-2500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仿宋_GB2312" pitchFamily="49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仿宋_GB2312" pitchFamily="49" charset="-122"/>
                        </a:rPr>
                        <a:t>B</a:t>
                      </a:r>
                      <a:endParaRPr kumimoji="1" lang="en-US" altLang="zh-CN" sz="2400" b="1" i="0" u="none" strike="noStrike" cap="none" normalizeH="0" baseline="-2500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仿宋_GB2312" pitchFamily="49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仿宋_GB2312" pitchFamily="49" charset="-122"/>
                        </a:rPr>
                        <a:t>C</a:t>
                      </a:r>
                      <a:endParaRPr kumimoji="1" lang="en-US" altLang="zh-CN" sz="2400" b="1" i="0" u="none" strike="noStrike" cap="none" normalizeH="0" baseline="-2500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仿宋_GB2312" pitchFamily="49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仿宋_GB2312" pitchFamily="49" charset="-122"/>
                        </a:rPr>
                        <a:t>D</a:t>
                      </a:r>
                      <a:endParaRPr kumimoji="1" lang="en-US" altLang="zh-CN" sz="2400" b="1" i="0" u="none" strike="noStrike" cap="none" normalizeH="0" baseline="-2500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仿宋_GB2312" pitchFamily="49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910" name="Line 316"/>
          <p:cNvSpPr>
            <a:spLocks noChangeShapeType="1"/>
          </p:cNvSpPr>
          <p:nvPr/>
        </p:nvSpPr>
        <p:spPr bwMode="auto">
          <a:xfrm>
            <a:off x="5436369" y="2091656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" name="TextBox 28"/>
          <p:cNvSpPr txBox="1">
            <a:spLocks noChangeArrowheads="1"/>
          </p:cNvSpPr>
          <p:nvPr/>
        </p:nvSpPr>
        <p:spPr bwMode="auto">
          <a:xfrm>
            <a:off x="683568" y="4170515"/>
            <a:ext cx="3313112" cy="16319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FF0000"/>
                </a:solidFill>
                <a:latin typeface="Cambria Math" panose="02040503050406030204" pitchFamily="18" charset="0"/>
                <a:ea typeface="宋体" panose="02010600030101010101" pitchFamily="2" charset="-122"/>
              </a:rPr>
              <a:t>//</a:t>
            </a:r>
            <a:r>
              <a:rPr lang="zh-CN" altLang="en-US" sz="2000" dirty="0">
                <a:solidFill>
                  <a:srgbClr val="FF0000"/>
                </a:solidFill>
                <a:latin typeface="Cambria Math" panose="02040503050406030204" pitchFamily="18" charset="0"/>
                <a:ea typeface="宋体" panose="02010600030101010101" pitchFamily="2" charset="-122"/>
              </a:rPr>
              <a:t>表头结点</a:t>
            </a:r>
            <a:endParaRPr lang="en-US" altLang="zh-CN" sz="2000" dirty="0">
              <a:solidFill>
                <a:srgbClr val="FF0000"/>
              </a:solidFill>
              <a:latin typeface="Cambria Math" panose="02040503050406030204" pitchFamily="18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dirty="0" err="1">
                <a:latin typeface="Cambria Math" panose="02040503050406030204" pitchFamily="18" charset="0"/>
                <a:ea typeface="宋体" panose="02010600030101010101" pitchFamily="2" charset="-122"/>
              </a:rPr>
              <a:t>typedef</a:t>
            </a: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Cambria Math" panose="02040503050406030204" pitchFamily="18" charset="0"/>
                <a:ea typeface="宋体" panose="02010600030101010101" pitchFamily="2" charset="-122"/>
              </a:rPr>
              <a:t>struct</a:t>
            </a: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Cambria Math" panose="02040503050406030204" pitchFamily="18" charset="0"/>
                <a:ea typeface="宋体" panose="02010600030101010101" pitchFamily="2" charset="-122"/>
              </a:rPr>
              <a:t>VNode</a:t>
            </a: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</a:rPr>
              <a:t>{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</a:rPr>
              <a:t>    </a:t>
            </a:r>
            <a:r>
              <a:rPr lang="en-US" altLang="zh-CN" sz="2000" b="1" dirty="0" err="1">
                <a:solidFill>
                  <a:srgbClr val="FF0000"/>
                </a:solidFill>
                <a:latin typeface="Cambria Math" panose="02040503050406030204" pitchFamily="18" charset="0"/>
                <a:ea typeface="宋体" panose="02010600030101010101" pitchFamily="2" charset="-122"/>
              </a:rPr>
              <a:t>VertexType</a:t>
            </a: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</a:rPr>
              <a:t> data;   </a:t>
            </a:r>
            <a:endParaRPr lang="zh-CN" altLang="en-US" sz="2000" dirty="0">
              <a:latin typeface="Cambria Math" panose="02040503050406030204" pitchFamily="18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latin typeface="Cambria Math" panose="02040503050406030204" pitchFamily="18" charset="0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Cambria Math" panose="02040503050406030204" pitchFamily="18" charset="0"/>
                <a:ea typeface="宋体" panose="02010600030101010101" pitchFamily="2" charset="-122"/>
              </a:rPr>
              <a:t>ArcNode</a:t>
            </a: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</a:rPr>
              <a:t> * </a:t>
            </a:r>
            <a:r>
              <a:rPr lang="en-US" altLang="zh-CN" sz="2000" dirty="0" err="1">
                <a:latin typeface="Cambria Math" panose="02040503050406030204" pitchFamily="18" charset="0"/>
                <a:ea typeface="宋体" panose="02010600030101010101" pitchFamily="2" charset="-122"/>
              </a:rPr>
              <a:t>firstarc</a:t>
            </a: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</a:rPr>
              <a:t>;    </a:t>
            </a:r>
            <a:endParaRPr lang="zh-CN" altLang="en-US" sz="2000" dirty="0">
              <a:latin typeface="Cambria Math" panose="02040503050406030204" pitchFamily="18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</a:rPr>
              <a:t>}</a:t>
            </a:r>
            <a:r>
              <a:rPr lang="en-US" altLang="zh-CN" sz="2000" dirty="0" err="1">
                <a:latin typeface="Cambria Math" panose="02040503050406030204" pitchFamily="18" charset="0"/>
                <a:ea typeface="宋体" panose="02010600030101010101" pitchFamily="2" charset="-122"/>
              </a:rPr>
              <a:t>VNode</a:t>
            </a: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</a:rPr>
              <a:t>;  </a:t>
            </a:r>
            <a:endParaRPr lang="zh-CN" altLang="en-US" sz="2000" dirty="0">
              <a:latin typeface="Cambria Math" panose="020405030504060302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86" name="Group 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1329226"/>
              </p:ext>
            </p:extLst>
          </p:nvPr>
        </p:nvGraphicFramePr>
        <p:xfrm>
          <a:off x="5652393" y="4194299"/>
          <a:ext cx="2540000" cy="517690"/>
        </p:xfrm>
        <a:graphic>
          <a:graphicData uri="http://schemas.openxmlformats.org/drawingml/2006/table">
            <a:tbl>
              <a:tblPr/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仿宋_GB2312" pitchFamily="49" charset="-122"/>
                        </a:rPr>
                        <a:t>data</a:t>
                      </a:r>
                    </a:p>
                  </a:txBody>
                  <a:tcPr marT="45485" marB="4548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仿宋_GB2312" pitchFamily="49" charset="-122"/>
                        </a:rPr>
                        <a:t>firstarc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仿宋_GB2312" pitchFamily="49" charset="-122"/>
                      </a:endParaRPr>
                    </a:p>
                  </a:txBody>
                  <a:tcPr marT="45485" marB="4548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7" name="Rectangle 68"/>
          <p:cNvSpPr>
            <a:spLocks noChangeArrowheads="1"/>
          </p:cNvSpPr>
          <p:nvPr/>
        </p:nvSpPr>
        <p:spPr bwMode="auto">
          <a:xfrm>
            <a:off x="6185793" y="3645024"/>
            <a:ext cx="158432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楷体_GB2312" pitchFamily="49" charset="-122"/>
              </a:rPr>
              <a:t>表头结点</a:t>
            </a:r>
          </a:p>
        </p:txBody>
      </p:sp>
      <p:sp>
        <p:nvSpPr>
          <p:cNvPr id="88" name="AutoShape 72"/>
          <p:cNvSpPr>
            <a:spLocks noChangeArrowheads="1"/>
          </p:cNvSpPr>
          <p:nvPr/>
        </p:nvSpPr>
        <p:spPr bwMode="auto">
          <a:xfrm>
            <a:off x="4931668" y="5169024"/>
            <a:ext cx="1965325" cy="990600"/>
          </a:xfrm>
          <a:prstGeom prst="wedgeRectCallout">
            <a:avLst>
              <a:gd name="adj1" fmla="val 21042"/>
              <a:gd name="adj2" fmla="val -89102"/>
            </a:avLst>
          </a:prstGeom>
          <a:solidFill>
            <a:srgbClr val="00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1" dirty="0">
                <a:solidFill>
                  <a:schemeClr val="hlink"/>
                </a:solidFill>
                <a:ea typeface="宋体" panose="02010600030101010101" pitchFamily="2" charset="-122"/>
              </a:rPr>
              <a:t>数据域</a:t>
            </a:r>
            <a:r>
              <a:rPr lang="en-US" altLang="zh-CN" sz="2000" b="1" dirty="0">
                <a:solidFill>
                  <a:schemeClr val="hlink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000" b="1" dirty="0" err="1">
                <a:solidFill>
                  <a:schemeClr val="hlink"/>
                </a:solidFill>
                <a:ea typeface="宋体" panose="02010600030101010101" pitchFamily="2" charset="-122"/>
              </a:rPr>
              <a:t>VertexType</a:t>
            </a:r>
            <a:r>
              <a:rPr lang="en-US" altLang="zh-CN" sz="2000" b="1" dirty="0">
                <a:solidFill>
                  <a:schemeClr val="hlink"/>
                </a:solidFill>
                <a:ea typeface="宋体" panose="02010600030101010101" pitchFamily="2" charset="-122"/>
              </a:rPr>
              <a:t>)</a:t>
            </a:r>
            <a:r>
              <a:rPr lang="zh-CN" altLang="en-US" sz="2000" dirty="0">
                <a:solidFill>
                  <a:schemeClr val="bg1"/>
                </a:solidFill>
                <a:ea typeface="宋体" panose="02010600030101010101" pitchFamily="2" charset="-122"/>
              </a:rPr>
              <a:t>，</a:t>
            </a:r>
            <a:r>
              <a:rPr lang="zh-CN" altLang="en-US" sz="2000" dirty="0">
                <a:ea typeface="宋体" panose="02010600030101010101" pitchFamily="2" charset="-122"/>
              </a:rPr>
              <a:t>存储顶点</a:t>
            </a:r>
            <a:r>
              <a:rPr lang="en-US" altLang="zh-CN" sz="2000" dirty="0">
                <a:ea typeface="宋体" panose="02010600030101010101" pitchFamily="2" charset="-122"/>
              </a:rPr>
              <a:t>v</a:t>
            </a:r>
            <a:r>
              <a:rPr lang="en-US" altLang="zh-CN" sz="2000" baseline="-25000" dirty="0"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ea typeface="宋体" panose="02010600030101010101" pitchFamily="2" charset="-122"/>
              </a:rPr>
              <a:t> </a:t>
            </a:r>
            <a:r>
              <a:rPr lang="zh-CN" altLang="en-US" sz="2000" b="1" dirty="0">
                <a:solidFill>
                  <a:srgbClr val="FFFFCC"/>
                </a:solidFill>
                <a:ea typeface="宋体" panose="02010600030101010101" pitchFamily="2" charset="-122"/>
              </a:rPr>
              <a:t>信息</a:t>
            </a:r>
          </a:p>
        </p:txBody>
      </p:sp>
      <p:sp>
        <p:nvSpPr>
          <p:cNvPr id="89" name="AutoShape 73"/>
          <p:cNvSpPr>
            <a:spLocks noChangeArrowheads="1"/>
          </p:cNvSpPr>
          <p:nvPr/>
        </p:nvSpPr>
        <p:spPr bwMode="auto">
          <a:xfrm>
            <a:off x="7125593" y="5169024"/>
            <a:ext cx="1766887" cy="990600"/>
          </a:xfrm>
          <a:prstGeom prst="wedgeRectCallout">
            <a:avLst>
              <a:gd name="adj1" fmla="val -23435"/>
              <a:gd name="adj2" fmla="val -90356"/>
            </a:avLst>
          </a:prstGeom>
          <a:solidFill>
            <a:srgbClr val="00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1" dirty="0">
                <a:solidFill>
                  <a:schemeClr val="hlink"/>
                </a:solidFill>
                <a:ea typeface="宋体" panose="02010600030101010101" pitchFamily="2" charset="-122"/>
              </a:rPr>
              <a:t>链域</a:t>
            </a:r>
            <a:r>
              <a:rPr lang="en-US" altLang="zh-CN" sz="2000" b="1" dirty="0">
                <a:ea typeface="宋体" panose="02010600030101010101" pitchFamily="2" charset="-122"/>
              </a:rPr>
              <a:t>(</a:t>
            </a:r>
            <a:r>
              <a:rPr lang="zh-CN" altLang="en-US" sz="2000" b="1" dirty="0">
                <a:ea typeface="宋体" panose="02010600030101010101" pitchFamily="2" charset="-122"/>
              </a:rPr>
              <a:t>指针</a:t>
            </a:r>
            <a:r>
              <a:rPr lang="en-US" altLang="zh-CN" sz="2000" b="1" dirty="0">
                <a:ea typeface="宋体" panose="02010600030101010101" pitchFamily="2" charset="-122"/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指向单链表的第一个结点</a:t>
            </a:r>
          </a:p>
        </p:txBody>
      </p:sp>
    </p:spTree>
    <p:extLst>
      <p:ext uri="{BB962C8B-B14F-4D97-AF65-F5344CB8AC3E}">
        <p14:creationId xmlns:p14="http://schemas.microsoft.com/office/powerpoint/2010/main" val="931943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36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6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2" grpId="0" animBg="1"/>
      <p:bldP spid="36931" grpId="0" animBg="1"/>
      <p:bldP spid="36910" grpId="0" animBg="1"/>
      <p:bldP spid="84" grpId="0" animBg="1"/>
      <p:bldP spid="87" grpId="0"/>
      <p:bldP spid="88" grpId="0" animBg="1"/>
      <p:bldP spid="8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latin typeface="+mn-ea"/>
              </a:rPr>
              <a:t>邻接表</a:t>
            </a:r>
            <a:endParaRPr lang="zh-CN" altLang="en-US" dirty="0"/>
          </a:p>
        </p:txBody>
      </p:sp>
      <p:sp>
        <p:nvSpPr>
          <p:cNvPr id="33795" name="内容占位符 2"/>
          <p:cNvSpPr>
            <a:spLocks noGrp="1"/>
          </p:cNvSpPr>
          <p:nvPr>
            <p:ph idx="1"/>
          </p:nvPr>
        </p:nvSpPr>
        <p:spPr>
          <a:xfrm>
            <a:off x="468313" y="1125538"/>
            <a:ext cx="8207375" cy="23034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/>
              <a:t>边表用链式存储，假设边无权值，则</a:t>
            </a:r>
            <a:endParaRPr lang="en-US" altLang="zh-CN" dirty="0"/>
          </a:p>
          <a:p>
            <a:pPr>
              <a:lnSpc>
                <a:spcPct val="90000"/>
              </a:lnSpc>
            </a:pPr>
            <a:r>
              <a:rPr lang="zh-CN" altLang="en-US" dirty="0"/>
              <a:t>边表结点包括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zh-CN" altLang="en-US" dirty="0"/>
              <a:t>邻接点域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zh-CN" altLang="en-US" dirty="0"/>
              <a:t>链域</a:t>
            </a:r>
          </a:p>
        </p:txBody>
      </p:sp>
      <p:sp>
        <p:nvSpPr>
          <p:cNvPr id="3379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6082323-3E43-46D0-A9A7-CEF0955270D3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30</a:t>
            </a:fld>
            <a:endParaRPr lang="zh-CN" altLang="en-US" sz="1000"/>
          </a:p>
        </p:txBody>
      </p:sp>
      <p:sp>
        <p:nvSpPr>
          <p:cNvPr id="33811" name="TextBox 30"/>
          <p:cNvSpPr txBox="1">
            <a:spLocks noChangeArrowheads="1"/>
          </p:cNvSpPr>
          <p:nvPr/>
        </p:nvSpPr>
        <p:spPr bwMode="auto">
          <a:xfrm>
            <a:off x="5599327" y="1843112"/>
            <a:ext cx="3168650" cy="190821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FF3300"/>
                </a:solidFill>
                <a:latin typeface="Cambria Math" panose="02040503050406030204" pitchFamily="18" charset="0"/>
                <a:ea typeface="宋体" panose="02010600030101010101" pitchFamily="2" charset="-122"/>
              </a:rPr>
              <a:t>//</a:t>
            </a:r>
            <a:r>
              <a:rPr lang="zh-CN" altLang="en-US" sz="2000" dirty="0">
                <a:solidFill>
                  <a:srgbClr val="FF3300"/>
                </a:solidFill>
                <a:latin typeface="Cambria Math" panose="02040503050406030204" pitchFamily="18" charset="0"/>
                <a:ea typeface="宋体" panose="02010600030101010101" pitchFamily="2" charset="-122"/>
              </a:rPr>
              <a:t>边结点</a:t>
            </a:r>
            <a:endParaRPr lang="en-US" altLang="zh-CN" sz="2000" dirty="0">
              <a:latin typeface="Cambria Math" panose="02040503050406030204" pitchFamily="18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dirty="0" err="1">
                <a:latin typeface="Cambria Math" panose="02040503050406030204" pitchFamily="18" charset="0"/>
                <a:ea typeface="宋体" panose="02010600030101010101" pitchFamily="2" charset="-122"/>
              </a:rPr>
              <a:t>typedef</a:t>
            </a: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Cambria Math" panose="02040503050406030204" pitchFamily="18" charset="0"/>
                <a:ea typeface="宋体" panose="02010600030101010101" pitchFamily="2" charset="-122"/>
              </a:rPr>
              <a:t>struct</a:t>
            </a: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Cambria Math" panose="02040503050406030204" pitchFamily="18" charset="0"/>
                <a:ea typeface="宋体" panose="02010600030101010101" pitchFamily="2" charset="-122"/>
              </a:rPr>
              <a:t>ArcNode</a:t>
            </a: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</a:rPr>
              <a:t>{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Cambria Math" panose="02040503050406030204" pitchFamily="18" charset="0"/>
                <a:ea typeface="宋体" panose="02010600030101010101" pitchFamily="2" charset="-122"/>
              </a:rPr>
              <a:t>    </a:t>
            </a:r>
            <a:r>
              <a:rPr lang="en-US" altLang="zh-CN" sz="2000" b="1" dirty="0" err="1">
                <a:solidFill>
                  <a:srgbClr val="FF0000"/>
                </a:solidFill>
                <a:latin typeface="Cambria Math" panose="02040503050406030204" pitchFamily="18" charset="0"/>
                <a:ea typeface="宋体" panose="02010600030101010101" pitchFamily="2" charset="-122"/>
              </a:rPr>
              <a:t>int</a:t>
            </a:r>
            <a:r>
              <a:rPr lang="en-US" altLang="zh-CN" sz="2000" b="1" dirty="0">
                <a:solidFill>
                  <a:srgbClr val="FF0000"/>
                </a:solidFill>
                <a:latin typeface="Cambria Math" panose="020405030504060302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Cambria Math" panose="02040503050406030204" pitchFamily="18" charset="0"/>
                <a:ea typeface="宋体" panose="02010600030101010101" pitchFamily="2" charset="-122"/>
              </a:rPr>
              <a:t>adjvex</a:t>
            </a: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</a:rPr>
              <a:t>;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Cambria Math" panose="02040503050406030204" pitchFamily="18" charset="0"/>
                <a:ea typeface="宋体" panose="02010600030101010101" pitchFamily="2" charset="-122"/>
              </a:rPr>
              <a:t>struct</a:t>
            </a: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Cambria Math" panose="02040503050406030204" pitchFamily="18" charset="0"/>
                <a:ea typeface="宋体" panose="02010600030101010101" pitchFamily="2" charset="-122"/>
              </a:rPr>
              <a:t>ArcNode</a:t>
            </a: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</a:rPr>
              <a:t> * </a:t>
            </a:r>
            <a:r>
              <a:rPr lang="en-US" altLang="zh-CN" sz="2000" dirty="0" err="1">
                <a:latin typeface="Cambria Math" panose="02040503050406030204" pitchFamily="18" charset="0"/>
                <a:ea typeface="宋体" panose="02010600030101010101" pitchFamily="2" charset="-122"/>
              </a:rPr>
              <a:t>nextarc</a:t>
            </a: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</a:rPr>
              <a:t>;</a:t>
            </a:r>
            <a:endParaRPr lang="zh-CN" altLang="en-US" sz="2000" dirty="0">
              <a:latin typeface="Cambria Math" panose="02040503050406030204" pitchFamily="18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</a:rPr>
              <a:t>}</a:t>
            </a:r>
            <a:r>
              <a:rPr lang="en-US" altLang="zh-CN" sz="2000" dirty="0" err="1">
                <a:latin typeface="Cambria Math" panose="02040503050406030204" pitchFamily="18" charset="0"/>
                <a:ea typeface="宋体" panose="02010600030101010101" pitchFamily="2" charset="-122"/>
              </a:rPr>
              <a:t>ArcNode</a:t>
            </a: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</a:rPr>
              <a:t>;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ea typeface="宋体" panose="02010600030101010101" pitchFamily="2" charset="-122"/>
            </a:endParaRPr>
          </a:p>
        </p:txBody>
      </p:sp>
      <p:graphicFrame>
        <p:nvGraphicFramePr>
          <p:cNvPr id="12" name="Group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6699141"/>
              </p:ext>
            </p:extLst>
          </p:nvPr>
        </p:nvGraphicFramePr>
        <p:xfrm>
          <a:off x="933128" y="3890392"/>
          <a:ext cx="2540000" cy="517690"/>
        </p:xfrm>
        <a:graphic>
          <a:graphicData uri="http://schemas.openxmlformats.org/drawingml/2006/table">
            <a:tbl>
              <a:tblPr/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仿宋_GB2312" pitchFamily="49" charset="-122"/>
                        </a:rPr>
                        <a:t>adjvex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仿宋_GB2312" pitchFamily="49" charset="-122"/>
                      </a:endParaRPr>
                    </a:p>
                  </a:txBody>
                  <a:tcPr marT="45485" marB="4548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仿宋_GB2312" pitchFamily="49" charset="-122"/>
                        </a:rPr>
                        <a:t>nextarc</a:t>
                      </a:r>
                      <a:endParaRPr kumimoji="1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仿宋_GB2312" pitchFamily="49" charset="-122"/>
                      </a:endParaRPr>
                    </a:p>
                  </a:txBody>
                  <a:tcPr marT="45485" marB="4548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Rectangle 67"/>
          <p:cNvSpPr>
            <a:spLocks noChangeArrowheads="1"/>
          </p:cNvSpPr>
          <p:nvPr/>
        </p:nvSpPr>
        <p:spPr bwMode="auto">
          <a:xfrm>
            <a:off x="1507803" y="3356992"/>
            <a:ext cx="1219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4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楷体_GB2312" pitchFamily="49" charset="-122"/>
              </a:rPr>
              <a:t>边结点</a:t>
            </a:r>
          </a:p>
        </p:txBody>
      </p:sp>
      <p:sp>
        <p:nvSpPr>
          <p:cNvPr id="14" name="AutoShape 69"/>
          <p:cNvSpPr>
            <a:spLocks noChangeArrowheads="1"/>
          </p:cNvSpPr>
          <p:nvPr/>
        </p:nvSpPr>
        <p:spPr bwMode="auto">
          <a:xfrm>
            <a:off x="323528" y="4880992"/>
            <a:ext cx="1752600" cy="990600"/>
          </a:xfrm>
          <a:prstGeom prst="wedgeRectCallout">
            <a:avLst>
              <a:gd name="adj1" fmla="val 14109"/>
              <a:gd name="adj2" fmla="val -92663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1">
                <a:solidFill>
                  <a:schemeClr val="hlink"/>
                </a:solidFill>
                <a:ea typeface="宋体" panose="02010600030101010101" pitchFamily="2" charset="-122"/>
              </a:rPr>
              <a:t>邻接点域</a:t>
            </a:r>
            <a:r>
              <a:rPr lang="zh-CN" altLang="en-US" sz="2000">
                <a:solidFill>
                  <a:schemeClr val="bg1"/>
                </a:solidFill>
                <a:ea typeface="宋体" panose="02010600030101010101" pitchFamily="2" charset="-122"/>
              </a:rPr>
              <a:t>，</a:t>
            </a:r>
            <a:r>
              <a:rPr lang="zh-CN" altLang="en-US" sz="2000">
                <a:ea typeface="宋体" panose="02010600030101010101" pitchFamily="2" charset="-122"/>
              </a:rPr>
              <a:t>表示</a:t>
            </a:r>
            <a:r>
              <a:rPr lang="en-US" altLang="zh-CN" sz="2000">
                <a:ea typeface="宋体" panose="02010600030101010101" pitchFamily="2" charset="-122"/>
              </a:rPr>
              <a:t>v</a:t>
            </a:r>
            <a:r>
              <a:rPr lang="en-US" altLang="zh-CN" sz="2000" baseline="-25000">
                <a:ea typeface="宋体" panose="02010600030101010101" pitchFamily="2" charset="-122"/>
              </a:rPr>
              <a:t>i</a:t>
            </a:r>
            <a:r>
              <a:rPr lang="zh-CN" altLang="en-US" sz="2000">
                <a:ea typeface="宋体" panose="02010600030101010101" pitchFamily="2" charset="-122"/>
              </a:rPr>
              <a:t>一个邻接点的</a:t>
            </a:r>
            <a:r>
              <a:rPr lang="zh-CN" altLang="en-US" sz="2000" b="1">
                <a:solidFill>
                  <a:srgbClr val="FF0000"/>
                </a:solidFill>
                <a:ea typeface="宋体" panose="02010600030101010101" pitchFamily="2" charset="-122"/>
              </a:rPr>
              <a:t>位置</a:t>
            </a:r>
          </a:p>
        </p:txBody>
      </p:sp>
      <p:sp>
        <p:nvSpPr>
          <p:cNvPr id="15" name="AutoShape 70"/>
          <p:cNvSpPr>
            <a:spLocks noChangeArrowheads="1"/>
          </p:cNvSpPr>
          <p:nvPr/>
        </p:nvSpPr>
        <p:spPr bwMode="auto">
          <a:xfrm>
            <a:off x="2304728" y="4880992"/>
            <a:ext cx="1524000" cy="990600"/>
          </a:xfrm>
          <a:prstGeom prst="wedgeRectCallout">
            <a:avLst>
              <a:gd name="adj1" fmla="val -25385"/>
              <a:gd name="adj2" fmla="val -93235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1">
                <a:solidFill>
                  <a:schemeClr val="hlink"/>
                </a:solidFill>
                <a:ea typeface="宋体" panose="02010600030101010101" pitchFamily="2" charset="-122"/>
              </a:rPr>
              <a:t>链域</a:t>
            </a:r>
            <a:r>
              <a:rPr lang="zh-CN" altLang="en-US" sz="2000">
                <a:solidFill>
                  <a:schemeClr val="bg1"/>
                </a:solidFill>
                <a:ea typeface="宋体" panose="02010600030101010101" pitchFamily="2" charset="-122"/>
              </a:rPr>
              <a:t>，</a:t>
            </a:r>
            <a:r>
              <a:rPr lang="zh-CN" altLang="en-US" sz="2000">
                <a:ea typeface="宋体" panose="02010600030101010101" pitchFamily="2" charset="-122"/>
              </a:rPr>
              <a:t>指向</a:t>
            </a:r>
            <a:r>
              <a:rPr lang="en-US" altLang="zh-CN" sz="2000">
                <a:ea typeface="宋体" panose="02010600030101010101" pitchFamily="2" charset="-122"/>
              </a:rPr>
              <a:t>v</a:t>
            </a:r>
            <a:r>
              <a:rPr lang="en-US" altLang="zh-CN" sz="2000" baseline="-25000">
                <a:ea typeface="宋体" panose="02010600030101010101" pitchFamily="2" charset="-122"/>
              </a:rPr>
              <a:t>i</a:t>
            </a:r>
            <a:r>
              <a:rPr lang="zh-CN" altLang="en-US" sz="2000">
                <a:ea typeface="宋体" panose="02010600030101010101" pitchFamily="2" charset="-122"/>
              </a:rPr>
              <a:t>下一个边或弧的结点</a:t>
            </a:r>
          </a:p>
        </p:txBody>
      </p:sp>
      <p:grpSp>
        <p:nvGrpSpPr>
          <p:cNvPr id="41" name="组合 1"/>
          <p:cNvGrpSpPr>
            <a:grpSpLocks/>
          </p:cNvGrpSpPr>
          <p:nvPr/>
        </p:nvGrpSpPr>
        <p:grpSpPr bwMode="auto">
          <a:xfrm>
            <a:off x="3323894" y="2218186"/>
            <a:ext cx="2036375" cy="1567085"/>
            <a:chOff x="2413000" y="4119910"/>
            <a:chExt cx="2276475" cy="1757362"/>
          </a:xfrm>
        </p:grpSpPr>
        <p:sp>
          <p:nvSpPr>
            <p:cNvPr id="42" name="Line 3"/>
            <p:cNvSpPr>
              <a:spLocks noChangeShapeType="1"/>
            </p:cNvSpPr>
            <p:nvPr/>
          </p:nvSpPr>
          <p:spPr bwMode="auto">
            <a:xfrm>
              <a:off x="2987675" y="4334222"/>
              <a:ext cx="1152525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" name="Line 6"/>
            <p:cNvSpPr>
              <a:spLocks noChangeShapeType="1"/>
            </p:cNvSpPr>
            <p:nvPr/>
          </p:nvSpPr>
          <p:spPr bwMode="auto">
            <a:xfrm>
              <a:off x="2700338" y="4694585"/>
              <a:ext cx="0" cy="70485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Line 9"/>
            <p:cNvSpPr>
              <a:spLocks noChangeShapeType="1"/>
            </p:cNvSpPr>
            <p:nvPr/>
          </p:nvSpPr>
          <p:spPr bwMode="auto">
            <a:xfrm flipV="1">
              <a:off x="2987675" y="5631210"/>
              <a:ext cx="1152525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Oval 10"/>
            <p:cNvSpPr>
              <a:spLocks noChangeArrowheads="1"/>
            </p:cNvSpPr>
            <p:nvPr/>
          </p:nvSpPr>
          <p:spPr bwMode="auto">
            <a:xfrm>
              <a:off x="2413000" y="4119910"/>
              <a:ext cx="574675" cy="533400"/>
            </a:xfrm>
            <a:prstGeom prst="ellips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kumimoji="1" lang="en-US" altLang="zh-CN" dirty="0">
                  <a:latin typeface="+mn-lt"/>
                </a:rPr>
                <a:t>A</a:t>
              </a:r>
            </a:p>
          </p:txBody>
        </p:sp>
        <p:sp>
          <p:nvSpPr>
            <p:cNvPr id="46" name="Oval 11"/>
            <p:cNvSpPr>
              <a:spLocks noChangeArrowheads="1"/>
            </p:cNvSpPr>
            <p:nvPr/>
          </p:nvSpPr>
          <p:spPr bwMode="auto">
            <a:xfrm>
              <a:off x="2484438" y="5399435"/>
              <a:ext cx="496887" cy="477837"/>
            </a:xfrm>
            <a:prstGeom prst="ellips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1800" dirty="0"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47" name="Oval 12"/>
            <p:cNvSpPr>
              <a:spLocks noChangeArrowheads="1"/>
            </p:cNvSpPr>
            <p:nvPr/>
          </p:nvSpPr>
          <p:spPr bwMode="auto">
            <a:xfrm>
              <a:off x="4141788" y="5343872"/>
              <a:ext cx="547687" cy="533400"/>
            </a:xfrm>
            <a:prstGeom prst="ellips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1800" dirty="0">
                  <a:ea typeface="宋体" panose="02010600030101010101" pitchFamily="2" charset="-122"/>
                </a:rPr>
                <a:t>D</a:t>
              </a:r>
            </a:p>
          </p:txBody>
        </p:sp>
        <p:sp>
          <p:nvSpPr>
            <p:cNvPr id="48" name="Oval 13"/>
            <p:cNvSpPr>
              <a:spLocks noChangeArrowheads="1"/>
            </p:cNvSpPr>
            <p:nvPr/>
          </p:nvSpPr>
          <p:spPr bwMode="auto">
            <a:xfrm>
              <a:off x="4141788" y="4119910"/>
              <a:ext cx="547687" cy="533400"/>
            </a:xfrm>
            <a:prstGeom prst="ellips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1800" dirty="0">
                  <a:ea typeface="宋体" panose="02010600030101010101" pitchFamily="2" charset="-122"/>
                </a:rPr>
                <a:t>B</a:t>
              </a:r>
            </a:p>
          </p:txBody>
        </p:sp>
      </p:grpSp>
      <p:sp>
        <p:nvSpPr>
          <p:cNvPr id="74" name="Rectangle 32"/>
          <p:cNvSpPr>
            <a:spLocks noChangeArrowheads="1"/>
          </p:cNvSpPr>
          <p:nvPr/>
        </p:nvSpPr>
        <p:spPr bwMode="auto">
          <a:xfrm>
            <a:off x="5371976" y="5730900"/>
            <a:ext cx="508000" cy="455612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zh-CN" sz="2400">
              <a:ea typeface="宋体" panose="02010600030101010101" pitchFamily="2" charset="-122"/>
            </a:endParaRPr>
          </a:p>
        </p:txBody>
      </p:sp>
      <p:sp>
        <p:nvSpPr>
          <p:cNvPr id="75" name="Rectangle 33"/>
          <p:cNvSpPr>
            <a:spLocks noChangeArrowheads="1"/>
          </p:cNvSpPr>
          <p:nvPr/>
        </p:nvSpPr>
        <p:spPr bwMode="auto">
          <a:xfrm>
            <a:off x="4889376" y="5730900"/>
            <a:ext cx="482600" cy="455612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zh-CN" sz="2400" baseline="-2500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76" name="Rectangle 34"/>
          <p:cNvSpPr>
            <a:spLocks noChangeArrowheads="1"/>
          </p:cNvSpPr>
          <p:nvPr/>
        </p:nvSpPr>
        <p:spPr bwMode="auto">
          <a:xfrm>
            <a:off x="5371976" y="5275287"/>
            <a:ext cx="508000" cy="4556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zh-CN" sz="2400">
              <a:ea typeface="宋体" panose="02010600030101010101" pitchFamily="2" charset="-122"/>
            </a:endParaRPr>
          </a:p>
        </p:txBody>
      </p:sp>
      <p:sp>
        <p:nvSpPr>
          <p:cNvPr id="77" name="Rectangle 35"/>
          <p:cNvSpPr>
            <a:spLocks noChangeArrowheads="1"/>
          </p:cNvSpPr>
          <p:nvPr/>
        </p:nvSpPr>
        <p:spPr bwMode="auto">
          <a:xfrm>
            <a:off x="4889376" y="5275287"/>
            <a:ext cx="482600" cy="4556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zh-CN" sz="2400" baseline="-2500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78" name="Rectangle 36"/>
          <p:cNvSpPr>
            <a:spLocks noChangeArrowheads="1"/>
          </p:cNvSpPr>
          <p:nvPr/>
        </p:nvSpPr>
        <p:spPr bwMode="auto">
          <a:xfrm>
            <a:off x="5371976" y="4819675"/>
            <a:ext cx="508000" cy="455612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zh-CN" sz="2400">
              <a:ea typeface="宋体" panose="02010600030101010101" pitchFamily="2" charset="-122"/>
            </a:endParaRPr>
          </a:p>
        </p:txBody>
      </p:sp>
      <p:sp>
        <p:nvSpPr>
          <p:cNvPr id="79" name="Rectangle 37"/>
          <p:cNvSpPr>
            <a:spLocks noChangeArrowheads="1"/>
          </p:cNvSpPr>
          <p:nvPr/>
        </p:nvSpPr>
        <p:spPr bwMode="auto">
          <a:xfrm>
            <a:off x="4889376" y="4819675"/>
            <a:ext cx="482600" cy="455612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zh-CN" sz="2400" baseline="-2500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80" name="Rectangle 38"/>
          <p:cNvSpPr>
            <a:spLocks noChangeArrowheads="1"/>
          </p:cNvSpPr>
          <p:nvPr/>
        </p:nvSpPr>
        <p:spPr bwMode="auto">
          <a:xfrm>
            <a:off x="5371976" y="4364062"/>
            <a:ext cx="508000" cy="4556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zh-CN" sz="2400">
              <a:ea typeface="宋体" panose="02010600030101010101" pitchFamily="2" charset="-122"/>
            </a:endParaRPr>
          </a:p>
        </p:txBody>
      </p:sp>
      <p:sp>
        <p:nvSpPr>
          <p:cNvPr id="81" name="Rectangle 39"/>
          <p:cNvSpPr>
            <a:spLocks noChangeArrowheads="1"/>
          </p:cNvSpPr>
          <p:nvPr/>
        </p:nvSpPr>
        <p:spPr bwMode="auto">
          <a:xfrm>
            <a:off x="4889376" y="4364062"/>
            <a:ext cx="482600" cy="4556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zh-CN" sz="2400" baseline="-2500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82" name="Line 40"/>
          <p:cNvSpPr>
            <a:spLocks noChangeShapeType="1"/>
          </p:cNvSpPr>
          <p:nvPr/>
        </p:nvSpPr>
        <p:spPr bwMode="auto">
          <a:xfrm flipH="1">
            <a:off x="4860801" y="4364062"/>
            <a:ext cx="0" cy="1800225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" name="Line 41"/>
          <p:cNvSpPr>
            <a:spLocks noChangeShapeType="1"/>
          </p:cNvSpPr>
          <p:nvPr/>
        </p:nvSpPr>
        <p:spPr bwMode="auto">
          <a:xfrm flipH="1">
            <a:off x="5364038" y="4364062"/>
            <a:ext cx="7938" cy="187325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" name="Line 42"/>
          <p:cNvSpPr>
            <a:spLocks noChangeShapeType="1"/>
          </p:cNvSpPr>
          <p:nvPr/>
        </p:nvSpPr>
        <p:spPr bwMode="auto">
          <a:xfrm flipH="1">
            <a:off x="5868863" y="4364062"/>
            <a:ext cx="11113" cy="1800225"/>
          </a:xfrm>
          <a:prstGeom prst="line">
            <a:avLst/>
          </a:prstGeom>
          <a:noFill/>
          <a:ln w="12700" cap="sq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" name="Line 43"/>
          <p:cNvSpPr>
            <a:spLocks noChangeShapeType="1"/>
          </p:cNvSpPr>
          <p:nvPr/>
        </p:nvSpPr>
        <p:spPr bwMode="auto">
          <a:xfrm>
            <a:off x="4889376" y="4364062"/>
            <a:ext cx="990600" cy="0"/>
          </a:xfrm>
          <a:prstGeom prst="line">
            <a:avLst/>
          </a:prstGeom>
          <a:noFill/>
          <a:ln w="12700" cap="sq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" name="Line 44"/>
          <p:cNvSpPr>
            <a:spLocks noChangeShapeType="1"/>
          </p:cNvSpPr>
          <p:nvPr/>
        </p:nvSpPr>
        <p:spPr bwMode="auto">
          <a:xfrm>
            <a:off x="4889376" y="4819675"/>
            <a:ext cx="9906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" name="Line 45"/>
          <p:cNvSpPr>
            <a:spLocks noChangeShapeType="1"/>
          </p:cNvSpPr>
          <p:nvPr/>
        </p:nvSpPr>
        <p:spPr bwMode="auto">
          <a:xfrm>
            <a:off x="4889376" y="5275287"/>
            <a:ext cx="9906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" name="Line 46"/>
          <p:cNvSpPr>
            <a:spLocks noChangeShapeType="1"/>
          </p:cNvSpPr>
          <p:nvPr/>
        </p:nvSpPr>
        <p:spPr bwMode="auto">
          <a:xfrm>
            <a:off x="4889376" y="5730900"/>
            <a:ext cx="9906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9" name="Group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2863596"/>
              </p:ext>
            </p:extLst>
          </p:nvPr>
        </p:nvGraphicFramePr>
        <p:xfrm>
          <a:off x="4355976" y="4381525"/>
          <a:ext cx="533400" cy="1828800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56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6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itchFamily="49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6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itchFamily="49" charset="-122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6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itchFamily="49" charset="-122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0" name="Line 67"/>
          <p:cNvSpPr>
            <a:spLocks noChangeShapeType="1"/>
          </p:cNvSpPr>
          <p:nvPr/>
        </p:nvSpPr>
        <p:spPr bwMode="auto">
          <a:xfrm>
            <a:off x="5727576" y="4602187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1" name="Line 68"/>
          <p:cNvSpPr>
            <a:spLocks noChangeShapeType="1"/>
          </p:cNvSpPr>
          <p:nvPr/>
        </p:nvSpPr>
        <p:spPr bwMode="auto">
          <a:xfrm>
            <a:off x="5727576" y="5973787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92" name="Group 72"/>
          <p:cNvGrpSpPr>
            <a:grpSpLocks/>
          </p:cNvGrpSpPr>
          <p:nvPr/>
        </p:nvGrpSpPr>
        <p:grpSpPr bwMode="auto">
          <a:xfrm>
            <a:off x="6260976" y="4435500"/>
            <a:ext cx="2133600" cy="395287"/>
            <a:chOff x="3168" y="816"/>
            <a:chExt cx="1344" cy="249"/>
          </a:xfrm>
        </p:grpSpPr>
        <p:sp>
          <p:nvSpPr>
            <p:cNvPr id="93" name="Rectangle 73"/>
            <p:cNvSpPr>
              <a:spLocks noChangeArrowheads="1"/>
            </p:cNvSpPr>
            <p:nvPr/>
          </p:nvSpPr>
          <p:spPr bwMode="auto">
            <a:xfrm>
              <a:off x="4224" y="816"/>
              <a:ext cx="288" cy="24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  <a:ea typeface="宋体" panose="02010600030101010101" pitchFamily="2" charset="-122"/>
                </a:rPr>
                <a:t>^</a:t>
              </a:r>
            </a:p>
          </p:txBody>
        </p:sp>
        <p:sp>
          <p:nvSpPr>
            <p:cNvPr id="94" name="Rectangle 74"/>
            <p:cNvSpPr>
              <a:spLocks noChangeArrowheads="1"/>
            </p:cNvSpPr>
            <p:nvPr/>
          </p:nvSpPr>
          <p:spPr bwMode="auto">
            <a:xfrm>
              <a:off x="3936" y="816"/>
              <a:ext cx="288" cy="24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95" name="Line 75"/>
            <p:cNvSpPr>
              <a:spLocks noChangeShapeType="1"/>
            </p:cNvSpPr>
            <p:nvPr/>
          </p:nvSpPr>
          <p:spPr bwMode="auto">
            <a:xfrm>
              <a:off x="3936" y="816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Line 76"/>
            <p:cNvSpPr>
              <a:spLocks noChangeShapeType="1"/>
            </p:cNvSpPr>
            <p:nvPr/>
          </p:nvSpPr>
          <p:spPr bwMode="auto">
            <a:xfrm>
              <a:off x="3936" y="1065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Line 77"/>
            <p:cNvSpPr>
              <a:spLocks noChangeShapeType="1"/>
            </p:cNvSpPr>
            <p:nvPr/>
          </p:nvSpPr>
          <p:spPr bwMode="auto">
            <a:xfrm>
              <a:off x="3936" y="816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Line 78"/>
            <p:cNvSpPr>
              <a:spLocks noChangeShapeType="1"/>
            </p:cNvSpPr>
            <p:nvPr/>
          </p:nvSpPr>
          <p:spPr bwMode="auto">
            <a:xfrm>
              <a:off x="4224" y="816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Line 79"/>
            <p:cNvSpPr>
              <a:spLocks noChangeShapeType="1"/>
            </p:cNvSpPr>
            <p:nvPr/>
          </p:nvSpPr>
          <p:spPr bwMode="auto">
            <a:xfrm>
              <a:off x="4512" y="816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Rectangle 80"/>
            <p:cNvSpPr>
              <a:spLocks noChangeArrowheads="1"/>
            </p:cNvSpPr>
            <p:nvPr/>
          </p:nvSpPr>
          <p:spPr bwMode="auto">
            <a:xfrm>
              <a:off x="3456" y="816"/>
              <a:ext cx="288" cy="24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zh-CN" sz="2000">
                <a:solidFill>
                  <a:srgbClr val="0000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1" name="Rectangle 81"/>
            <p:cNvSpPr>
              <a:spLocks noChangeArrowheads="1"/>
            </p:cNvSpPr>
            <p:nvPr/>
          </p:nvSpPr>
          <p:spPr bwMode="auto">
            <a:xfrm>
              <a:off x="3168" y="816"/>
              <a:ext cx="288" cy="24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02" name="Line 82"/>
            <p:cNvSpPr>
              <a:spLocks noChangeShapeType="1"/>
            </p:cNvSpPr>
            <p:nvPr/>
          </p:nvSpPr>
          <p:spPr bwMode="auto">
            <a:xfrm>
              <a:off x="3168" y="816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Line 83"/>
            <p:cNvSpPr>
              <a:spLocks noChangeShapeType="1"/>
            </p:cNvSpPr>
            <p:nvPr/>
          </p:nvSpPr>
          <p:spPr bwMode="auto">
            <a:xfrm>
              <a:off x="3168" y="1065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Line 84"/>
            <p:cNvSpPr>
              <a:spLocks noChangeShapeType="1"/>
            </p:cNvSpPr>
            <p:nvPr/>
          </p:nvSpPr>
          <p:spPr bwMode="auto">
            <a:xfrm>
              <a:off x="3168" y="816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Line 85"/>
            <p:cNvSpPr>
              <a:spLocks noChangeShapeType="1"/>
            </p:cNvSpPr>
            <p:nvPr/>
          </p:nvSpPr>
          <p:spPr bwMode="auto">
            <a:xfrm>
              <a:off x="3456" y="816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Line 86"/>
            <p:cNvSpPr>
              <a:spLocks noChangeShapeType="1"/>
            </p:cNvSpPr>
            <p:nvPr/>
          </p:nvSpPr>
          <p:spPr bwMode="auto">
            <a:xfrm>
              <a:off x="3744" y="816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Line 87"/>
            <p:cNvSpPr>
              <a:spLocks noChangeShapeType="1"/>
            </p:cNvSpPr>
            <p:nvPr/>
          </p:nvSpPr>
          <p:spPr bwMode="auto">
            <a:xfrm>
              <a:off x="3600" y="960"/>
              <a:ext cx="3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8" name="Group 88"/>
          <p:cNvGrpSpPr>
            <a:grpSpLocks/>
          </p:cNvGrpSpPr>
          <p:nvPr/>
        </p:nvGrpSpPr>
        <p:grpSpPr bwMode="auto">
          <a:xfrm>
            <a:off x="5724401" y="5318150"/>
            <a:ext cx="2667000" cy="395287"/>
            <a:chOff x="3600" y="1488"/>
            <a:chExt cx="1680" cy="249"/>
          </a:xfrm>
        </p:grpSpPr>
        <p:sp>
          <p:nvSpPr>
            <p:cNvPr id="109" name="Rectangle 89"/>
            <p:cNvSpPr>
              <a:spLocks noChangeArrowheads="1"/>
            </p:cNvSpPr>
            <p:nvPr/>
          </p:nvSpPr>
          <p:spPr bwMode="auto">
            <a:xfrm>
              <a:off x="4224" y="1488"/>
              <a:ext cx="288" cy="24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zh-CN" sz="2000">
                <a:solidFill>
                  <a:srgbClr val="0000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0" name="Rectangle 90"/>
            <p:cNvSpPr>
              <a:spLocks noChangeArrowheads="1"/>
            </p:cNvSpPr>
            <p:nvPr/>
          </p:nvSpPr>
          <p:spPr bwMode="auto">
            <a:xfrm>
              <a:off x="3936" y="1488"/>
              <a:ext cx="288" cy="24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11" name="Line 91"/>
            <p:cNvSpPr>
              <a:spLocks noChangeShapeType="1"/>
            </p:cNvSpPr>
            <p:nvPr/>
          </p:nvSpPr>
          <p:spPr bwMode="auto">
            <a:xfrm>
              <a:off x="3936" y="1737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Line 92"/>
            <p:cNvSpPr>
              <a:spLocks noChangeShapeType="1"/>
            </p:cNvSpPr>
            <p:nvPr/>
          </p:nvSpPr>
          <p:spPr bwMode="auto">
            <a:xfrm>
              <a:off x="3936" y="1488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Line 93"/>
            <p:cNvSpPr>
              <a:spLocks noChangeShapeType="1"/>
            </p:cNvSpPr>
            <p:nvPr/>
          </p:nvSpPr>
          <p:spPr bwMode="auto">
            <a:xfrm>
              <a:off x="4224" y="1488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" name="Line 94"/>
            <p:cNvSpPr>
              <a:spLocks noChangeShapeType="1"/>
            </p:cNvSpPr>
            <p:nvPr/>
          </p:nvSpPr>
          <p:spPr bwMode="auto">
            <a:xfrm>
              <a:off x="4512" y="1488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" name="Rectangle 102"/>
            <p:cNvSpPr>
              <a:spLocks noChangeArrowheads="1"/>
            </p:cNvSpPr>
            <p:nvPr/>
          </p:nvSpPr>
          <p:spPr bwMode="auto">
            <a:xfrm>
              <a:off x="4992" y="1488"/>
              <a:ext cx="288" cy="24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  <a:ea typeface="宋体" panose="02010600030101010101" pitchFamily="2" charset="-122"/>
                </a:rPr>
                <a:t>^</a:t>
              </a:r>
            </a:p>
          </p:txBody>
        </p:sp>
        <p:sp>
          <p:nvSpPr>
            <p:cNvPr id="116" name="Rectangle 103"/>
            <p:cNvSpPr>
              <a:spLocks noChangeArrowheads="1"/>
            </p:cNvSpPr>
            <p:nvPr/>
          </p:nvSpPr>
          <p:spPr bwMode="auto">
            <a:xfrm>
              <a:off x="4704" y="1488"/>
              <a:ext cx="288" cy="24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117" name="Line 104"/>
            <p:cNvSpPr>
              <a:spLocks noChangeShapeType="1"/>
            </p:cNvSpPr>
            <p:nvPr/>
          </p:nvSpPr>
          <p:spPr bwMode="auto">
            <a:xfrm>
              <a:off x="4704" y="1488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" name="Line 105"/>
            <p:cNvSpPr>
              <a:spLocks noChangeShapeType="1"/>
            </p:cNvSpPr>
            <p:nvPr/>
          </p:nvSpPr>
          <p:spPr bwMode="auto">
            <a:xfrm>
              <a:off x="4704" y="1737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" name="Line 106"/>
            <p:cNvSpPr>
              <a:spLocks noChangeShapeType="1"/>
            </p:cNvSpPr>
            <p:nvPr/>
          </p:nvSpPr>
          <p:spPr bwMode="auto">
            <a:xfrm>
              <a:off x="4704" y="1488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" name="Line 107"/>
            <p:cNvSpPr>
              <a:spLocks noChangeShapeType="1"/>
            </p:cNvSpPr>
            <p:nvPr/>
          </p:nvSpPr>
          <p:spPr bwMode="auto">
            <a:xfrm>
              <a:off x="4992" y="1488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" name="Line 108"/>
            <p:cNvSpPr>
              <a:spLocks noChangeShapeType="1"/>
            </p:cNvSpPr>
            <p:nvPr/>
          </p:nvSpPr>
          <p:spPr bwMode="auto">
            <a:xfrm>
              <a:off x="5280" y="1488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" name="Line 109"/>
            <p:cNvSpPr>
              <a:spLocks noChangeShapeType="1"/>
            </p:cNvSpPr>
            <p:nvPr/>
          </p:nvSpPr>
          <p:spPr bwMode="auto">
            <a:xfrm>
              <a:off x="3600" y="1632"/>
              <a:ext cx="3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" name="Line 110"/>
            <p:cNvSpPr>
              <a:spLocks noChangeShapeType="1"/>
            </p:cNvSpPr>
            <p:nvPr/>
          </p:nvSpPr>
          <p:spPr bwMode="auto">
            <a:xfrm>
              <a:off x="4368" y="1632"/>
              <a:ext cx="3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" name="Line 111"/>
            <p:cNvSpPr>
              <a:spLocks noChangeShapeType="1"/>
            </p:cNvSpPr>
            <p:nvPr/>
          </p:nvSpPr>
          <p:spPr bwMode="auto">
            <a:xfrm>
              <a:off x="3936" y="1488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25" name="Group 2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1428844"/>
              </p:ext>
            </p:extLst>
          </p:nvPr>
        </p:nvGraphicFramePr>
        <p:xfrm>
          <a:off x="4930489" y="4369796"/>
          <a:ext cx="482600" cy="1828800"/>
        </p:xfrm>
        <a:graphic>
          <a:graphicData uri="http://schemas.openxmlformats.org/drawingml/2006/table">
            <a:tbl>
              <a:tblPr/>
              <a:tblGrid>
                <a:gridCol w="48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56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仿宋_GB2312" pitchFamily="49" charset="-122"/>
                        </a:rPr>
                        <a:t>A</a:t>
                      </a:r>
                      <a:endParaRPr kumimoji="1" lang="en-US" altLang="zh-CN" sz="2400" b="1" i="0" u="none" strike="noStrike" cap="none" normalizeH="0" baseline="-2500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仿宋_GB2312" pitchFamily="49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仿宋_GB2312" pitchFamily="49" charset="-122"/>
                        </a:rPr>
                        <a:t>B</a:t>
                      </a:r>
                      <a:endParaRPr kumimoji="1" lang="en-US" altLang="zh-CN" sz="2400" b="1" i="0" u="none" strike="noStrike" cap="none" normalizeH="0" baseline="-2500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仿宋_GB2312" pitchFamily="49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仿宋_GB2312" pitchFamily="49" charset="-122"/>
                        </a:rPr>
                        <a:t>C</a:t>
                      </a:r>
                      <a:endParaRPr kumimoji="1" lang="en-US" altLang="zh-CN" sz="2400" b="1" i="0" u="none" strike="noStrike" cap="none" normalizeH="0" baseline="-2500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仿宋_GB2312" pitchFamily="49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仿宋_GB2312" pitchFamily="49" charset="-122"/>
                        </a:rPr>
                        <a:t>D</a:t>
                      </a:r>
                      <a:endParaRPr kumimoji="1" lang="en-US" altLang="zh-CN" sz="2400" b="1" i="0" u="none" strike="noStrike" cap="none" normalizeH="0" baseline="-2500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仿宋_GB2312" pitchFamily="49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26" name="Group 292"/>
          <p:cNvGrpSpPr>
            <a:grpSpLocks/>
          </p:cNvGrpSpPr>
          <p:nvPr/>
        </p:nvGrpSpPr>
        <p:grpSpPr bwMode="auto">
          <a:xfrm>
            <a:off x="6229226" y="5822975"/>
            <a:ext cx="914400" cy="395287"/>
            <a:chOff x="4704" y="1152"/>
            <a:chExt cx="576" cy="249"/>
          </a:xfrm>
        </p:grpSpPr>
        <p:sp>
          <p:nvSpPr>
            <p:cNvPr id="127" name="Rectangle 308"/>
            <p:cNvSpPr>
              <a:spLocks noChangeArrowheads="1"/>
            </p:cNvSpPr>
            <p:nvPr/>
          </p:nvSpPr>
          <p:spPr bwMode="auto">
            <a:xfrm>
              <a:off x="4992" y="1152"/>
              <a:ext cx="288" cy="249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  <a:ea typeface="宋体" panose="02010600030101010101" pitchFamily="2" charset="-122"/>
                </a:rPr>
                <a:t>^</a:t>
              </a:r>
            </a:p>
          </p:txBody>
        </p:sp>
        <p:sp>
          <p:nvSpPr>
            <p:cNvPr id="128" name="Rectangle 309"/>
            <p:cNvSpPr>
              <a:spLocks noChangeArrowheads="1"/>
            </p:cNvSpPr>
            <p:nvPr/>
          </p:nvSpPr>
          <p:spPr bwMode="auto">
            <a:xfrm>
              <a:off x="4704" y="1152"/>
              <a:ext cx="288" cy="249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129" name="Line 310"/>
            <p:cNvSpPr>
              <a:spLocks noChangeShapeType="1"/>
            </p:cNvSpPr>
            <p:nvPr/>
          </p:nvSpPr>
          <p:spPr bwMode="auto">
            <a:xfrm>
              <a:off x="4704" y="1152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" name="Line 311"/>
            <p:cNvSpPr>
              <a:spLocks noChangeShapeType="1"/>
            </p:cNvSpPr>
            <p:nvPr/>
          </p:nvSpPr>
          <p:spPr bwMode="auto">
            <a:xfrm>
              <a:off x="4704" y="1401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" name="Line 312"/>
            <p:cNvSpPr>
              <a:spLocks noChangeShapeType="1"/>
            </p:cNvSpPr>
            <p:nvPr/>
          </p:nvSpPr>
          <p:spPr bwMode="auto">
            <a:xfrm>
              <a:off x="4704" y="1152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" name="Line 313"/>
            <p:cNvSpPr>
              <a:spLocks noChangeShapeType="1"/>
            </p:cNvSpPr>
            <p:nvPr/>
          </p:nvSpPr>
          <p:spPr bwMode="auto">
            <a:xfrm>
              <a:off x="4992" y="1152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" name="Line 314"/>
            <p:cNvSpPr>
              <a:spLocks noChangeShapeType="1"/>
            </p:cNvSpPr>
            <p:nvPr/>
          </p:nvSpPr>
          <p:spPr bwMode="auto">
            <a:xfrm>
              <a:off x="5280" y="1152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4" name="Group 292"/>
          <p:cNvGrpSpPr>
            <a:grpSpLocks/>
          </p:cNvGrpSpPr>
          <p:nvPr/>
        </p:nvGrpSpPr>
        <p:grpSpPr bwMode="auto">
          <a:xfrm>
            <a:off x="5724401" y="4886350"/>
            <a:ext cx="1447800" cy="395287"/>
            <a:chOff x="4368" y="1152"/>
            <a:chExt cx="912" cy="249"/>
          </a:xfrm>
        </p:grpSpPr>
        <p:sp>
          <p:nvSpPr>
            <p:cNvPr id="135" name="Rectangle 308"/>
            <p:cNvSpPr>
              <a:spLocks noChangeArrowheads="1"/>
            </p:cNvSpPr>
            <p:nvPr/>
          </p:nvSpPr>
          <p:spPr bwMode="auto">
            <a:xfrm>
              <a:off x="4992" y="1152"/>
              <a:ext cx="288" cy="249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  <a:ea typeface="宋体" panose="02010600030101010101" pitchFamily="2" charset="-122"/>
                </a:rPr>
                <a:t>^</a:t>
              </a:r>
            </a:p>
          </p:txBody>
        </p:sp>
        <p:sp>
          <p:nvSpPr>
            <p:cNvPr id="136" name="Rectangle 309"/>
            <p:cNvSpPr>
              <a:spLocks noChangeArrowheads="1"/>
            </p:cNvSpPr>
            <p:nvPr/>
          </p:nvSpPr>
          <p:spPr bwMode="auto">
            <a:xfrm>
              <a:off x="4704" y="1152"/>
              <a:ext cx="288" cy="249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37" name="Line 310"/>
            <p:cNvSpPr>
              <a:spLocks noChangeShapeType="1"/>
            </p:cNvSpPr>
            <p:nvPr/>
          </p:nvSpPr>
          <p:spPr bwMode="auto">
            <a:xfrm>
              <a:off x="4704" y="1152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" name="Line 311"/>
            <p:cNvSpPr>
              <a:spLocks noChangeShapeType="1"/>
            </p:cNvSpPr>
            <p:nvPr/>
          </p:nvSpPr>
          <p:spPr bwMode="auto">
            <a:xfrm>
              <a:off x="4704" y="1401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" name="Line 312"/>
            <p:cNvSpPr>
              <a:spLocks noChangeShapeType="1"/>
            </p:cNvSpPr>
            <p:nvPr/>
          </p:nvSpPr>
          <p:spPr bwMode="auto">
            <a:xfrm>
              <a:off x="4704" y="1152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" name="Line 313"/>
            <p:cNvSpPr>
              <a:spLocks noChangeShapeType="1"/>
            </p:cNvSpPr>
            <p:nvPr/>
          </p:nvSpPr>
          <p:spPr bwMode="auto">
            <a:xfrm>
              <a:off x="4992" y="1152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" name="Line 314"/>
            <p:cNvSpPr>
              <a:spLocks noChangeShapeType="1"/>
            </p:cNvSpPr>
            <p:nvPr/>
          </p:nvSpPr>
          <p:spPr bwMode="auto">
            <a:xfrm>
              <a:off x="5280" y="1152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" name="Line 316"/>
            <p:cNvSpPr>
              <a:spLocks noChangeShapeType="1"/>
            </p:cNvSpPr>
            <p:nvPr/>
          </p:nvSpPr>
          <p:spPr bwMode="auto">
            <a:xfrm>
              <a:off x="4368" y="1296"/>
              <a:ext cx="3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3" name="Line 43"/>
          <p:cNvSpPr>
            <a:spLocks noChangeShapeType="1"/>
          </p:cNvSpPr>
          <p:nvPr/>
        </p:nvSpPr>
        <p:spPr bwMode="auto">
          <a:xfrm>
            <a:off x="4868738" y="6164287"/>
            <a:ext cx="990600" cy="0"/>
          </a:xfrm>
          <a:prstGeom prst="line">
            <a:avLst/>
          </a:prstGeom>
          <a:noFill/>
          <a:ln w="12700" cap="sq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33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11" grpId="0" animBg="1"/>
      <p:bldP spid="13" grpId="0"/>
      <p:bldP spid="14" grpId="0" animBg="1"/>
      <p:bldP spid="15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90" grpId="0" animBg="1"/>
      <p:bldP spid="91" grpId="0" animBg="1"/>
      <p:bldP spid="14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latin typeface="+mn-ea"/>
              </a:rPr>
              <a:t>邻接表</a:t>
            </a:r>
            <a:endParaRPr lang="zh-CN" altLang="en-US" dirty="0"/>
          </a:p>
        </p:txBody>
      </p:sp>
      <p:sp>
        <p:nvSpPr>
          <p:cNvPr id="36867" name="内容占位符 2"/>
          <p:cNvSpPr>
            <a:spLocks noGrp="1"/>
          </p:cNvSpPr>
          <p:nvPr>
            <p:ph idx="1"/>
          </p:nvPr>
        </p:nvSpPr>
        <p:spPr>
          <a:xfrm>
            <a:off x="468313" y="1125537"/>
            <a:ext cx="8207375" cy="24289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/>
              <a:t>两类结点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zh-CN" altLang="en-US" dirty="0"/>
              <a:t>表头结点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zh-CN" altLang="en-US" dirty="0"/>
              <a:t>边结点</a:t>
            </a:r>
            <a:endParaRPr lang="en-US" altLang="zh-CN" dirty="0"/>
          </a:p>
          <a:p>
            <a:pPr>
              <a:lnSpc>
                <a:spcPct val="90000"/>
              </a:lnSpc>
            </a:pPr>
            <a:r>
              <a:rPr lang="zh-CN" altLang="en-US" dirty="0"/>
              <a:t>图：表结点的数组</a:t>
            </a:r>
            <a:endParaRPr lang="en-US" altLang="zh-CN" dirty="0"/>
          </a:p>
        </p:txBody>
      </p:sp>
      <p:sp>
        <p:nvSpPr>
          <p:cNvPr id="36868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D0D1214-E3B1-4A05-BAED-324B03830018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31</a:t>
            </a:fld>
            <a:endParaRPr lang="zh-CN" altLang="en-US" sz="1000"/>
          </a:p>
        </p:txBody>
      </p:sp>
      <p:grpSp>
        <p:nvGrpSpPr>
          <p:cNvPr id="36869" name="组合 1"/>
          <p:cNvGrpSpPr>
            <a:grpSpLocks/>
          </p:cNvGrpSpPr>
          <p:nvPr/>
        </p:nvGrpSpPr>
        <p:grpSpPr bwMode="auto">
          <a:xfrm>
            <a:off x="6156176" y="3933056"/>
            <a:ext cx="2276475" cy="1757362"/>
            <a:chOff x="2413000" y="4119910"/>
            <a:chExt cx="2276475" cy="1757362"/>
          </a:xfrm>
        </p:grpSpPr>
        <p:sp>
          <p:nvSpPr>
            <p:cNvPr id="36949" name="Line 3"/>
            <p:cNvSpPr>
              <a:spLocks noChangeShapeType="1"/>
            </p:cNvSpPr>
            <p:nvPr/>
          </p:nvSpPr>
          <p:spPr bwMode="auto">
            <a:xfrm>
              <a:off x="2987675" y="4334222"/>
              <a:ext cx="1152525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50" name="Line 6"/>
            <p:cNvSpPr>
              <a:spLocks noChangeShapeType="1"/>
            </p:cNvSpPr>
            <p:nvPr/>
          </p:nvSpPr>
          <p:spPr bwMode="auto">
            <a:xfrm>
              <a:off x="2700338" y="4694585"/>
              <a:ext cx="0" cy="70485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51" name="Line 9"/>
            <p:cNvSpPr>
              <a:spLocks noChangeShapeType="1"/>
            </p:cNvSpPr>
            <p:nvPr/>
          </p:nvSpPr>
          <p:spPr bwMode="auto">
            <a:xfrm flipV="1">
              <a:off x="2987675" y="5631210"/>
              <a:ext cx="1152525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Oval 10"/>
            <p:cNvSpPr>
              <a:spLocks noChangeArrowheads="1"/>
            </p:cNvSpPr>
            <p:nvPr/>
          </p:nvSpPr>
          <p:spPr bwMode="auto">
            <a:xfrm>
              <a:off x="2413000" y="4119910"/>
              <a:ext cx="574675" cy="533400"/>
            </a:xfrm>
            <a:prstGeom prst="ellips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 eaLnBrk="1" hangingPunct="1">
                <a:defRPr/>
              </a:pPr>
              <a:r>
                <a:rPr kumimoji="1" lang="en-US" altLang="zh-CN" sz="3600" dirty="0">
                  <a:latin typeface="+mn-lt"/>
                </a:rPr>
                <a:t>A</a:t>
              </a:r>
              <a:endParaRPr kumimoji="1" lang="en-US" altLang="zh-CN" sz="2400" dirty="0">
                <a:latin typeface="+mn-lt"/>
              </a:endParaRPr>
            </a:p>
          </p:txBody>
        </p:sp>
        <p:sp>
          <p:nvSpPr>
            <p:cNvPr id="36953" name="Oval 11"/>
            <p:cNvSpPr>
              <a:spLocks noChangeArrowheads="1"/>
            </p:cNvSpPr>
            <p:nvPr/>
          </p:nvSpPr>
          <p:spPr bwMode="auto">
            <a:xfrm>
              <a:off x="2484438" y="5399435"/>
              <a:ext cx="496887" cy="477837"/>
            </a:xfrm>
            <a:prstGeom prst="ellips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3600"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36954" name="Oval 12"/>
            <p:cNvSpPr>
              <a:spLocks noChangeArrowheads="1"/>
            </p:cNvSpPr>
            <p:nvPr/>
          </p:nvSpPr>
          <p:spPr bwMode="auto">
            <a:xfrm>
              <a:off x="4141788" y="5343872"/>
              <a:ext cx="547687" cy="533400"/>
            </a:xfrm>
            <a:prstGeom prst="ellips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3600">
                  <a:ea typeface="宋体" panose="02010600030101010101" pitchFamily="2" charset="-122"/>
                </a:rPr>
                <a:t>D</a:t>
              </a:r>
            </a:p>
          </p:txBody>
        </p:sp>
        <p:sp>
          <p:nvSpPr>
            <p:cNvPr id="36955" name="Oval 13"/>
            <p:cNvSpPr>
              <a:spLocks noChangeArrowheads="1"/>
            </p:cNvSpPr>
            <p:nvPr/>
          </p:nvSpPr>
          <p:spPr bwMode="auto">
            <a:xfrm>
              <a:off x="4141788" y="4119910"/>
              <a:ext cx="547687" cy="533400"/>
            </a:xfrm>
            <a:prstGeom prst="ellips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3600" dirty="0">
                  <a:ea typeface="宋体" panose="02010600030101010101" pitchFamily="2" charset="-122"/>
                </a:rPr>
                <a:t>B</a:t>
              </a:r>
            </a:p>
          </p:txBody>
        </p:sp>
      </p:grpSp>
      <p:sp>
        <p:nvSpPr>
          <p:cNvPr id="36870" name="Rectangle 32"/>
          <p:cNvSpPr>
            <a:spLocks noChangeArrowheads="1"/>
          </p:cNvSpPr>
          <p:nvPr/>
        </p:nvSpPr>
        <p:spPr bwMode="auto">
          <a:xfrm>
            <a:off x="1932782" y="5155878"/>
            <a:ext cx="508000" cy="455612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zh-CN" sz="2400">
              <a:ea typeface="宋体" panose="02010600030101010101" pitchFamily="2" charset="-122"/>
            </a:endParaRPr>
          </a:p>
        </p:txBody>
      </p:sp>
      <p:sp>
        <p:nvSpPr>
          <p:cNvPr id="36871" name="Rectangle 33"/>
          <p:cNvSpPr>
            <a:spLocks noChangeArrowheads="1"/>
          </p:cNvSpPr>
          <p:nvPr/>
        </p:nvSpPr>
        <p:spPr bwMode="auto">
          <a:xfrm>
            <a:off x="1450182" y="5155878"/>
            <a:ext cx="482600" cy="455612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zh-CN" sz="2400" baseline="-2500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36872" name="Rectangle 34"/>
          <p:cNvSpPr>
            <a:spLocks noChangeArrowheads="1"/>
          </p:cNvSpPr>
          <p:nvPr/>
        </p:nvSpPr>
        <p:spPr bwMode="auto">
          <a:xfrm>
            <a:off x="1932782" y="4700265"/>
            <a:ext cx="508000" cy="4556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zh-CN" sz="2400">
              <a:ea typeface="宋体" panose="02010600030101010101" pitchFamily="2" charset="-122"/>
            </a:endParaRPr>
          </a:p>
        </p:txBody>
      </p:sp>
      <p:sp>
        <p:nvSpPr>
          <p:cNvPr id="36873" name="Rectangle 35"/>
          <p:cNvSpPr>
            <a:spLocks noChangeArrowheads="1"/>
          </p:cNvSpPr>
          <p:nvPr/>
        </p:nvSpPr>
        <p:spPr bwMode="auto">
          <a:xfrm>
            <a:off x="1450182" y="4700265"/>
            <a:ext cx="482600" cy="4556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zh-CN" sz="2400" baseline="-2500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36874" name="Rectangle 36"/>
          <p:cNvSpPr>
            <a:spLocks noChangeArrowheads="1"/>
          </p:cNvSpPr>
          <p:nvPr/>
        </p:nvSpPr>
        <p:spPr bwMode="auto">
          <a:xfrm>
            <a:off x="1932782" y="4244653"/>
            <a:ext cx="508000" cy="455612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zh-CN" sz="2400">
              <a:ea typeface="宋体" panose="02010600030101010101" pitchFamily="2" charset="-122"/>
            </a:endParaRPr>
          </a:p>
        </p:txBody>
      </p:sp>
      <p:sp>
        <p:nvSpPr>
          <p:cNvPr id="36875" name="Rectangle 37"/>
          <p:cNvSpPr>
            <a:spLocks noChangeArrowheads="1"/>
          </p:cNvSpPr>
          <p:nvPr/>
        </p:nvSpPr>
        <p:spPr bwMode="auto">
          <a:xfrm>
            <a:off x="1450182" y="4244653"/>
            <a:ext cx="482600" cy="455612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zh-CN" sz="2400" baseline="-2500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36876" name="Rectangle 38"/>
          <p:cNvSpPr>
            <a:spLocks noChangeArrowheads="1"/>
          </p:cNvSpPr>
          <p:nvPr/>
        </p:nvSpPr>
        <p:spPr bwMode="auto">
          <a:xfrm>
            <a:off x="1932782" y="3789040"/>
            <a:ext cx="508000" cy="4556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zh-CN" sz="2400">
              <a:ea typeface="宋体" panose="02010600030101010101" pitchFamily="2" charset="-122"/>
            </a:endParaRPr>
          </a:p>
        </p:txBody>
      </p:sp>
      <p:sp>
        <p:nvSpPr>
          <p:cNvPr id="36877" name="Rectangle 39"/>
          <p:cNvSpPr>
            <a:spLocks noChangeArrowheads="1"/>
          </p:cNvSpPr>
          <p:nvPr/>
        </p:nvSpPr>
        <p:spPr bwMode="auto">
          <a:xfrm>
            <a:off x="1450182" y="3789040"/>
            <a:ext cx="482600" cy="4556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zh-CN" sz="2400" baseline="-2500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36878" name="Line 40"/>
          <p:cNvSpPr>
            <a:spLocks noChangeShapeType="1"/>
          </p:cNvSpPr>
          <p:nvPr/>
        </p:nvSpPr>
        <p:spPr bwMode="auto">
          <a:xfrm flipH="1">
            <a:off x="1421607" y="3789040"/>
            <a:ext cx="0" cy="1800225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79" name="Line 41"/>
          <p:cNvSpPr>
            <a:spLocks noChangeShapeType="1"/>
          </p:cNvSpPr>
          <p:nvPr/>
        </p:nvSpPr>
        <p:spPr bwMode="auto">
          <a:xfrm flipH="1">
            <a:off x="1924844" y="3789040"/>
            <a:ext cx="7938" cy="187325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80" name="Line 42"/>
          <p:cNvSpPr>
            <a:spLocks noChangeShapeType="1"/>
          </p:cNvSpPr>
          <p:nvPr/>
        </p:nvSpPr>
        <p:spPr bwMode="auto">
          <a:xfrm flipH="1">
            <a:off x="2429669" y="3789040"/>
            <a:ext cx="11113" cy="1800225"/>
          </a:xfrm>
          <a:prstGeom prst="line">
            <a:avLst/>
          </a:prstGeom>
          <a:noFill/>
          <a:ln w="12700" cap="sq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81" name="Line 43"/>
          <p:cNvSpPr>
            <a:spLocks noChangeShapeType="1"/>
          </p:cNvSpPr>
          <p:nvPr/>
        </p:nvSpPr>
        <p:spPr bwMode="auto">
          <a:xfrm>
            <a:off x="1450182" y="3789040"/>
            <a:ext cx="990600" cy="0"/>
          </a:xfrm>
          <a:prstGeom prst="line">
            <a:avLst/>
          </a:prstGeom>
          <a:noFill/>
          <a:ln w="12700" cap="sq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82" name="Line 44"/>
          <p:cNvSpPr>
            <a:spLocks noChangeShapeType="1"/>
          </p:cNvSpPr>
          <p:nvPr/>
        </p:nvSpPr>
        <p:spPr bwMode="auto">
          <a:xfrm>
            <a:off x="1450182" y="4244653"/>
            <a:ext cx="9906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83" name="Line 45"/>
          <p:cNvSpPr>
            <a:spLocks noChangeShapeType="1"/>
          </p:cNvSpPr>
          <p:nvPr/>
        </p:nvSpPr>
        <p:spPr bwMode="auto">
          <a:xfrm>
            <a:off x="1450182" y="4700265"/>
            <a:ext cx="9906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84" name="Line 46"/>
          <p:cNvSpPr>
            <a:spLocks noChangeShapeType="1"/>
          </p:cNvSpPr>
          <p:nvPr/>
        </p:nvSpPr>
        <p:spPr bwMode="auto">
          <a:xfrm>
            <a:off x="1450182" y="5155878"/>
            <a:ext cx="9906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0" name="Group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501014"/>
              </p:ext>
            </p:extLst>
          </p:nvPr>
        </p:nvGraphicFramePr>
        <p:xfrm>
          <a:off x="916782" y="3806503"/>
          <a:ext cx="533400" cy="1828800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56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itchFamily="49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6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itchFamily="49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6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itchFamily="49" charset="-122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6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细黑" panose="0201060004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仿宋_GB2312" pitchFamily="49" charset="-122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1" name="Line 67"/>
          <p:cNvSpPr>
            <a:spLocks noChangeShapeType="1"/>
          </p:cNvSpPr>
          <p:nvPr/>
        </p:nvSpPr>
        <p:spPr bwMode="auto">
          <a:xfrm>
            <a:off x="2288382" y="4027165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" name="Line 68"/>
          <p:cNvSpPr>
            <a:spLocks noChangeShapeType="1"/>
          </p:cNvSpPr>
          <p:nvPr/>
        </p:nvSpPr>
        <p:spPr bwMode="auto">
          <a:xfrm>
            <a:off x="2288382" y="5398765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" name="Group 72"/>
          <p:cNvGrpSpPr>
            <a:grpSpLocks/>
          </p:cNvGrpSpPr>
          <p:nvPr/>
        </p:nvGrpSpPr>
        <p:grpSpPr bwMode="auto">
          <a:xfrm>
            <a:off x="2821782" y="3860478"/>
            <a:ext cx="2133600" cy="395287"/>
            <a:chOff x="3168" y="816"/>
            <a:chExt cx="1344" cy="249"/>
          </a:xfrm>
        </p:grpSpPr>
        <p:sp>
          <p:nvSpPr>
            <p:cNvPr id="36934" name="Rectangle 73"/>
            <p:cNvSpPr>
              <a:spLocks noChangeArrowheads="1"/>
            </p:cNvSpPr>
            <p:nvPr/>
          </p:nvSpPr>
          <p:spPr bwMode="auto">
            <a:xfrm>
              <a:off x="4224" y="816"/>
              <a:ext cx="288" cy="24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  <a:ea typeface="宋体" panose="02010600030101010101" pitchFamily="2" charset="-122"/>
                </a:rPr>
                <a:t>^</a:t>
              </a:r>
            </a:p>
          </p:txBody>
        </p:sp>
        <p:sp>
          <p:nvSpPr>
            <p:cNvPr id="36935" name="Rectangle 74"/>
            <p:cNvSpPr>
              <a:spLocks noChangeArrowheads="1"/>
            </p:cNvSpPr>
            <p:nvPr/>
          </p:nvSpPr>
          <p:spPr bwMode="auto">
            <a:xfrm>
              <a:off x="3936" y="816"/>
              <a:ext cx="288" cy="24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36936" name="Line 75"/>
            <p:cNvSpPr>
              <a:spLocks noChangeShapeType="1"/>
            </p:cNvSpPr>
            <p:nvPr/>
          </p:nvSpPr>
          <p:spPr bwMode="auto">
            <a:xfrm>
              <a:off x="3936" y="816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37" name="Line 76"/>
            <p:cNvSpPr>
              <a:spLocks noChangeShapeType="1"/>
            </p:cNvSpPr>
            <p:nvPr/>
          </p:nvSpPr>
          <p:spPr bwMode="auto">
            <a:xfrm>
              <a:off x="3936" y="1065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38" name="Line 77"/>
            <p:cNvSpPr>
              <a:spLocks noChangeShapeType="1"/>
            </p:cNvSpPr>
            <p:nvPr/>
          </p:nvSpPr>
          <p:spPr bwMode="auto">
            <a:xfrm>
              <a:off x="3936" y="816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39" name="Line 78"/>
            <p:cNvSpPr>
              <a:spLocks noChangeShapeType="1"/>
            </p:cNvSpPr>
            <p:nvPr/>
          </p:nvSpPr>
          <p:spPr bwMode="auto">
            <a:xfrm>
              <a:off x="4224" y="816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40" name="Line 79"/>
            <p:cNvSpPr>
              <a:spLocks noChangeShapeType="1"/>
            </p:cNvSpPr>
            <p:nvPr/>
          </p:nvSpPr>
          <p:spPr bwMode="auto">
            <a:xfrm>
              <a:off x="4512" y="816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41" name="Rectangle 80"/>
            <p:cNvSpPr>
              <a:spLocks noChangeArrowheads="1"/>
            </p:cNvSpPr>
            <p:nvPr/>
          </p:nvSpPr>
          <p:spPr bwMode="auto">
            <a:xfrm>
              <a:off x="3456" y="816"/>
              <a:ext cx="288" cy="24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zh-CN" sz="2000">
                <a:solidFill>
                  <a:srgbClr val="0000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6942" name="Rectangle 81"/>
            <p:cNvSpPr>
              <a:spLocks noChangeArrowheads="1"/>
            </p:cNvSpPr>
            <p:nvPr/>
          </p:nvSpPr>
          <p:spPr bwMode="auto">
            <a:xfrm>
              <a:off x="3168" y="816"/>
              <a:ext cx="288" cy="24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36943" name="Line 82"/>
            <p:cNvSpPr>
              <a:spLocks noChangeShapeType="1"/>
            </p:cNvSpPr>
            <p:nvPr/>
          </p:nvSpPr>
          <p:spPr bwMode="auto">
            <a:xfrm>
              <a:off x="3168" y="816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44" name="Line 83"/>
            <p:cNvSpPr>
              <a:spLocks noChangeShapeType="1"/>
            </p:cNvSpPr>
            <p:nvPr/>
          </p:nvSpPr>
          <p:spPr bwMode="auto">
            <a:xfrm>
              <a:off x="3168" y="1065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45" name="Line 84"/>
            <p:cNvSpPr>
              <a:spLocks noChangeShapeType="1"/>
            </p:cNvSpPr>
            <p:nvPr/>
          </p:nvSpPr>
          <p:spPr bwMode="auto">
            <a:xfrm>
              <a:off x="3168" y="816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46" name="Line 85"/>
            <p:cNvSpPr>
              <a:spLocks noChangeShapeType="1"/>
            </p:cNvSpPr>
            <p:nvPr/>
          </p:nvSpPr>
          <p:spPr bwMode="auto">
            <a:xfrm>
              <a:off x="3456" y="816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47" name="Line 86"/>
            <p:cNvSpPr>
              <a:spLocks noChangeShapeType="1"/>
            </p:cNvSpPr>
            <p:nvPr/>
          </p:nvSpPr>
          <p:spPr bwMode="auto">
            <a:xfrm>
              <a:off x="3744" y="816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48" name="Line 87"/>
            <p:cNvSpPr>
              <a:spLocks noChangeShapeType="1"/>
            </p:cNvSpPr>
            <p:nvPr/>
          </p:nvSpPr>
          <p:spPr bwMode="auto">
            <a:xfrm>
              <a:off x="3600" y="960"/>
              <a:ext cx="3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88"/>
          <p:cNvGrpSpPr>
            <a:grpSpLocks/>
          </p:cNvGrpSpPr>
          <p:nvPr/>
        </p:nvGrpSpPr>
        <p:grpSpPr bwMode="auto">
          <a:xfrm>
            <a:off x="2285207" y="4743128"/>
            <a:ext cx="2667000" cy="395287"/>
            <a:chOff x="3600" y="1488"/>
            <a:chExt cx="1680" cy="249"/>
          </a:xfrm>
        </p:grpSpPr>
        <p:sp>
          <p:nvSpPr>
            <p:cNvPr id="36918" name="Rectangle 89"/>
            <p:cNvSpPr>
              <a:spLocks noChangeArrowheads="1"/>
            </p:cNvSpPr>
            <p:nvPr/>
          </p:nvSpPr>
          <p:spPr bwMode="auto">
            <a:xfrm>
              <a:off x="4224" y="1488"/>
              <a:ext cx="288" cy="24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zh-CN" sz="2000">
                <a:solidFill>
                  <a:srgbClr val="0000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6919" name="Rectangle 90"/>
            <p:cNvSpPr>
              <a:spLocks noChangeArrowheads="1"/>
            </p:cNvSpPr>
            <p:nvPr/>
          </p:nvSpPr>
          <p:spPr bwMode="auto">
            <a:xfrm>
              <a:off x="3936" y="1488"/>
              <a:ext cx="288" cy="24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36920" name="Line 91"/>
            <p:cNvSpPr>
              <a:spLocks noChangeShapeType="1"/>
            </p:cNvSpPr>
            <p:nvPr/>
          </p:nvSpPr>
          <p:spPr bwMode="auto">
            <a:xfrm>
              <a:off x="3936" y="1737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21" name="Line 92"/>
            <p:cNvSpPr>
              <a:spLocks noChangeShapeType="1"/>
            </p:cNvSpPr>
            <p:nvPr/>
          </p:nvSpPr>
          <p:spPr bwMode="auto">
            <a:xfrm>
              <a:off x="3936" y="1488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22" name="Line 93"/>
            <p:cNvSpPr>
              <a:spLocks noChangeShapeType="1"/>
            </p:cNvSpPr>
            <p:nvPr/>
          </p:nvSpPr>
          <p:spPr bwMode="auto">
            <a:xfrm>
              <a:off x="4224" y="1488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23" name="Line 94"/>
            <p:cNvSpPr>
              <a:spLocks noChangeShapeType="1"/>
            </p:cNvSpPr>
            <p:nvPr/>
          </p:nvSpPr>
          <p:spPr bwMode="auto">
            <a:xfrm>
              <a:off x="4512" y="1488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24" name="Rectangle 102"/>
            <p:cNvSpPr>
              <a:spLocks noChangeArrowheads="1"/>
            </p:cNvSpPr>
            <p:nvPr/>
          </p:nvSpPr>
          <p:spPr bwMode="auto">
            <a:xfrm>
              <a:off x="4992" y="1488"/>
              <a:ext cx="288" cy="24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  <a:ea typeface="宋体" panose="02010600030101010101" pitchFamily="2" charset="-122"/>
                </a:rPr>
                <a:t>^</a:t>
              </a:r>
            </a:p>
          </p:txBody>
        </p:sp>
        <p:sp>
          <p:nvSpPr>
            <p:cNvPr id="36925" name="Rectangle 103"/>
            <p:cNvSpPr>
              <a:spLocks noChangeArrowheads="1"/>
            </p:cNvSpPr>
            <p:nvPr/>
          </p:nvSpPr>
          <p:spPr bwMode="auto">
            <a:xfrm>
              <a:off x="4704" y="1488"/>
              <a:ext cx="288" cy="24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36926" name="Line 104"/>
            <p:cNvSpPr>
              <a:spLocks noChangeShapeType="1"/>
            </p:cNvSpPr>
            <p:nvPr/>
          </p:nvSpPr>
          <p:spPr bwMode="auto">
            <a:xfrm>
              <a:off x="4704" y="1488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27" name="Line 105"/>
            <p:cNvSpPr>
              <a:spLocks noChangeShapeType="1"/>
            </p:cNvSpPr>
            <p:nvPr/>
          </p:nvSpPr>
          <p:spPr bwMode="auto">
            <a:xfrm>
              <a:off x="4704" y="1737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28" name="Line 106"/>
            <p:cNvSpPr>
              <a:spLocks noChangeShapeType="1"/>
            </p:cNvSpPr>
            <p:nvPr/>
          </p:nvSpPr>
          <p:spPr bwMode="auto">
            <a:xfrm>
              <a:off x="4704" y="1488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29" name="Line 107"/>
            <p:cNvSpPr>
              <a:spLocks noChangeShapeType="1"/>
            </p:cNvSpPr>
            <p:nvPr/>
          </p:nvSpPr>
          <p:spPr bwMode="auto">
            <a:xfrm>
              <a:off x="4992" y="1488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30" name="Line 108"/>
            <p:cNvSpPr>
              <a:spLocks noChangeShapeType="1"/>
            </p:cNvSpPr>
            <p:nvPr/>
          </p:nvSpPr>
          <p:spPr bwMode="auto">
            <a:xfrm>
              <a:off x="5280" y="1488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31" name="Line 109"/>
            <p:cNvSpPr>
              <a:spLocks noChangeShapeType="1"/>
            </p:cNvSpPr>
            <p:nvPr/>
          </p:nvSpPr>
          <p:spPr bwMode="auto">
            <a:xfrm>
              <a:off x="3600" y="1632"/>
              <a:ext cx="3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32" name="Line 110"/>
            <p:cNvSpPr>
              <a:spLocks noChangeShapeType="1"/>
            </p:cNvSpPr>
            <p:nvPr/>
          </p:nvSpPr>
          <p:spPr bwMode="auto">
            <a:xfrm>
              <a:off x="4368" y="1632"/>
              <a:ext cx="3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33" name="Line 111"/>
            <p:cNvSpPr>
              <a:spLocks noChangeShapeType="1"/>
            </p:cNvSpPr>
            <p:nvPr/>
          </p:nvSpPr>
          <p:spPr bwMode="auto">
            <a:xfrm>
              <a:off x="3936" y="1488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11" name="Group 2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2164417"/>
              </p:ext>
            </p:extLst>
          </p:nvPr>
        </p:nvGraphicFramePr>
        <p:xfrm>
          <a:off x="1424782" y="3806503"/>
          <a:ext cx="482600" cy="1828800"/>
        </p:xfrm>
        <a:graphic>
          <a:graphicData uri="http://schemas.openxmlformats.org/drawingml/2006/table">
            <a:tbl>
              <a:tblPr/>
              <a:tblGrid>
                <a:gridCol w="48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56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仿宋_GB2312" pitchFamily="49" charset="-122"/>
                        </a:rPr>
                        <a:t>A</a:t>
                      </a:r>
                      <a:endParaRPr kumimoji="1" lang="en-US" altLang="zh-CN" sz="2400" b="1" i="0" u="none" strike="noStrike" cap="none" normalizeH="0" baseline="-2500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仿宋_GB2312" pitchFamily="49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仿宋_GB2312" pitchFamily="49" charset="-122"/>
                        </a:rPr>
                        <a:t>B</a:t>
                      </a:r>
                      <a:endParaRPr kumimoji="1" lang="en-US" altLang="zh-CN" sz="2400" b="1" i="0" u="none" strike="noStrike" cap="none" normalizeH="0" baseline="-2500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仿宋_GB2312" pitchFamily="49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仿宋_GB2312" pitchFamily="49" charset="-122"/>
                        </a:rPr>
                        <a:t>C</a:t>
                      </a:r>
                      <a:endParaRPr kumimoji="1" lang="en-US" altLang="zh-CN" sz="2400" b="1" i="0" u="none" strike="noStrike" cap="none" normalizeH="0" baseline="-2500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仿宋_GB2312" pitchFamily="49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仿宋_GB2312" pitchFamily="49" charset="-122"/>
                        </a:rPr>
                        <a:t>D</a:t>
                      </a:r>
                      <a:endParaRPr kumimoji="1" lang="en-US" altLang="zh-CN" sz="2400" b="1" i="0" u="none" strike="noStrike" cap="none" normalizeH="0" baseline="-2500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仿宋_GB2312" pitchFamily="49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7" name="Group 292"/>
          <p:cNvGrpSpPr>
            <a:grpSpLocks/>
          </p:cNvGrpSpPr>
          <p:nvPr/>
        </p:nvGrpSpPr>
        <p:grpSpPr bwMode="auto">
          <a:xfrm>
            <a:off x="2790032" y="5247953"/>
            <a:ext cx="914400" cy="395287"/>
            <a:chOff x="4704" y="1152"/>
            <a:chExt cx="576" cy="249"/>
          </a:xfrm>
        </p:grpSpPr>
        <p:sp>
          <p:nvSpPr>
            <p:cNvPr id="36911" name="Rectangle 308"/>
            <p:cNvSpPr>
              <a:spLocks noChangeArrowheads="1"/>
            </p:cNvSpPr>
            <p:nvPr/>
          </p:nvSpPr>
          <p:spPr bwMode="auto">
            <a:xfrm>
              <a:off x="4992" y="1152"/>
              <a:ext cx="288" cy="249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  <a:ea typeface="宋体" panose="02010600030101010101" pitchFamily="2" charset="-122"/>
                </a:rPr>
                <a:t>^</a:t>
              </a:r>
            </a:p>
          </p:txBody>
        </p:sp>
        <p:sp>
          <p:nvSpPr>
            <p:cNvPr id="36912" name="Rectangle 309"/>
            <p:cNvSpPr>
              <a:spLocks noChangeArrowheads="1"/>
            </p:cNvSpPr>
            <p:nvPr/>
          </p:nvSpPr>
          <p:spPr bwMode="auto">
            <a:xfrm>
              <a:off x="4704" y="1152"/>
              <a:ext cx="288" cy="249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36913" name="Line 310"/>
            <p:cNvSpPr>
              <a:spLocks noChangeShapeType="1"/>
            </p:cNvSpPr>
            <p:nvPr/>
          </p:nvSpPr>
          <p:spPr bwMode="auto">
            <a:xfrm>
              <a:off x="4704" y="1152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14" name="Line 311"/>
            <p:cNvSpPr>
              <a:spLocks noChangeShapeType="1"/>
            </p:cNvSpPr>
            <p:nvPr/>
          </p:nvSpPr>
          <p:spPr bwMode="auto">
            <a:xfrm>
              <a:off x="4704" y="1401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15" name="Line 312"/>
            <p:cNvSpPr>
              <a:spLocks noChangeShapeType="1"/>
            </p:cNvSpPr>
            <p:nvPr/>
          </p:nvSpPr>
          <p:spPr bwMode="auto">
            <a:xfrm>
              <a:off x="4704" y="1152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16" name="Line 313"/>
            <p:cNvSpPr>
              <a:spLocks noChangeShapeType="1"/>
            </p:cNvSpPr>
            <p:nvPr/>
          </p:nvSpPr>
          <p:spPr bwMode="auto">
            <a:xfrm>
              <a:off x="4992" y="1152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17" name="Line 314"/>
            <p:cNvSpPr>
              <a:spLocks noChangeShapeType="1"/>
            </p:cNvSpPr>
            <p:nvPr/>
          </p:nvSpPr>
          <p:spPr bwMode="auto">
            <a:xfrm>
              <a:off x="5280" y="1152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292"/>
          <p:cNvGrpSpPr>
            <a:grpSpLocks/>
          </p:cNvGrpSpPr>
          <p:nvPr/>
        </p:nvGrpSpPr>
        <p:grpSpPr bwMode="auto">
          <a:xfrm>
            <a:off x="2285207" y="4311328"/>
            <a:ext cx="1447800" cy="395287"/>
            <a:chOff x="4368" y="1152"/>
            <a:chExt cx="912" cy="249"/>
          </a:xfrm>
        </p:grpSpPr>
        <p:sp>
          <p:nvSpPr>
            <p:cNvPr id="36903" name="Rectangle 308"/>
            <p:cNvSpPr>
              <a:spLocks noChangeArrowheads="1"/>
            </p:cNvSpPr>
            <p:nvPr/>
          </p:nvSpPr>
          <p:spPr bwMode="auto">
            <a:xfrm>
              <a:off x="4992" y="1152"/>
              <a:ext cx="288" cy="249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  <a:ea typeface="宋体" panose="02010600030101010101" pitchFamily="2" charset="-122"/>
                </a:rPr>
                <a:t>^</a:t>
              </a:r>
            </a:p>
          </p:txBody>
        </p:sp>
        <p:sp>
          <p:nvSpPr>
            <p:cNvPr id="36904" name="Rectangle 309"/>
            <p:cNvSpPr>
              <a:spLocks noChangeArrowheads="1"/>
            </p:cNvSpPr>
            <p:nvPr/>
          </p:nvSpPr>
          <p:spPr bwMode="auto">
            <a:xfrm>
              <a:off x="4704" y="1152"/>
              <a:ext cx="288" cy="249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36905" name="Line 310"/>
            <p:cNvSpPr>
              <a:spLocks noChangeShapeType="1"/>
            </p:cNvSpPr>
            <p:nvPr/>
          </p:nvSpPr>
          <p:spPr bwMode="auto">
            <a:xfrm>
              <a:off x="4704" y="1152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06" name="Line 311"/>
            <p:cNvSpPr>
              <a:spLocks noChangeShapeType="1"/>
            </p:cNvSpPr>
            <p:nvPr/>
          </p:nvSpPr>
          <p:spPr bwMode="auto">
            <a:xfrm>
              <a:off x="4704" y="1401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07" name="Line 312"/>
            <p:cNvSpPr>
              <a:spLocks noChangeShapeType="1"/>
            </p:cNvSpPr>
            <p:nvPr/>
          </p:nvSpPr>
          <p:spPr bwMode="auto">
            <a:xfrm>
              <a:off x="4704" y="1152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08" name="Line 313"/>
            <p:cNvSpPr>
              <a:spLocks noChangeShapeType="1"/>
            </p:cNvSpPr>
            <p:nvPr/>
          </p:nvSpPr>
          <p:spPr bwMode="auto">
            <a:xfrm>
              <a:off x="4992" y="1152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09" name="Line 314"/>
            <p:cNvSpPr>
              <a:spLocks noChangeShapeType="1"/>
            </p:cNvSpPr>
            <p:nvPr/>
          </p:nvSpPr>
          <p:spPr bwMode="auto">
            <a:xfrm>
              <a:off x="5280" y="1152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10" name="Line 316"/>
            <p:cNvSpPr>
              <a:spLocks noChangeShapeType="1"/>
            </p:cNvSpPr>
            <p:nvPr/>
          </p:nvSpPr>
          <p:spPr bwMode="auto">
            <a:xfrm>
              <a:off x="4368" y="1296"/>
              <a:ext cx="3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4" name="Line 43"/>
          <p:cNvSpPr>
            <a:spLocks noChangeShapeType="1"/>
          </p:cNvSpPr>
          <p:nvPr/>
        </p:nvSpPr>
        <p:spPr bwMode="auto">
          <a:xfrm>
            <a:off x="1429544" y="5589265"/>
            <a:ext cx="990600" cy="0"/>
          </a:xfrm>
          <a:prstGeom prst="line">
            <a:avLst/>
          </a:prstGeom>
          <a:noFill/>
          <a:ln w="12700" cap="sq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" name="TextBox 190"/>
          <p:cNvSpPr txBox="1">
            <a:spLocks noChangeArrowheads="1"/>
          </p:cNvSpPr>
          <p:nvPr/>
        </p:nvSpPr>
        <p:spPr bwMode="auto">
          <a:xfrm>
            <a:off x="4258605" y="1391572"/>
            <a:ext cx="4417083" cy="19383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FF0000"/>
                </a:solidFill>
                <a:latin typeface="Cambria Math" panose="02040503050406030204" pitchFamily="18" charset="0"/>
                <a:ea typeface="宋体" panose="02010600030101010101" pitchFamily="2" charset="-122"/>
              </a:rPr>
              <a:t>//</a:t>
            </a:r>
            <a:r>
              <a:rPr lang="zh-CN" altLang="en-US" sz="2000" dirty="0">
                <a:solidFill>
                  <a:srgbClr val="FF0000"/>
                </a:solidFill>
                <a:latin typeface="Cambria Math" panose="02040503050406030204" pitchFamily="18" charset="0"/>
                <a:ea typeface="宋体" panose="02010600030101010101" pitchFamily="2" charset="-122"/>
              </a:rPr>
              <a:t>图的邻接表表示</a:t>
            </a:r>
            <a:endParaRPr lang="en-US" altLang="zh-CN" sz="2000" dirty="0">
              <a:solidFill>
                <a:srgbClr val="FF0000"/>
              </a:solidFill>
              <a:latin typeface="Cambria Math" panose="02040503050406030204" pitchFamily="18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dirty="0" err="1">
                <a:latin typeface="Cambria Math" panose="02040503050406030204" pitchFamily="18" charset="0"/>
                <a:ea typeface="宋体" panose="02010600030101010101" pitchFamily="2" charset="-122"/>
              </a:rPr>
              <a:t>typedef</a:t>
            </a: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Cambria Math" panose="02040503050406030204" pitchFamily="18" charset="0"/>
                <a:ea typeface="宋体" panose="02010600030101010101" pitchFamily="2" charset="-122"/>
              </a:rPr>
              <a:t>struct</a:t>
            </a: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</a:rPr>
              <a:t>{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Cambria Math" panose="02040503050406030204" pitchFamily="18" charset="0"/>
                <a:ea typeface="宋体" panose="02010600030101010101" pitchFamily="2" charset="-122"/>
              </a:rPr>
              <a:t>VNode</a:t>
            </a: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</a:rPr>
              <a:t>  vertices[</a:t>
            </a:r>
            <a:r>
              <a:rPr lang="en-US" altLang="zh-CN" sz="2000" dirty="0" err="1">
                <a:latin typeface="Cambria Math" panose="02040503050406030204" pitchFamily="18" charset="0"/>
                <a:ea typeface="宋体" panose="02010600030101010101" pitchFamily="2" charset="-122"/>
              </a:rPr>
              <a:t>MVNum</a:t>
            </a: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</a:rPr>
              <a:t>]; //</a:t>
            </a:r>
            <a:r>
              <a:rPr lang="zh-CN" altLang="en-US" sz="2000" dirty="0">
                <a:latin typeface="Cambria Math" panose="02040503050406030204" pitchFamily="18" charset="0"/>
                <a:ea typeface="宋体" panose="02010600030101010101" pitchFamily="2" charset="-122"/>
              </a:rPr>
              <a:t>邻接表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latin typeface="Cambria Math" panose="02040503050406030204" pitchFamily="18" charset="0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Cambria Math" panose="02040503050406030204" pitchFamily="18" charset="0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Cambria Math" panose="02040503050406030204" pitchFamily="18" charset="0"/>
                <a:ea typeface="宋体" panose="02010600030101010101" pitchFamily="2" charset="-122"/>
              </a:rPr>
              <a:t>vexnum</a:t>
            </a: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2000" dirty="0" err="1">
                <a:latin typeface="Cambria Math" panose="02040503050406030204" pitchFamily="18" charset="0"/>
                <a:ea typeface="宋体" panose="02010600030101010101" pitchFamily="2" charset="-122"/>
              </a:rPr>
              <a:t>arcnum</a:t>
            </a: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</a:rPr>
              <a:t>;              		//</a:t>
            </a:r>
            <a:r>
              <a:rPr lang="zh-CN" altLang="en-US" sz="2000" dirty="0">
                <a:latin typeface="Cambria Math" panose="02040503050406030204" pitchFamily="18" charset="0"/>
                <a:ea typeface="宋体" panose="02010600030101010101" pitchFamily="2" charset="-122"/>
              </a:rPr>
              <a:t>图的当前顶点数和边数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</a:rPr>
              <a:t>}</a:t>
            </a:r>
            <a:r>
              <a:rPr lang="en-US" altLang="zh-CN" sz="2000" dirty="0" err="1">
                <a:latin typeface="Cambria Math" panose="02040503050406030204" pitchFamily="18" charset="0"/>
                <a:ea typeface="宋体" panose="02010600030101010101" pitchFamily="2" charset="-122"/>
              </a:rPr>
              <a:t>ALGraph</a:t>
            </a: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</a:rPr>
              <a:t>; </a:t>
            </a:r>
          </a:p>
        </p:txBody>
      </p:sp>
    </p:spTree>
    <p:extLst>
      <p:ext uri="{BB962C8B-B14F-4D97-AF65-F5344CB8AC3E}">
        <p14:creationId xmlns:p14="http://schemas.microsoft.com/office/powerpoint/2010/main" val="639348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uiExpand="1" build="p"/>
      <p:bldP spid="8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latin typeface="+mn-ea"/>
                <a:ea typeface="+mn-ea"/>
              </a:rPr>
              <a:t>邻接表举例</a:t>
            </a:r>
          </a:p>
        </p:txBody>
      </p:sp>
      <p:sp>
        <p:nvSpPr>
          <p:cNvPr id="36867" name="内容占位符 2"/>
          <p:cNvSpPr>
            <a:spLocks noGrp="1"/>
          </p:cNvSpPr>
          <p:nvPr>
            <p:ph idx="1"/>
          </p:nvPr>
        </p:nvSpPr>
        <p:spPr>
          <a:xfrm>
            <a:off x="468313" y="1125538"/>
            <a:ext cx="8207375" cy="863600"/>
          </a:xfrm>
        </p:spPr>
        <p:txBody>
          <a:bodyPr/>
          <a:lstStyle/>
          <a:p>
            <a:pPr>
              <a:defRPr/>
            </a:pPr>
            <a:r>
              <a:rPr lang="zh-CN" altLang="en-US" dirty="0">
                <a:latin typeface="+mn-ea"/>
              </a:rPr>
              <a:t>有向图邻接表</a:t>
            </a:r>
            <a:endParaRPr lang="en-US" altLang="zh-CN" dirty="0">
              <a:latin typeface="+mn-ea"/>
            </a:endParaRPr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D738CE3-6687-4C4B-93E6-D9256CD9A7AF}" type="slidenum">
              <a:rPr lang="zh-CN" altLang="en-US" sz="1000" b="0" smtClean="0">
                <a:latin typeface="华文细黑" panose="02010600040101010101" pitchFamily="2" charset="-122"/>
              </a:rPr>
              <a:pPr>
                <a:spcBef>
                  <a:spcPct val="0"/>
                </a:spcBef>
                <a:buClrTx/>
                <a:buFontTx/>
                <a:buNone/>
              </a:pPr>
              <a:t>32</a:t>
            </a:fld>
            <a:endParaRPr lang="zh-CN" altLang="en-US" sz="1000" b="0">
              <a:latin typeface="华文细黑" panose="02010600040101010101" pitchFamily="2" charset="-122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" t="11067" r="83801" b="38254"/>
          <a:stretch>
            <a:fillRect/>
          </a:stretch>
        </p:blipFill>
        <p:spPr bwMode="auto">
          <a:xfrm>
            <a:off x="412750" y="1989138"/>
            <a:ext cx="20574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组合 2"/>
          <p:cNvGrpSpPr/>
          <p:nvPr/>
        </p:nvGrpSpPr>
        <p:grpSpPr>
          <a:xfrm>
            <a:off x="2730500" y="2066925"/>
            <a:ext cx="6284913" cy="3738339"/>
            <a:chOff x="2730500" y="2066925"/>
            <a:chExt cx="6284913" cy="3738339"/>
          </a:xfrm>
        </p:grpSpPr>
        <p:pic>
          <p:nvPicPr>
            <p:cNvPr id="6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30500" y="2066925"/>
              <a:ext cx="6284913" cy="3651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矩形 1"/>
            <p:cNvSpPr/>
            <p:nvPr/>
          </p:nvSpPr>
          <p:spPr bwMode="auto">
            <a:xfrm>
              <a:off x="4572000" y="5301208"/>
              <a:ext cx="2304256" cy="50405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华文细黑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邻接表表示法</a:t>
            </a:r>
          </a:p>
        </p:txBody>
      </p:sp>
      <p:sp>
        <p:nvSpPr>
          <p:cNvPr id="37891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1193ACD-24A3-475B-9D8D-74B3A5BE23E6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33</a:t>
            </a:fld>
            <a:endParaRPr lang="zh-CN" altLang="en-US" sz="1000"/>
          </a:p>
        </p:txBody>
      </p:sp>
      <p:sp>
        <p:nvSpPr>
          <p:cNvPr id="37892" name="TextBox 5"/>
          <p:cNvSpPr txBox="1">
            <a:spLocks noChangeArrowheads="1"/>
          </p:cNvSpPr>
          <p:nvPr/>
        </p:nvSpPr>
        <p:spPr bwMode="auto">
          <a:xfrm>
            <a:off x="971550" y="1484313"/>
            <a:ext cx="6985000" cy="397031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 err="1">
                <a:ea typeface="宋体" panose="02010600030101010101" pitchFamily="2" charset="-122"/>
              </a:rPr>
              <a:t>typedef</a:t>
            </a:r>
            <a:r>
              <a:rPr lang="en-US" altLang="zh-CN" sz="1800" dirty="0">
                <a:ea typeface="宋体" panose="02010600030101010101" pitchFamily="2" charset="-122"/>
              </a:rPr>
              <a:t> </a:t>
            </a:r>
            <a:r>
              <a:rPr lang="en-US" altLang="zh-CN" sz="1800" dirty="0" err="1">
                <a:ea typeface="宋体" panose="02010600030101010101" pitchFamily="2" charset="-122"/>
              </a:rPr>
              <a:t>struct</a:t>
            </a:r>
            <a:r>
              <a:rPr lang="en-US" altLang="zh-CN" sz="1800" dirty="0">
                <a:ea typeface="宋体" panose="02010600030101010101" pitchFamily="2" charset="-122"/>
              </a:rPr>
              <a:t> { 	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       </a:t>
            </a:r>
            <a:r>
              <a:rPr lang="en-US" altLang="zh-CN" sz="1800" dirty="0" err="1">
                <a:ea typeface="宋体" panose="02010600030101010101" pitchFamily="2" charset="-122"/>
              </a:rPr>
              <a:t>VextexType</a:t>
            </a:r>
            <a:r>
              <a:rPr lang="en-US" altLang="zh-CN" sz="1800" dirty="0">
                <a:ea typeface="宋体" panose="02010600030101010101" pitchFamily="2" charset="-122"/>
              </a:rPr>
              <a:t> data; 	// </a:t>
            </a:r>
            <a:r>
              <a:rPr lang="zh-CN" altLang="en-US" sz="1800" dirty="0">
                <a:ea typeface="宋体" panose="02010600030101010101" pitchFamily="2" charset="-122"/>
              </a:rPr>
              <a:t>顶点信息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dirty="0">
                <a:ea typeface="宋体" panose="02010600030101010101" pitchFamily="2" charset="-122"/>
              </a:rPr>
              <a:t>       </a:t>
            </a:r>
            <a:r>
              <a:rPr lang="en-US" altLang="zh-CN" sz="1800" dirty="0" err="1">
                <a:ea typeface="宋体" panose="02010600030101010101" pitchFamily="2" charset="-122"/>
              </a:rPr>
              <a:t>ArcNode</a:t>
            </a:r>
            <a:r>
              <a:rPr lang="en-US" altLang="zh-CN" sz="1800" dirty="0">
                <a:ea typeface="宋体" panose="02010600030101010101" pitchFamily="2" charset="-122"/>
              </a:rPr>
              <a:t> *</a:t>
            </a:r>
            <a:r>
              <a:rPr lang="en-US" altLang="zh-CN" sz="1800" dirty="0" err="1">
                <a:ea typeface="宋体" panose="02010600030101010101" pitchFamily="2" charset="-122"/>
              </a:rPr>
              <a:t>firstarc</a:t>
            </a:r>
            <a:r>
              <a:rPr lang="en-US" altLang="zh-CN" sz="1800" dirty="0">
                <a:ea typeface="宋体" panose="02010600030101010101" pitchFamily="2" charset="-122"/>
              </a:rPr>
              <a:t>;   	// </a:t>
            </a:r>
            <a:r>
              <a:rPr lang="zh-CN" altLang="en-US" sz="1800" dirty="0">
                <a:ea typeface="宋体" panose="02010600030101010101" pitchFamily="2" charset="-122"/>
              </a:rPr>
              <a:t>指向第一条依附该顶点的边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}</a:t>
            </a:r>
            <a:r>
              <a:rPr lang="en-US" altLang="zh-CN" sz="1800" dirty="0" err="1">
                <a:ea typeface="宋体" panose="02010600030101010101" pitchFamily="2" charset="-122"/>
              </a:rPr>
              <a:t>Vnode</a:t>
            </a:r>
            <a:r>
              <a:rPr lang="en-US" altLang="zh-CN" sz="1800" dirty="0">
                <a:ea typeface="宋体" panose="02010600030101010101" pitchFamily="2" charset="-122"/>
              </a:rPr>
              <a:t>;	  // </a:t>
            </a:r>
            <a:r>
              <a:rPr lang="zh-CN" altLang="en-US" sz="1800" b="1" dirty="0">
                <a:solidFill>
                  <a:srgbClr val="FF0000"/>
                </a:solidFill>
                <a:ea typeface="宋体" panose="02010600030101010101" pitchFamily="2" charset="-122"/>
              </a:rPr>
              <a:t>表头结点 </a:t>
            </a:r>
            <a:endParaRPr lang="en-US" altLang="zh-CN" sz="18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8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 err="1">
                <a:ea typeface="宋体" panose="02010600030101010101" pitchFamily="2" charset="-122"/>
              </a:rPr>
              <a:t>typedef</a:t>
            </a:r>
            <a:r>
              <a:rPr lang="en-US" altLang="zh-CN" sz="1800" dirty="0">
                <a:ea typeface="宋体" panose="02010600030101010101" pitchFamily="2" charset="-122"/>
              </a:rPr>
              <a:t> </a:t>
            </a:r>
            <a:r>
              <a:rPr lang="en-US" altLang="zh-CN" sz="1800" dirty="0" err="1">
                <a:ea typeface="宋体" panose="02010600030101010101" pitchFamily="2" charset="-122"/>
              </a:rPr>
              <a:t>struct</a:t>
            </a:r>
            <a:r>
              <a:rPr lang="en-US" altLang="zh-CN" sz="1800" dirty="0">
                <a:ea typeface="宋体" panose="02010600030101010101" pitchFamily="2" charset="-122"/>
              </a:rPr>
              <a:t> </a:t>
            </a:r>
            <a:r>
              <a:rPr lang="en-US" altLang="zh-CN" sz="1800" dirty="0" err="1">
                <a:ea typeface="宋体" panose="02010600030101010101" pitchFamily="2" charset="-122"/>
              </a:rPr>
              <a:t>ArcNode</a:t>
            </a:r>
            <a:r>
              <a:rPr lang="en-US" altLang="zh-CN" sz="1800" dirty="0">
                <a:ea typeface="宋体" panose="02010600030101010101" pitchFamily="2" charset="-122"/>
              </a:rPr>
              <a:t> 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       </a:t>
            </a:r>
            <a:r>
              <a:rPr lang="en-US" altLang="zh-CN" sz="1800" dirty="0" err="1">
                <a:ea typeface="宋体" panose="02010600030101010101" pitchFamily="2" charset="-122"/>
              </a:rPr>
              <a:t>int</a:t>
            </a:r>
            <a:r>
              <a:rPr lang="en-US" altLang="zh-CN" sz="1800" dirty="0">
                <a:ea typeface="宋体" panose="02010600030101010101" pitchFamily="2" charset="-122"/>
              </a:rPr>
              <a:t> </a:t>
            </a:r>
            <a:r>
              <a:rPr lang="en-US" altLang="zh-CN" sz="1800" dirty="0" err="1">
                <a:ea typeface="宋体" panose="02010600030101010101" pitchFamily="2" charset="-122"/>
              </a:rPr>
              <a:t>adjvex</a:t>
            </a:r>
            <a:r>
              <a:rPr lang="en-US" altLang="zh-CN" sz="1800" dirty="0">
                <a:ea typeface="宋体" panose="02010600030101010101" pitchFamily="2" charset="-122"/>
              </a:rPr>
              <a:t>;			// </a:t>
            </a:r>
            <a:r>
              <a:rPr lang="zh-CN" altLang="en-US" sz="1800" dirty="0">
                <a:ea typeface="宋体" panose="02010600030101010101" pitchFamily="2" charset="-122"/>
              </a:rPr>
              <a:t>该边的起始点位置</a:t>
            </a:r>
            <a:r>
              <a:rPr lang="en-US" altLang="zh-CN" sz="1800" dirty="0">
                <a:ea typeface="宋体" panose="02010600030101010101" pitchFamily="2" charset="-122"/>
              </a:rPr>
              <a:t>(</a:t>
            </a:r>
            <a:r>
              <a:rPr lang="zh-CN" altLang="en-US" sz="1800" dirty="0">
                <a:ea typeface="宋体" panose="02010600030101010101" pitchFamily="2" charset="-122"/>
              </a:rPr>
              <a:t>下标</a:t>
            </a:r>
            <a:r>
              <a:rPr lang="en-US" altLang="zh-CN" sz="1800" dirty="0">
                <a:ea typeface="宋体" panose="02010600030101010101" pitchFamily="2" charset="-122"/>
              </a:rPr>
              <a:t>)</a:t>
            </a:r>
            <a:endParaRPr lang="zh-CN" altLang="en-US" sz="1800" dirty="0"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dirty="0">
                <a:ea typeface="宋体" panose="02010600030101010101" pitchFamily="2" charset="-122"/>
              </a:rPr>
              <a:t>       </a:t>
            </a:r>
            <a:r>
              <a:rPr lang="en-US" altLang="zh-CN" sz="1800" dirty="0" err="1">
                <a:ea typeface="宋体" panose="02010600030101010101" pitchFamily="2" charset="-122"/>
              </a:rPr>
              <a:t>struct</a:t>
            </a:r>
            <a:r>
              <a:rPr lang="en-US" altLang="zh-CN" sz="1800" dirty="0">
                <a:ea typeface="宋体" panose="02010600030101010101" pitchFamily="2" charset="-122"/>
              </a:rPr>
              <a:t> </a:t>
            </a:r>
            <a:r>
              <a:rPr lang="en-US" altLang="zh-CN" sz="1800" dirty="0" err="1">
                <a:ea typeface="宋体" panose="02010600030101010101" pitchFamily="2" charset="-122"/>
              </a:rPr>
              <a:t>ArcNode</a:t>
            </a:r>
            <a:r>
              <a:rPr lang="en-US" altLang="zh-CN" sz="1800" dirty="0">
                <a:ea typeface="宋体" panose="02010600030101010101" pitchFamily="2" charset="-122"/>
              </a:rPr>
              <a:t> *</a:t>
            </a:r>
            <a:r>
              <a:rPr lang="en-US" altLang="zh-CN" sz="1800" dirty="0" err="1">
                <a:ea typeface="宋体" panose="02010600030101010101" pitchFamily="2" charset="-122"/>
              </a:rPr>
              <a:t>nextarc</a:t>
            </a:r>
            <a:r>
              <a:rPr lang="en-US" altLang="zh-CN" sz="1800" dirty="0">
                <a:ea typeface="宋体" panose="02010600030101010101" pitchFamily="2" charset="-122"/>
              </a:rPr>
              <a:t>;   	 // </a:t>
            </a:r>
            <a:r>
              <a:rPr lang="zh-CN" altLang="en-US" sz="1800" dirty="0">
                <a:ea typeface="宋体" panose="02010600030101010101" pitchFamily="2" charset="-122"/>
              </a:rPr>
              <a:t>指向下一条边的指针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}</a:t>
            </a:r>
            <a:r>
              <a:rPr lang="en-US" altLang="zh-CN" sz="1800" dirty="0" err="1">
                <a:ea typeface="宋体" panose="02010600030101010101" pitchFamily="2" charset="-122"/>
              </a:rPr>
              <a:t>ArcNode</a:t>
            </a:r>
            <a:r>
              <a:rPr lang="en-US" altLang="zh-CN" sz="1800" dirty="0">
                <a:ea typeface="宋体" panose="02010600030101010101" pitchFamily="2" charset="-122"/>
              </a:rPr>
              <a:t>;	 // </a:t>
            </a:r>
            <a:r>
              <a:rPr lang="zh-CN" altLang="en-US" sz="1800" b="1" dirty="0">
                <a:solidFill>
                  <a:srgbClr val="FF0000"/>
                </a:solidFill>
                <a:ea typeface="宋体" panose="02010600030101010101" pitchFamily="2" charset="-122"/>
              </a:rPr>
              <a:t>边结点 </a:t>
            </a:r>
            <a:endParaRPr lang="en-US" altLang="zh-CN" sz="18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800" dirty="0"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 err="1">
                <a:ea typeface="宋体" panose="02010600030101010101" pitchFamily="2" charset="-122"/>
              </a:rPr>
              <a:t>typedef</a:t>
            </a:r>
            <a:r>
              <a:rPr lang="en-US" altLang="zh-CN" sz="1800" dirty="0">
                <a:ea typeface="宋体" panose="02010600030101010101" pitchFamily="2" charset="-122"/>
              </a:rPr>
              <a:t> </a:t>
            </a:r>
            <a:r>
              <a:rPr lang="en-US" altLang="zh-CN" sz="1800" dirty="0" err="1">
                <a:ea typeface="宋体" panose="02010600030101010101" pitchFamily="2" charset="-122"/>
              </a:rPr>
              <a:t>struct</a:t>
            </a:r>
            <a:r>
              <a:rPr lang="en-US" altLang="zh-CN" sz="1800" dirty="0">
                <a:ea typeface="宋体" panose="02010600030101010101" pitchFamily="2" charset="-122"/>
              </a:rPr>
              <a:t> 	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{     </a:t>
            </a:r>
            <a:r>
              <a:rPr lang="en-US" altLang="zh-CN" sz="1800" dirty="0" err="1">
                <a:ea typeface="宋体" panose="02010600030101010101" pitchFamily="2" charset="-122"/>
              </a:rPr>
              <a:t>VNode</a:t>
            </a:r>
            <a:r>
              <a:rPr lang="en-US" altLang="zh-CN" sz="1800" dirty="0">
                <a:ea typeface="宋体" panose="02010600030101010101" pitchFamily="2" charset="-122"/>
              </a:rPr>
              <a:t> vertices[MAXV];	// </a:t>
            </a:r>
            <a:r>
              <a:rPr lang="zh-CN" altLang="en-US" sz="1800" dirty="0">
                <a:ea typeface="宋体" panose="02010600030101010101" pitchFamily="2" charset="-122"/>
              </a:rPr>
              <a:t>顶点数组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dirty="0">
                <a:ea typeface="宋体" panose="02010600030101010101" pitchFamily="2" charset="-122"/>
              </a:rPr>
              <a:t>      </a:t>
            </a:r>
            <a:r>
              <a:rPr lang="en-US" altLang="zh-CN" sz="1800" dirty="0" err="1">
                <a:ea typeface="宋体" panose="02010600030101010101" pitchFamily="2" charset="-122"/>
              </a:rPr>
              <a:t>int</a:t>
            </a:r>
            <a:r>
              <a:rPr lang="en-US" altLang="zh-CN" sz="1800" dirty="0">
                <a:ea typeface="宋体" panose="02010600030101010101" pitchFamily="2" charset="-122"/>
              </a:rPr>
              <a:t> </a:t>
            </a:r>
            <a:r>
              <a:rPr lang="en-US" altLang="zh-CN" sz="1800" dirty="0" err="1">
                <a:ea typeface="宋体" panose="02010600030101010101" pitchFamily="2" charset="-122"/>
              </a:rPr>
              <a:t>vexnum</a:t>
            </a:r>
            <a:r>
              <a:rPr lang="en-US" altLang="zh-CN" sz="1800" dirty="0">
                <a:ea typeface="宋体" panose="02010600030101010101" pitchFamily="2" charset="-122"/>
              </a:rPr>
              <a:t>, </a:t>
            </a:r>
            <a:r>
              <a:rPr lang="en-US" altLang="zh-CN" sz="1800" dirty="0" err="1">
                <a:ea typeface="宋体" panose="02010600030101010101" pitchFamily="2" charset="-122"/>
              </a:rPr>
              <a:t>arcnum</a:t>
            </a:r>
            <a:r>
              <a:rPr lang="en-US" altLang="zh-CN" sz="1800" dirty="0">
                <a:ea typeface="宋体" panose="02010600030101010101" pitchFamily="2" charset="-122"/>
              </a:rPr>
              <a:t>; 	  	 // </a:t>
            </a:r>
            <a:r>
              <a:rPr lang="zh-CN" altLang="en-US" sz="1800" dirty="0">
                <a:ea typeface="宋体" panose="02010600030101010101" pitchFamily="2" charset="-122"/>
              </a:rPr>
              <a:t>当前顶点数和边数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}</a:t>
            </a:r>
            <a:r>
              <a:rPr lang="en-US" altLang="zh-CN" sz="1800" dirty="0" err="1">
                <a:ea typeface="宋体" panose="02010600030101010101" pitchFamily="2" charset="-122"/>
              </a:rPr>
              <a:t>ALGraph</a:t>
            </a:r>
            <a:r>
              <a:rPr lang="en-US" altLang="zh-CN" sz="1800" dirty="0">
                <a:ea typeface="宋体" panose="02010600030101010101" pitchFamily="2" charset="-122"/>
              </a:rPr>
              <a:t>;    // </a:t>
            </a:r>
            <a:r>
              <a:rPr lang="zh-CN" altLang="en-US" sz="1800" b="1" dirty="0">
                <a:solidFill>
                  <a:srgbClr val="FF0000"/>
                </a:solidFill>
                <a:ea typeface="宋体" panose="02010600030101010101" pitchFamily="2" charset="-122"/>
              </a:rPr>
              <a:t>邻接表 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31640" y="2615406"/>
            <a:ext cx="6624736" cy="10795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练习 </a:t>
            </a:r>
            <a:r>
              <a:rPr lang="en-US" altLang="zh-CN" dirty="0"/>
              <a:t>6-3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215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FC9BE59-6BE6-4719-943D-2F0BF22505B9}" type="slidenum">
              <a:rPr lang="zh-CN" altLang="en-US" smtClean="0"/>
              <a:pPr>
                <a:defRPr/>
              </a:pPr>
              <a:t>35</a:t>
            </a:fld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画出下面图的邻接表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顶点的顺序为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{A, B, C, D}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边的顺序按顶点下标的升序排列</a:t>
            </a:r>
          </a:p>
        </p:txBody>
      </p:sp>
      <p:sp>
        <p:nvSpPr>
          <p:cNvPr id="7" name="圆角矩形 6"/>
          <p:cNvSpPr/>
          <p:nvPr>
            <p:custDataLst>
              <p:tags r:id="rId3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3" name="矩形 12"/>
          <p:cNvSpPr/>
          <p:nvPr>
            <p:custDataLst>
              <p:tags r:id="rId4"/>
            </p:custDataLst>
          </p:nvPr>
        </p:nvSpPr>
        <p:spPr bwMode="auto">
          <a:xfrm>
            <a:off x="0" y="5849303"/>
            <a:ext cx="9144000" cy="365760"/>
          </a:xfrm>
          <a:prstGeom prst="rect">
            <a:avLst/>
          </a:prstGeom>
          <a:solidFill>
            <a:srgbClr val="FBFAE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eaLnBrk="1" hangingPunct="1"/>
            <a:r>
              <a:rPr kumimoji="0" lang="zh-CN" altLang="en-US" sz="1200" b="0" i="1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kumimoji="0" lang="en-US" altLang="zh-CN" sz="1200" b="0" i="1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kumimoji="0" lang="zh-CN" altLang="en-US" sz="1200" b="0" i="1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1863055" y="2924374"/>
            <a:ext cx="2276475" cy="2127250"/>
            <a:chOff x="495300" y="3284538"/>
            <a:chExt cx="2276475" cy="2127250"/>
          </a:xfrm>
        </p:grpSpPr>
        <p:grpSp>
          <p:nvGrpSpPr>
            <p:cNvPr id="15" name="组合 1"/>
            <p:cNvGrpSpPr>
              <a:grpSpLocks/>
            </p:cNvGrpSpPr>
            <p:nvPr/>
          </p:nvGrpSpPr>
          <p:grpSpPr bwMode="auto">
            <a:xfrm>
              <a:off x="495300" y="3284538"/>
              <a:ext cx="2276475" cy="1757362"/>
              <a:chOff x="2413000" y="4119910"/>
              <a:chExt cx="2276475" cy="1757362"/>
            </a:xfrm>
          </p:grpSpPr>
          <p:sp>
            <p:nvSpPr>
              <p:cNvPr id="17" name="Line 3"/>
              <p:cNvSpPr>
                <a:spLocks noChangeShapeType="1"/>
              </p:cNvSpPr>
              <p:nvPr/>
            </p:nvSpPr>
            <p:spPr bwMode="auto">
              <a:xfrm>
                <a:off x="2987675" y="4334222"/>
                <a:ext cx="1152525" cy="0"/>
              </a:xfrm>
              <a:prstGeom prst="line">
                <a:avLst/>
              </a:prstGeom>
              <a:noFill/>
              <a:ln w="2540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" name="Line 6"/>
              <p:cNvSpPr>
                <a:spLocks noChangeShapeType="1"/>
              </p:cNvSpPr>
              <p:nvPr/>
            </p:nvSpPr>
            <p:spPr bwMode="auto">
              <a:xfrm>
                <a:off x="2700338" y="4694585"/>
                <a:ext cx="0" cy="704850"/>
              </a:xfrm>
              <a:prstGeom prst="line">
                <a:avLst/>
              </a:prstGeom>
              <a:noFill/>
              <a:ln w="2540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" name="Line 8"/>
              <p:cNvSpPr>
                <a:spLocks noChangeShapeType="1"/>
              </p:cNvSpPr>
              <p:nvPr/>
            </p:nvSpPr>
            <p:spPr bwMode="auto">
              <a:xfrm flipH="1" flipV="1">
                <a:off x="2916238" y="4551710"/>
                <a:ext cx="1295400" cy="863600"/>
              </a:xfrm>
              <a:prstGeom prst="line">
                <a:avLst/>
              </a:prstGeom>
              <a:noFill/>
              <a:ln w="2540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" name="Line 9"/>
              <p:cNvSpPr>
                <a:spLocks noChangeShapeType="1"/>
              </p:cNvSpPr>
              <p:nvPr/>
            </p:nvSpPr>
            <p:spPr bwMode="auto">
              <a:xfrm flipV="1">
                <a:off x="2987675" y="5631210"/>
                <a:ext cx="1152525" cy="0"/>
              </a:xfrm>
              <a:prstGeom prst="line">
                <a:avLst/>
              </a:prstGeom>
              <a:noFill/>
              <a:ln w="25400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" name="Oval 10"/>
              <p:cNvSpPr>
                <a:spLocks noChangeArrowheads="1"/>
              </p:cNvSpPr>
              <p:nvPr/>
            </p:nvSpPr>
            <p:spPr bwMode="auto">
              <a:xfrm>
                <a:off x="2413000" y="4119910"/>
                <a:ext cx="574675" cy="533400"/>
              </a:xfrm>
              <a:prstGeom prst="ellipse">
                <a:avLst/>
              </a:prstGeom>
              <a:noFill/>
              <a:ln w="254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pPr algn="ctr" eaLnBrk="1" hangingPunct="1">
                  <a:defRPr/>
                </a:pPr>
                <a:r>
                  <a:rPr kumimoji="1" lang="en-US" altLang="zh-CN" sz="3600" dirty="0">
                    <a:latin typeface="+mn-lt"/>
                  </a:rPr>
                  <a:t>A</a:t>
                </a:r>
                <a:endParaRPr kumimoji="1" lang="en-US" altLang="zh-CN" sz="2400" dirty="0">
                  <a:latin typeface="+mn-lt"/>
                </a:endParaRPr>
              </a:p>
            </p:txBody>
          </p:sp>
          <p:sp>
            <p:nvSpPr>
              <p:cNvPr id="22" name="Oval 11"/>
              <p:cNvSpPr>
                <a:spLocks noChangeArrowheads="1"/>
              </p:cNvSpPr>
              <p:nvPr/>
            </p:nvSpPr>
            <p:spPr bwMode="auto">
              <a:xfrm>
                <a:off x="2484438" y="5399435"/>
                <a:ext cx="496887" cy="477837"/>
              </a:xfrm>
              <a:prstGeom prst="ellipse">
                <a:avLst/>
              </a:prstGeom>
              <a:noFill/>
              <a:ln w="254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3600">
                    <a:ea typeface="宋体" panose="02010600030101010101" pitchFamily="2" charset="-122"/>
                  </a:rPr>
                  <a:t>C</a:t>
                </a:r>
              </a:p>
            </p:txBody>
          </p:sp>
          <p:sp>
            <p:nvSpPr>
              <p:cNvPr id="23" name="Oval 12"/>
              <p:cNvSpPr>
                <a:spLocks noChangeArrowheads="1"/>
              </p:cNvSpPr>
              <p:nvPr/>
            </p:nvSpPr>
            <p:spPr bwMode="auto">
              <a:xfrm>
                <a:off x="4141788" y="5343872"/>
                <a:ext cx="547687" cy="533400"/>
              </a:xfrm>
              <a:prstGeom prst="ellipse">
                <a:avLst/>
              </a:prstGeom>
              <a:noFill/>
              <a:ln w="254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3600">
                    <a:ea typeface="宋体" panose="02010600030101010101" pitchFamily="2" charset="-122"/>
                  </a:rPr>
                  <a:t>D</a:t>
                </a:r>
              </a:p>
            </p:txBody>
          </p:sp>
          <p:sp>
            <p:nvSpPr>
              <p:cNvPr id="24" name="Oval 13"/>
              <p:cNvSpPr>
                <a:spLocks noChangeArrowheads="1"/>
              </p:cNvSpPr>
              <p:nvPr/>
            </p:nvSpPr>
            <p:spPr bwMode="auto">
              <a:xfrm>
                <a:off x="4141788" y="4119910"/>
                <a:ext cx="547687" cy="533400"/>
              </a:xfrm>
              <a:prstGeom prst="ellipse">
                <a:avLst/>
              </a:prstGeom>
              <a:noFill/>
              <a:ln w="254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3600" dirty="0">
                    <a:ea typeface="宋体" panose="02010600030101010101" pitchFamily="2" charset="-122"/>
                  </a:rPr>
                  <a:t>B</a:t>
                </a:r>
              </a:p>
            </p:txBody>
          </p:sp>
        </p:grpSp>
        <p:sp>
          <p:nvSpPr>
            <p:cNvPr id="16" name="文本框 1"/>
            <p:cNvSpPr txBox="1">
              <a:spLocks noChangeArrowheads="1"/>
            </p:cNvSpPr>
            <p:nvPr/>
          </p:nvSpPr>
          <p:spPr bwMode="auto">
            <a:xfrm>
              <a:off x="1358900" y="5041900"/>
              <a:ext cx="576263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>
                  <a:ea typeface="宋体" panose="02010600030101010101" pitchFamily="2" charset="-122"/>
                </a:rPr>
                <a:t>(a)</a:t>
              </a:r>
              <a:endParaRPr lang="zh-CN" altLang="en-US" sz="1800">
                <a:ea typeface="宋体" panose="02010600030101010101" pitchFamily="2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4860255" y="2924374"/>
            <a:ext cx="2232025" cy="2098675"/>
            <a:chOff x="3492500" y="3284538"/>
            <a:chExt cx="2232025" cy="2098675"/>
          </a:xfrm>
        </p:grpSpPr>
        <p:sp>
          <p:nvSpPr>
            <p:cNvPr id="26" name="Line 3"/>
            <p:cNvSpPr>
              <a:spLocks noChangeShapeType="1"/>
            </p:cNvSpPr>
            <p:nvPr/>
          </p:nvSpPr>
          <p:spPr bwMode="auto">
            <a:xfrm>
              <a:off x="3995738" y="3571875"/>
              <a:ext cx="1223962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Line 6"/>
            <p:cNvSpPr>
              <a:spLocks noChangeShapeType="1"/>
            </p:cNvSpPr>
            <p:nvPr/>
          </p:nvSpPr>
          <p:spPr bwMode="auto">
            <a:xfrm>
              <a:off x="3779838" y="3859213"/>
              <a:ext cx="0" cy="70485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Line 7"/>
            <p:cNvSpPr>
              <a:spLocks noChangeShapeType="1"/>
            </p:cNvSpPr>
            <p:nvPr/>
          </p:nvSpPr>
          <p:spPr bwMode="auto">
            <a:xfrm flipH="1" flipV="1">
              <a:off x="5437188" y="3787775"/>
              <a:ext cx="0" cy="720725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Line 8"/>
            <p:cNvSpPr>
              <a:spLocks noChangeShapeType="1"/>
            </p:cNvSpPr>
            <p:nvPr/>
          </p:nvSpPr>
          <p:spPr bwMode="auto">
            <a:xfrm flipH="1" flipV="1">
              <a:off x="3995738" y="3716338"/>
              <a:ext cx="1296987" cy="86360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Line 9"/>
            <p:cNvSpPr>
              <a:spLocks noChangeShapeType="1"/>
            </p:cNvSpPr>
            <p:nvPr/>
          </p:nvSpPr>
          <p:spPr bwMode="auto">
            <a:xfrm flipV="1">
              <a:off x="3995738" y="4795838"/>
              <a:ext cx="1225550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Oval 10"/>
            <p:cNvSpPr>
              <a:spLocks noChangeArrowheads="1"/>
            </p:cNvSpPr>
            <p:nvPr/>
          </p:nvSpPr>
          <p:spPr bwMode="auto">
            <a:xfrm>
              <a:off x="3492500" y="3284538"/>
              <a:ext cx="528638" cy="533400"/>
            </a:xfrm>
            <a:prstGeom prst="ellips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3600" b="1" dirty="0">
                  <a:latin typeface="+mn-ea"/>
                  <a:ea typeface="+mn-ea"/>
                </a:rPr>
                <a:t>A</a:t>
              </a:r>
              <a:endParaRPr kumimoji="1" lang="en-US" altLang="zh-CN" sz="2400" dirty="0">
                <a:latin typeface="+mn-ea"/>
                <a:ea typeface="+mn-ea"/>
              </a:endParaRPr>
            </a:p>
          </p:txBody>
        </p:sp>
        <p:sp>
          <p:nvSpPr>
            <p:cNvPr id="32" name="Oval 11"/>
            <p:cNvSpPr>
              <a:spLocks noChangeArrowheads="1"/>
            </p:cNvSpPr>
            <p:nvPr/>
          </p:nvSpPr>
          <p:spPr bwMode="auto">
            <a:xfrm>
              <a:off x="3563938" y="4564063"/>
              <a:ext cx="457200" cy="477837"/>
            </a:xfrm>
            <a:prstGeom prst="ellips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None/>
              </a:pPr>
              <a:r>
                <a:rPr kumimoji="1" lang="en-US" altLang="zh-CN" sz="3600" b="1" dirty="0">
                  <a:latin typeface="+mn-ea"/>
                  <a:ea typeface="+mn-ea"/>
                </a:rPr>
                <a:t>C</a:t>
              </a:r>
            </a:p>
          </p:txBody>
        </p:sp>
        <p:sp>
          <p:nvSpPr>
            <p:cNvPr id="33" name="Oval 12"/>
            <p:cNvSpPr>
              <a:spLocks noChangeArrowheads="1"/>
            </p:cNvSpPr>
            <p:nvPr/>
          </p:nvSpPr>
          <p:spPr bwMode="auto">
            <a:xfrm>
              <a:off x="5221288" y="4508500"/>
              <a:ext cx="503237" cy="533400"/>
            </a:xfrm>
            <a:prstGeom prst="ellips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None/>
              </a:pPr>
              <a:r>
                <a:rPr kumimoji="1" lang="en-US" altLang="zh-CN" sz="3600" b="1" dirty="0">
                  <a:latin typeface="+mn-ea"/>
                  <a:ea typeface="+mn-ea"/>
                </a:rPr>
                <a:t>D</a:t>
              </a:r>
            </a:p>
          </p:txBody>
        </p:sp>
        <p:sp>
          <p:nvSpPr>
            <p:cNvPr id="34" name="Oval 13"/>
            <p:cNvSpPr>
              <a:spLocks noChangeArrowheads="1"/>
            </p:cNvSpPr>
            <p:nvPr/>
          </p:nvSpPr>
          <p:spPr bwMode="auto">
            <a:xfrm>
              <a:off x="5221288" y="3284538"/>
              <a:ext cx="503237" cy="533400"/>
            </a:xfrm>
            <a:prstGeom prst="ellips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None/>
              </a:pPr>
              <a:r>
                <a:rPr kumimoji="1" lang="en-US" altLang="zh-CN" sz="3600" b="1" dirty="0">
                  <a:latin typeface="+mn-ea"/>
                  <a:ea typeface="+mn-ea"/>
                </a:rPr>
                <a:t>B</a:t>
              </a:r>
            </a:p>
          </p:txBody>
        </p:sp>
        <p:sp>
          <p:nvSpPr>
            <p:cNvPr id="35" name="文本框 23"/>
            <p:cNvSpPr txBox="1">
              <a:spLocks noChangeArrowheads="1"/>
            </p:cNvSpPr>
            <p:nvPr/>
          </p:nvSpPr>
          <p:spPr bwMode="auto">
            <a:xfrm>
              <a:off x="4356100" y="5013325"/>
              <a:ext cx="576263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dirty="0">
                  <a:ea typeface="宋体" panose="02010600030101010101" pitchFamily="2" charset="-122"/>
                </a:rPr>
                <a:t>(b)</a:t>
              </a:r>
              <a:endParaRPr lang="zh-CN" altLang="en-US" sz="1800" dirty="0">
                <a:ea typeface="宋体" panose="02010600030101010101" pitchFamily="2" charset="-122"/>
              </a:endParaRPr>
            </a:p>
          </p:txBody>
        </p:sp>
      </p:grpSp>
      <p:grpSp>
        <p:nvGrpSpPr>
          <p:cNvPr id="12" name="组合 11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8" name="TitleBackground"/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华文细黑" pitchFamily="2" charset="-122"/>
              </a:endParaRPr>
            </a:p>
          </p:txBody>
        </p:sp>
        <p:sp>
          <p:nvSpPr>
            <p:cNvPr id="9" name="ColorBlock"/>
            <p:cNvSpPr/>
            <p:nvPr>
              <p:custDataLst>
                <p:tags r:id="rId8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华文细黑" pitchFamily="2" charset="-122"/>
              </a:endParaRPr>
            </a:p>
          </p:txBody>
        </p:sp>
        <p:sp>
          <p:nvSpPr>
            <p:cNvPr id="10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1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303202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邻接表表示法的特点</a:t>
            </a:r>
          </a:p>
        </p:txBody>
      </p:sp>
      <p:sp>
        <p:nvSpPr>
          <p:cNvPr id="4096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优点</a:t>
            </a:r>
            <a:endParaRPr lang="en-US" altLang="zh-CN" dirty="0"/>
          </a:p>
          <a:p>
            <a:pPr lvl="1"/>
            <a:r>
              <a:rPr lang="zh-CN" altLang="en-US" dirty="0"/>
              <a:t>便于增加和删除顶点</a:t>
            </a:r>
            <a:endParaRPr lang="en-US" altLang="zh-CN" dirty="0"/>
          </a:p>
          <a:p>
            <a:pPr lvl="1"/>
            <a:r>
              <a:rPr lang="zh-CN" altLang="en-US" dirty="0"/>
              <a:t>便于统计边的数目，时间复杂度为</a:t>
            </a:r>
            <a:r>
              <a:rPr lang="en-US" altLang="zh-CN" dirty="0"/>
              <a:t>O(</a:t>
            </a:r>
            <a:r>
              <a:rPr lang="en-US" altLang="zh-CN" dirty="0" err="1"/>
              <a:t>n+e</a:t>
            </a:r>
            <a:r>
              <a:rPr lang="en-US" altLang="zh-CN" dirty="0"/>
              <a:t>)</a:t>
            </a:r>
          </a:p>
          <a:p>
            <a:pPr lvl="1"/>
            <a:r>
              <a:rPr lang="zh-CN" altLang="en-US" dirty="0"/>
              <a:t>空间效率高，空间复杂度为</a:t>
            </a:r>
            <a:r>
              <a:rPr lang="en-US" altLang="zh-CN" dirty="0"/>
              <a:t>O(</a:t>
            </a:r>
            <a:r>
              <a:rPr lang="en-US" altLang="zh-CN" dirty="0" err="1"/>
              <a:t>n+e</a:t>
            </a:r>
            <a:r>
              <a:rPr lang="en-US" altLang="zh-CN" dirty="0"/>
              <a:t>)</a:t>
            </a:r>
          </a:p>
          <a:p>
            <a:r>
              <a:rPr lang="zh-CN" altLang="en-US" dirty="0"/>
              <a:t>缺点</a:t>
            </a:r>
            <a:endParaRPr lang="en-US" altLang="zh-CN" dirty="0"/>
          </a:p>
          <a:p>
            <a:pPr lvl="1"/>
            <a:r>
              <a:rPr lang="zh-CN" altLang="en-US" dirty="0"/>
              <a:t>不便于判断顶点之间是否有边</a:t>
            </a:r>
            <a:endParaRPr lang="en-US" altLang="zh-CN" dirty="0"/>
          </a:p>
          <a:p>
            <a:pPr lvl="1"/>
            <a:r>
              <a:rPr lang="zh-CN" altLang="en-US" dirty="0"/>
              <a:t>不便于计算有向图各个顶点的度</a:t>
            </a:r>
            <a:endParaRPr lang="en-US" altLang="zh-CN" dirty="0"/>
          </a:p>
        </p:txBody>
      </p:sp>
      <p:sp>
        <p:nvSpPr>
          <p:cNvPr id="40964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37D3A1F-0857-4646-93D5-ADDEFFF2BCB1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36</a:t>
            </a:fld>
            <a:endParaRPr lang="zh-CN" altLang="en-US"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98497B4-844C-2844-812A-7270987C51BC}"/>
              </a:ext>
            </a:extLst>
          </p:cNvPr>
          <p:cNvSpPr txBox="1"/>
          <p:nvPr/>
        </p:nvSpPr>
        <p:spPr>
          <a:xfrm>
            <a:off x="5884171" y="3861048"/>
            <a:ext cx="19281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solidFill>
                  <a:srgbClr val="FF0000"/>
                </a:solidFill>
              </a:rPr>
              <a:t>？？？？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AFD22A0-2BE1-8740-9ADD-A3DBB59D4BF1}"/>
              </a:ext>
            </a:extLst>
          </p:cNvPr>
          <p:cNvSpPr txBox="1"/>
          <p:nvPr/>
        </p:nvSpPr>
        <p:spPr>
          <a:xfrm>
            <a:off x="5724128" y="4549368"/>
            <a:ext cx="19281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dirty="0">
                <a:solidFill>
                  <a:srgbClr val="FF0000"/>
                </a:solidFill>
              </a:rPr>
              <a:t>？？？？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latin typeface="+mn-ea"/>
                <a:ea typeface="+mn-ea"/>
              </a:rPr>
              <a:t>邻接矩阵与邻接表表示法的关系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3" y="1125538"/>
            <a:ext cx="5543550" cy="2663825"/>
          </a:xfrm>
        </p:spPr>
        <p:txBody>
          <a:bodyPr/>
          <a:lstStyle/>
          <a:p>
            <a:pPr>
              <a:defRPr/>
            </a:pPr>
            <a:r>
              <a:rPr lang="zh-CN" altLang="en-US" dirty="0">
                <a:solidFill>
                  <a:srgbClr val="FF3300"/>
                </a:solidFill>
                <a:latin typeface="+mn-ea"/>
              </a:rPr>
              <a:t>联系：</a:t>
            </a:r>
            <a:r>
              <a:rPr lang="zh-CN" altLang="en-US" dirty="0">
                <a:latin typeface="+mn-ea"/>
              </a:rPr>
              <a:t>邻接表中每个链表对应于邻接矩阵中的一行，链表中结点个数等于一行中非零元素的个数</a:t>
            </a:r>
          </a:p>
        </p:txBody>
      </p:sp>
      <p:sp>
        <p:nvSpPr>
          <p:cNvPr id="4403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8F920CD-D7F4-4C83-8D43-43FA53B30E22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37</a:t>
            </a:fld>
            <a:endParaRPr lang="zh-CN" altLang="en-US" sz="1000"/>
          </a:p>
        </p:txBody>
      </p:sp>
      <p:grpSp>
        <p:nvGrpSpPr>
          <p:cNvPr id="44037" name="Group 210"/>
          <p:cNvGrpSpPr>
            <a:grpSpLocks/>
          </p:cNvGrpSpPr>
          <p:nvPr/>
        </p:nvGrpSpPr>
        <p:grpSpPr bwMode="auto">
          <a:xfrm>
            <a:off x="6443663" y="1484313"/>
            <a:ext cx="2146300" cy="2016125"/>
            <a:chOff x="40" y="413"/>
            <a:chExt cx="1352" cy="816"/>
          </a:xfrm>
        </p:grpSpPr>
        <p:sp>
          <p:nvSpPr>
            <p:cNvPr id="44214" name="Oval 5"/>
            <p:cNvSpPr>
              <a:spLocks noChangeArrowheads="1"/>
            </p:cNvSpPr>
            <p:nvPr/>
          </p:nvSpPr>
          <p:spPr bwMode="auto">
            <a:xfrm>
              <a:off x="40" y="441"/>
              <a:ext cx="312" cy="197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rgbClr val="BADE78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chemeClr val="bg1"/>
                  </a:solidFill>
                  <a:ea typeface="黑体" panose="02010609060101010101" pitchFamily="49" charset="-122"/>
                </a:rPr>
                <a:t>v1</a:t>
              </a:r>
            </a:p>
          </p:txBody>
        </p:sp>
        <p:sp>
          <p:nvSpPr>
            <p:cNvPr id="44215" name="Oval 6"/>
            <p:cNvSpPr>
              <a:spLocks noChangeArrowheads="1"/>
            </p:cNvSpPr>
            <p:nvPr/>
          </p:nvSpPr>
          <p:spPr bwMode="auto">
            <a:xfrm>
              <a:off x="976" y="413"/>
              <a:ext cx="312" cy="197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rgbClr val="BADE78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chemeClr val="bg1"/>
                  </a:solidFill>
                  <a:ea typeface="黑体" panose="02010609060101010101" pitchFamily="49" charset="-122"/>
                </a:rPr>
                <a:t>v2</a:t>
              </a:r>
            </a:p>
          </p:txBody>
        </p:sp>
        <p:sp>
          <p:nvSpPr>
            <p:cNvPr id="44216" name="Oval 7"/>
            <p:cNvSpPr>
              <a:spLocks noChangeArrowheads="1"/>
            </p:cNvSpPr>
            <p:nvPr/>
          </p:nvSpPr>
          <p:spPr bwMode="auto">
            <a:xfrm>
              <a:off x="508" y="723"/>
              <a:ext cx="312" cy="196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rgbClr val="BADE78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chemeClr val="bg1"/>
                  </a:solidFill>
                  <a:ea typeface="黑体" panose="02010609060101010101" pitchFamily="49" charset="-122"/>
                </a:rPr>
                <a:t>v3</a:t>
              </a:r>
            </a:p>
          </p:txBody>
        </p:sp>
        <p:sp>
          <p:nvSpPr>
            <p:cNvPr id="44218" name="Line 9"/>
            <p:cNvSpPr>
              <a:spLocks noChangeShapeType="1"/>
            </p:cNvSpPr>
            <p:nvPr/>
          </p:nvSpPr>
          <p:spPr bwMode="auto">
            <a:xfrm>
              <a:off x="352" y="526"/>
              <a:ext cx="624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219" name="Line 10"/>
            <p:cNvSpPr>
              <a:spLocks noChangeShapeType="1"/>
            </p:cNvSpPr>
            <p:nvPr/>
          </p:nvSpPr>
          <p:spPr bwMode="auto">
            <a:xfrm flipH="1">
              <a:off x="196" y="638"/>
              <a:ext cx="0" cy="366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220" name="Line 11"/>
            <p:cNvSpPr>
              <a:spLocks noChangeShapeType="1"/>
            </p:cNvSpPr>
            <p:nvPr/>
          </p:nvSpPr>
          <p:spPr bwMode="auto">
            <a:xfrm>
              <a:off x="352" y="1145"/>
              <a:ext cx="728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221" name="Line 12"/>
            <p:cNvSpPr>
              <a:spLocks noChangeShapeType="1"/>
            </p:cNvSpPr>
            <p:nvPr/>
          </p:nvSpPr>
          <p:spPr bwMode="auto">
            <a:xfrm>
              <a:off x="785" y="902"/>
              <a:ext cx="364" cy="169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222" name="Oval 13"/>
            <p:cNvSpPr>
              <a:spLocks noChangeArrowheads="1"/>
            </p:cNvSpPr>
            <p:nvPr/>
          </p:nvSpPr>
          <p:spPr bwMode="auto">
            <a:xfrm>
              <a:off x="40" y="1004"/>
              <a:ext cx="312" cy="197"/>
            </a:xfrm>
            <a:prstGeom prst="ellipse">
              <a:avLst/>
            </a:prstGeom>
            <a:solidFill>
              <a:srgbClr val="111147"/>
            </a:solidFill>
            <a:ln w="38100">
              <a:solidFill>
                <a:srgbClr val="BADE78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CDE5F3"/>
                  </a:solidFill>
                  <a:ea typeface="黑体" panose="02010609060101010101" pitchFamily="49" charset="-122"/>
                </a:rPr>
                <a:t>v4</a:t>
              </a:r>
            </a:p>
          </p:txBody>
        </p:sp>
        <p:sp>
          <p:nvSpPr>
            <p:cNvPr id="44223" name="Line 14"/>
            <p:cNvSpPr>
              <a:spLocks noChangeShapeType="1"/>
            </p:cNvSpPr>
            <p:nvPr/>
          </p:nvSpPr>
          <p:spPr bwMode="auto">
            <a:xfrm flipH="1">
              <a:off x="300" y="891"/>
              <a:ext cx="260" cy="141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224" name="Line 15"/>
            <p:cNvSpPr>
              <a:spLocks noChangeShapeType="1"/>
            </p:cNvSpPr>
            <p:nvPr/>
          </p:nvSpPr>
          <p:spPr bwMode="auto">
            <a:xfrm flipH="1">
              <a:off x="768" y="582"/>
              <a:ext cx="260" cy="169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225" name="Line 16"/>
            <p:cNvSpPr>
              <a:spLocks noChangeShapeType="1"/>
            </p:cNvSpPr>
            <p:nvPr/>
          </p:nvSpPr>
          <p:spPr bwMode="auto">
            <a:xfrm>
              <a:off x="1184" y="610"/>
              <a:ext cx="0" cy="422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226" name="Oval 17"/>
            <p:cNvSpPr>
              <a:spLocks noChangeArrowheads="1"/>
            </p:cNvSpPr>
            <p:nvPr/>
          </p:nvSpPr>
          <p:spPr bwMode="auto">
            <a:xfrm>
              <a:off x="40" y="1004"/>
              <a:ext cx="312" cy="197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rgbClr val="BADE78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chemeClr val="bg1"/>
                  </a:solidFill>
                  <a:ea typeface="黑体" panose="02010609060101010101" pitchFamily="49" charset="-122"/>
                </a:rPr>
                <a:t>v4</a:t>
              </a:r>
            </a:p>
          </p:txBody>
        </p:sp>
        <p:sp>
          <p:nvSpPr>
            <p:cNvPr id="44217" name="Oval 8"/>
            <p:cNvSpPr>
              <a:spLocks noChangeArrowheads="1"/>
            </p:cNvSpPr>
            <p:nvPr/>
          </p:nvSpPr>
          <p:spPr bwMode="auto">
            <a:xfrm>
              <a:off x="1080" y="1032"/>
              <a:ext cx="312" cy="197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rgbClr val="BADE78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chemeClr val="bg1"/>
                  </a:solidFill>
                  <a:ea typeface="黑体" panose="02010609060101010101" pitchFamily="49" charset="-122"/>
                </a:rPr>
                <a:t>v5</a:t>
              </a:r>
            </a:p>
          </p:txBody>
        </p:sp>
      </p:grpSp>
      <p:grpSp>
        <p:nvGrpSpPr>
          <p:cNvPr id="44038" name="Group 196"/>
          <p:cNvGrpSpPr>
            <a:grpSpLocks/>
          </p:cNvGrpSpPr>
          <p:nvPr/>
        </p:nvGrpSpPr>
        <p:grpSpPr bwMode="auto">
          <a:xfrm>
            <a:off x="3484563" y="3937000"/>
            <a:ext cx="5257800" cy="2371725"/>
            <a:chOff x="2120" y="606"/>
            <a:chExt cx="3312" cy="1494"/>
          </a:xfrm>
        </p:grpSpPr>
        <p:sp>
          <p:nvSpPr>
            <p:cNvPr id="44047" name="Rectangle 18"/>
            <p:cNvSpPr>
              <a:spLocks noChangeArrowheads="1"/>
            </p:cNvSpPr>
            <p:nvPr/>
          </p:nvSpPr>
          <p:spPr bwMode="auto">
            <a:xfrm>
              <a:off x="2760" y="1754"/>
              <a:ext cx="320" cy="287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zh-CN" sz="2400">
                <a:ea typeface="宋体" panose="02010600030101010101" pitchFamily="2" charset="-122"/>
              </a:endParaRPr>
            </a:p>
          </p:txBody>
        </p:sp>
        <p:sp>
          <p:nvSpPr>
            <p:cNvPr id="44048" name="Rectangle 19"/>
            <p:cNvSpPr>
              <a:spLocks noChangeArrowheads="1"/>
            </p:cNvSpPr>
            <p:nvPr/>
          </p:nvSpPr>
          <p:spPr bwMode="auto">
            <a:xfrm>
              <a:off x="2456" y="1754"/>
              <a:ext cx="304" cy="287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zh-CN" sz="2400" baseline="-25000">
                <a:solidFill>
                  <a:srgbClr val="0000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4049" name="Rectangle 20"/>
            <p:cNvSpPr>
              <a:spLocks noChangeArrowheads="1"/>
            </p:cNvSpPr>
            <p:nvPr/>
          </p:nvSpPr>
          <p:spPr bwMode="auto">
            <a:xfrm>
              <a:off x="2760" y="1467"/>
              <a:ext cx="320" cy="287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zh-CN" sz="2400">
                <a:ea typeface="宋体" panose="02010600030101010101" pitchFamily="2" charset="-122"/>
              </a:endParaRPr>
            </a:p>
          </p:txBody>
        </p:sp>
        <p:sp>
          <p:nvSpPr>
            <p:cNvPr id="44050" name="Rectangle 21"/>
            <p:cNvSpPr>
              <a:spLocks noChangeArrowheads="1"/>
            </p:cNvSpPr>
            <p:nvPr/>
          </p:nvSpPr>
          <p:spPr bwMode="auto">
            <a:xfrm>
              <a:off x="2456" y="1467"/>
              <a:ext cx="304" cy="287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zh-CN" sz="2400" baseline="-25000">
                <a:solidFill>
                  <a:srgbClr val="0000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4051" name="Rectangle 22"/>
            <p:cNvSpPr>
              <a:spLocks noChangeArrowheads="1"/>
            </p:cNvSpPr>
            <p:nvPr/>
          </p:nvSpPr>
          <p:spPr bwMode="auto">
            <a:xfrm>
              <a:off x="2760" y="1180"/>
              <a:ext cx="320" cy="287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zh-CN" sz="2400">
                <a:ea typeface="宋体" panose="02010600030101010101" pitchFamily="2" charset="-122"/>
              </a:endParaRPr>
            </a:p>
          </p:txBody>
        </p:sp>
        <p:sp>
          <p:nvSpPr>
            <p:cNvPr id="44052" name="Rectangle 23"/>
            <p:cNvSpPr>
              <a:spLocks noChangeArrowheads="1"/>
            </p:cNvSpPr>
            <p:nvPr/>
          </p:nvSpPr>
          <p:spPr bwMode="auto">
            <a:xfrm>
              <a:off x="2456" y="1180"/>
              <a:ext cx="304" cy="287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zh-CN" sz="2400" baseline="-25000">
                <a:solidFill>
                  <a:srgbClr val="0000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4053" name="Rectangle 24"/>
            <p:cNvSpPr>
              <a:spLocks noChangeArrowheads="1"/>
            </p:cNvSpPr>
            <p:nvPr/>
          </p:nvSpPr>
          <p:spPr bwMode="auto">
            <a:xfrm>
              <a:off x="2760" y="893"/>
              <a:ext cx="320" cy="287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zh-CN" sz="2400">
                <a:ea typeface="宋体" panose="02010600030101010101" pitchFamily="2" charset="-122"/>
              </a:endParaRPr>
            </a:p>
          </p:txBody>
        </p:sp>
        <p:sp>
          <p:nvSpPr>
            <p:cNvPr id="44054" name="Rectangle 25"/>
            <p:cNvSpPr>
              <a:spLocks noChangeArrowheads="1"/>
            </p:cNvSpPr>
            <p:nvPr/>
          </p:nvSpPr>
          <p:spPr bwMode="auto">
            <a:xfrm>
              <a:off x="2456" y="893"/>
              <a:ext cx="304" cy="287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zh-CN" sz="2400" baseline="-25000">
                <a:solidFill>
                  <a:srgbClr val="0000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4055" name="Rectangle 26"/>
            <p:cNvSpPr>
              <a:spLocks noChangeArrowheads="1"/>
            </p:cNvSpPr>
            <p:nvPr/>
          </p:nvSpPr>
          <p:spPr bwMode="auto">
            <a:xfrm>
              <a:off x="2760" y="606"/>
              <a:ext cx="320" cy="287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zh-CN" sz="2400">
                <a:ea typeface="宋体" panose="02010600030101010101" pitchFamily="2" charset="-122"/>
              </a:endParaRPr>
            </a:p>
          </p:txBody>
        </p:sp>
        <p:sp>
          <p:nvSpPr>
            <p:cNvPr id="44056" name="Rectangle 27"/>
            <p:cNvSpPr>
              <a:spLocks noChangeArrowheads="1"/>
            </p:cNvSpPr>
            <p:nvPr/>
          </p:nvSpPr>
          <p:spPr bwMode="auto">
            <a:xfrm>
              <a:off x="2456" y="606"/>
              <a:ext cx="304" cy="287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zh-CN" sz="2400" baseline="-25000">
                <a:solidFill>
                  <a:srgbClr val="0000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4057" name="Line 28"/>
            <p:cNvSpPr>
              <a:spLocks noChangeShapeType="1"/>
            </p:cNvSpPr>
            <p:nvPr/>
          </p:nvSpPr>
          <p:spPr bwMode="auto">
            <a:xfrm>
              <a:off x="2456" y="606"/>
              <a:ext cx="0" cy="1435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8" name="Line 29"/>
            <p:cNvSpPr>
              <a:spLocks noChangeShapeType="1"/>
            </p:cNvSpPr>
            <p:nvPr/>
          </p:nvSpPr>
          <p:spPr bwMode="auto">
            <a:xfrm>
              <a:off x="2760" y="606"/>
              <a:ext cx="0" cy="1435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9" name="Line 30"/>
            <p:cNvSpPr>
              <a:spLocks noChangeShapeType="1"/>
            </p:cNvSpPr>
            <p:nvPr/>
          </p:nvSpPr>
          <p:spPr bwMode="auto">
            <a:xfrm>
              <a:off x="3080" y="606"/>
              <a:ext cx="0" cy="1435"/>
            </a:xfrm>
            <a:prstGeom prst="line">
              <a:avLst/>
            </a:prstGeom>
            <a:noFill/>
            <a:ln w="12700" cap="sq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60" name="Line 31"/>
            <p:cNvSpPr>
              <a:spLocks noChangeShapeType="1"/>
            </p:cNvSpPr>
            <p:nvPr/>
          </p:nvSpPr>
          <p:spPr bwMode="auto">
            <a:xfrm>
              <a:off x="2456" y="606"/>
              <a:ext cx="624" cy="0"/>
            </a:xfrm>
            <a:prstGeom prst="line">
              <a:avLst/>
            </a:prstGeom>
            <a:noFill/>
            <a:ln w="12700" cap="sq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61" name="Line 32"/>
            <p:cNvSpPr>
              <a:spLocks noChangeShapeType="1"/>
            </p:cNvSpPr>
            <p:nvPr/>
          </p:nvSpPr>
          <p:spPr bwMode="auto">
            <a:xfrm>
              <a:off x="2456" y="893"/>
              <a:ext cx="62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62" name="Line 33"/>
            <p:cNvSpPr>
              <a:spLocks noChangeShapeType="1"/>
            </p:cNvSpPr>
            <p:nvPr/>
          </p:nvSpPr>
          <p:spPr bwMode="auto">
            <a:xfrm>
              <a:off x="2456" y="1180"/>
              <a:ext cx="62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63" name="Line 34"/>
            <p:cNvSpPr>
              <a:spLocks noChangeShapeType="1"/>
            </p:cNvSpPr>
            <p:nvPr/>
          </p:nvSpPr>
          <p:spPr bwMode="auto">
            <a:xfrm>
              <a:off x="2456" y="1467"/>
              <a:ext cx="62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64" name="Line 35"/>
            <p:cNvSpPr>
              <a:spLocks noChangeShapeType="1"/>
            </p:cNvSpPr>
            <p:nvPr/>
          </p:nvSpPr>
          <p:spPr bwMode="auto">
            <a:xfrm>
              <a:off x="2456" y="1754"/>
              <a:ext cx="62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65" name="Line 36"/>
            <p:cNvSpPr>
              <a:spLocks noChangeShapeType="1"/>
            </p:cNvSpPr>
            <p:nvPr/>
          </p:nvSpPr>
          <p:spPr bwMode="auto">
            <a:xfrm>
              <a:off x="2456" y="2041"/>
              <a:ext cx="624" cy="0"/>
            </a:xfrm>
            <a:prstGeom prst="line">
              <a:avLst/>
            </a:prstGeom>
            <a:noFill/>
            <a:ln w="12700" cap="sq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66" name="Rectangle 38"/>
            <p:cNvSpPr>
              <a:spLocks noChangeArrowheads="1"/>
            </p:cNvSpPr>
            <p:nvPr/>
          </p:nvSpPr>
          <p:spPr bwMode="auto">
            <a:xfrm>
              <a:off x="2120" y="1765"/>
              <a:ext cx="336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44067" name="Rectangle 39"/>
            <p:cNvSpPr>
              <a:spLocks noChangeArrowheads="1"/>
            </p:cNvSpPr>
            <p:nvPr/>
          </p:nvSpPr>
          <p:spPr bwMode="auto">
            <a:xfrm>
              <a:off x="2120" y="1478"/>
              <a:ext cx="336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44068" name="Rectangle 40"/>
            <p:cNvSpPr>
              <a:spLocks noChangeArrowheads="1"/>
            </p:cNvSpPr>
            <p:nvPr/>
          </p:nvSpPr>
          <p:spPr bwMode="auto">
            <a:xfrm>
              <a:off x="2120" y="1191"/>
              <a:ext cx="336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44069" name="Rectangle 41"/>
            <p:cNvSpPr>
              <a:spLocks noChangeArrowheads="1"/>
            </p:cNvSpPr>
            <p:nvPr/>
          </p:nvSpPr>
          <p:spPr bwMode="auto">
            <a:xfrm>
              <a:off x="2120" y="904"/>
              <a:ext cx="336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44070" name="Rectangle 42"/>
            <p:cNvSpPr>
              <a:spLocks noChangeArrowheads="1"/>
            </p:cNvSpPr>
            <p:nvPr/>
          </p:nvSpPr>
          <p:spPr bwMode="auto">
            <a:xfrm>
              <a:off x="2120" y="617"/>
              <a:ext cx="336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44071" name="Line 43"/>
            <p:cNvSpPr>
              <a:spLocks noChangeShapeType="1"/>
            </p:cNvSpPr>
            <p:nvPr/>
          </p:nvSpPr>
          <p:spPr bwMode="auto">
            <a:xfrm>
              <a:off x="2120" y="617"/>
              <a:ext cx="336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72" name="Line 44"/>
            <p:cNvSpPr>
              <a:spLocks noChangeShapeType="1"/>
            </p:cNvSpPr>
            <p:nvPr/>
          </p:nvSpPr>
          <p:spPr bwMode="auto">
            <a:xfrm>
              <a:off x="2120" y="2052"/>
              <a:ext cx="336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73" name="Line 45"/>
            <p:cNvSpPr>
              <a:spLocks noChangeShapeType="1"/>
            </p:cNvSpPr>
            <p:nvPr/>
          </p:nvSpPr>
          <p:spPr bwMode="auto">
            <a:xfrm>
              <a:off x="2120" y="617"/>
              <a:ext cx="0" cy="287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74" name="Line 46"/>
            <p:cNvSpPr>
              <a:spLocks noChangeShapeType="1"/>
            </p:cNvSpPr>
            <p:nvPr/>
          </p:nvSpPr>
          <p:spPr bwMode="auto">
            <a:xfrm>
              <a:off x="2456" y="617"/>
              <a:ext cx="0" cy="287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75" name="Line 47"/>
            <p:cNvSpPr>
              <a:spLocks noChangeShapeType="1"/>
            </p:cNvSpPr>
            <p:nvPr/>
          </p:nvSpPr>
          <p:spPr bwMode="auto">
            <a:xfrm>
              <a:off x="2120" y="904"/>
              <a:ext cx="0" cy="287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76" name="Line 48"/>
            <p:cNvSpPr>
              <a:spLocks noChangeShapeType="1"/>
            </p:cNvSpPr>
            <p:nvPr/>
          </p:nvSpPr>
          <p:spPr bwMode="auto">
            <a:xfrm>
              <a:off x="2456" y="904"/>
              <a:ext cx="0" cy="287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77" name="Line 49"/>
            <p:cNvSpPr>
              <a:spLocks noChangeShapeType="1"/>
            </p:cNvSpPr>
            <p:nvPr/>
          </p:nvSpPr>
          <p:spPr bwMode="auto">
            <a:xfrm>
              <a:off x="2120" y="1191"/>
              <a:ext cx="0" cy="287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78" name="Line 50"/>
            <p:cNvSpPr>
              <a:spLocks noChangeShapeType="1"/>
            </p:cNvSpPr>
            <p:nvPr/>
          </p:nvSpPr>
          <p:spPr bwMode="auto">
            <a:xfrm>
              <a:off x="2456" y="1191"/>
              <a:ext cx="0" cy="287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79" name="Line 51"/>
            <p:cNvSpPr>
              <a:spLocks noChangeShapeType="1"/>
            </p:cNvSpPr>
            <p:nvPr/>
          </p:nvSpPr>
          <p:spPr bwMode="auto">
            <a:xfrm>
              <a:off x="2120" y="1478"/>
              <a:ext cx="0" cy="287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0" name="Line 52"/>
            <p:cNvSpPr>
              <a:spLocks noChangeShapeType="1"/>
            </p:cNvSpPr>
            <p:nvPr/>
          </p:nvSpPr>
          <p:spPr bwMode="auto">
            <a:xfrm>
              <a:off x="2456" y="1478"/>
              <a:ext cx="0" cy="287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1" name="Line 53"/>
            <p:cNvSpPr>
              <a:spLocks noChangeShapeType="1"/>
            </p:cNvSpPr>
            <p:nvPr/>
          </p:nvSpPr>
          <p:spPr bwMode="auto">
            <a:xfrm>
              <a:off x="2120" y="1765"/>
              <a:ext cx="0" cy="287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2" name="Line 54"/>
            <p:cNvSpPr>
              <a:spLocks noChangeShapeType="1"/>
            </p:cNvSpPr>
            <p:nvPr/>
          </p:nvSpPr>
          <p:spPr bwMode="auto">
            <a:xfrm>
              <a:off x="2456" y="1765"/>
              <a:ext cx="0" cy="287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3" name="Line 55"/>
            <p:cNvSpPr>
              <a:spLocks noChangeShapeType="1"/>
            </p:cNvSpPr>
            <p:nvPr/>
          </p:nvSpPr>
          <p:spPr bwMode="auto">
            <a:xfrm>
              <a:off x="2984" y="756"/>
              <a:ext cx="3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4" name="Line 56"/>
            <p:cNvSpPr>
              <a:spLocks noChangeShapeType="1"/>
            </p:cNvSpPr>
            <p:nvPr/>
          </p:nvSpPr>
          <p:spPr bwMode="auto">
            <a:xfrm>
              <a:off x="2984" y="1620"/>
              <a:ext cx="3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5" name="Line 57"/>
            <p:cNvSpPr>
              <a:spLocks noChangeShapeType="1"/>
            </p:cNvSpPr>
            <p:nvPr/>
          </p:nvSpPr>
          <p:spPr bwMode="auto">
            <a:xfrm>
              <a:off x="2984" y="1908"/>
              <a:ext cx="3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6" name="Line 58"/>
            <p:cNvSpPr>
              <a:spLocks noChangeShapeType="1"/>
            </p:cNvSpPr>
            <p:nvPr/>
          </p:nvSpPr>
          <p:spPr bwMode="auto">
            <a:xfrm>
              <a:off x="2984" y="1044"/>
              <a:ext cx="3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7" name="Line 59"/>
            <p:cNvSpPr>
              <a:spLocks noChangeShapeType="1"/>
            </p:cNvSpPr>
            <p:nvPr/>
          </p:nvSpPr>
          <p:spPr bwMode="auto">
            <a:xfrm>
              <a:off x="2984" y="1332"/>
              <a:ext cx="3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8" name="Rectangle 61"/>
            <p:cNvSpPr>
              <a:spLocks noChangeArrowheads="1"/>
            </p:cNvSpPr>
            <p:nvPr/>
          </p:nvSpPr>
          <p:spPr bwMode="auto">
            <a:xfrm>
              <a:off x="4376" y="651"/>
              <a:ext cx="288" cy="24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  <a:ea typeface="宋体" panose="02010600030101010101" pitchFamily="2" charset="-122"/>
                </a:rPr>
                <a:t>^</a:t>
              </a:r>
            </a:p>
          </p:txBody>
        </p:sp>
        <p:sp>
          <p:nvSpPr>
            <p:cNvPr id="44089" name="Rectangle 62"/>
            <p:cNvSpPr>
              <a:spLocks noChangeArrowheads="1"/>
            </p:cNvSpPr>
            <p:nvPr/>
          </p:nvSpPr>
          <p:spPr bwMode="auto">
            <a:xfrm>
              <a:off x="4088" y="651"/>
              <a:ext cx="288" cy="24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44090" name="Line 63"/>
            <p:cNvSpPr>
              <a:spLocks noChangeShapeType="1"/>
            </p:cNvSpPr>
            <p:nvPr/>
          </p:nvSpPr>
          <p:spPr bwMode="auto">
            <a:xfrm>
              <a:off x="4088" y="651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91" name="Line 64"/>
            <p:cNvSpPr>
              <a:spLocks noChangeShapeType="1"/>
            </p:cNvSpPr>
            <p:nvPr/>
          </p:nvSpPr>
          <p:spPr bwMode="auto">
            <a:xfrm>
              <a:off x="4088" y="900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92" name="Line 65"/>
            <p:cNvSpPr>
              <a:spLocks noChangeShapeType="1"/>
            </p:cNvSpPr>
            <p:nvPr/>
          </p:nvSpPr>
          <p:spPr bwMode="auto">
            <a:xfrm>
              <a:off x="4088" y="651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93" name="Line 66"/>
            <p:cNvSpPr>
              <a:spLocks noChangeShapeType="1"/>
            </p:cNvSpPr>
            <p:nvPr/>
          </p:nvSpPr>
          <p:spPr bwMode="auto">
            <a:xfrm>
              <a:off x="4376" y="651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94" name="Line 67"/>
            <p:cNvSpPr>
              <a:spLocks noChangeShapeType="1"/>
            </p:cNvSpPr>
            <p:nvPr/>
          </p:nvSpPr>
          <p:spPr bwMode="auto">
            <a:xfrm>
              <a:off x="4664" y="651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95" name="Rectangle 68"/>
            <p:cNvSpPr>
              <a:spLocks noChangeArrowheads="1"/>
            </p:cNvSpPr>
            <p:nvPr/>
          </p:nvSpPr>
          <p:spPr bwMode="auto">
            <a:xfrm>
              <a:off x="3608" y="651"/>
              <a:ext cx="288" cy="24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zh-CN" sz="2000">
                <a:solidFill>
                  <a:srgbClr val="0000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4096" name="Rectangle 69"/>
            <p:cNvSpPr>
              <a:spLocks noChangeArrowheads="1"/>
            </p:cNvSpPr>
            <p:nvPr/>
          </p:nvSpPr>
          <p:spPr bwMode="auto">
            <a:xfrm>
              <a:off x="3320" y="651"/>
              <a:ext cx="288" cy="24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44097" name="Line 70"/>
            <p:cNvSpPr>
              <a:spLocks noChangeShapeType="1"/>
            </p:cNvSpPr>
            <p:nvPr/>
          </p:nvSpPr>
          <p:spPr bwMode="auto">
            <a:xfrm>
              <a:off x="3320" y="651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98" name="Line 71"/>
            <p:cNvSpPr>
              <a:spLocks noChangeShapeType="1"/>
            </p:cNvSpPr>
            <p:nvPr/>
          </p:nvSpPr>
          <p:spPr bwMode="auto">
            <a:xfrm>
              <a:off x="3320" y="900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99" name="Line 72"/>
            <p:cNvSpPr>
              <a:spLocks noChangeShapeType="1"/>
            </p:cNvSpPr>
            <p:nvPr/>
          </p:nvSpPr>
          <p:spPr bwMode="auto">
            <a:xfrm>
              <a:off x="3320" y="651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00" name="Line 73"/>
            <p:cNvSpPr>
              <a:spLocks noChangeShapeType="1"/>
            </p:cNvSpPr>
            <p:nvPr/>
          </p:nvSpPr>
          <p:spPr bwMode="auto">
            <a:xfrm>
              <a:off x="3608" y="651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01" name="Line 74"/>
            <p:cNvSpPr>
              <a:spLocks noChangeShapeType="1"/>
            </p:cNvSpPr>
            <p:nvPr/>
          </p:nvSpPr>
          <p:spPr bwMode="auto">
            <a:xfrm>
              <a:off x="3896" y="651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02" name="Line 75"/>
            <p:cNvSpPr>
              <a:spLocks noChangeShapeType="1"/>
            </p:cNvSpPr>
            <p:nvPr/>
          </p:nvSpPr>
          <p:spPr bwMode="auto">
            <a:xfrm>
              <a:off x="3752" y="795"/>
              <a:ext cx="3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03" name="Rectangle 77"/>
            <p:cNvSpPr>
              <a:spLocks noChangeArrowheads="1"/>
            </p:cNvSpPr>
            <p:nvPr/>
          </p:nvSpPr>
          <p:spPr bwMode="auto">
            <a:xfrm>
              <a:off x="4376" y="1227"/>
              <a:ext cx="288" cy="24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zh-CN" sz="2000">
                <a:solidFill>
                  <a:srgbClr val="0000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4104" name="Rectangle 78"/>
            <p:cNvSpPr>
              <a:spLocks noChangeArrowheads="1"/>
            </p:cNvSpPr>
            <p:nvPr/>
          </p:nvSpPr>
          <p:spPr bwMode="auto">
            <a:xfrm>
              <a:off x="4088" y="1227"/>
              <a:ext cx="288" cy="24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44105" name="Line 79"/>
            <p:cNvSpPr>
              <a:spLocks noChangeShapeType="1"/>
            </p:cNvSpPr>
            <p:nvPr/>
          </p:nvSpPr>
          <p:spPr bwMode="auto">
            <a:xfrm>
              <a:off x="4088" y="1476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06" name="Line 80"/>
            <p:cNvSpPr>
              <a:spLocks noChangeShapeType="1"/>
            </p:cNvSpPr>
            <p:nvPr/>
          </p:nvSpPr>
          <p:spPr bwMode="auto">
            <a:xfrm>
              <a:off x="4088" y="1227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07" name="Line 81"/>
            <p:cNvSpPr>
              <a:spLocks noChangeShapeType="1"/>
            </p:cNvSpPr>
            <p:nvPr/>
          </p:nvSpPr>
          <p:spPr bwMode="auto">
            <a:xfrm>
              <a:off x="4376" y="1227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08" name="Line 82"/>
            <p:cNvSpPr>
              <a:spLocks noChangeShapeType="1"/>
            </p:cNvSpPr>
            <p:nvPr/>
          </p:nvSpPr>
          <p:spPr bwMode="auto">
            <a:xfrm>
              <a:off x="4664" y="1227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09" name="Rectangle 83"/>
            <p:cNvSpPr>
              <a:spLocks noChangeArrowheads="1"/>
            </p:cNvSpPr>
            <p:nvPr/>
          </p:nvSpPr>
          <p:spPr bwMode="auto">
            <a:xfrm>
              <a:off x="3608" y="1227"/>
              <a:ext cx="288" cy="24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zh-CN" sz="2000">
                <a:solidFill>
                  <a:srgbClr val="0000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4110" name="Rectangle 84"/>
            <p:cNvSpPr>
              <a:spLocks noChangeArrowheads="1"/>
            </p:cNvSpPr>
            <p:nvPr/>
          </p:nvSpPr>
          <p:spPr bwMode="auto">
            <a:xfrm>
              <a:off x="3320" y="1227"/>
              <a:ext cx="288" cy="24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44111" name="Line 85"/>
            <p:cNvSpPr>
              <a:spLocks noChangeShapeType="1"/>
            </p:cNvSpPr>
            <p:nvPr/>
          </p:nvSpPr>
          <p:spPr bwMode="auto">
            <a:xfrm>
              <a:off x="3320" y="1227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12" name="Line 86"/>
            <p:cNvSpPr>
              <a:spLocks noChangeShapeType="1"/>
            </p:cNvSpPr>
            <p:nvPr/>
          </p:nvSpPr>
          <p:spPr bwMode="auto">
            <a:xfrm>
              <a:off x="3320" y="1476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13" name="Line 87"/>
            <p:cNvSpPr>
              <a:spLocks noChangeShapeType="1"/>
            </p:cNvSpPr>
            <p:nvPr/>
          </p:nvSpPr>
          <p:spPr bwMode="auto">
            <a:xfrm>
              <a:off x="3320" y="1227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14" name="Line 88"/>
            <p:cNvSpPr>
              <a:spLocks noChangeShapeType="1"/>
            </p:cNvSpPr>
            <p:nvPr/>
          </p:nvSpPr>
          <p:spPr bwMode="auto">
            <a:xfrm>
              <a:off x="3608" y="1227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15" name="Line 89"/>
            <p:cNvSpPr>
              <a:spLocks noChangeShapeType="1"/>
            </p:cNvSpPr>
            <p:nvPr/>
          </p:nvSpPr>
          <p:spPr bwMode="auto">
            <a:xfrm>
              <a:off x="3896" y="1227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16" name="Rectangle 90"/>
            <p:cNvSpPr>
              <a:spLocks noChangeArrowheads="1"/>
            </p:cNvSpPr>
            <p:nvPr/>
          </p:nvSpPr>
          <p:spPr bwMode="auto">
            <a:xfrm>
              <a:off x="5144" y="1227"/>
              <a:ext cx="288" cy="24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  <a:ea typeface="宋体" panose="02010600030101010101" pitchFamily="2" charset="-122"/>
                </a:rPr>
                <a:t>^</a:t>
              </a:r>
            </a:p>
          </p:txBody>
        </p:sp>
        <p:sp>
          <p:nvSpPr>
            <p:cNvPr id="44117" name="Rectangle 91"/>
            <p:cNvSpPr>
              <a:spLocks noChangeArrowheads="1"/>
            </p:cNvSpPr>
            <p:nvPr/>
          </p:nvSpPr>
          <p:spPr bwMode="auto">
            <a:xfrm>
              <a:off x="4856" y="1227"/>
              <a:ext cx="288" cy="24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44118" name="Line 92"/>
            <p:cNvSpPr>
              <a:spLocks noChangeShapeType="1"/>
            </p:cNvSpPr>
            <p:nvPr/>
          </p:nvSpPr>
          <p:spPr bwMode="auto">
            <a:xfrm>
              <a:off x="4856" y="1227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19" name="Line 93"/>
            <p:cNvSpPr>
              <a:spLocks noChangeShapeType="1"/>
            </p:cNvSpPr>
            <p:nvPr/>
          </p:nvSpPr>
          <p:spPr bwMode="auto">
            <a:xfrm>
              <a:off x="4856" y="1476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20" name="Line 94"/>
            <p:cNvSpPr>
              <a:spLocks noChangeShapeType="1"/>
            </p:cNvSpPr>
            <p:nvPr/>
          </p:nvSpPr>
          <p:spPr bwMode="auto">
            <a:xfrm>
              <a:off x="4856" y="1227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21" name="Line 95"/>
            <p:cNvSpPr>
              <a:spLocks noChangeShapeType="1"/>
            </p:cNvSpPr>
            <p:nvPr/>
          </p:nvSpPr>
          <p:spPr bwMode="auto">
            <a:xfrm>
              <a:off x="5144" y="1227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22" name="Line 96"/>
            <p:cNvSpPr>
              <a:spLocks noChangeShapeType="1"/>
            </p:cNvSpPr>
            <p:nvPr/>
          </p:nvSpPr>
          <p:spPr bwMode="auto">
            <a:xfrm>
              <a:off x="5432" y="1227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23" name="Line 97"/>
            <p:cNvSpPr>
              <a:spLocks noChangeShapeType="1"/>
            </p:cNvSpPr>
            <p:nvPr/>
          </p:nvSpPr>
          <p:spPr bwMode="auto">
            <a:xfrm>
              <a:off x="3752" y="1371"/>
              <a:ext cx="3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24" name="Line 98"/>
            <p:cNvSpPr>
              <a:spLocks noChangeShapeType="1"/>
            </p:cNvSpPr>
            <p:nvPr/>
          </p:nvSpPr>
          <p:spPr bwMode="auto">
            <a:xfrm>
              <a:off x="4520" y="1371"/>
              <a:ext cx="3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25" name="Line 99"/>
            <p:cNvSpPr>
              <a:spLocks noChangeShapeType="1"/>
            </p:cNvSpPr>
            <p:nvPr/>
          </p:nvSpPr>
          <p:spPr bwMode="auto">
            <a:xfrm>
              <a:off x="4088" y="1227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26" name="Line 101"/>
            <p:cNvSpPr>
              <a:spLocks noChangeShapeType="1"/>
            </p:cNvSpPr>
            <p:nvPr/>
          </p:nvSpPr>
          <p:spPr bwMode="auto">
            <a:xfrm>
              <a:off x="4088" y="1179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27" name="Rectangle 102"/>
            <p:cNvSpPr>
              <a:spLocks noChangeArrowheads="1"/>
            </p:cNvSpPr>
            <p:nvPr/>
          </p:nvSpPr>
          <p:spPr bwMode="auto">
            <a:xfrm>
              <a:off x="3608" y="939"/>
              <a:ext cx="288" cy="249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zh-CN" sz="2000">
                <a:solidFill>
                  <a:srgbClr val="0000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4128" name="Rectangle 103"/>
            <p:cNvSpPr>
              <a:spLocks noChangeArrowheads="1"/>
            </p:cNvSpPr>
            <p:nvPr/>
          </p:nvSpPr>
          <p:spPr bwMode="auto">
            <a:xfrm>
              <a:off x="3320" y="939"/>
              <a:ext cx="288" cy="249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44129" name="Line 104"/>
            <p:cNvSpPr>
              <a:spLocks noChangeShapeType="1"/>
            </p:cNvSpPr>
            <p:nvPr/>
          </p:nvSpPr>
          <p:spPr bwMode="auto">
            <a:xfrm>
              <a:off x="4088" y="939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30" name="Line 105"/>
            <p:cNvSpPr>
              <a:spLocks noChangeShapeType="1"/>
            </p:cNvSpPr>
            <p:nvPr/>
          </p:nvSpPr>
          <p:spPr bwMode="auto">
            <a:xfrm>
              <a:off x="3320" y="1188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31" name="Line 106"/>
            <p:cNvSpPr>
              <a:spLocks noChangeShapeType="1"/>
            </p:cNvSpPr>
            <p:nvPr/>
          </p:nvSpPr>
          <p:spPr bwMode="auto">
            <a:xfrm>
              <a:off x="3320" y="939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32" name="Line 107"/>
            <p:cNvSpPr>
              <a:spLocks noChangeShapeType="1"/>
            </p:cNvSpPr>
            <p:nvPr/>
          </p:nvSpPr>
          <p:spPr bwMode="auto">
            <a:xfrm>
              <a:off x="3608" y="939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33" name="Line 108"/>
            <p:cNvSpPr>
              <a:spLocks noChangeShapeType="1"/>
            </p:cNvSpPr>
            <p:nvPr/>
          </p:nvSpPr>
          <p:spPr bwMode="auto">
            <a:xfrm>
              <a:off x="3896" y="939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34" name="Rectangle 109"/>
            <p:cNvSpPr>
              <a:spLocks noChangeArrowheads="1"/>
            </p:cNvSpPr>
            <p:nvPr/>
          </p:nvSpPr>
          <p:spPr bwMode="auto">
            <a:xfrm>
              <a:off x="4376" y="939"/>
              <a:ext cx="288" cy="249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zh-CN" sz="2000">
                <a:solidFill>
                  <a:srgbClr val="0000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4135" name="Rectangle 110"/>
            <p:cNvSpPr>
              <a:spLocks noChangeArrowheads="1"/>
            </p:cNvSpPr>
            <p:nvPr/>
          </p:nvSpPr>
          <p:spPr bwMode="auto">
            <a:xfrm>
              <a:off x="4088" y="939"/>
              <a:ext cx="288" cy="249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44136" name="Line 111"/>
            <p:cNvSpPr>
              <a:spLocks noChangeShapeType="1"/>
            </p:cNvSpPr>
            <p:nvPr/>
          </p:nvSpPr>
          <p:spPr bwMode="auto">
            <a:xfrm>
              <a:off x="3320" y="939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37" name="Line 112"/>
            <p:cNvSpPr>
              <a:spLocks noChangeShapeType="1"/>
            </p:cNvSpPr>
            <p:nvPr/>
          </p:nvSpPr>
          <p:spPr bwMode="auto">
            <a:xfrm>
              <a:off x="4088" y="1179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38" name="Line 113"/>
            <p:cNvSpPr>
              <a:spLocks noChangeShapeType="1"/>
            </p:cNvSpPr>
            <p:nvPr/>
          </p:nvSpPr>
          <p:spPr bwMode="auto">
            <a:xfrm>
              <a:off x="4088" y="939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39" name="Line 114"/>
            <p:cNvSpPr>
              <a:spLocks noChangeShapeType="1"/>
            </p:cNvSpPr>
            <p:nvPr/>
          </p:nvSpPr>
          <p:spPr bwMode="auto">
            <a:xfrm>
              <a:off x="4376" y="939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40" name="Line 115"/>
            <p:cNvSpPr>
              <a:spLocks noChangeShapeType="1"/>
            </p:cNvSpPr>
            <p:nvPr/>
          </p:nvSpPr>
          <p:spPr bwMode="auto">
            <a:xfrm>
              <a:off x="4664" y="939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41" name="Rectangle 116"/>
            <p:cNvSpPr>
              <a:spLocks noChangeArrowheads="1"/>
            </p:cNvSpPr>
            <p:nvPr/>
          </p:nvSpPr>
          <p:spPr bwMode="auto">
            <a:xfrm>
              <a:off x="5144" y="939"/>
              <a:ext cx="288" cy="249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  <a:ea typeface="宋体" panose="02010600030101010101" pitchFamily="2" charset="-122"/>
                </a:rPr>
                <a:t>^</a:t>
              </a:r>
            </a:p>
          </p:txBody>
        </p:sp>
        <p:sp>
          <p:nvSpPr>
            <p:cNvPr id="44142" name="Rectangle 117"/>
            <p:cNvSpPr>
              <a:spLocks noChangeArrowheads="1"/>
            </p:cNvSpPr>
            <p:nvPr/>
          </p:nvSpPr>
          <p:spPr bwMode="auto">
            <a:xfrm>
              <a:off x="4856" y="939"/>
              <a:ext cx="288" cy="249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44143" name="Line 118"/>
            <p:cNvSpPr>
              <a:spLocks noChangeShapeType="1"/>
            </p:cNvSpPr>
            <p:nvPr/>
          </p:nvSpPr>
          <p:spPr bwMode="auto">
            <a:xfrm>
              <a:off x="4856" y="939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44" name="Line 119"/>
            <p:cNvSpPr>
              <a:spLocks noChangeShapeType="1"/>
            </p:cNvSpPr>
            <p:nvPr/>
          </p:nvSpPr>
          <p:spPr bwMode="auto">
            <a:xfrm>
              <a:off x="4856" y="1188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45" name="Line 120"/>
            <p:cNvSpPr>
              <a:spLocks noChangeShapeType="1"/>
            </p:cNvSpPr>
            <p:nvPr/>
          </p:nvSpPr>
          <p:spPr bwMode="auto">
            <a:xfrm>
              <a:off x="4856" y="939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46" name="Line 121"/>
            <p:cNvSpPr>
              <a:spLocks noChangeShapeType="1"/>
            </p:cNvSpPr>
            <p:nvPr/>
          </p:nvSpPr>
          <p:spPr bwMode="auto">
            <a:xfrm>
              <a:off x="5144" y="939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47" name="Line 122"/>
            <p:cNvSpPr>
              <a:spLocks noChangeShapeType="1"/>
            </p:cNvSpPr>
            <p:nvPr/>
          </p:nvSpPr>
          <p:spPr bwMode="auto">
            <a:xfrm>
              <a:off x="5432" y="939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48" name="Line 123"/>
            <p:cNvSpPr>
              <a:spLocks noChangeShapeType="1"/>
            </p:cNvSpPr>
            <p:nvPr/>
          </p:nvSpPr>
          <p:spPr bwMode="auto">
            <a:xfrm>
              <a:off x="3752" y="1083"/>
              <a:ext cx="3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49" name="Line 124"/>
            <p:cNvSpPr>
              <a:spLocks noChangeShapeType="1"/>
            </p:cNvSpPr>
            <p:nvPr/>
          </p:nvSpPr>
          <p:spPr bwMode="auto">
            <a:xfrm>
              <a:off x="4520" y="1083"/>
              <a:ext cx="3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50" name="Rectangle 127"/>
            <p:cNvSpPr>
              <a:spLocks noChangeArrowheads="1"/>
            </p:cNvSpPr>
            <p:nvPr/>
          </p:nvSpPr>
          <p:spPr bwMode="auto">
            <a:xfrm>
              <a:off x="2440" y="1765"/>
              <a:ext cx="304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solidFill>
                    <a:srgbClr val="0000FF"/>
                  </a:solidFill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44151" name="Rectangle 128"/>
            <p:cNvSpPr>
              <a:spLocks noChangeArrowheads="1"/>
            </p:cNvSpPr>
            <p:nvPr/>
          </p:nvSpPr>
          <p:spPr bwMode="auto">
            <a:xfrm>
              <a:off x="2440" y="1478"/>
              <a:ext cx="304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solidFill>
                    <a:srgbClr val="0000FF"/>
                  </a:solidFill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44152" name="Rectangle 129"/>
            <p:cNvSpPr>
              <a:spLocks noChangeArrowheads="1"/>
            </p:cNvSpPr>
            <p:nvPr/>
          </p:nvSpPr>
          <p:spPr bwMode="auto">
            <a:xfrm>
              <a:off x="2440" y="1191"/>
              <a:ext cx="304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solidFill>
                    <a:srgbClr val="0000FF"/>
                  </a:solidFill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44153" name="Rectangle 130"/>
            <p:cNvSpPr>
              <a:spLocks noChangeArrowheads="1"/>
            </p:cNvSpPr>
            <p:nvPr/>
          </p:nvSpPr>
          <p:spPr bwMode="auto">
            <a:xfrm>
              <a:off x="2440" y="904"/>
              <a:ext cx="304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solidFill>
                    <a:srgbClr val="0000FF"/>
                  </a:solidFill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44154" name="Rectangle 131"/>
            <p:cNvSpPr>
              <a:spLocks noChangeArrowheads="1"/>
            </p:cNvSpPr>
            <p:nvPr/>
          </p:nvSpPr>
          <p:spPr bwMode="auto">
            <a:xfrm>
              <a:off x="2440" y="617"/>
              <a:ext cx="304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0000FF"/>
                  </a:solidFill>
                  <a:ea typeface="宋体" panose="02010600030101010101" pitchFamily="2" charset="-122"/>
                </a:rPr>
                <a:t>v</a:t>
              </a:r>
              <a:r>
                <a:rPr lang="en-US" altLang="zh-CN" sz="2400" baseline="-25000">
                  <a:solidFill>
                    <a:srgbClr val="0000FF"/>
                  </a:solidFill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44155" name="Line 132"/>
            <p:cNvSpPr>
              <a:spLocks noChangeShapeType="1"/>
            </p:cNvSpPr>
            <p:nvPr/>
          </p:nvSpPr>
          <p:spPr bwMode="auto">
            <a:xfrm>
              <a:off x="2440" y="617"/>
              <a:ext cx="304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44156" name="Line 133"/>
            <p:cNvSpPr>
              <a:spLocks noChangeShapeType="1"/>
            </p:cNvSpPr>
            <p:nvPr/>
          </p:nvSpPr>
          <p:spPr bwMode="auto">
            <a:xfrm>
              <a:off x="2440" y="2052"/>
              <a:ext cx="304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44157" name="Line 134"/>
            <p:cNvSpPr>
              <a:spLocks noChangeShapeType="1"/>
            </p:cNvSpPr>
            <p:nvPr/>
          </p:nvSpPr>
          <p:spPr bwMode="auto">
            <a:xfrm>
              <a:off x="2440" y="617"/>
              <a:ext cx="0" cy="287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44158" name="Line 135"/>
            <p:cNvSpPr>
              <a:spLocks noChangeShapeType="1"/>
            </p:cNvSpPr>
            <p:nvPr/>
          </p:nvSpPr>
          <p:spPr bwMode="auto">
            <a:xfrm>
              <a:off x="2744" y="617"/>
              <a:ext cx="0" cy="287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44159" name="Line 136"/>
            <p:cNvSpPr>
              <a:spLocks noChangeShapeType="1"/>
            </p:cNvSpPr>
            <p:nvPr/>
          </p:nvSpPr>
          <p:spPr bwMode="auto">
            <a:xfrm>
              <a:off x="2440" y="904"/>
              <a:ext cx="0" cy="287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44160" name="Line 137"/>
            <p:cNvSpPr>
              <a:spLocks noChangeShapeType="1"/>
            </p:cNvSpPr>
            <p:nvPr/>
          </p:nvSpPr>
          <p:spPr bwMode="auto">
            <a:xfrm>
              <a:off x="2744" y="904"/>
              <a:ext cx="0" cy="287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44161" name="Line 138"/>
            <p:cNvSpPr>
              <a:spLocks noChangeShapeType="1"/>
            </p:cNvSpPr>
            <p:nvPr/>
          </p:nvSpPr>
          <p:spPr bwMode="auto">
            <a:xfrm>
              <a:off x="2440" y="1191"/>
              <a:ext cx="0" cy="287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44162" name="Line 139"/>
            <p:cNvSpPr>
              <a:spLocks noChangeShapeType="1"/>
            </p:cNvSpPr>
            <p:nvPr/>
          </p:nvSpPr>
          <p:spPr bwMode="auto">
            <a:xfrm>
              <a:off x="2744" y="1191"/>
              <a:ext cx="0" cy="287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44163" name="Line 140"/>
            <p:cNvSpPr>
              <a:spLocks noChangeShapeType="1"/>
            </p:cNvSpPr>
            <p:nvPr/>
          </p:nvSpPr>
          <p:spPr bwMode="auto">
            <a:xfrm>
              <a:off x="2440" y="1478"/>
              <a:ext cx="0" cy="287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44164" name="Line 141"/>
            <p:cNvSpPr>
              <a:spLocks noChangeShapeType="1"/>
            </p:cNvSpPr>
            <p:nvPr/>
          </p:nvSpPr>
          <p:spPr bwMode="auto">
            <a:xfrm>
              <a:off x="2744" y="1478"/>
              <a:ext cx="0" cy="287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44165" name="Line 142"/>
            <p:cNvSpPr>
              <a:spLocks noChangeShapeType="1"/>
            </p:cNvSpPr>
            <p:nvPr/>
          </p:nvSpPr>
          <p:spPr bwMode="auto">
            <a:xfrm>
              <a:off x="2440" y="1765"/>
              <a:ext cx="0" cy="287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44166" name="Line 143"/>
            <p:cNvSpPr>
              <a:spLocks noChangeShapeType="1"/>
            </p:cNvSpPr>
            <p:nvPr/>
          </p:nvSpPr>
          <p:spPr bwMode="auto">
            <a:xfrm>
              <a:off x="2744" y="1765"/>
              <a:ext cx="0" cy="287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44167" name="Rectangle 145"/>
            <p:cNvSpPr>
              <a:spLocks noChangeArrowheads="1"/>
            </p:cNvSpPr>
            <p:nvPr/>
          </p:nvSpPr>
          <p:spPr bwMode="auto">
            <a:xfrm>
              <a:off x="4376" y="1851"/>
              <a:ext cx="288" cy="24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zh-CN" sz="2000">
                <a:solidFill>
                  <a:srgbClr val="0000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4168" name="Rectangle 146"/>
            <p:cNvSpPr>
              <a:spLocks noChangeArrowheads="1"/>
            </p:cNvSpPr>
            <p:nvPr/>
          </p:nvSpPr>
          <p:spPr bwMode="auto">
            <a:xfrm>
              <a:off x="4088" y="1851"/>
              <a:ext cx="288" cy="24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44169" name="Line 147"/>
            <p:cNvSpPr>
              <a:spLocks noChangeShapeType="1"/>
            </p:cNvSpPr>
            <p:nvPr/>
          </p:nvSpPr>
          <p:spPr bwMode="auto">
            <a:xfrm>
              <a:off x="4088" y="2100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70" name="Line 148"/>
            <p:cNvSpPr>
              <a:spLocks noChangeShapeType="1"/>
            </p:cNvSpPr>
            <p:nvPr/>
          </p:nvSpPr>
          <p:spPr bwMode="auto">
            <a:xfrm>
              <a:off x="4088" y="1851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71" name="Line 149"/>
            <p:cNvSpPr>
              <a:spLocks noChangeShapeType="1"/>
            </p:cNvSpPr>
            <p:nvPr/>
          </p:nvSpPr>
          <p:spPr bwMode="auto">
            <a:xfrm>
              <a:off x="4376" y="1851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72" name="Line 150"/>
            <p:cNvSpPr>
              <a:spLocks noChangeShapeType="1"/>
            </p:cNvSpPr>
            <p:nvPr/>
          </p:nvSpPr>
          <p:spPr bwMode="auto">
            <a:xfrm>
              <a:off x="4664" y="1851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73" name="Rectangle 151"/>
            <p:cNvSpPr>
              <a:spLocks noChangeArrowheads="1"/>
            </p:cNvSpPr>
            <p:nvPr/>
          </p:nvSpPr>
          <p:spPr bwMode="auto">
            <a:xfrm>
              <a:off x="3608" y="1851"/>
              <a:ext cx="288" cy="24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zh-CN" sz="2000">
                <a:solidFill>
                  <a:srgbClr val="0000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4174" name="Rectangle 152"/>
            <p:cNvSpPr>
              <a:spLocks noChangeArrowheads="1"/>
            </p:cNvSpPr>
            <p:nvPr/>
          </p:nvSpPr>
          <p:spPr bwMode="auto">
            <a:xfrm>
              <a:off x="3320" y="1851"/>
              <a:ext cx="288" cy="24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44175" name="Line 153"/>
            <p:cNvSpPr>
              <a:spLocks noChangeShapeType="1"/>
            </p:cNvSpPr>
            <p:nvPr/>
          </p:nvSpPr>
          <p:spPr bwMode="auto">
            <a:xfrm>
              <a:off x="3320" y="1851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76" name="Line 154"/>
            <p:cNvSpPr>
              <a:spLocks noChangeShapeType="1"/>
            </p:cNvSpPr>
            <p:nvPr/>
          </p:nvSpPr>
          <p:spPr bwMode="auto">
            <a:xfrm>
              <a:off x="3320" y="2100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77" name="Line 155"/>
            <p:cNvSpPr>
              <a:spLocks noChangeShapeType="1"/>
            </p:cNvSpPr>
            <p:nvPr/>
          </p:nvSpPr>
          <p:spPr bwMode="auto">
            <a:xfrm>
              <a:off x="3320" y="1851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78" name="Line 156"/>
            <p:cNvSpPr>
              <a:spLocks noChangeShapeType="1"/>
            </p:cNvSpPr>
            <p:nvPr/>
          </p:nvSpPr>
          <p:spPr bwMode="auto">
            <a:xfrm>
              <a:off x="3608" y="1851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79" name="Line 157"/>
            <p:cNvSpPr>
              <a:spLocks noChangeShapeType="1"/>
            </p:cNvSpPr>
            <p:nvPr/>
          </p:nvSpPr>
          <p:spPr bwMode="auto">
            <a:xfrm>
              <a:off x="3896" y="1851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80" name="Rectangle 158"/>
            <p:cNvSpPr>
              <a:spLocks noChangeArrowheads="1"/>
            </p:cNvSpPr>
            <p:nvPr/>
          </p:nvSpPr>
          <p:spPr bwMode="auto">
            <a:xfrm>
              <a:off x="5144" y="1851"/>
              <a:ext cx="288" cy="24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  <a:ea typeface="宋体" panose="02010600030101010101" pitchFamily="2" charset="-122"/>
                </a:rPr>
                <a:t>^</a:t>
              </a:r>
            </a:p>
          </p:txBody>
        </p:sp>
        <p:sp>
          <p:nvSpPr>
            <p:cNvPr id="44181" name="Rectangle 159"/>
            <p:cNvSpPr>
              <a:spLocks noChangeArrowheads="1"/>
            </p:cNvSpPr>
            <p:nvPr/>
          </p:nvSpPr>
          <p:spPr bwMode="auto">
            <a:xfrm>
              <a:off x="4856" y="1851"/>
              <a:ext cx="288" cy="24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44182" name="Line 160"/>
            <p:cNvSpPr>
              <a:spLocks noChangeShapeType="1"/>
            </p:cNvSpPr>
            <p:nvPr/>
          </p:nvSpPr>
          <p:spPr bwMode="auto">
            <a:xfrm>
              <a:off x="4856" y="1851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83" name="Line 161"/>
            <p:cNvSpPr>
              <a:spLocks noChangeShapeType="1"/>
            </p:cNvSpPr>
            <p:nvPr/>
          </p:nvSpPr>
          <p:spPr bwMode="auto">
            <a:xfrm>
              <a:off x="4856" y="2100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84" name="Line 162"/>
            <p:cNvSpPr>
              <a:spLocks noChangeShapeType="1"/>
            </p:cNvSpPr>
            <p:nvPr/>
          </p:nvSpPr>
          <p:spPr bwMode="auto">
            <a:xfrm>
              <a:off x="4856" y="1851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85" name="Line 163"/>
            <p:cNvSpPr>
              <a:spLocks noChangeShapeType="1"/>
            </p:cNvSpPr>
            <p:nvPr/>
          </p:nvSpPr>
          <p:spPr bwMode="auto">
            <a:xfrm>
              <a:off x="5144" y="1851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86" name="Line 164"/>
            <p:cNvSpPr>
              <a:spLocks noChangeShapeType="1"/>
            </p:cNvSpPr>
            <p:nvPr/>
          </p:nvSpPr>
          <p:spPr bwMode="auto">
            <a:xfrm>
              <a:off x="5432" y="1851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87" name="Line 165"/>
            <p:cNvSpPr>
              <a:spLocks noChangeShapeType="1"/>
            </p:cNvSpPr>
            <p:nvPr/>
          </p:nvSpPr>
          <p:spPr bwMode="auto">
            <a:xfrm>
              <a:off x="3752" y="1995"/>
              <a:ext cx="3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88" name="Line 166"/>
            <p:cNvSpPr>
              <a:spLocks noChangeShapeType="1"/>
            </p:cNvSpPr>
            <p:nvPr/>
          </p:nvSpPr>
          <p:spPr bwMode="auto">
            <a:xfrm>
              <a:off x="4520" y="1995"/>
              <a:ext cx="3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89" name="Line 167"/>
            <p:cNvSpPr>
              <a:spLocks noChangeShapeType="1"/>
            </p:cNvSpPr>
            <p:nvPr/>
          </p:nvSpPr>
          <p:spPr bwMode="auto">
            <a:xfrm>
              <a:off x="4088" y="1851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90" name="Line 169"/>
            <p:cNvSpPr>
              <a:spLocks noChangeShapeType="1"/>
            </p:cNvSpPr>
            <p:nvPr/>
          </p:nvSpPr>
          <p:spPr bwMode="auto">
            <a:xfrm>
              <a:off x="4088" y="1764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91" name="Rectangle 170"/>
            <p:cNvSpPr>
              <a:spLocks noChangeArrowheads="1"/>
            </p:cNvSpPr>
            <p:nvPr/>
          </p:nvSpPr>
          <p:spPr bwMode="auto">
            <a:xfrm>
              <a:off x="3608" y="1524"/>
              <a:ext cx="288" cy="249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zh-CN" sz="2000">
                <a:solidFill>
                  <a:srgbClr val="0000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4192" name="Rectangle 171"/>
            <p:cNvSpPr>
              <a:spLocks noChangeArrowheads="1"/>
            </p:cNvSpPr>
            <p:nvPr/>
          </p:nvSpPr>
          <p:spPr bwMode="auto">
            <a:xfrm>
              <a:off x="3320" y="1524"/>
              <a:ext cx="288" cy="249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44193" name="Line 172"/>
            <p:cNvSpPr>
              <a:spLocks noChangeShapeType="1"/>
            </p:cNvSpPr>
            <p:nvPr/>
          </p:nvSpPr>
          <p:spPr bwMode="auto">
            <a:xfrm>
              <a:off x="4088" y="1524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94" name="Line 173"/>
            <p:cNvSpPr>
              <a:spLocks noChangeShapeType="1"/>
            </p:cNvSpPr>
            <p:nvPr/>
          </p:nvSpPr>
          <p:spPr bwMode="auto">
            <a:xfrm>
              <a:off x="3320" y="1773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95" name="Line 174"/>
            <p:cNvSpPr>
              <a:spLocks noChangeShapeType="1"/>
            </p:cNvSpPr>
            <p:nvPr/>
          </p:nvSpPr>
          <p:spPr bwMode="auto">
            <a:xfrm>
              <a:off x="3320" y="1524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96" name="Line 175"/>
            <p:cNvSpPr>
              <a:spLocks noChangeShapeType="1"/>
            </p:cNvSpPr>
            <p:nvPr/>
          </p:nvSpPr>
          <p:spPr bwMode="auto">
            <a:xfrm>
              <a:off x="3608" y="1524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97" name="Line 176"/>
            <p:cNvSpPr>
              <a:spLocks noChangeShapeType="1"/>
            </p:cNvSpPr>
            <p:nvPr/>
          </p:nvSpPr>
          <p:spPr bwMode="auto">
            <a:xfrm>
              <a:off x="3896" y="1524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98" name="Rectangle 177"/>
            <p:cNvSpPr>
              <a:spLocks noChangeArrowheads="1"/>
            </p:cNvSpPr>
            <p:nvPr/>
          </p:nvSpPr>
          <p:spPr bwMode="auto">
            <a:xfrm>
              <a:off x="4376" y="1524"/>
              <a:ext cx="288" cy="249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zh-CN" sz="2000">
                <a:solidFill>
                  <a:srgbClr val="0000FF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4199" name="Rectangle 178"/>
            <p:cNvSpPr>
              <a:spLocks noChangeArrowheads="1"/>
            </p:cNvSpPr>
            <p:nvPr/>
          </p:nvSpPr>
          <p:spPr bwMode="auto">
            <a:xfrm>
              <a:off x="4088" y="1524"/>
              <a:ext cx="288" cy="249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44200" name="Line 179"/>
            <p:cNvSpPr>
              <a:spLocks noChangeShapeType="1"/>
            </p:cNvSpPr>
            <p:nvPr/>
          </p:nvSpPr>
          <p:spPr bwMode="auto">
            <a:xfrm>
              <a:off x="3320" y="1524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201" name="Line 180"/>
            <p:cNvSpPr>
              <a:spLocks noChangeShapeType="1"/>
            </p:cNvSpPr>
            <p:nvPr/>
          </p:nvSpPr>
          <p:spPr bwMode="auto">
            <a:xfrm>
              <a:off x="4088" y="1764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202" name="Line 181"/>
            <p:cNvSpPr>
              <a:spLocks noChangeShapeType="1"/>
            </p:cNvSpPr>
            <p:nvPr/>
          </p:nvSpPr>
          <p:spPr bwMode="auto">
            <a:xfrm>
              <a:off x="4088" y="1524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203" name="Line 182"/>
            <p:cNvSpPr>
              <a:spLocks noChangeShapeType="1"/>
            </p:cNvSpPr>
            <p:nvPr/>
          </p:nvSpPr>
          <p:spPr bwMode="auto">
            <a:xfrm>
              <a:off x="4376" y="1524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204" name="Line 183"/>
            <p:cNvSpPr>
              <a:spLocks noChangeShapeType="1"/>
            </p:cNvSpPr>
            <p:nvPr/>
          </p:nvSpPr>
          <p:spPr bwMode="auto">
            <a:xfrm>
              <a:off x="4664" y="1524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205" name="Rectangle 184"/>
            <p:cNvSpPr>
              <a:spLocks noChangeArrowheads="1"/>
            </p:cNvSpPr>
            <p:nvPr/>
          </p:nvSpPr>
          <p:spPr bwMode="auto">
            <a:xfrm>
              <a:off x="5144" y="1524"/>
              <a:ext cx="288" cy="249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  <a:ea typeface="宋体" panose="02010600030101010101" pitchFamily="2" charset="-122"/>
                </a:rPr>
                <a:t>^</a:t>
              </a:r>
            </a:p>
          </p:txBody>
        </p:sp>
        <p:sp>
          <p:nvSpPr>
            <p:cNvPr id="44206" name="Rectangle 185"/>
            <p:cNvSpPr>
              <a:spLocks noChangeArrowheads="1"/>
            </p:cNvSpPr>
            <p:nvPr/>
          </p:nvSpPr>
          <p:spPr bwMode="auto">
            <a:xfrm>
              <a:off x="4856" y="1524"/>
              <a:ext cx="288" cy="249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0000FF"/>
                  </a:solidFill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44207" name="Line 186"/>
            <p:cNvSpPr>
              <a:spLocks noChangeShapeType="1"/>
            </p:cNvSpPr>
            <p:nvPr/>
          </p:nvSpPr>
          <p:spPr bwMode="auto">
            <a:xfrm>
              <a:off x="4856" y="1524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208" name="Line 187"/>
            <p:cNvSpPr>
              <a:spLocks noChangeShapeType="1"/>
            </p:cNvSpPr>
            <p:nvPr/>
          </p:nvSpPr>
          <p:spPr bwMode="auto">
            <a:xfrm>
              <a:off x="4856" y="1773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209" name="Line 188"/>
            <p:cNvSpPr>
              <a:spLocks noChangeShapeType="1"/>
            </p:cNvSpPr>
            <p:nvPr/>
          </p:nvSpPr>
          <p:spPr bwMode="auto">
            <a:xfrm>
              <a:off x="4856" y="1524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210" name="Line 189"/>
            <p:cNvSpPr>
              <a:spLocks noChangeShapeType="1"/>
            </p:cNvSpPr>
            <p:nvPr/>
          </p:nvSpPr>
          <p:spPr bwMode="auto">
            <a:xfrm>
              <a:off x="5144" y="1524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211" name="Line 190"/>
            <p:cNvSpPr>
              <a:spLocks noChangeShapeType="1"/>
            </p:cNvSpPr>
            <p:nvPr/>
          </p:nvSpPr>
          <p:spPr bwMode="auto">
            <a:xfrm>
              <a:off x="5432" y="1524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212" name="Line 191"/>
            <p:cNvSpPr>
              <a:spLocks noChangeShapeType="1"/>
            </p:cNvSpPr>
            <p:nvPr/>
          </p:nvSpPr>
          <p:spPr bwMode="auto">
            <a:xfrm>
              <a:off x="3752" y="1668"/>
              <a:ext cx="3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213" name="Line 192"/>
            <p:cNvSpPr>
              <a:spLocks noChangeShapeType="1"/>
            </p:cNvSpPr>
            <p:nvPr/>
          </p:nvSpPr>
          <p:spPr bwMode="auto">
            <a:xfrm>
              <a:off x="4520" y="1668"/>
              <a:ext cx="3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4039" name="Group 207"/>
          <p:cNvGrpSpPr>
            <a:grpSpLocks/>
          </p:cNvGrpSpPr>
          <p:nvPr/>
        </p:nvGrpSpPr>
        <p:grpSpPr bwMode="auto">
          <a:xfrm>
            <a:off x="828675" y="3716338"/>
            <a:ext cx="2670175" cy="2057400"/>
            <a:chOff x="3486" y="532"/>
            <a:chExt cx="1682" cy="1296"/>
          </a:xfrm>
        </p:grpSpPr>
        <p:sp>
          <p:nvSpPr>
            <p:cNvPr id="44040" name="AutoShape 198"/>
            <p:cNvSpPr>
              <a:spLocks/>
            </p:cNvSpPr>
            <p:nvPr/>
          </p:nvSpPr>
          <p:spPr bwMode="auto">
            <a:xfrm>
              <a:off x="3531" y="772"/>
              <a:ext cx="101" cy="1008"/>
            </a:xfrm>
            <a:prstGeom prst="leftBracket">
              <a:avLst>
                <a:gd name="adj" fmla="val 87512"/>
              </a:avLst>
            </a:prstGeom>
            <a:noFill/>
            <a:ln w="38100">
              <a:solidFill>
                <a:srgbClr val="BADE7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44041" name="AutoShape 199"/>
            <p:cNvSpPr>
              <a:spLocks/>
            </p:cNvSpPr>
            <p:nvPr/>
          </p:nvSpPr>
          <p:spPr bwMode="auto">
            <a:xfrm>
              <a:off x="4760" y="772"/>
              <a:ext cx="131" cy="1008"/>
            </a:xfrm>
            <a:prstGeom prst="rightBracket">
              <a:avLst>
                <a:gd name="adj" fmla="val 64122"/>
              </a:avLst>
            </a:prstGeom>
            <a:noFill/>
            <a:ln w="38100">
              <a:solidFill>
                <a:srgbClr val="BADE7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44042" name="Rectangle 201"/>
            <p:cNvSpPr>
              <a:spLocks noChangeArrowheads="1"/>
            </p:cNvSpPr>
            <p:nvPr/>
          </p:nvSpPr>
          <p:spPr bwMode="auto">
            <a:xfrm>
              <a:off x="3486" y="532"/>
              <a:ext cx="163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>
                  <a:solidFill>
                    <a:srgbClr val="FF3300"/>
                  </a:solidFill>
                  <a:ea typeface="黑体" panose="02010609060101010101" pitchFamily="49" charset="-122"/>
                </a:rPr>
                <a:t>（ </a:t>
              </a:r>
              <a:r>
                <a:rPr lang="en-US" altLang="zh-CN" sz="2000">
                  <a:solidFill>
                    <a:srgbClr val="FF3300"/>
                  </a:solidFill>
                  <a:ea typeface="黑体" panose="02010609060101010101" pitchFamily="49" charset="-122"/>
                </a:rPr>
                <a:t>v1 v2</a:t>
              </a:r>
              <a:r>
                <a:rPr lang="en-US" altLang="zh-CN" sz="2000" baseline="-6000">
                  <a:solidFill>
                    <a:srgbClr val="FF3300"/>
                  </a:solidFill>
                  <a:ea typeface="黑体" panose="02010609060101010101" pitchFamily="49" charset="-122"/>
                </a:rPr>
                <a:t>  </a:t>
              </a:r>
              <a:r>
                <a:rPr lang="en-US" altLang="zh-CN" sz="2000">
                  <a:solidFill>
                    <a:srgbClr val="FF3300"/>
                  </a:solidFill>
                  <a:ea typeface="黑体" panose="02010609060101010101" pitchFamily="49" charset="-122"/>
                </a:rPr>
                <a:t>v3 v4 v5   </a:t>
              </a:r>
              <a:r>
                <a:rPr lang="zh-CN" altLang="en-US" sz="2000">
                  <a:solidFill>
                    <a:srgbClr val="FF3300"/>
                  </a:solidFill>
                  <a:ea typeface="黑体" panose="02010609060101010101" pitchFamily="49" charset="-122"/>
                </a:rPr>
                <a:t>）</a:t>
              </a:r>
            </a:p>
          </p:txBody>
        </p:sp>
        <p:sp>
          <p:nvSpPr>
            <p:cNvPr id="44043" name="Rectangle 202"/>
            <p:cNvSpPr>
              <a:spLocks noChangeArrowheads="1"/>
            </p:cNvSpPr>
            <p:nvPr/>
          </p:nvSpPr>
          <p:spPr bwMode="auto">
            <a:xfrm>
              <a:off x="4880" y="676"/>
              <a:ext cx="288" cy="1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FF3300"/>
                  </a:solidFill>
                  <a:ea typeface="黑体" panose="02010609060101010101" pitchFamily="49" charset="-122"/>
                </a:rPr>
                <a:t>v1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FF3300"/>
                  </a:solidFill>
                  <a:ea typeface="黑体" panose="02010609060101010101" pitchFamily="49" charset="-122"/>
                </a:rPr>
                <a:t>v2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FF3300"/>
                  </a:solidFill>
                  <a:ea typeface="黑体" panose="02010609060101010101" pitchFamily="49" charset="-122"/>
                </a:rPr>
                <a:t>v3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FF3300"/>
                  </a:solidFill>
                  <a:ea typeface="黑体" panose="02010609060101010101" pitchFamily="49" charset="-122"/>
                </a:rPr>
                <a:t>v4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rgbClr val="FF3300"/>
                  </a:solidFill>
                  <a:ea typeface="黑体" panose="02010609060101010101" pitchFamily="49" charset="-122"/>
                </a:rPr>
                <a:t>v5</a:t>
              </a:r>
            </a:p>
          </p:txBody>
        </p:sp>
        <p:sp>
          <p:nvSpPr>
            <p:cNvPr id="44044" name="Rectangle 203"/>
            <p:cNvSpPr>
              <a:spLocks noChangeArrowheads="1"/>
            </p:cNvSpPr>
            <p:nvPr/>
          </p:nvSpPr>
          <p:spPr bwMode="auto">
            <a:xfrm>
              <a:off x="3728" y="772"/>
              <a:ext cx="995" cy="10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ea typeface="黑体" panose="02010609060101010101" pitchFamily="49" charset="-122"/>
                </a:rPr>
                <a:t>0   0</a:t>
              </a:r>
              <a:r>
                <a:rPr lang="en-US" altLang="zh-CN" sz="2000" baseline="-6000">
                  <a:ea typeface="黑体" panose="02010609060101010101" pitchFamily="49" charset="-122"/>
                </a:rPr>
                <a:t>    </a:t>
              </a:r>
              <a:r>
                <a:rPr lang="en-US" altLang="zh-CN" sz="2000">
                  <a:ea typeface="黑体" panose="02010609060101010101" pitchFamily="49" charset="-122"/>
                </a:rPr>
                <a:t>0</a:t>
              </a:r>
              <a:r>
                <a:rPr lang="en-US" altLang="zh-CN" sz="2000" baseline="-6000">
                  <a:ea typeface="黑体" panose="02010609060101010101" pitchFamily="49" charset="-122"/>
                </a:rPr>
                <a:t>    </a:t>
              </a:r>
              <a:r>
                <a:rPr lang="en-US" altLang="zh-CN" sz="2000">
                  <a:ea typeface="黑体" panose="02010609060101010101" pitchFamily="49" charset="-122"/>
                </a:rPr>
                <a:t>0   0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ea typeface="黑体" panose="02010609060101010101" pitchFamily="49" charset="-122"/>
                </a:rPr>
                <a:t>0   0</a:t>
              </a:r>
              <a:r>
                <a:rPr lang="en-US" altLang="zh-CN" sz="2000" baseline="-6000">
                  <a:ea typeface="黑体" panose="02010609060101010101" pitchFamily="49" charset="-122"/>
                </a:rPr>
                <a:t>    </a:t>
              </a:r>
              <a:r>
                <a:rPr lang="en-US" altLang="zh-CN" sz="2000">
                  <a:ea typeface="黑体" panose="02010609060101010101" pitchFamily="49" charset="-122"/>
                </a:rPr>
                <a:t>0   0   0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ea typeface="黑体" panose="02010609060101010101" pitchFamily="49" charset="-122"/>
                </a:rPr>
                <a:t>0</a:t>
              </a:r>
              <a:r>
                <a:rPr lang="en-US" altLang="zh-CN" sz="2000" baseline="-6000">
                  <a:ea typeface="黑体" panose="02010609060101010101" pitchFamily="49" charset="-122"/>
                </a:rPr>
                <a:t>    </a:t>
              </a:r>
              <a:r>
                <a:rPr lang="en-US" altLang="zh-CN" sz="2000">
                  <a:ea typeface="黑体" panose="02010609060101010101" pitchFamily="49" charset="-122"/>
                </a:rPr>
                <a:t>0   0   0   0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ea typeface="黑体" panose="02010609060101010101" pitchFamily="49" charset="-122"/>
                </a:rPr>
                <a:t>0   0   0   0   0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ea typeface="黑体" panose="02010609060101010101" pitchFamily="49" charset="-122"/>
                </a:rPr>
                <a:t>0   0   0   0   0</a:t>
              </a:r>
            </a:p>
          </p:txBody>
        </p:sp>
        <p:sp>
          <p:nvSpPr>
            <p:cNvPr id="44045" name="Rectangle 204"/>
            <p:cNvSpPr>
              <a:spLocks noChangeArrowheads="1"/>
            </p:cNvSpPr>
            <p:nvPr/>
          </p:nvSpPr>
          <p:spPr bwMode="auto">
            <a:xfrm>
              <a:off x="3758" y="759"/>
              <a:ext cx="995" cy="1008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ea typeface="黑体" panose="02010609060101010101" pitchFamily="49" charset="-122"/>
                </a:rPr>
                <a:t>0   </a:t>
              </a:r>
              <a:r>
                <a:rPr lang="en-US" altLang="zh-CN" sz="2000">
                  <a:solidFill>
                    <a:schemeClr val="accent1"/>
                  </a:solidFill>
                  <a:ea typeface="黑体" panose="02010609060101010101" pitchFamily="49" charset="-122"/>
                </a:rPr>
                <a:t>1</a:t>
              </a:r>
              <a:r>
                <a:rPr lang="en-US" altLang="zh-CN" sz="2000" baseline="-6000">
                  <a:ea typeface="黑体" panose="02010609060101010101" pitchFamily="49" charset="-122"/>
                </a:rPr>
                <a:t>    </a:t>
              </a:r>
              <a:r>
                <a:rPr lang="en-US" altLang="zh-CN" sz="2000">
                  <a:ea typeface="黑体" panose="02010609060101010101" pitchFamily="49" charset="-122"/>
                </a:rPr>
                <a:t>0</a:t>
              </a:r>
              <a:r>
                <a:rPr lang="en-US" altLang="zh-CN" sz="2000" baseline="-6000">
                  <a:ea typeface="黑体" panose="02010609060101010101" pitchFamily="49" charset="-122"/>
                </a:rPr>
                <a:t>    </a:t>
              </a:r>
              <a:r>
                <a:rPr lang="en-US" altLang="zh-CN" sz="2000">
                  <a:solidFill>
                    <a:schemeClr val="accent1"/>
                  </a:solidFill>
                  <a:ea typeface="黑体" panose="02010609060101010101" pitchFamily="49" charset="-122"/>
                </a:rPr>
                <a:t>1</a:t>
              </a:r>
              <a:r>
                <a:rPr lang="en-US" altLang="zh-CN" sz="2000">
                  <a:ea typeface="黑体" panose="02010609060101010101" pitchFamily="49" charset="-122"/>
                </a:rPr>
                <a:t>   0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chemeClr val="accent1"/>
                  </a:solidFill>
                  <a:ea typeface="黑体" panose="02010609060101010101" pitchFamily="49" charset="-122"/>
                </a:rPr>
                <a:t>1</a:t>
              </a:r>
              <a:r>
                <a:rPr lang="en-US" altLang="zh-CN" sz="2000">
                  <a:ea typeface="黑体" panose="02010609060101010101" pitchFamily="49" charset="-122"/>
                </a:rPr>
                <a:t>   0</a:t>
              </a:r>
              <a:r>
                <a:rPr lang="en-US" altLang="zh-CN" sz="2000" baseline="-6000">
                  <a:ea typeface="黑体" panose="02010609060101010101" pitchFamily="49" charset="-122"/>
                </a:rPr>
                <a:t>    </a:t>
              </a:r>
              <a:r>
                <a:rPr lang="en-US" altLang="zh-CN" sz="2000">
                  <a:solidFill>
                    <a:schemeClr val="accent1"/>
                  </a:solidFill>
                  <a:ea typeface="黑体" panose="02010609060101010101" pitchFamily="49" charset="-122"/>
                </a:rPr>
                <a:t>1 </a:t>
              </a:r>
              <a:r>
                <a:rPr lang="en-US" altLang="zh-CN" sz="2000">
                  <a:ea typeface="黑体" panose="02010609060101010101" pitchFamily="49" charset="-122"/>
                </a:rPr>
                <a:t>  0   </a:t>
              </a:r>
              <a:r>
                <a:rPr lang="en-US" altLang="zh-CN" sz="2000">
                  <a:solidFill>
                    <a:schemeClr val="accent1"/>
                  </a:solidFill>
                  <a:ea typeface="黑体" panose="02010609060101010101" pitchFamily="49" charset="-122"/>
                </a:rPr>
                <a:t>1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ea typeface="黑体" panose="02010609060101010101" pitchFamily="49" charset="-122"/>
                </a:rPr>
                <a:t>0</a:t>
              </a:r>
              <a:r>
                <a:rPr lang="en-US" altLang="zh-CN" sz="2000" baseline="-6000">
                  <a:ea typeface="黑体" panose="02010609060101010101" pitchFamily="49" charset="-122"/>
                </a:rPr>
                <a:t>    </a:t>
              </a:r>
              <a:r>
                <a:rPr lang="en-US" altLang="zh-CN" sz="2000">
                  <a:solidFill>
                    <a:schemeClr val="accent1"/>
                  </a:solidFill>
                  <a:ea typeface="黑体" panose="02010609060101010101" pitchFamily="49" charset="-122"/>
                </a:rPr>
                <a:t>1  </a:t>
              </a:r>
              <a:r>
                <a:rPr lang="en-US" altLang="zh-CN" sz="2000">
                  <a:ea typeface="黑体" panose="02010609060101010101" pitchFamily="49" charset="-122"/>
                </a:rPr>
                <a:t> 0   </a:t>
              </a:r>
              <a:r>
                <a:rPr lang="en-US" altLang="zh-CN" sz="2000">
                  <a:solidFill>
                    <a:schemeClr val="accent1"/>
                  </a:solidFill>
                  <a:ea typeface="黑体" panose="02010609060101010101" pitchFamily="49" charset="-122"/>
                </a:rPr>
                <a:t>1   1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chemeClr val="accent1"/>
                  </a:solidFill>
                  <a:ea typeface="黑体" panose="02010609060101010101" pitchFamily="49" charset="-122"/>
                </a:rPr>
                <a:t>1 </a:t>
              </a:r>
              <a:r>
                <a:rPr lang="en-US" altLang="zh-CN" sz="2000">
                  <a:ea typeface="黑体" panose="02010609060101010101" pitchFamily="49" charset="-122"/>
                </a:rPr>
                <a:t>  0   </a:t>
              </a:r>
              <a:r>
                <a:rPr lang="en-US" altLang="zh-CN" sz="2000">
                  <a:solidFill>
                    <a:schemeClr val="accent1"/>
                  </a:solidFill>
                  <a:ea typeface="黑体" panose="02010609060101010101" pitchFamily="49" charset="-122"/>
                </a:rPr>
                <a:t>1</a:t>
              </a:r>
              <a:r>
                <a:rPr lang="en-US" altLang="zh-CN" sz="2000">
                  <a:ea typeface="黑体" panose="02010609060101010101" pitchFamily="49" charset="-122"/>
                </a:rPr>
                <a:t>   0   </a:t>
              </a:r>
              <a:r>
                <a:rPr lang="en-US" altLang="zh-CN" sz="2000">
                  <a:solidFill>
                    <a:schemeClr val="accent1"/>
                  </a:solidFill>
                  <a:ea typeface="黑体" panose="02010609060101010101" pitchFamily="49" charset="-122"/>
                </a:rPr>
                <a:t>1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ea typeface="黑体" panose="02010609060101010101" pitchFamily="49" charset="-122"/>
                </a:rPr>
                <a:t>0   </a:t>
              </a:r>
              <a:r>
                <a:rPr lang="en-US" altLang="zh-CN" sz="2000">
                  <a:solidFill>
                    <a:schemeClr val="accent1"/>
                  </a:solidFill>
                  <a:ea typeface="黑体" panose="02010609060101010101" pitchFamily="49" charset="-122"/>
                </a:rPr>
                <a:t>1   1</a:t>
              </a:r>
              <a:r>
                <a:rPr lang="en-US" altLang="zh-CN" sz="2000">
                  <a:ea typeface="黑体" panose="02010609060101010101" pitchFamily="49" charset="-122"/>
                </a:rPr>
                <a:t>   </a:t>
              </a:r>
              <a:r>
                <a:rPr lang="en-US" altLang="zh-CN" sz="2000">
                  <a:solidFill>
                    <a:schemeClr val="accent1"/>
                  </a:solidFill>
                  <a:ea typeface="黑体" panose="02010609060101010101" pitchFamily="49" charset="-122"/>
                </a:rPr>
                <a:t>1 </a:t>
              </a:r>
              <a:r>
                <a:rPr lang="en-US" altLang="zh-CN" sz="2000">
                  <a:ea typeface="黑体" panose="02010609060101010101" pitchFamily="49" charset="-122"/>
                </a:rPr>
                <a:t>  0</a:t>
              </a:r>
            </a:p>
          </p:txBody>
        </p:sp>
        <p:sp>
          <p:nvSpPr>
            <p:cNvPr id="44046" name="Rectangle 205"/>
            <p:cNvSpPr>
              <a:spLocks noChangeArrowheads="1"/>
            </p:cNvSpPr>
            <p:nvPr/>
          </p:nvSpPr>
          <p:spPr bwMode="auto">
            <a:xfrm>
              <a:off x="3758" y="759"/>
              <a:ext cx="995" cy="10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ea typeface="黑体" panose="02010609060101010101" pitchFamily="49" charset="-122"/>
                </a:rPr>
                <a:t>0   </a:t>
              </a:r>
              <a:r>
                <a:rPr lang="en-US" altLang="zh-CN" sz="2000">
                  <a:solidFill>
                    <a:schemeClr val="hlink"/>
                  </a:solidFill>
                  <a:ea typeface="黑体" panose="02010609060101010101" pitchFamily="49" charset="-122"/>
                </a:rPr>
                <a:t>1</a:t>
              </a:r>
              <a:r>
                <a:rPr lang="en-US" altLang="zh-CN" sz="2000" baseline="-6000">
                  <a:ea typeface="黑体" panose="02010609060101010101" pitchFamily="49" charset="-122"/>
                </a:rPr>
                <a:t>    </a:t>
              </a:r>
              <a:r>
                <a:rPr lang="en-US" altLang="zh-CN" sz="2000">
                  <a:ea typeface="黑体" panose="02010609060101010101" pitchFamily="49" charset="-122"/>
                </a:rPr>
                <a:t>0</a:t>
              </a:r>
              <a:r>
                <a:rPr lang="en-US" altLang="zh-CN" sz="2000" baseline="-6000">
                  <a:ea typeface="黑体" panose="02010609060101010101" pitchFamily="49" charset="-122"/>
                </a:rPr>
                <a:t>    </a:t>
              </a:r>
              <a:r>
                <a:rPr lang="en-US" altLang="zh-CN" sz="2000">
                  <a:solidFill>
                    <a:schemeClr val="hlink"/>
                  </a:solidFill>
                  <a:ea typeface="黑体" panose="02010609060101010101" pitchFamily="49" charset="-122"/>
                </a:rPr>
                <a:t>1</a:t>
              </a:r>
              <a:r>
                <a:rPr lang="en-US" altLang="zh-CN" sz="2000">
                  <a:ea typeface="黑体" panose="02010609060101010101" pitchFamily="49" charset="-122"/>
                </a:rPr>
                <a:t>   0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chemeClr val="hlink"/>
                  </a:solidFill>
                  <a:ea typeface="黑体" panose="02010609060101010101" pitchFamily="49" charset="-122"/>
                </a:rPr>
                <a:t>1</a:t>
              </a:r>
              <a:r>
                <a:rPr lang="en-US" altLang="zh-CN" sz="2000">
                  <a:ea typeface="黑体" panose="02010609060101010101" pitchFamily="49" charset="-122"/>
                </a:rPr>
                <a:t>   0</a:t>
              </a:r>
              <a:r>
                <a:rPr lang="en-US" altLang="zh-CN" sz="2000" baseline="-6000">
                  <a:ea typeface="黑体" panose="02010609060101010101" pitchFamily="49" charset="-122"/>
                </a:rPr>
                <a:t>    </a:t>
              </a:r>
              <a:r>
                <a:rPr lang="en-US" altLang="zh-CN" sz="2000">
                  <a:solidFill>
                    <a:schemeClr val="hlink"/>
                  </a:solidFill>
                  <a:ea typeface="黑体" panose="02010609060101010101" pitchFamily="49" charset="-122"/>
                </a:rPr>
                <a:t>1</a:t>
              </a:r>
              <a:r>
                <a:rPr lang="en-US" altLang="zh-CN" sz="2000">
                  <a:solidFill>
                    <a:schemeClr val="accent1"/>
                  </a:solidFill>
                  <a:ea typeface="黑体" panose="02010609060101010101" pitchFamily="49" charset="-122"/>
                </a:rPr>
                <a:t> </a:t>
              </a:r>
              <a:r>
                <a:rPr lang="en-US" altLang="zh-CN" sz="2000">
                  <a:ea typeface="黑体" panose="02010609060101010101" pitchFamily="49" charset="-122"/>
                </a:rPr>
                <a:t>  0   </a:t>
              </a:r>
              <a:r>
                <a:rPr lang="en-US" altLang="zh-CN" sz="2000">
                  <a:solidFill>
                    <a:schemeClr val="hlink"/>
                  </a:solidFill>
                  <a:ea typeface="黑体" panose="02010609060101010101" pitchFamily="49" charset="-122"/>
                </a:rPr>
                <a:t>1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ea typeface="黑体" panose="02010609060101010101" pitchFamily="49" charset="-122"/>
                </a:rPr>
                <a:t>0</a:t>
              </a:r>
              <a:r>
                <a:rPr lang="en-US" altLang="zh-CN" sz="2000" baseline="-6000">
                  <a:ea typeface="黑体" panose="02010609060101010101" pitchFamily="49" charset="-122"/>
                </a:rPr>
                <a:t>    </a:t>
              </a:r>
              <a:r>
                <a:rPr lang="en-US" altLang="zh-CN" sz="2000">
                  <a:solidFill>
                    <a:schemeClr val="hlink"/>
                  </a:solidFill>
                  <a:ea typeface="黑体" panose="02010609060101010101" pitchFamily="49" charset="-122"/>
                </a:rPr>
                <a:t>1</a:t>
              </a:r>
              <a:r>
                <a:rPr lang="en-US" altLang="zh-CN" sz="2000">
                  <a:solidFill>
                    <a:schemeClr val="accent1"/>
                  </a:solidFill>
                  <a:ea typeface="黑体" panose="02010609060101010101" pitchFamily="49" charset="-122"/>
                </a:rPr>
                <a:t>  </a:t>
              </a:r>
              <a:r>
                <a:rPr lang="en-US" altLang="zh-CN" sz="2000">
                  <a:ea typeface="黑体" panose="02010609060101010101" pitchFamily="49" charset="-122"/>
                </a:rPr>
                <a:t> 0   </a:t>
              </a:r>
              <a:r>
                <a:rPr lang="en-US" altLang="zh-CN" sz="2000">
                  <a:solidFill>
                    <a:schemeClr val="hlink"/>
                  </a:solidFill>
                  <a:ea typeface="黑体" panose="02010609060101010101" pitchFamily="49" charset="-122"/>
                </a:rPr>
                <a:t>1   1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solidFill>
                    <a:schemeClr val="hlink"/>
                  </a:solidFill>
                  <a:ea typeface="黑体" panose="02010609060101010101" pitchFamily="49" charset="-122"/>
                </a:rPr>
                <a:t>1 </a:t>
              </a:r>
              <a:r>
                <a:rPr lang="en-US" altLang="zh-CN" sz="2000">
                  <a:ea typeface="黑体" panose="02010609060101010101" pitchFamily="49" charset="-122"/>
                </a:rPr>
                <a:t>  0   </a:t>
              </a:r>
              <a:r>
                <a:rPr lang="en-US" altLang="zh-CN" sz="2000">
                  <a:solidFill>
                    <a:schemeClr val="hlink"/>
                  </a:solidFill>
                  <a:ea typeface="黑体" panose="02010609060101010101" pitchFamily="49" charset="-122"/>
                </a:rPr>
                <a:t>1</a:t>
              </a:r>
              <a:r>
                <a:rPr lang="en-US" altLang="zh-CN" sz="2000">
                  <a:ea typeface="黑体" panose="02010609060101010101" pitchFamily="49" charset="-122"/>
                </a:rPr>
                <a:t>   0   </a:t>
              </a:r>
              <a:r>
                <a:rPr lang="en-US" altLang="zh-CN" sz="2000">
                  <a:solidFill>
                    <a:schemeClr val="hlink"/>
                  </a:solidFill>
                  <a:ea typeface="黑体" panose="02010609060101010101" pitchFamily="49" charset="-122"/>
                </a:rPr>
                <a:t>1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ea typeface="黑体" panose="02010609060101010101" pitchFamily="49" charset="-122"/>
                </a:rPr>
                <a:t>0   </a:t>
              </a:r>
              <a:r>
                <a:rPr lang="en-US" altLang="zh-CN" sz="2000">
                  <a:solidFill>
                    <a:schemeClr val="hlink"/>
                  </a:solidFill>
                  <a:ea typeface="黑体" panose="02010609060101010101" pitchFamily="49" charset="-122"/>
                </a:rPr>
                <a:t>1   1</a:t>
              </a:r>
              <a:r>
                <a:rPr lang="en-US" altLang="zh-CN" sz="2000">
                  <a:ea typeface="黑体" panose="02010609060101010101" pitchFamily="49" charset="-122"/>
                </a:rPr>
                <a:t>   </a:t>
              </a:r>
              <a:r>
                <a:rPr lang="en-US" altLang="zh-CN" sz="2000">
                  <a:solidFill>
                    <a:schemeClr val="hlink"/>
                  </a:solidFill>
                  <a:ea typeface="黑体" panose="02010609060101010101" pitchFamily="49" charset="-122"/>
                </a:rPr>
                <a:t>1</a:t>
              </a:r>
              <a:r>
                <a:rPr lang="en-US" altLang="zh-CN" sz="2000">
                  <a:ea typeface="黑体" panose="02010609060101010101" pitchFamily="49" charset="-122"/>
                </a:rPr>
                <a:t>   0</a:t>
              </a: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latin typeface="+mn-ea"/>
              </a:rPr>
              <a:t>邻接矩阵与邻接表表示法的关系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81000" indent="-381000" eaLnBrk="1" hangingPunct="1">
              <a:spcBef>
                <a:spcPct val="0"/>
              </a:spcBef>
              <a:defRPr/>
            </a:pPr>
            <a:r>
              <a:rPr lang="zh-CN" altLang="en-US" dirty="0">
                <a:solidFill>
                  <a:srgbClr val="FF3300"/>
                </a:solidFill>
                <a:latin typeface="+mj-ea"/>
                <a:ea typeface="+mj-ea"/>
              </a:rPr>
              <a:t>区别：</a:t>
            </a:r>
          </a:p>
          <a:p>
            <a:pPr marL="381000" indent="-381000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dirty="0">
                <a:latin typeface="+mj-ea"/>
                <a:ea typeface="+mj-ea"/>
              </a:rPr>
              <a:t>① 对于任一确定的无向图，邻接矩阵是</a:t>
            </a:r>
            <a:r>
              <a:rPr lang="zh-CN" altLang="en-US" dirty="0">
                <a:solidFill>
                  <a:schemeClr val="accent2"/>
                </a:solidFill>
                <a:latin typeface="+mj-ea"/>
                <a:ea typeface="+mj-ea"/>
              </a:rPr>
              <a:t>唯一</a:t>
            </a:r>
            <a:r>
              <a:rPr lang="zh-CN" altLang="en-US" dirty="0">
                <a:latin typeface="+mj-ea"/>
                <a:ea typeface="+mj-ea"/>
              </a:rPr>
              <a:t>的（行列号与顶点编号一致），但邻接表</a:t>
            </a:r>
            <a:r>
              <a:rPr lang="zh-CN" altLang="en-US" dirty="0">
                <a:solidFill>
                  <a:schemeClr val="accent2"/>
                </a:solidFill>
                <a:latin typeface="+mj-ea"/>
                <a:ea typeface="+mj-ea"/>
              </a:rPr>
              <a:t>不唯一</a:t>
            </a:r>
            <a:r>
              <a:rPr lang="zh-CN" altLang="en-US" dirty="0">
                <a:latin typeface="+mj-ea"/>
                <a:ea typeface="+mj-ea"/>
              </a:rPr>
              <a:t>（链接次序与顶点编号无关）。</a:t>
            </a:r>
          </a:p>
          <a:p>
            <a:pPr marL="381000" indent="-381000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dirty="0">
                <a:latin typeface="+mj-ea"/>
                <a:ea typeface="+mj-ea"/>
              </a:rPr>
              <a:t>② 邻接矩阵的空间复杂度为</a:t>
            </a:r>
            <a:r>
              <a:rPr lang="en-US" altLang="zh-CN" dirty="0">
                <a:solidFill>
                  <a:schemeClr val="hlink"/>
                </a:solidFill>
                <a:latin typeface="+mj-ea"/>
                <a:ea typeface="+mj-ea"/>
              </a:rPr>
              <a:t>O(n</a:t>
            </a:r>
            <a:r>
              <a:rPr lang="en-US" altLang="zh-CN" baseline="30000" dirty="0">
                <a:solidFill>
                  <a:schemeClr val="hlink"/>
                </a:solidFill>
                <a:latin typeface="+mj-ea"/>
                <a:ea typeface="+mj-ea"/>
              </a:rPr>
              <a:t>2</a:t>
            </a:r>
            <a:r>
              <a:rPr lang="en-US" altLang="zh-CN" dirty="0">
                <a:solidFill>
                  <a:schemeClr val="hlink"/>
                </a:solidFill>
                <a:latin typeface="+mj-ea"/>
                <a:ea typeface="+mj-ea"/>
              </a:rPr>
              <a:t>),</a:t>
            </a:r>
            <a:r>
              <a:rPr lang="zh-CN" altLang="en-US" dirty="0">
                <a:latin typeface="+mj-ea"/>
                <a:ea typeface="+mj-ea"/>
              </a:rPr>
              <a:t>而邻接表的空间复杂度为</a:t>
            </a:r>
            <a:r>
              <a:rPr lang="en-US" altLang="zh-CN" dirty="0">
                <a:solidFill>
                  <a:schemeClr val="hlink"/>
                </a:solidFill>
                <a:latin typeface="+mj-ea"/>
                <a:ea typeface="+mj-ea"/>
              </a:rPr>
              <a:t>O(</a:t>
            </a:r>
            <a:r>
              <a:rPr lang="en-US" altLang="zh-CN" dirty="0" err="1">
                <a:solidFill>
                  <a:schemeClr val="hlink"/>
                </a:solidFill>
                <a:latin typeface="+mj-ea"/>
                <a:ea typeface="+mj-ea"/>
              </a:rPr>
              <a:t>n+e</a:t>
            </a:r>
            <a:r>
              <a:rPr lang="en-US" altLang="zh-CN" dirty="0">
                <a:solidFill>
                  <a:schemeClr val="hlink"/>
                </a:solidFill>
                <a:latin typeface="+mj-ea"/>
                <a:ea typeface="+mj-ea"/>
              </a:rPr>
              <a:t>)</a:t>
            </a:r>
            <a:r>
              <a:rPr lang="zh-CN" altLang="en-US" dirty="0">
                <a:latin typeface="+mj-ea"/>
                <a:ea typeface="+mj-ea"/>
              </a:rPr>
              <a:t>。</a:t>
            </a:r>
          </a:p>
          <a:p>
            <a:pPr marL="381000" indent="-381000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zh-CN" altLang="en-US" dirty="0">
              <a:latin typeface="+mj-ea"/>
              <a:ea typeface="+mj-ea"/>
            </a:endParaRPr>
          </a:p>
          <a:p>
            <a:pPr marL="381000" indent="-381000" eaLnBrk="1" hangingPunct="1">
              <a:spcBef>
                <a:spcPct val="0"/>
              </a:spcBef>
              <a:defRPr/>
            </a:pPr>
            <a:r>
              <a:rPr lang="zh-CN" altLang="en-US" dirty="0">
                <a:solidFill>
                  <a:srgbClr val="FF3300"/>
                </a:solidFill>
                <a:latin typeface="+mj-ea"/>
                <a:ea typeface="+mj-ea"/>
              </a:rPr>
              <a:t>用途：</a:t>
            </a:r>
            <a:r>
              <a:rPr lang="zh-CN" altLang="en-US" dirty="0">
                <a:latin typeface="+mj-ea"/>
                <a:ea typeface="+mj-ea"/>
              </a:rPr>
              <a:t>邻接矩阵多用于</a:t>
            </a:r>
            <a:r>
              <a:rPr lang="zh-CN" altLang="en-US" dirty="0">
                <a:solidFill>
                  <a:srgbClr val="4C34FE"/>
                </a:solidFill>
                <a:latin typeface="+mj-ea"/>
                <a:ea typeface="+mj-ea"/>
              </a:rPr>
              <a:t>稠密图</a:t>
            </a:r>
            <a:r>
              <a:rPr lang="zh-CN" altLang="en-US" dirty="0">
                <a:latin typeface="+mj-ea"/>
                <a:ea typeface="+mj-ea"/>
              </a:rPr>
              <a:t>；而邻接表多用于</a:t>
            </a:r>
            <a:r>
              <a:rPr lang="zh-CN" altLang="en-US" dirty="0">
                <a:solidFill>
                  <a:srgbClr val="00B050"/>
                </a:solidFill>
                <a:latin typeface="+mj-ea"/>
                <a:ea typeface="+mj-ea"/>
              </a:rPr>
              <a:t>稀疏图</a:t>
            </a:r>
          </a:p>
          <a:p>
            <a:pPr>
              <a:defRPr/>
            </a:pPr>
            <a:endParaRPr lang="zh-CN" altLang="en-US" dirty="0"/>
          </a:p>
        </p:txBody>
      </p:sp>
      <p:sp>
        <p:nvSpPr>
          <p:cNvPr id="45060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F741F0A-EB9F-4DAD-B2B1-DE9F8D573E37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38</a:t>
            </a:fld>
            <a:endParaRPr lang="zh-CN" altLang="en-US" sz="10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创建无向图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3" y="1125538"/>
            <a:ext cx="8207375" cy="47556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  <a:defRPr/>
            </a:pPr>
            <a:r>
              <a:rPr lang="zh-CN" altLang="en-US" dirty="0">
                <a:latin typeface="+mn-ea"/>
              </a:rPr>
              <a:t>输入总顶点数和总边数。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zh-CN" altLang="en-US" dirty="0">
                <a:latin typeface="+mn-ea"/>
              </a:rPr>
              <a:t>依次输入点的信息存入顶点表中，使每个表头结点的指针域初始化为</a:t>
            </a:r>
            <a:r>
              <a:rPr lang="en-US" altLang="zh-CN" dirty="0">
                <a:latin typeface="+mn-ea"/>
              </a:rPr>
              <a:t>NULL</a:t>
            </a:r>
            <a:r>
              <a:rPr lang="zh-CN" altLang="en-US" dirty="0">
                <a:latin typeface="+mn-ea"/>
              </a:rPr>
              <a:t>。</a:t>
            </a:r>
          </a:p>
          <a:p>
            <a:pPr marL="514350" indent="-514350">
              <a:buFont typeface="+mj-lt"/>
              <a:buAutoNum type="arabicPeriod"/>
              <a:defRPr/>
            </a:pPr>
            <a:r>
              <a:rPr lang="zh-CN" altLang="en-US" dirty="0">
                <a:latin typeface="+mn-ea"/>
              </a:rPr>
              <a:t>创建邻接表（假设顶点信息唯一）</a:t>
            </a:r>
            <a:endParaRPr lang="en-US" altLang="zh-CN" dirty="0"/>
          </a:p>
          <a:p>
            <a:pPr marL="914400" lvl="1" indent="-514350">
              <a:buFont typeface="+mj-ea"/>
              <a:buAutoNum type="circleNumDbPlain"/>
              <a:defRPr/>
            </a:pPr>
            <a:r>
              <a:rPr lang="zh-CN" altLang="en-US" dirty="0"/>
              <a:t>输入一条边依附的两个顶点</a:t>
            </a:r>
            <a:r>
              <a:rPr lang="en-US" altLang="zh-CN" dirty="0"/>
              <a:t>u</a:t>
            </a:r>
            <a:r>
              <a:rPr lang="zh-CN" altLang="en-US" dirty="0"/>
              <a:t>和</a:t>
            </a:r>
            <a:r>
              <a:rPr lang="en-US" altLang="zh-CN" dirty="0"/>
              <a:t>v</a:t>
            </a:r>
          </a:p>
          <a:p>
            <a:pPr marL="914400" lvl="1" indent="-514350">
              <a:buFont typeface="+mj-ea"/>
              <a:buAutoNum type="circleNumDbPlain"/>
              <a:defRPr/>
            </a:pPr>
            <a:r>
              <a:rPr lang="zh-CN" altLang="en-US" dirty="0"/>
              <a:t>确定</a:t>
            </a:r>
            <a:r>
              <a:rPr lang="en-US" altLang="zh-CN" dirty="0"/>
              <a:t>u</a:t>
            </a:r>
            <a:r>
              <a:rPr lang="zh-CN" altLang="en-US" dirty="0"/>
              <a:t>和</a:t>
            </a:r>
            <a:r>
              <a:rPr lang="en-US" altLang="zh-CN" dirty="0"/>
              <a:t>v</a:t>
            </a:r>
            <a:r>
              <a:rPr lang="zh-CN" altLang="en-US" dirty="0"/>
              <a:t>的位置</a:t>
            </a:r>
            <a:r>
              <a:rPr lang="en-US" altLang="zh-CN" dirty="0" err="1"/>
              <a:t>i</a:t>
            </a:r>
            <a:r>
              <a:rPr lang="zh-CN" altLang="en-US" dirty="0"/>
              <a:t>和</a:t>
            </a:r>
            <a:r>
              <a:rPr lang="en-US" altLang="zh-CN" dirty="0"/>
              <a:t>j</a:t>
            </a:r>
          </a:p>
          <a:p>
            <a:pPr marL="914400" lvl="1" indent="-514350">
              <a:buFont typeface="+mj-ea"/>
              <a:buAutoNum type="circleNumDbPlain"/>
              <a:defRPr/>
            </a:pPr>
            <a:r>
              <a:rPr lang="zh-CN" altLang="en-US" dirty="0"/>
              <a:t>分别为</a:t>
            </a:r>
            <a:r>
              <a:rPr lang="en-US" altLang="zh-CN" dirty="0"/>
              <a:t>u</a:t>
            </a:r>
            <a:r>
              <a:rPr lang="zh-CN" altLang="en-US" dirty="0"/>
              <a:t>和</a:t>
            </a:r>
            <a:r>
              <a:rPr lang="en-US" altLang="zh-CN" dirty="0"/>
              <a:t>v</a:t>
            </a:r>
            <a:r>
              <a:rPr lang="zh-CN" altLang="en-US" dirty="0"/>
              <a:t>生成一个新的边结点</a:t>
            </a:r>
            <a:r>
              <a:rPr lang="en-US" altLang="zh-CN" dirty="0" err="1"/>
              <a:t>pu</a:t>
            </a:r>
            <a:r>
              <a:rPr lang="zh-CN" altLang="en-US" dirty="0"/>
              <a:t>和</a:t>
            </a:r>
            <a:r>
              <a:rPr lang="en-US" altLang="zh-CN" dirty="0" err="1"/>
              <a:t>pv</a:t>
            </a:r>
            <a:r>
              <a:rPr lang="zh-CN" altLang="en-US" dirty="0"/>
              <a:t>，将其</a:t>
            </a:r>
            <a:r>
              <a:rPr lang="en-US" altLang="zh-CN" dirty="0" err="1"/>
              <a:t>adjvex</a:t>
            </a:r>
            <a:r>
              <a:rPr lang="zh-CN" altLang="en-US" dirty="0"/>
              <a:t>域分别赋值为</a:t>
            </a:r>
            <a:r>
              <a:rPr lang="en-US" altLang="zh-CN" dirty="0"/>
              <a:t>j</a:t>
            </a:r>
            <a:r>
              <a:rPr lang="zh-CN" altLang="en-US" dirty="0"/>
              <a:t>和</a:t>
            </a:r>
            <a:r>
              <a:rPr lang="en-US" altLang="zh-CN" dirty="0" err="1"/>
              <a:t>i</a:t>
            </a:r>
            <a:r>
              <a:rPr lang="zh-CN" altLang="en-US" dirty="0"/>
              <a:t>，并分别将其插入顶点</a:t>
            </a:r>
            <a:r>
              <a:rPr lang="en-US" altLang="zh-CN" dirty="0"/>
              <a:t>u</a:t>
            </a:r>
            <a:r>
              <a:rPr lang="zh-CN" altLang="en-US" dirty="0"/>
              <a:t>和</a:t>
            </a:r>
            <a:r>
              <a:rPr lang="en-US" altLang="zh-CN" dirty="0"/>
              <a:t>v</a:t>
            </a:r>
            <a:r>
              <a:rPr lang="zh-CN" altLang="en-US" dirty="0"/>
              <a:t>的边链表头部</a:t>
            </a:r>
            <a:r>
              <a:rPr lang="zh-CN" altLang="en-US" dirty="0">
                <a:solidFill>
                  <a:srgbClr val="FF0000"/>
                </a:solidFill>
              </a:rPr>
              <a:t>（头插）</a:t>
            </a:r>
            <a:endParaRPr lang="zh-CN" altLang="en-US" dirty="0">
              <a:solidFill>
                <a:srgbClr val="FF0000"/>
              </a:solidFill>
              <a:latin typeface="+mn-ea"/>
            </a:endParaRPr>
          </a:p>
          <a:p>
            <a:pPr marL="514350" indent="-514350">
              <a:buFont typeface="+mj-lt"/>
              <a:buAutoNum type="arabicPeriod"/>
              <a:defRPr/>
            </a:pPr>
            <a:endParaRPr lang="zh-CN" altLang="en-US" dirty="0"/>
          </a:p>
        </p:txBody>
      </p:sp>
      <p:sp>
        <p:nvSpPr>
          <p:cNvPr id="3891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A5E66C1-44C4-4DDC-9235-5E4F1AA24C12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39</a:t>
            </a:fld>
            <a:endParaRPr lang="zh-CN" altLang="en-US" sz="1000"/>
          </a:p>
        </p:txBody>
      </p:sp>
      <p:sp>
        <p:nvSpPr>
          <p:cNvPr id="2" name="文本框 1"/>
          <p:cNvSpPr txBox="1"/>
          <p:nvPr/>
        </p:nvSpPr>
        <p:spPr>
          <a:xfrm>
            <a:off x="1295636" y="5877272"/>
            <a:ext cx="65527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latin typeface="Cambria Math" panose="02040503050406030204" pitchFamily="18" charset="0"/>
              </a:rPr>
              <a:t>怎样创建一个有向图？</a:t>
            </a:r>
          </a:p>
        </p:txBody>
      </p:sp>
      <p:sp>
        <p:nvSpPr>
          <p:cNvPr id="4" name="任意形状 3">
            <a:extLst>
              <a:ext uri="{FF2B5EF4-FFF2-40B4-BE49-F238E27FC236}">
                <a16:creationId xmlns:a16="http://schemas.microsoft.com/office/drawing/2014/main" id="{C03BA624-7408-A246-A63D-C98F3EEEF6C8}"/>
              </a:ext>
            </a:extLst>
          </p:cNvPr>
          <p:cNvSpPr/>
          <p:nvPr/>
        </p:nvSpPr>
        <p:spPr bwMode="auto">
          <a:xfrm>
            <a:off x="7955756" y="729272"/>
            <a:ext cx="2580867" cy="5148000"/>
          </a:xfrm>
          <a:custGeom>
            <a:avLst/>
            <a:gdLst>
              <a:gd name="connsiteX0" fmla="*/ 0 w 2580867"/>
              <a:gd name="connsiteY0" fmla="*/ 638060 h 5138205"/>
              <a:gd name="connsiteX1" fmla="*/ 976045 w 2580867"/>
              <a:gd name="connsiteY1" fmla="*/ 31885 h 5138205"/>
              <a:gd name="connsiteX2" fmla="*/ 1859623 w 2580867"/>
              <a:gd name="connsiteY2" fmla="*/ 257916 h 5138205"/>
              <a:gd name="connsiteX3" fmla="*/ 2578814 w 2580867"/>
              <a:gd name="connsiteY3" fmla="*/ 1706573 h 5138205"/>
              <a:gd name="connsiteX4" fmla="*/ 1633591 w 2580867"/>
              <a:gd name="connsiteY4" fmla="*/ 2877827 h 5138205"/>
              <a:gd name="connsiteX5" fmla="*/ 1335641 w 2580867"/>
              <a:gd name="connsiteY5" fmla="*/ 3453179 h 5138205"/>
              <a:gd name="connsiteX6" fmla="*/ 1397286 w 2580867"/>
              <a:gd name="connsiteY6" fmla="*/ 4984029 h 5138205"/>
              <a:gd name="connsiteX7" fmla="*/ 1448656 w 2580867"/>
              <a:gd name="connsiteY7" fmla="*/ 5004577 h 5138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80867" h="5138205">
                <a:moveTo>
                  <a:pt x="0" y="638060"/>
                </a:moveTo>
                <a:cubicBezTo>
                  <a:pt x="333054" y="366651"/>
                  <a:pt x="666108" y="95242"/>
                  <a:pt x="976045" y="31885"/>
                </a:cubicBezTo>
                <a:cubicBezTo>
                  <a:pt x="1285982" y="-31472"/>
                  <a:pt x="1592495" y="-21199"/>
                  <a:pt x="1859623" y="257916"/>
                </a:cubicBezTo>
                <a:cubicBezTo>
                  <a:pt x="2126751" y="537031"/>
                  <a:pt x="2616486" y="1269921"/>
                  <a:pt x="2578814" y="1706573"/>
                </a:cubicBezTo>
                <a:cubicBezTo>
                  <a:pt x="2541142" y="2143225"/>
                  <a:pt x="1840786" y="2586726"/>
                  <a:pt x="1633591" y="2877827"/>
                </a:cubicBezTo>
                <a:cubicBezTo>
                  <a:pt x="1426396" y="3168928"/>
                  <a:pt x="1375025" y="3102145"/>
                  <a:pt x="1335641" y="3453179"/>
                </a:cubicBezTo>
                <a:cubicBezTo>
                  <a:pt x="1296257" y="3804213"/>
                  <a:pt x="1378450" y="4725463"/>
                  <a:pt x="1397286" y="4984029"/>
                </a:cubicBezTo>
                <a:cubicBezTo>
                  <a:pt x="1416122" y="5242595"/>
                  <a:pt x="1432389" y="5123586"/>
                  <a:pt x="1448656" y="5004577"/>
                </a:cubicBezTo>
              </a:path>
            </a:pathLst>
          </a:custGeom>
          <a:noFill/>
          <a:ln w="419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normalizeH="0" baseline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Arial" pitchFamily="34" charset="0"/>
              <a:ea typeface="华文细黑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09874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867" y="2924944"/>
            <a:ext cx="3003916" cy="3096344"/>
          </a:xfrm>
          <a:prstGeom prst="rect">
            <a:avLst/>
          </a:prstGeom>
        </p:spPr>
      </p:pic>
      <p:sp>
        <p:nvSpPr>
          <p:cNvPr id="522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图的遍历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3" y="1125538"/>
            <a:ext cx="8207375" cy="1943422"/>
          </a:xfrm>
        </p:spPr>
        <p:txBody>
          <a:bodyPr/>
          <a:lstStyle/>
          <a:p>
            <a:pPr>
              <a:defRPr/>
            </a:pPr>
            <a:r>
              <a:rPr lang="zh-CN" altLang="en-US" dirty="0">
                <a:latin typeface="+mn-ea"/>
              </a:rPr>
              <a:t>从已给的连通图中某一顶点出发，沿着一些边访遍图中所有的顶点，且使每个顶点仅被访问一次</a:t>
            </a:r>
            <a:endParaRPr lang="zh-CN" altLang="en-US" dirty="0"/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C9D6DCA-3264-407B-8542-F3193AECA247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40</a:t>
            </a:fld>
            <a:endParaRPr lang="zh-CN" altLang="en-US" sz="1000"/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478192" y="2924944"/>
            <a:ext cx="5543847" cy="2878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r>
              <a:rPr lang="zh-CN" altLang="en-US" kern="0" dirty="0">
                <a:solidFill>
                  <a:srgbClr val="FF3300"/>
                </a:solidFill>
                <a:latin typeface="+mn-ea"/>
              </a:rPr>
              <a:t>图的遍历要比树的遍历复杂</a:t>
            </a:r>
            <a:endParaRPr lang="en-US" altLang="zh-CN" kern="0" dirty="0">
              <a:solidFill>
                <a:srgbClr val="FF3300"/>
              </a:solidFill>
              <a:latin typeface="+mn-ea"/>
            </a:endParaRPr>
          </a:p>
          <a:p>
            <a:pPr lvl="1">
              <a:defRPr/>
            </a:pPr>
            <a:r>
              <a:rPr lang="zh-CN" altLang="en-US" kern="0" dirty="0">
                <a:latin typeface="+mn-ea"/>
              </a:rPr>
              <a:t>图中可能存在</a:t>
            </a:r>
            <a:r>
              <a:rPr lang="zh-CN" altLang="en-US" kern="0" dirty="0">
                <a:solidFill>
                  <a:srgbClr val="4C34FE"/>
                </a:solidFill>
                <a:latin typeface="+mn-ea"/>
              </a:rPr>
              <a:t>回路</a:t>
            </a:r>
            <a:endParaRPr lang="en-US" altLang="zh-CN" kern="0" dirty="0">
              <a:latin typeface="+mn-ea"/>
            </a:endParaRPr>
          </a:p>
          <a:p>
            <a:pPr lvl="2">
              <a:defRPr/>
            </a:pPr>
            <a:r>
              <a:rPr lang="zh-CN" altLang="en-US" kern="0" dirty="0">
                <a:latin typeface="+mn-ea"/>
              </a:rPr>
              <a:t>图的任一顶点都可能与其它顶点相通，在访问完某个顶点之后可能会沿着某些边</a:t>
            </a:r>
            <a:r>
              <a:rPr lang="zh-CN" altLang="en-US" kern="0" dirty="0">
                <a:solidFill>
                  <a:srgbClr val="FF3300"/>
                </a:solidFill>
                <a:latin typeface="+mn-ea"/>
              </a:rPr>
              <a:t>又回到了曾经访问过的顶点</a:t>
            </a:r>
            <a:endParaRPr lang="zh-CN" altLang="en-US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图的遍历</a:t>
            </a:r>
          </a:p>
        </p:txBody>
      </p:sp>
      <p:sp>
        <p:nvSpPr>
          <p:cNvPr id="4505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spcBef>
                <a:spcPct val="25000"/>
              </a:spcBef>
              <a:defRPr/>
            </a:pPr>
            <a:r>
              <a:rPr kumimoji="1" lang="zh-CN" altLang="en-US" dirty="0">
                <a:solidFill>
                  <a:srgbClr val="000000"/>
                </a:solidFill>
                <a:latin typeface="+mn-ea"/>
              </a:rPr>
              <a:t>通常有两条遍历图的路径：</a:t>
            </a:r>
            <a:endParaRPr kumimoji="1" lang="en-US" altLang="zh-CN" dirty="0">
              <a:solidFill>
                <a:srgbClr val="000000"/>
              </a:solidFill>
              <a:latin typeface="+mn-ea"/>
            </a:endParaRPr>
          </a:p>
          <a:p>
            <a:pPr lvl="1" eaLnBrk="1" hangingPunct="1">
              <a:lnSpc>
                <a:spcPct val="110000"/>
              </a:lnSpc>
              <a:spcBef>
                <a:spcPct val="25000"/>
              </a:spcBef>
              <a:defRPr/>
            </a:pPr>
            <a:r>
              <a:rPr kumimoji="1" lang="zh-CN" altLang="en-US" dirty="0">
                <a:latin typeface="+mn-ea"/>
              </a:rPr>
              <a:t>深度优先搜索（</a:t>
            </a:r>
            <a:r>
              <a:rPr kumimoji="1" lang="en-US" altLang="zh-CN" dirty="0">
                <a:latin typeface="+mn-ea"/>
              </a:rPr>
              <a:t>DFS</a:t>
            </a:r>
            <a:r>
              <a:rPr kumimoji="1" lang="zh-CN" altLang="en-US" dirty="0">
                <a:latin typeface="+mn-ea"/>
              </a:rPr>
              <a:t>）</a:t>
            </a:r>
            <a:endParaRPr kumimoji="1" lang="en-US" altLang="zh-CN" dirty="0">
              <a:latin typeface="+mn-ea"/>
            </a:endParaRPr>
          </a:p>
          <a:p>
            <a:pPr lvl="2" eaLnBrk="1" hangingPunct="1">
              <a:lnSpc>
                <a:spcPct val="110000"/>
              </a:lnSpc>
              <a:spcBef>
                <a:spcPct val="25000"/>
              </a:spcBef>
              <a:defRPr/>
            </a:pPr>
            <a:r>
              <a:rPr kumimoji="1" lang="zh-CN" altLang="en-US" dirty="0">
                <a:latin typeface="+mn-ea"/>
              </a:rPr>
              <a:t>类似于树的先序遍历</a:t>
            </a:r>
            <a:endParaRPr kumimoji="1" lang="en-US" altLang="zh-CN" dirty="0">
              <a:latin typeface="+mn-ea"/>
            </a:endParaRPr>
          </a:p>
          <a:p>
            <a:pPr lvl="1" eaLnBrk="1" hangingPunct="1">
              <a:lnSpc>
                <a:spcPct val="110000"/>
              </a:lnSpc>
              <a:spcBef>
                <a:spcPct val="25000"/>
              </a:spcBef>
              <a:defRPr/>
            </a:pPr>
            <a:r>
              <a:rPr kumimoji="1" lang="zh-CN" altLang="en-US" dirty="0">
                <a:latin typeface="+mn-ea"/>
              </a:rPr>
              <a:t>广度优先搜索（</a:t>
            </a:r>
            <a:r>
              <a:rPr kumimoji="1" lang="en-US" altLang="zh-CN" dirty="0">
                <a:latin typeface="+mn-ea"/>
              </a:rPr>
              <a:t>BFS</a:t>
            </a:r>
            <a:r>
              <a:rPr kumimoji="1" lang="zh-CN" altLang="en-US" dirty="0">
                <a:latin typeface="+mn-ea"/>
              </a:rPr>
              <a:t>）</a:t>
            </a:r>
            <a:endParaRPr kumimoji="1" lang="en-US" altLang="zh-CN" dirty="0">
              <a:latin typeface="+mn-ea"/>
            </a:endParaRPr>
          </a:p>
          <a:p>
            <a:pPr lvl="2" eaLnBrk="1" hangingPunct="1">
              <a:lnSpc>
                <a:spcPct val="110000"/>
              </a:lnSpc>
              <a:spcBef>
                <a:spcPct val="25000"/>
              </a:spcBef>
              <a:defRPr/>
            </a:pPr>
            <a:r>
              <a:rPr kumimoji="1" lang="zh-CN" altLang="en-US" dirty="0">
                <a:latin typeface="+mn-ea"/>
              </a:rPr>
              <a:t>类似于树的层次遍历</a:t>
            </a:r>
          </a:p>
          <a:p>
            <a:pPr>
              <a:defRPr/>
            </a:pPr>
            <a:endParaRPr kumimoji="1" lang="en-US" altLang="zh-CN" dirty="0">
              <a:latin typeface="+mn-ea"/>
            </a:endParaRPr>
          </a:p>
        </p:txBody>
      </p:sp>
      <p:sp>
        <p:nvSpPr>
          <p:cNvPr id="53252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5518809-6557-49E3-8C2D-EE46079CEF88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41</a:t>
            </a:fld>
            <a:endParaRPr lang="zh-CN" altLang="en-US" sz="10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DFS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kumimoji="1" lang="zh-CN" altLang="en-US" dirty="0">
                <a:solidFill>
                  <a:srgbClr val="0000FF"/>
                </a:solidFill>
                <a:latin typeface="+mn-ea"/>
              </a:rPr>
              <a:t>图的深度优先搜索类似于树的先序遍历</a:t>
            </a:r>
          </a:p>
          <a:p>
            <a:pPr lvl="1" indent="-342900">
              <a:lnSpc>
                <a:spcPct val="95000"/>
              </a:lnSpc>
              <a:spcBef>
                <a:spcPct val="50000"/>
              </a:spcBef>
              <a:defRPr/>
            </a:pPr>
            <a:r>
              <a:rPr lang="zh-CN" altLang="zh-CN" dirty="0">
                <a:solidFill>
                  <a:schemeClr val="tx2"/>
                </a:solidFill>
                <a:latin typeface="+mj-ea"/>
                <a:ea typeface="+mj-ea"/>
              </a:rPr>
              <a:t>访问顶点</a:t>
            </a:r>
            <a:r>
              <a:rPr lang="zh-CN" altLang="zh-CN" i="1" dirty="0">
                <a:solidFill>
                  <a:schemeClr val="tx2"/>
                </a:solidFill>
                <a:latin typeface="+mj-ea"/>
                <a:ea typeface="+mj-ea"/>
              </a:rPr>
              <a:t>v</a:t>
            </a:r>
            <a:r>
              <a:rPr lang="zh-CN" altLang="zh-CN" dirty="0">
                <a:solidFill>
                  <a:schemeClr val="tx2"/>
                </a:solidFill>
                <a:latin typeface="+mj-ea"/>
                <a:ea typeface="+mj-ea"/>
              </a:rPr>
              <a:t>；</a:t>
            </a:r>
          </a:p>
          <a:p>
            <a:pPr lvl="1" indent="-342900" algn="just">
              <a:lnSpc>
                <a:spcPct val="95000"/>
              </a:lnSpc>
              <a:spcBef>
                <a:spcPct val="50000"/>
              </a:spcBef>
              <a:defRPr/>
            </a:pPr>
            <a:r>
              <a:rPr lang="zh-CN" altLang="zh-CN" dirty="0">
                <a:solidFill>
                  <a:schemeClr val="tx2"/>
                </a:solidFill>
                <a:latin typeface="+mj-ea"/>
                <a:ea typeface="+mj-ea"/>
              </a:rPr>
              <a:t>从</a:t>
            </a:r>
            <a:r>
              <a:rPr lang="zh-CN" altLang="zh-CN" i="1" dirty="0">
                <a:solidFill>
                  <a:schemeClr val="tx2"/>
                </a:solidFill>
                <a:latin typeface="+mj-ea"/>
                <a:ea typeface="+mj-ea"/>
              </a:rPr>
              <a:t>v</a:t>
            </a:r>
            <a:r>
              <a:rPr lang="zh-CN" altLang="zh-CN" dirty="0">
                <a:solidFill>
                  <a:schemeClr val="tx2"/>
                </a:solidFill>
                <a:latin typeface="+mj-ea"/>
                <a:ea typeface="+mj-ea"/>
              </a:rPr>
              <a:t>的</a:t>
            </a:r>
            <a:r>
              <a:rPr lang="zh-CN" altLang="zh-CN" dirty="0">
                <a:solidFill>
                  <a:srgbClr val="FF0000"/>
                </a:solidFill>
                <a:latin typeface="+mj-ea"/>
                <a:ea typeface="+mj-ea"/>
              </a:rPr>
              <a:t>未被访问的</a:t>
            </a:r>
            <a:r>
              <a:rPr lang="zh-CN" altLang="zh-CN" dirty="0">
                <a:solidFill>
                  <a:schemeClr val="tx2"/>
                </a:solidFill>
                <a:latin typeface="+mj-ea"/>
                <a:ea typeface="+mj-ea"/>
              </a:rPr>
              <a:t>邻接点中选取一个顶点</a:t>
            </a:r>
            <a:r>
              <a:rPr lang="zh-CN" altLang="zh-CN" i="1" dirty="0">
                <a:solidFill>
                  <a:schemeClr val="tx2"/>
                </a:solidFill>
                <a:latin typeface="+mj-ea"/>
                <a:ea typeface="+mj-ea"/>
              </a:rPr>
              <a:t>w</a:t>
            </a:r>
            <a:r>
              <a:rPr lang="zh-CN" altLang="zh-CN" dirty="0">
                <a:solidFill>
                  <a:schemeClr val="tx2"/>
                </a:solidFill>
                <a:latin typeface="+mj-ea"/>
                <a:ea typeface="+mj-ea"/>
              </a:rPr>
              <a:t>，从</a:t>
            </a:r>
            <a:r>
              <a:rPr lang="zh-CN" altLang="zh-CN" i="1" dirty="0">
                <a:solidFill>
                  <a:schemeClr val="tx2"/>
                </a:solidFill>
                <a:latin typeface="+mj-ea"/>
                <a:ea typeface="+mj-ea"/>
              </a:rPr>
              <a:t>w</a:t>
            </a:r>
            <a:r>
              <a:rPr lang="zh-CN" altLang="zh-CN" dirty="0">
                <a:solidFill>
                  <a:schemeClr val="tx2"/>
                </a:solidFill>
                <a:latin typeface="+mj-ea"/>
                <a:ea typeface="+mj-ea"/>
              </a:rPr>
              <a:t>出发进行深度优先遍历；</a:t>
            </a:r>
          </a:p>
          <a:p>
            <a:pPr lvl="1" indent="-342900">
              <a:lnSpc>
                <a:spcPct val="95000"/>
              </a:lnSpc>
              <a:spcBef>
                <a:spcPct val="50000"/>
              </a:spcBef>
              <a:defRPr/>
            </a:pPr>
            <a:r>
              <a:rPr lang="zh-CN" altLang="zh-CN" dirty="0">
                <a:solidFill>
                  <a:schemeClr val="tx2"/>
                </a:solidFill>
                <a:latin typeface="+mj-ea"/>
                <a:ea typeface="+mj-ea"/>
              </a:rPr>
              <a:t>重复上述两步，直至图中所有和</a:t>
            </a:r>
            <a:r>
              <a:rPr lang="zh-CN" altLang="zh-CN" i="1" dirty="0">
                <a:solidFill>
                  <a:schemeClr val="tx2"/>
                </a:solidFill>
                <a:latin typeface="+mj-ea"/>
                <a:ea typeface="+mj-ea"/>
              </a:rPr>
              <a:t>v</a:t>
            </a:r>
            <a:r>
              <a:rPr lang="zh-CN" altLang="zh-CN" dirty="0">
                <a:solidFill>
                  <a:schemeClr val="tx2"/>
                </a:solidFill>
                <a:latin typeface="+mj-ea"/>
                <a:ea typeface="+mj-ea"/>
              </a:rPr>
              <a:t>有路径相通的顶点都被访问到</a:t>
            </a:r>
            <a:endParaRPr lang="en-US" altLang="zh-CN" dirty="0">
              <a:solidFill>
                <a:schemeClr val="tx2"/>
              </a:solidFill>
              <a:latin typeface="+mj-ea"/>
              <a:ea typeface="+mj-ea"/>
            </a:endParaRPr>
          </a:p>
          <a:p>
            <a:pPr>
              <a:lnSpc>
                <a:spcPct val="95000"/>
              </a:lnSpc>
              <a:spcBef>
                <a:spcPct val="50000"/>
              </a:spcBef>
              <a:defRPr/>
            </a:pPr>
            <a:r>
              <a:rPr kumimoji="1" lang="zh-CN" altLang="en-US" dirty="0">
                <a:latin typeface="+mn-ea"/>
              </a:rPr>
              <a:t>深度优先搜索是一个递归过程</a:t>
            </a:r>
            <a:endParaRPr kumimoji="1" lang="en-US" altLang="zh-CN" dirty="0">
              <a:latin typeface="+mn-ea"/>
            </a:endParaRPr>
          </a:p>
          <a:p>
            <a:pPr>
              <a:lnSpc>
                <a:spcPct val="95000"/>
              </a:lnSpc>
              <a:spcBef>
                <a:spcPct val="50000"/>
              </a:spcBef>
              <a:defRPr/>
            </a:pPr>
            <a:endParaRPr lang="zh-CN" altLang="zh-CN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5427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AD1FB5E-0ED7-4B06-B48F-4AF0514421E1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42</a:t>
            </a:fld>
            <a:endParaRPr lang="zh-CN" altLang="en-US" sz="10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DFS</a:t>
            </a:r>
            <a:r>
              <a:rPr lang="zh-CN" altLang="en-US"/>
              <a:t>示例</a:t>
            </a:r>
          </a:p>
        </p:txBody>
      </p:sp>
      <p:sp>
        <p:nvSpPr>
          <p:cNvPr id="55299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995A760-5279-41EF-BDEF-7B2E7A6DA88E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43</a:t>
            </a:fld>
            <a:endParaRPr lang="zh-CN" altLang="en-US" sz="1000"/>
          </a:p>
        </p:txBody>
      </p:sp>
      <p:grpSp>
        <p:nvGrpSpPr>
          <p:cNvPr id="55300" name="Group 2"/>
          <p:cNvGrpSpPr>
            <a:grpSpLocks/>
          </p:cNvGrpSpPr>
          <p:nvPr/>
        </p:nvGrpSpPr>
        <p:grpSpPr bwMode="auto">
          <a:xfrm>
            <a:off x="684213" y="1268413"/>
            <a:ext cx="4891087" cy="4710112"/>
            <a:chOff x="2535" y="1200"/>
            <a:chExt cx="3081" cy="2967"/>
          </a:xfrm>
        </p:grpSpPr>
        <p:grpSp>
          <p:nvGrpSpPr>
            <p:cNvPr id="55319" name="Group 3"/>
            <p:cNvGrpSpPr>
              <a:grpSpLocks/>
            </p:cNvGrpSpPr>
            <p:nvPr/>
          </p:nvGrpSpPr>
          <p:grpSpPr bwMode="auto">
            <a:xfrm>
              <a:off x="2535" y="1200"/>
              <a:ext cx="3081" cy="2548"/>
              <a:chOff x="1104" y="1104"/>
              <a:chExt cx="3081" cy="2548"/>
            </a:xfrm>
          </p:grpSpPr>
          <p:sp>
            <p:nvSpPr>
              <p:cNvPr id="55321" name="Oval 4"/>
              <p:cNvSpPr>
                <a:spLocks noChangeArrowheads="1"/>
              </p:cNvSpPr>
              <p:nvPr/>
            </p:nvSpPr>
            <p:spPr bwMode="auto">
              <a:xfrm>
                <a:off x="2304" y="1104"/>
                <a:ext cx="340" cy="340"/>
              </a:xfrm>
              <a:prstGeom prst="ellipse">
                <a:avLst/>
              </a:prstGeom>
              <a:solidFill>
                <a:srgbClr val="99CCFF"/>
              </a:solidFill>
              <a:ln w="222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72000" tIns="10800" rIns="72000" bIns="82800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lnSpc>
                    <a:spcPct val="110000"/>
                  </a:lnSpc>
                  <a:spcBef>
                    <a:spcPct val="25000"/>
                  </a:spcBef>
                  <a:buClrTx/>
                  <a:buFontTx/>
                  <a:buNone/>
                </a:pPr>
                <a:r>
                  <a:rPr kumimoji="1" lang="en-US" altLang="zh-CN" sz="2600" b="1">
                    <a:solidFill>
                      <a:schemeClr val="tx2"/>
                    </a:solidFill>
                    <a:latin typeface="仿宋_GB2312" pitchFamily="49" charset="-122"/>
                    <a:ea typeface="仿宋_GB2312" pitchFamily="49" charset="-122"/>
                  </a:rPr>
                  <a:t>V</a:t>
                </a:r>
                <a:r>
                  <a:rPr kumimoji="1" lang="en-US" altLang="zh-CN" sz="2600" b="1" baseline="-25000">
                    <a:solidFill>
                      <a:schemeClr val="tx2"/>
                    </a:solidFill>
                    <a:latin typeface="仿宋_GB2312" pitchFamily="49" charset="-122"/>
                    <a:ea typeface="仿宋_GB2312" pitchFamily="49" charset="-122"/>
                  </a:rPr>
                  <a:t>1</a:t>
                </a:r>
              </a:p>
            </p:txBody>
          </p:sp>
          <p:sp>
            <p:nvSpPr>
              <p:cNvPr id="55322" name="Oval 5"/>
              <p:cNvSpPr>
                <a:spLocks noChangeArrowheads="1"/>
              </p:cNvSpPr>
              <p:nvPr/>
            </p:nvSpPr>
            <p:spPr bwMode="auto">
              <a:xfrm>
                <a:off x="2400" y="3312"/>
                <a:ext cx="340" cy="340"/>
              </a:xfrm>
              <a:prstGeom prst="ellipse">
                <a:avLst/>
              </a:prstGeom>
              <a:solidFill>
                <a:srgbClr val="99CCFF"/>
              </a:solidFill>
              <a:ln w="222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72000" tIns="10800" rIns="72000" bIns="82800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lnSpc>
                    <a:spcPct val="110000"/>
                  </a:lnSpc>
                  <a:spcBef>
                    <a:spcPct val="25000"/>
                  </a:spcBef>
                  <a:buClrTx/>
                  <a:buFontTx/>
                  <a:buNone/>
                </a:pPr>
                <a:r>
                  <a:rPr kumimoji="1" lang="en-US" altLang="zh-CN" sz="2600" b="1">
                    <a:solidFill>
                      <a:schemeClr val="tx2"/>
                    </a:solidFill>
                    <a:latin typeface="仿宋_GB2312" pitchFamily="49" charset="-122"/>
                    <a:ea typeface="仿宋_GB2312" pitchFamily="49" charset="-122"/>
                  </a:rPr>
                  <a:t>V</a:t>
                </a:r>
                <a:r>
                  <a:rPr kumimoji="1" lang="en-US" altLang="zh-CN" sz="2600" b="1" baseline="-25000">
                    <a:solidFill>
                      <a:schemeClr val="tx2"/>
                    </a:solidFill>
                    <a:latin typeface="仿宋_GB2312" pitchFamily="49" charset="-122"/>
                    <a:ea typeface="仿宋_GB2312" pitchFamily="49" charset="-122"/>
                  </a:rPr>
                  <a:t>8</a:t>
                </a:r>
              </a:p>
            </p:txBody>
          </p:sp>
          <p:sp>
            <p:nvSpPr>
              <p:cNvPr id="55323" name="Oval 6"/>
              <p:cNvSpPr>
                <a:spLocks noChangeArrowheads="1"/>
              </p:cNvSpPr>
              <p:nvPr/>
            </p:nvSpPr>
            <p:spPr bwMode="auto">
              <a:xfrm>
                <a:off x="1488" y="1899"/>
                <a:ext cx="340" cy="340"/>
              </a:xfrm>
              <a:prstGeom prst="ellipse">
                <a:avLst/>
              </a:prstGeom>
              <a:solidFill>
                <a:srgbClr val="99CCFF"/>
              </a:solidFill>
              <a:ln w="222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72000" tIns="10800" rIns="72000" bIns="82800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lnSpc>
                    <a:spcPct val="110000"/>
                  </a:lnSpc>
                  <a:spcBef>
                    <a:spcPct val="25000"/>
                  </a:spcBef>
                  <a:buClrTx/>
                  <a:buFontTx/>
                  <a:buNone/>
                </a:pPr>
                <a:r>
                  <a:rPr kumimoji="1" lang="en-US" altLang="zh-CN" sz="2600" b="1">
                    <a:solidFill>
                      <a:schemeClr val="tx2"/>
                    </a:solidFill>
                    <a:latin typeface="仿宋_GB2312" pitchFamily="49" charset="-122"/>
                    <a:ea typeface="仿宋_GB2312" pitchFamily="49" charset="-122"/>
                  </a:rPr>
                  <a:t>V</a:t>
                </a:r>
                <a:r>
                  <a:rPr kumimoji="1" lang="en-US" altLang="zh-CN" sz="2600" b="1" baseline="-25000">
                    <a:solidFill>
                      <a:schemeClr val="tx2"/>
                    </a:solidFill>
                    <a:latin typeface="仿宋_GB2312" pitchFamily="49" charset="-122"/>
                    <a:ea typeface="仿宋_GB2312" pitchFamily="49" charset="-122"/>
                  </a:rPr>
                  <a:t>2</a:t>
                </a:r>
              </a:p>
            </p:txBody>
          </p:sp>
          <p:sp>
            <p:nvSpPr>
              <p:cNvPr id="55324" name="Oval 7"/>
              <p:cNvSpPr>
                <a:spLocks noChangeArrowheads="1"/>
              </p:cNvSpPr>
              <p:nvPr/>
            </p:nvSpPr>
            <p:spPr bwMode="auto">
              <a:xfrm>
                <a:off x="3312" y="1872"/>
                <a:ext cx="340" cy="340"/>
              </a:xfrm>
              <a:prstGeom prst="ellipse">
                <a:avLst/>
              </a:prstGeom>
              <a:solidFill>
                <a:srgbClr val="99CCFF"/>
              </a:solidFill>
              <a:ln w="222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72000" tIns="10800" rIns="72000" bIns="82800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lnSpc>
                    <a:spcPct val="110000"/>
                  </a:lnSpc>
                  <a:spcBef>
                    <a:spcPct val="25000"/>
                  </a:spcBef>
                  <a:buClrTx/>
                  <a:buFontTx/>
                  <a:buNone/>
                </a:pPr>
                <a:r>
                  <a:rPr kumimoji="1" lang="en-US" altLang="zh-CN" sz="2600" b="1">
                    <a:solidFill>
                      <a:schemeClr val="tx2"/>
                    </a:solidFill>
                    <a:latin typeface="仿宋_GB2312" pitchFamily="49" charset="-122"/>
                    <a:ea typeface="仿宋_GB2312" pitchFamily="49" charset="-122"/>
                  </a:rPr>
                  <a:t>V</a:t>
                </a:r>
                <a:r>
                  <a:rPr kumimoji="1" lang="en-US" altLang="zh-CN" sz="2600" b="1" baseline="-25000">
                    <a:solidFill>
                      <a:schemeClr val="tx2"/>
                    </a:solidFill>
                    <a:latin typeface="仿宋_GB2312" pitchFamily="49" charset="-122"/>
                    <a:ea typeface="仿宋_GB2312" pitchFamily="49" charset="-122"/>
                  </a:rPr>
                  <a:t>3</a:t>
                </a:r>
              </a:p>
            </p:txBody>
          </p:sp>
          <p:sp>
            <p:nvSpPr>
              <p:cNvPr id="55325" name="Oval 8"/>
              <p:cNvSpPr>
                <a:spLocks noChangeArrowheads="1"/>
              </p:cNvSpPr>
              <p:nvPr/>
            </p:nvSpPr>
            <p:spPr bwMode="auto">
              <a:xfrm>
                <a:off x="2876" y="2619"/>
                <a:ext cx="340" cy="340"/>
              </a:xfrm>
              <a:prstGeom prst="ellipse">
                <a:avLst/>
              </a:prstGeom>
              <a:solidFill>
                <a:srgbClr val="99CCFF"/>
              </a:solidFill>
              <a:ln w="222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72000" tIns="10800" rIns="72000" bIns="82800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lnSpc>
                    <a:spcPct val="110000"/>
                  </a:lnSpc>
                  <a:spcBef>
                    <a:spcPct val="25000"/>
                  </a:spcBef>
                  <a:buClrTx/>
                  <a:buFontTx/>
                  <a:buNone/>
                </a:pPr>
                <a:r>
                  <a:rPr kumimoji="1" lang="en-US" altLang="zh-CN" sz="2600" b="1">
                    <a:solidFill>
                      <a:schemeClr val="tx2"/>
                    </a:solidFill>
                    <a:latin typeface="仿宋_GB2312" pitchFamily="49" charset="-122"/>
                    <a:ea typeface="仿宋_GB2312" pitchFamily="49" charset="-122"/>
                  </a:rPr>
                  <a:t>V</a:t>
                </a:r>
                <a:r>
                  <a:rPr kumimoji="1" lang="en-US" altLang="zh-CN" sz="2600" b="1" baseline="-25000">
                    <a:solidFill>
                      <a:schemeClr val="tx2"/>
                    </a:solidFill>
                    <a:latin typeface="仿宋_GB2312" pitchFamily="49" charset="-122"/>
                    <a:ea typeface="仿宋_GB2312" pitchFamily="49" charset="-122"/>
                  </a:rPr>
                  <a:t>6</a:t>
                </a:r>
              </a:p>
            </p:txBody>
          </p:sp>
          <p:sp>
            <p:nvSpPr>
              <p:cNvPr id="55326" name="Oval 9"/>
              <p:cNvSpPr>
                <a:spLocks noChangeArrowheads="1"/>
              </p:cNvSpPr>
              <p:nvPr/>
            </p:nvSpPr>
            <p:spPr bwMode="auto">
              <a:xfrm>
                <a:off x="3845" y="2616"/>
                <a:ext cx="340" cy="340"/>
              </a:xfrm>
              <a:prstGeom prst="ellipse">
                <a:avLst/>
              </a:prstGeom>
              <a:solidFill>
                <a:srgbClr val="99CCFF"/>
              </a:solidFill>
              <a:ln w="222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72000" tIns="10800" rIns="72000" bIns="82800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lnSpc>
                    <a:spcPct val="110000"/>
                  </a:lnSpc>
                  <a:spcBef>
                    <a:spcPct val="25000"/>
                  </a:spcBef>
                  <a:buClrTx/>
                  <a:buFontTx/>
                  <a:buNone/>
                </a:pPr>
                <a:r>
                  <a:rPr kumimoji="1" lang="en-US" altLang="zh-CN" sz="2600" b="1">
                    <a:solidFill>
                      <a:schemeClr val="tx2"/>
                    </a:solidFill>
                    <a:latin typeface="仿宋_GB2312" pitchFamily="49" charset="-122"/>
                    <a:ea typeface="仿宋_GB2312" pitchFamily="49" charset="-122"/>
                  </a:rPr>
                  <a:t>V</a:t>
                </a:r>
                <a:r>
                  <a:rPr kumimoji="1" lang="en-US" altLang="zh-CN" sz="2600" b="1" baseline="-25000">
                    <a:solidFill>
                      <a:schemeClr val="tx2"/>
                    </a:solidFill>
                    <a:latin typeface="仿宋_GB2312" pitchFamily="49" charset="-122"/>
                    <a:ea typeface="仿宋_GB2312" pitchFamily="49" charset="-122"/>
                  </a:rPr>
                  <a:t>7</a:t>
                </a:r>
              </a:p>
            </p:txBody>
          </p:sp>
          <p:sp>
            <p:nvSpPr>
              <p:cNvPr id="55327" name="Oval 10"/>
              <p:cNvSpPr>
                <a:spLocks noChangeArrowheads="1"/>
              </p:cNvSpPr>
              <p:nvPr/>
            </p:nvSpPr>
            <p:spPr bwMode="auto">
              <a:xfrm>
                <a:off x="1104" y="2688"/>
                <a:ext cx="340" cy="340"/>
              </a:xfrm>
              <a:prstGeom prst="ellipse">
                <a:avLst/>
              </a:prstGeom>
              <a:solidFill>
                <a:srgbClr val="99CCFF"/>
              </a:solidFill>
              <a:ln w="222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72000" tIns="10800" rIns="72000" bIns="82800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lnSpc>
                    <a:spcPct val="110000"/>
                  </a:lnSpc>
                  <a:spcBef>
                    <a:spcPct val="25000"/>
                  </a:spcBef>
                  <a:buClrTx/>
                  <a:buFontTx/>
                  <a:buNone/>
                </a:pPr>
                <a:r>
                  <a:rPr kumimoji="1" lang="en-US" altLang="zh-CN" sz="2600" b="1">
                    <a:solidFill>
                      <a:schemeClr val="tx2"/>
                    </a:solidFill>
                    <a:latin typeface="仿宋_GB2312" pitchFamily="49" charset="-122"/>
                    <a:ea typeface="仿宋_GB2312" pitchFamily="49" charset="-122"/>
                  </a:rPr>
                  <a:t>V</a:t>
                </a:r>
                <a:r>
                  <a:rPr kumimoji="1" lang="en-US" altLang="zh-CN" sz="2600" b="1" baseline="-25000">
                    <a:solidFill>
                      <a:schemeClr val="tx2"/>
                    </a:solidFill>
                    <a:latin typeface="仿宋_GB2312" pitchFamily="49" charset="-122"/>
                    <a:ea typeface="仿宋_GB2312" pitchFamily="49" charset="-122"/>
                  </a:rPr>
                  <a:t>4</a:t>
                </a:r>
              </a:p>
            </p:txBody>
          </p:sp>
          <p:sp>
            <p:nvSpPr>
              <p:cNvPr id="55328" name="Oval 11"/>
              <p:cNvSpPr>
                <a:spLocks noChangeArrowheads="1"/>
              </p:cNvSpPr>
              <p:nvPr/>
            </p:nvSpPr>
            <p:spPr bwMode="auto">
              <a:xfrm>
                <a:off x="2016" y="2640"/>
                <a:ext cx="340" cy="340"/>
              </a:xfrm>
              <a:prstGeom prst="ellipse">
                <a:avLst/>
              </a:prstGeom>
              <a:solidFill>
                <a:srgbClr val="99CCFF"/>
              </a:solidFill>
              <a:ln w="222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72000" tIns="10800" rIns="72000" bIns="82800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lnSpc>
                    <a:spcPct val="110000"/>
                  </a:lnSpc>
                  <a:spcBef>
                    <a:spcPct val="25000"/>
                  </a:spcBef>
                  <a:buClrTx/>
                  <a:buFontTx/>
                  <a:buNone/>
                </a:pPr>
                <a:r>
                  <a:rPr kumimoji="1" lang="en-US" altLang="zh-CN" sz="2600" b="1">
                    <a:solidFill>
                      <a:schemeClr val="tx2"/>
                    </a:solidFill>
                    <a:latin typeface="仿宋_GB2312" pitchFamily="49" charset="-122"/>
                    <a:ea typeface="仿宋_GB2312" pitchFamily="49" charset="-122"/>
                  </a:rPr>
                  <a:t>V</a:t>
                </a:r>
                <a:r>
                  <a:rPr kumimoji="1" lang="en-US" altLang="zh-CN" sz="2600" b="1" baseline="-25000">
                    <a:solidFill>
                      <a:schemeClr val="tx2"/>
                    </a:solidFill>
                    <a:latin typeface="仿宋_GB2312" pitchFamily="49" charset="-122"/>
                    <a:ea typeface="仿宋_GB2312" pitchFamily="49" charset="-122"/>
                  </a:rPr>
                  <a:t>5</a:t>
                </a:r>
              </a:p>
            </p:txBody>
          </p:sp>
          <p:sp>
            <p:nvSpPr>
              <p:cNvPr id="55329" name="Line 12"/>
              <p:cNvSpPr>
                <a:spLocks noChangeShapeType="1"/>
              </p:cNvSpPr>
              <p:nvPr/>
            </p:nvSpPr>
            <p:spPr bwMode="auto">
              <a:xfrm flipH="1">
                <a:off x="1776" y="1392"/>
                <a:ext cx="576" cy="57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5330" name="Line 13"/>
              <p:cNvSpPr>
                <a:spLocks noChangeShapeType="1"/>
              </p:cNvSpPr>
              <p:nvPr/>
            </p:nvSpPr>
            <p:spPr bwMode="auto">
              <a:xfrm flipH="1">
                <a:off x="1296" y="2208"/>
                <a:ext cx="240" cy="4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5331" name="Line 14"/>
              <p:cNvSpPr>
                <a:spLocks noChangeShapeType="1"/>
              </p:cNvSpPr>
              <p:nvPr/>
            </p:nvSpPr>
            <p:spPr bwMode="auto">
              <a:xfrm>
                <a:off x="1776" y="2208"/>
                <a:ext cx="288" cy="4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5332" name="Line 15"/>
              <p:cNvSpPr>
                <a:spLocks noChangeShapeType="1"/>
              </p:cNvSpPr>
              <p:nvPr/>
            </p:nvSpPr>
            <p:spPr bwMode="auto">
              <a:xfrm>
                <a:off x="1392" y="2976"/>
                <a:ext cx="1008" cy="4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5333" name="Line 16"/>
              <p:cNvSpPr>
                <a:spLocks noChangeShapeType="1"/>
              </p:cNvSpPr>
              <p:nvPr/>
            </p:nvSpPr>
            <p:spPr bwMode="auto">
              <a:xfrm>
                <a:off x="2256" y="2976"/>
                <a:ext cx="240" cy="38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5334" name="Line 17"/>
              <p:cNvSpPr>
                <a:spLocks noChangeShapeType="1"/>
              </p:cNvSpPr>
              <p:nvPr/>
            </p:nvSpPr>
            <p:spPr bwMode="auto">
              <a:xfrm>
                <a:off x="2592" y="1392"/>
                <a:ext cx="768" cy="52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5335" name="Line 18"/>
              <p:cNvSpPr>
                <a:spLocks noChangeShapeType="1"/>
              </p:cNvSpPr>
              <p:nvPr/>
            </p:nvSpPr>
            <p:spPr bwMode="auto">
              <a:xfrm flipH="1">
                <a:off x="3120" y="2178"/>
                <a:ext cx="288" cy="4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5336" name="Line 19"/>
              <p:cNvSpPr>
                <a:spLocks noChangeShapeType="1"/>
              </p:cNvSpPr>
              <p:nvPr/>
            </p:nvSpPr>
            <p:spPr bwMode="auto">
              <a:xfrm>
                <a:off x="3600" y="2160"/>
                <a:ext cx="384" cy="4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5337" name="Line 20"/>
              <p:cNvSpPr>
                <a:spLocks noChangeShapeType="1"/>
              </p:cNvSpPr>
              <p:nvPr/>
            </p:nvSpPr>
            <p:spPr bwMode="auto">
              <a:xfrm>
                <a:off x="3216" y="2784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55320" name="Text Box 21"/>
            <p:cNvSpPr txBox="1">
              <a:spLocks noChangeArrowheads="1"/>
            </p:cNvSpPr>
            <p:nvPr/>
          </p:nvSpPr>
          <p:spPr bwMode="auto">
            <a:xfrm>
              <a:off x="3519" y="3792"/>
              <a:ext cx="1041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zh-CN" altLang="en-US" sz="30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无向图</a:t>
              </a:r>
              <a:r>
                <a:rPr kumimoji="1" lang="en-US" altLang="zh-CN" sz="30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G</a:t>
              </a:r>
              <a:r>
                <a:rPr kumimoji="1" lang="en-US" altLang="zh-CN" sz="30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1</a:t>
              </a:r>
            </a:p>
          </p:txBody>
        </p:sp>
      </p:grpSp>
      <p:sp>
        <p:nvSpPr>
          <p:cNvPr id="25" name="Line 23"/>
          <p:cNvSpPr>
            <a:spLocks noChangeShapeType="1"/>
          </p:cNvSpPr>
          <p:nvPr/>
        </p:nvSpPr>
        <p:spPr bwMode="auto">
          <a:xfrm flipH="1">
            <a:off x="1746250" y="1730375"/>
            <a:ext cx="914400" cy="914400"/>
          </a:xfrm>
          <a:prstGeom prst="line">
            <a:avLst/>
          </a:prstGeom>
          <a:noFill/>
          <a:ln w="28575">
            <a:solidFill>
              <a:srgbClr val="3366FF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6" name="Line 24"/>
          <p:cNvSpPr>
            <a:spLocks noChangeShapeType="1"/>
          </p:cNvSpPr>
          <p:nvPr/>
        </p:nvSpPr>
        <p:spPr bwMode="auto">
          <a:xfrm flipH="1">
            <a:off x="989013" y="3021013"/>
            <a:ext cx="381000" cy="762000"/>
          </a:xfrm>
          <a:prstGeom prst="line">
            <a:avLst/>
          </a:prstGeom>
          <a:noFill/>
          <a:ln w="28575">
            <a:solidFill>
              <a:srgbClr val="3366FF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8" name="Line 26"/>
          <p:cNvSpPr>
            <a:spLocks noChangeShapeType="1"/>
          </p:cNvSpPr>
          <p:nvPr/>
        </p:nvSpPr>
        <p:spPr bwMode="auto">
          <a:xfrm>
            <a:off x="1141413" y="4240213"/>
            <a:ext cx="1600200" cy="762000"/>
          </a:xfrm>
          <a:prstGeom prst="line">
            <a:avLst/>
          </a:prstGeom>
          <a:noFill/>
          <a:ln w="28575">
            <a:solidFill>
              <a:srgbClr val="3366FF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9" name="Line 27"/>
          <p:cNvSpPr>
            <a:spLocks noChangeShapeType="1"/>
          </p:cNvSpPr>
          <p:nvPr/>
        </p:nvSpPr>
        <p:spPr bwMode="auto">
          <a:xfrm>
            <a:off x="2498725" y="4211638"/>
            <a:ext cx="381000" cy="609600"/>
          </a:xfrm>
          <a:prstGeom prst="line">
            <a:avLst/>
          </a:prstGeom>
          <a:noFill/>
          <a:ln w="28575">
            <a:solidFill>
              <a:srgbClr val="3366FF"/>
            </a:solidFill>
            <a:round/>
            <a:headEnd type="stealth" w="lg" len="lg"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0" name="Line 28"/>
          <p:cNvSpPr>
            <a:spLocks noChangeShapeType="1"/>
          </p:cNvSpPr>
          <p:nvPr/>
        </p:nvSpPr>
        <p:spPr bwMode="auto">
          <a:xfrm>
            <a:off x="3032125" y="1725613"/>
            <a:ext cx="1233488" cy="838200"/>
          </a:xfrm>
          <a:prstGeom prst="line">
            <a:avLst/>
          </a:prstGeom>
          <a:noFill/>
          <a:ln w="28575">
            <a:solidFill>
              <a:srgbClr val="3366FF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1" name="Line 29"/>
          <p:cNvSpPr>
            <a:spLocks noChangeShapeType="1"/>
          </p:cNvSpPr>
          <p:nvPr/>
        </p:nvSpPr>
        <p:spPr bwMode="auto">
          <a:xfrm flipH="1">
            <a:off x="3884613" y="2992438"/>
            <a:ext cx="457200" cy="762000"/>
          </a:xfrm>
          <a:prstGeom prst="line">
            <a:avLst/>
          </a:prstGeom>
          <a:noFill/>
          <a:ln w="28575">
            <a:solidFill>
              <a:srgbClr val="3366FF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2" name="Line 30"/>
          <p:cNvSpPr>
            <a:spLocks noChangeShapeType="1"/>
          </p:cNvSpPr>
          <p:nvPr/>
        </p:nvSpPr>
        <p:spPr bwMode="auto">
          <a:xfrm>
            <a:off x="4037013" y="3935413"/>
            <a:ext cx="990600" cy="0"/>
          </a:xfrm>
          <a:prstGeom prst="line">
            <a:avLst/>
          </a:prstGeom>
          <a:noFill/>
          <a:ln w="28575">
            <a:solidFill>
              <a:srgbClr val="3366FF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3" name="Freeform 31"/>
          <p:cNvSpPr>
            <a:spLocks/>
          </p:cNvSpPr>
          <p:nvPr/>
        </p:nvSpPr>
        <p:spPr bwMode="auto">
          <a:xfrm>
            <a:off x="2665413" y="3859213"/>
            <a:ext cx="609600" cy="990600"/>
          </a:xfrm>
          <a:custGeom>
            <a:avLst/>
            <a:gdLst>
              <a:gd name="T0" fmla="*/ 0 w 400"/>
              <a:gd name="T1" fmla="*/ 0 h 624"/>
              <a:gd name="T2" fmla="*/ 2147483646 w 400"/>
              <a:gd name="T3" fmla="*/ 2147483646 h 624"/>
              <a:gd name="T4" fmla="*/ 2147483646 w 400"/>
              <a:gd name="T5" fmla="*/ 2147483646 h 624"/>
              <a:gd name="T6" fmla="*/ 2147483646 w 400"/>
              <a:gd name="T7" fmla="*/ 2147483646 h 624"/>
              <a:gd name="T8" fmla="*/ 0 60000 65536"/>
              <a:gd name="T9" fmla="*/ 0 60000 65536"/>
              <a:gd name="T10" fmla="*/ 0 60000 65536"/>
              <a:gd name="T11" fmla="*/ 0 60000 65536"/>
              <a:gd name="T12" fmla="*/ 0 w 400"/>
              <a:gd name="T13" fmla="*/ 0 h 624"/>
              <a:gd name="T14" fmla="*/ 400 w 400"/>
              <a:gd name="T15" fmla="*/ 624 h 62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00" h="624">
                <a:moveTo>
                  <a:pt x="0" y="0"/>
                </a:moveTo>
                <a:cubicBezTo>
                  <a:pt x="112" y="40"/>
                  <a:pt x="224" y="80"/>
                  <a:pt x="288" y="144"/>
                </a:cubicBezTo>
                <a:cubicBezTo>
                  <a:pt x="352" y="208"/>
                  <a:pt x="368" y="304"/>
                  <a:pt x="384" y="384"/>
                </a:cubicBezTo>
                <a:cubicBezTo>
                  <a:pt x="400" y="464"/>
                  <a:pt x="384" y="576"/>
                  <a:pt x="384" y="624"/>
                </a:cubicBezTo>
              </a:path>
            </a:pathLst>
          </a:custGeom>
          <a:noFill/>
          <a:ln w="25400" cap="flat" cmpd="sng">
            <a:solidFill>
              <a:srgbClr val="FF6600"/>
            </a:solidFill>
            <a:prstDash val="dash"/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4" name="Freeform 32"/>
          <p:cNvSpPr>
            <a:spLocks/>
          </p:cNvSpPr>
          <p:nvPr/>
        </p:nvSpPr>
        <p:spPr bwMode="auto">
          <a:xfrm>
            <a:off x="989013" y="4316413"/>
            <a:ext cx="1828800" cy="1079500"/>
          </a:xfrm>
          <a:custGeom>
            <a:avLst/>
            <a:gdLst>
              <a:gd name="T0" fmla="*/ 2147483646 w 1152"/>
              <a:gd name="T1" fmla="*/ 2147483646 h 680"/>
              <a:gd name="T2" fmla="*/ 2147483646 w 1152"/>
              <a:gd name="T3" fmla="*/ 2147483646 h 680"/>
              <a:gd name="T4" fmla="*/ 2147483646 w 1152"/>
              <a:gd name="T5" fmla="*/ 2147483646 h 680"/>
              <a:gd name="T6" fmla="*/ 0 w 1152"/>
              <a:gd name="T7" fmla="*/ 0 h 680"/>
              <a:gd name="T8" fmla="*/ 0 60000 65536"/>
              <a:gd name="T9" fmla="*/ 0 60000 65536"/>
              <a:gd name="T10" fmla="*/ 0 60000 65536"/>
              <a:gd name="T11" fmla="*/ 0 60000 65536"/>
              <a:gd name="T12" fmla="*/ 0 w 1152"/>
              <a:gd name="T13" fmla="*/ 0 h 680"/>
              <a:gd name="T14" fmla="*/ 1152 w 1152"/>
              <a:gd name="T15" fmla="*/ 680 h 68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52" h="680">
                <a:moveTo>
                  <a:pt x="1152" y="576"/>
                </a:moveTo>
                <a:cubicBezTo>
                  <a:pt x="1132" y="628"/>
                  <a:pt x="1112" y="680"/>
                  <a:pt x="960" y="672"/>
                </a:cubicBezTo>
                <a:cubicBezTo>
                  <a:pt x="808" y="664"/>
                  <a:pt x="400" y="640"/>
                  <a:pt x="240" y="528"/>
                </a:cubicBezTo>
                <a:cubicBezTo>
                  <a:pt x="80" y="416"/>
                  <a:pt x="40" y="208"/>
                  <a:pt x="0" y="0"/>
                </a:cubicBezTo>
              </a:path>
            </a:pathLst>
          </a:custGeom>
          <a:noFill/>
          <a:ln w="25400" cap="flat" cmpd="sng">
            <a:solidFill>
              <a:srgbClr val="FF6600"/>
            </a:solidFill>
            <a:prstDash val="dash"/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5" name="Freeform 33"/>
          <p:cNvSpPr>
            <a:spLocks/>
          </p:cNvSpPr>
          <p:nvPr/>
        </p:nvSpPr>
        <p:spPr bwMode="auto">
          <a:xfrm>
            <a:off x="506413" y="2716213"/>
            <a:ext cx="787400" cy="1219200"/>
          </a:xfrm>
          <a:custGeom>
            <a:avLst/>
            <a:gdLst>
              <a:gd name="T0" fmla="*/ 2147483646 w 496"/>
              <a:gd name="T1" fmla="*/ 2147483646 h 768"/>
              <a:gd name="T2" fmla="*/ 2147483646 w 496"/>
              <a:gd name="T3" fmla="*/ 2147483646 h 768"/>
              <a:gd name="T4" fmla="*/ 2147483646 w 496"/>
              <a:gd name="T5" fmla="*/ 2147483646 h 768"/>
              <a:gd name="T6" fmla="*/ 2147483646 w 496"/>
              <a:gd name="T7" fmla="*/ 0 h 768"/>
              <a:gd name="T8" fmla="*/ 0 60000 65536"/>
              <a:gd name="T9" fmla="*/ 0 60000 65536"/>
              <a:gd name="T10" fmla="*/ 0 60000 65536"/>
              <a:gd name="T11" fmla="*/ 0 60000 65536"/>
              <a:gd name="T12" fmla="*/ 0 w 496"/>
              <a:gd name="T13" fmla="*/ 0 h 768"/>
              <a:gd name="T14" fmla="*/ 496 w 496"/>
              <a:gd name="T15" fmla="*/ 768 h 76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96" h="768">
                <a:moveTo>
                  <a:pt x="112" y="768"/>
                </a:moveTo>
                <a:cubicBezTo>
                  <a:pt x="56" y="656"/>
                  <a:pt x="0" y="544"/>
                  <a:pt x="16" y="432"/>
                </a:cubicBezTo>
                <a:cubicBezTo>
                  <a:pt x="32" y="320"/>
                  <a:pt x="128" y="168"/>
                  <a:pt x="208" y="96"/>
                </a:cubicBezTo>
                <a:cubicBezTo>
                  <a:pt x="288" y="24"/>
                  <a:pt x="392" y="12"/>
                  <a:pt x="496" y="0"/>
                </a:cubicBezTo>
              </a:path>
            </a:pathLst>
          </a:custGeom>
          <a:noFill/>
          <a:ln w="25400" cap="flat" cmpd="sng">
            <a:solidFill>
              <a:srgbClr val="FF6600"/>
            </a:solidFill>
            <a:prstDash val="dash"/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7" name="Freeform 35"/>
          <p:cNvSpPr>
            <a:spLocks/>
          </p:cNvSpPr>
          <p:nvPr/>
        </p:nvSpPr>
        <p:spPr bwMode="auto">
          <a:xfrm>
            <a:off x="3884613" y="4164013"/>
            <a:ext cx="1219200" cy="304800"/>
          </a:xfrm>
          <a:custGeom>
            <a:avLst/>
            <a:gdLst>
              <a:gd name="T0" fmla="*/ 2147483646 w 768"/>
              <a:gd name="T1" fmla="*/ 0 h 192"/>
              <a:gd name="T2" fmla="*/ 2147483646 w 768"/>
              <a:gd name="T3" fmla="*/ 2147483646 h 192"/>
              <a:gd name="T4" fmla="*/ 2147483646 w 768"/>
              <a:gd name="T5" fmla="*/ 2147483646 h 192"/>
              <a:gd name="T6" fmla="*/ 2147483646 w 768"/>
              <a:gd name="T7" fmla="*/ 2147483646 h 192"/>
              <a:gd name="T8" fmla="*/ 2147483646 w 768"/>
              <a:gd name="T9" fmla="*/ 2147483646 h 192"/>
              <a:gd name="T10" fmla="*/ 2147483646 w 768"/>
              <a:gd name="T11" fmla="*/ 2147483646 h 192"/>
              <a:gd name="T12" fmla="*/ 0 w 768"/>
              <a:gd name="T13" fmla="*/ 0 h 19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68"/>
              <a:gd name="T22" fmla="*/ 0 h 192"/>
              <a:gd name="T23" fmla="*/ 768 w 768"/>
              <a:gd name="T24" fmla="*/ 192 h 19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68" h="192">
                <a:moveTo>
                  <a:pt x="768" y="0"/>
                </a:moveTo>
                <a:cubicBezTo>
                  <a:pt x="756" y="36"/>
                  <a:pt x="744" y="72"/>
                  <a:pt x="720" y="96"/>
                </a:cubicBezTo>
                <a:cubicBezTo>
                  <a:pt x="696" y="120"/>
                  <a:pt x="680" y="128"/>
                  <a:pt x="624" y="144"/>
                </a:cubicBezTo>
                <a:cubicBezTo>
                  <a:pt x="568" y="160"/>
                  <a:pt x="464" y="192"/>
                  <a:pt x="384" y="192"/>
                </a:cubicBezTo>
                <a:cubicBezTo>
                  <a:pt x="304" y="192"/>
                  <a:pt x="200" y="160"/>
                  <a:pt x="144" y="144"/>
                </a:cubicBezTo>
                <a:cubicBezTo>
                  <a:pt x="88" y="128"/>
                  <a:pt x="72" y="120"/>
                  <a:pt x="48" y="96"/>
                </a:cubicBezTo>
                <a:cubicBezTo>
                  <a:pt x="24" y="72"/>
                  <a:pt x="12" y="36"/>
                  <a:pt x="0" y="0"/>
                </a:cubicBezTo>
              </a:path>
            </a:pathLst>
          </a:custGeom>
          <a:noFill/>
          <a:ln w="25400" cap="flat" cmpd="sng">
            <a:solidFill>
              <a:srgbClr val="FF6600"/>
            </a:solidFill>
            <a:prstDash val="dash"/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8" name="Freeform 36"/>
          <p:cNvSpPr>
            <a:spLocks/>
          </p:cNvSpPr>
          <p:nvPr/>
        </p:nvSpPr>
        <p:spPr bwMode="auto">
          <a:xfrm>
            <a:off x="3503613" y="2767013"/>
            <a:ext cx="685800" cy="1016000"/>
          </a:xfrm>
          <a:custGeom>
            <a:avLst/>
            <a:gdLst>
              <a:gd name="T0" fmla="*/ 2147483646 w 432"/>
              <a:gd name="T1" fmla="*/ 2147483646 h 640"/>
              <a:gd name="T2" fmla="*/ 0 w 432"/>
              <a:gd name="T3" fmla="*/ 2147483646 h 640"/>
              <a:gd name="T4" fmla="*/ 2147483646 w 432"/>
              <a:gd name="T5" fmla="*/ 2147483646 h 640"/>
              <a:gd name="T6" fmla="*/ 2147483646 w 432"/>
              <a:gd name="T7" fmla="*/ 2147483646 h 640"/>
              <a:gd name="T8" fmla="*/ 2147483646 w 432"/>
              <a:gd name="T9" fmla="*/ 2147483646 h 640"/>
              <a:gd name="T10" fmla="*/ 2147483646 w 432"/>
              <a:gd name="T11" fmla="*/ 2147483646 h 640"/>
              <a:gd name="T12" fmla="*/ 2147483646 w 432"/>
              <a:gd name="T13" fmla="*/ 2147483646 h 64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32"/>
              <a:gd name="T22" fmla="*/ 0 h 640"/>
              <a:gd name="T23" fmla="*/ 432 w 432"/>
              <a:gd name="T24" fmla="*/ 640 h 64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32" h="640">
                <a:moveTo>
                  <a:pt x="48" y="640"/>
                </a:moveTo>
                <a:cubicBezTo>
                  <a:pt x="24" y="620"/>
                  <a:pt x="0" y="600"/>
                  <a:pt x="0" y="544"/>
                </a:cubicBezTo>
                <a:cubicBezTo>
                  <a:pt x="0" y="488"/>
                  <a:pt x="24" y="368"/>
                  <a:pt x="48" y="304"/>
                </a:cubicBezTo>
                <a:cubicBezTo>
                  <a:pt x="72" y="240"/>
                  <a:pt x="120" y="192"/>
                  <a:pt x="144" y="160"/>
                </a:cubicBezTo>
                <a:cubicBezTo>
                  <a:pt x="168" y="128"/>
                  <a:pt x="160" y="136"/>
                  <a:pt x="192" y="112"/>
                </a:cubicBezTo>
                <a:cubicBezTo>
                  <a:pt x="224" y="88"/>
                  <a:pt x="296" y="32"/>
                  <a:pt x="336" y="16"/>
                </a:cubicBezTo>
                <a:cubicBezTo>
                  <a:pt x="376" y="0"/>
                  <a:pt x="404" y="8"/>
                  <a:pt x="432" y="16"/>
                </a:cubicBezTo>
              </a:path>
            </a:pathLst>
          </a:custGeom>
          <a:noFill/>
          <a:ln w="25400" cap="flat" cmpd="sng">
            <a:solidFill>
              <a:srgbClr val="FF6600"/>
            </a:solidFill>
            <a:prstDash val="dash"/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9" name="Freeform 37"/>
          <p:cNvSpPr>
            <a:spLocks/>
          </p:cNvSpPr>
          <p:nvPr/>
        </p:nvSpPr>
        <p:spPr bwMode="auto">
          <a:xfrm>
            <a:off x="3122613" y="1395413"/>
            <a:ext cx="1384300" cy="1092200"/>
          </a:xfrm>
          <a:custGeom>
            <a:avLst/>
            <a:gdLst>
              <a:gd name="T0" fmla="*/ 2147483646 w 872"/>
              <a:gd name="T1" fmla="*/ 2147483646 h 688"/>
              <a:gd name="T2" fmla="*/ 2147483646 w 872"/>
              <a:gd name="T3" fmla="*/ 2147483646 h 688"/>
              <a:gd name="T4" fmla="*/ 2147483646 w 872"/>
              <a:gd name="T5" fmla="*/ 2147483646 h 688"/>
              <a:gd name="T6" fmla="*/ 2147483646 w 872"/>
              <a:gd name="T7" fmla="*/ 2147483646 h 688"/>
              <a:gd name="T8" fmla="*/ 2147483646 w 872"/>
              <a:gd name="T9" fmla="*/ 2147483646 h 688"/>
              <a:gd name="T10" fmla="*/ 2147483646 w 872"/>
              <a:gd name="T11" fmla="*/ 2147483646 h 688"/>
              <a:gd name="T12" fmla="*/ 2147483646 w 872"/>
              <a:gd name="T13" fmla="*/ 2147483646 h 688"/>
              <a:gd name="T14" fmla="*/ 2147483646 w 872"/>
              <a:gd name="T15" fmla="*/ 2147483646 h 688"/>
              <a:gd name="T16" fmla="*/ 0 w 872"/>
              <a:gd name="T17" fmla="*/ 2147483646 h 68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872"/>
              <a:gd name="T28" fmla="*/ 0 h 688"/>
              <a:gd name="T29" fmla="*/ 872 w 872"/>
              <a:gd name="T30" fmla="*/ 688 h 688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872" h="688">
                <a:moveTo>
                  <a:pt x="864" y="688"/>
                </a:moveTo>
                <a:cubicBezTo>
                  <a:pt x="868" y="664"/>
                  <a:pt x="872" y="640"/>
                  <a:pt x="864" y="592"/>
                </a:cubicBezTo>
                <a:cubicBezTo>
                  <a:pt x="856" y="544"/>
                  <a:pt x="848" y="464"/>
                  <a:pt x="816" y="400"/>
                </a:cubicBezTo>
                <a:cubicBezTo>
                  <a:pt x="784" y="336"/>
                  <a:pt x="712" y="256"/>
                  <a:pt x="672" y="208"/>
                </a:cubicBezTo>
                <a:cubicBezTo>
                  <a:pt x="632" y="160"/>
                  <a:pt x="632" y="144"/>
                  <a:pt x="576" y="112"/>
                </a:cubicBezTo>
                <a:cubicBezTo>
                  <a:pt x="520" y="80"/>
                  <a:pt x="400" y="32"/>
                  <a:pt x="336" y="16"/>
                </a:cubicBezTo>
                <a:cubicBezTo>
                  <a:pt x="272" y="0"/>
                  <a:pt x="232" y="16"/>
                  <a:pt x="192" y="16"/>
                </a:cubicBezTo>
                <a:cubicBezTo>
                  <a:pt x="152" y="16"/>
                  <a:pt x="128" y="16"/>
                  <a:pt x="96" y="16"/>
                </a:cubicBezTo>
                <a:cubicBezTo>
                  <a:pt x="64" y="16"/>
                  <a:pt x="32" y="16"/>
                  <a:pt x="0" y="16"/>
                </a:cubicBezTo>
              </a:path>
            </a:pathLst>
          </a:custGeom>
          <a:noFill/>
          <a:ln w="25400" cap="flat" cmpd="sng">
            <a:solidFill>
              <a:srgbClr val="FF6600"/>
            </a:solidFill>
            <a:prstDash val="dash"/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99" name="Freeform 205"/>
          <p:cNvSpPr>
            <a:spLocks/>
          </p:cNvSpPr>
          <p:nvPr/>
        </p:nvSpPr>
        <p:spPr bwMode="auto">
          <a:xfrm>
            <a:off x="1446213" y="1395413"/>
            <a:ext cx="1143000" cy="1168400"/>
          </a:xfrm>
          <a:custGeom>
            <a:avLst/>
            <a:gdLst>
              <a:gd name="T0" fmla="*/ 2147483646 w 720"/>
              <a:gd name="T1" fmla="*/ 2147483646 h 736"/>
              <a:gd name="T2" fmla="*/ 0 w 720"/>
              <a:gd name="T3" fmla="*/ 2147483646 h 736"/>
              <a:gd name="T4" fmla="*/ 2147483646 w 720"/>
              <a:gd name="T5" fmla="*/ 2147483646 h 736"/>
              <a:gd name="T6" fmla="*/ 2147483646 w 720"/>
              <a:gd name="T7" fmla="*/ 2147483646 h 736"/>
              <a:gd name="T8" fmla="*/ 2147483646 w 720"/>
              <a:gd name="T9" fmla="*/ 2147483646 h 736"/>
              <a:gd name="T10" fmla="*/ 2147483646 w 720"/>
              <a:gd name="T11" fmla="*/ 2147483646 h 73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20"/>
              <a:gd name="T19" fmla="*/ 0 h 736"/>
              <a:gd name="T20" fmla="*/ 720 w 720"/>
              <a:gd name="T21" fmla="*/ 736 h 7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20" h="736">
                <a:moveTo>
                  <a:pt x="48" y="736"/>
                </a:moveTo>
                <a:cubicBezTo>
                  <a:pt x="24" y="716"/>
                  <a:pt x="0" y="696"/>
                  <a:pt x="0" y="640"/>
                </a:cubicBezTo>
                <a:cubicBezTo>
                  <a:pt x="0" y="584"/>
                  <a:pt x="0" y="488"/>
                  <a:pt x="48" y="400"/>
                </a:cubicBezTo>
                <a:cubicBezTo>
                  <a:pt x="96" y="312"/>
                  <a:pt x="208" y="176"/>
                  <a:pt x="288" y="112"/>
                </a:cubicBezTo>
                <a:cubicBezTo>
                  <a:pt x="368" y="48"/>
                  <a:pt x="456" y="32"/>
                  <a:pt x="528" y="16"/>
                </a:cubicBezTo>
                <a:cubicBezTo>
                  <a:pt x="600" y="0"/>
                  <a:pt x="660" y="8"/>
                  <a:pt x="720" y="16"/>
                </a:cubicBezTo>
              </a:path>
            </a:pathLst>
          </a:custGeom>
          <a:noFill/>
          <a:ln w="25400" cap="flat" cmpd="sng">
            <a:solidFill>
              <a:srgbClr val="FF6600"/>
            </a:solidFill>
            <a:prstDash val="dash"/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00" name="TextBox 199"/>
          <p:cNvSpPr txBox="1"/>
          <p:nvPr/>
        </p:nvSpPr>
        <p:spPr>
          <a:xfrm>
            <a:off x="5940425" y="1700808"/>
            <a:ext cx="2735263" cy="14176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lnSpc>
                <a:spcPct val="105000"/>
              </a:lnSpc>
              <a:defRPr/>
            </a:pPr>
            <a:r>
              <a:rPr kumimoji="1" lang="zh-CN" altLang="en-US" sz="2800" dirty="0">
                <a:solidFill>
                  <a:srgbClr val="000000"/>
                </a:solidFill>
                <a:latin typeface="仿宋_GB2312" pitchFamily="49" charset="-122"/>
                <a:ea typeface="仿宋_GB2312" pitchFamily="49" charset="-122"/>
              </a:rPr>
              <a:t>顶点访问序列为：</a:t>
            </a:r>
          </a:p>
          <a:p>
            <a:pPr eaLnBrk="1" hangingPunct="1">
              <a:lnSpc>
                <a:spcPct val="105000"/>
              </a:lnSpc>
              <a:defRPr/>
            </a:pPr>
            <a:r>
              <a:rPr kumimoji="1" lang="en-US" altLang="zh-CN" sz="2800" dirty="0">
                <a:solidFill>
                  <a:srgbClr val="4C34FE"/>
                </a:solidFill>
                <a:latin typeface="+mn-lt"/>
                <a:ea typeface="仿宋_GB2312" pitchFamily="49" charset="-122"/>
              </a:rPr>
              <a:t>v</a:t>
            </a:r>
            <a:r>
              <a:rPr kumimoji="1" lang="en-US" altLang="zh-CN" sz="2800" baseline="-25000" dirty="0">
                <a:solidFill>
                  <a:srgbClr val="4C34FE"/>
                </a:solidFill>
                <a:latin typeface="+mn-lt"/>
                <a:ea typeface="仿宋_GB2312" pitchFamily="49" charset="-122"/>
              </a:rPr>
              <a:t>1 </a:t>
            </a:r>
            <a:r>
              <a:rPr kumimoji="1" lang="zh-CN" altLang="en-US" sz="2800" baseline="-25000" dirty="0">
                <a:solidFill>
                  <a:srgbClr val="4C34FE"/>
                </a:solidFill>
                <a:latin typeface="+mn-lt"/>
                <a:ea typeface="仿宋_GB2312" pitchFamily="49" charset="-122"/>
              </a:rPr>
              <a:t>、</a:t>
            </a:r>
            <a:r>
              <a:rPr kumimoji="1" lang="en-US" altLang="zh-CN" sz="2800" dirty="0">
                <a:solidFill>
                  <a:srgbClr val="4C34FE"/>
                </a:solidFill>
                <a:latin typeface="+mn-lt"/>
                <a:ea typeface="仿宋_GB2312" pitchFamily="49" charset="-122"/>
              </a:rPr>
              <a:t>v</a:t>
            </a:r>
            <a:r>
              <a:rPr kumimoji="1" lang="en-US" altLang="zh-CN" sz="2800" baseline="-25000" dirty="0">
                <a:solidFill>
                  <a:srgbClr val="4C34FE"/>
                </a:solidFill>
                <a:latin typeface="+mn-lt"/>
                <a:ea typeface="仿宋_GB2312" pitchFamily="49" charset="-122"/>
              </a:rPr>
              <a:t>2</a:t>
            </a:r>
            <a:r>
              <a:rPr kumimoji="1" lang="zh-CN" altLang="en-US" sz="2800" baseline="-25000" dirty="0">
                <a:solidFill>
                  <a:srgbClr val="4C34FE"/>
                </a:solidFill>
                <a:latin typeface="+mn-lt"/>
                <a:ea typeface="仿宋_GB2312" pitchFamily="49" charset="-122"/>
              </a:rPr>
              <a:t>、 </a:t>
            </a:r>
            <a:r>
              <a:rPr kumimoji="1" lang="en-US" altLang="zh-CN" sz="2800" dirty="0">
                <a:solidFill>
                  <a:srgbClr val="4C34FE"/>
                </a:solidFill>
                <a:latin typeface="+mn-lt"/>
                <a:ea typeface="仿宋_GB2312" pitchFamily="49" charset="-122"/>
              </a:rPr>
              <a:t>v</a:t>
            </a:r>
            <a:r>
              <a:rPr kumimoji="1" lang="en-US" altLang="zh-CN" sz="2800" baseline="-25000" dirty="0">
                <a:solidFill>
                  <a:srgbClr val="4C34FE"/>
                </a:solidFill>
                <a:latin typeface="+mn-lt"/>
                <a:ea typeface="仿宋_GB2312" pitchFamily="49" charset="-122"/>
              </a:rPr>
              <a:t>4</a:t>
            </a:r>
            <a:r>
              <a:rPr kumimoji="1" lang="zh-CN" altLang="en-US" sz="2800" baseline="-25000" dirty="0">
                <a:solidFill>
                  <a:srgbClr val="4C34FE"/>
                </a:solidFill>
                <a:latin typeface="+mn-lt"/>
                <a:ea typeface="仿宋_GB2312" pitchFamily="49" charset="-122"/>
              </a:rPr>
              <a:t>、 </a:t>
            </a:r>
            <a:r>
              <a:rPr kumimoji="1" lang="en-US" altLang="zh-CN" sz="2800" dirty="0">
                <a:solidFill>
                  <a:srgbClr val="4C34FE"/>
                </a:solidFill>
                <a:latin typeface="+mn-lt"/>
                <a:ea typeface="仿宋_GB2312" pitchFamily="49" charset="-122"/>
              </a:rPr>
              <a:t>v</a:t>
            </a:r>
            <a:r>
              <a:rPr kumimoji="1" lang="en-US" altLang="zh-CN" sz="2800" baseline="-25000" dirty="0">
                <a:solidFill>
                  <a:srgbClr val="4C34FE"/>
                </a:solidFill>
                <a:latin typeface="+mn-lt"/>
                <a:ea typeface="仿宋_GB2312" pitchFamily="49" charset="-122"/>
              </a:rPr>
              <a:t>8</a:t>
            </a:r>
            <a:r>
              <a:rPr kumimoji="1" lang="zh-CN" altLang="en-US" sz="2800" baseline="-25000" dirty="0">
                <a:solidFill>
                  <a:srgbClr val="4C34FE"/>
                </a:solidFill>
                <a:latin typeface="+mn-lt"/>
                <a:ea typeface="仿宋_GB2312" pitchFamily="49" charset="-122"/>
              </a:rPr>
              <a:t>、 </a:t>
            </a:r>
            <a:r>
              <a:rPr kumimoji="1" lang="en-US" altLang="zh-CN" sz="2800" dirty="0">
                <a:solidFill>
                  <a:srgbClr val="4C34FE"/>
                </a:solidFill>
                <a:latin typeface="+mn-lt"/>
                <a:ea typeface="仿宋_GB2312" pitchFamily="49" charset="-122"/>
              </a:rPr>
              <a:t>v</a:t>
            </a:r>
            <a:r>
              <a:rPr kumimoji="1" lang="en-US" altLang="zh-CN" sz="2800" baseline="-25000" dirty="0">
                <a:solidFill>
                  <a:srgbClr val="4C34FE"/>
                </a:solidFill>
                <a:latin typeface="+mn-lt"/>
                <a:ea typeface="仿宋_GB2312" pitchFamily="49" charset="-122"/>
              </a:rPr>
              <a:t>5</a:t>
            </a:r>
            <a:r>
              <a:rPr kumimoji="1" lang="zh-CN" altLang="en-US" sz="2800" baseline="-25000" dirty="0">
                <a:solidFill>
                  <a:srgbClr val="4C34FE"/>
                </a:solidFill>
                <a:latin typeface="+mn-lt"/>
                <a:ea typeface="仿宋_GB2312" pitchFamily="49" charset="-122"/>
              </a:rPr>
              <a:t>、 </a:t>
            </a:r>
            <a:r>
              <a:rPr kumimoji="1" lang="en-US" altLang="zh-CN" sz="2800" dirty="0">
                <a:solidFill>
                  <a:srgbClr val="4C34FE"/>
                </a:solidFill>
                <a:latin typeface="+mn-lt"/>
                <a:ea typeface="仿宋_GB2312" pitchFamily="49" charset="-122"/>
              </a:rPr>
              <a:t>v</a:t>
            </a:r>
            <a:r>
              <a:rPr kumimoji="1" lang="en-US" altLang="zh-CN" sz="2800" baseline="-25000" dirty="0">
                <a:solidFill>
                  <a:srgbClr val="4C34FE"/>
                </a:solidFill>
                <a:latin typeface="+mn-lt"/>
                <a:ea typeface="仿宋_GB2312" pitchFamily="49" charset="-122"/>
              </a:rPr>
              <a:t>3</a:t>
            </a:r>
            <a:r>
              <a:rPr kumimoji="1" lang="zh-CN" altLang="en-US" sz="2800" baseline="-25000" dirty="0">
                <a:solidFill>
                  <a:srgbClr val="4C34FE"/>
                </a:solidFill>
                <a:latin typeface="+mn-lt"/>
                <a:ea typeface="仿宋_GB2312" pitchFamily="49" charset="-122"/>
              </a:rPr>
              <a:t>、 </a:t>
            </a:r>
            <a:r>
              <a:rPr kumimoji="1" lang="en-US" altLang="zh-CN" sz="2800" dirty="0">
                <a:solidFill>
                  <a:srgbClr val="4C34FE"/>
                </a:solidFill>
                <a:latin typeface="+mn-lt"/>
                <a:ea typeface="仿宋_GB2312" pitchFamily="49" charset="-122"/>
              </a:rPr>
              <a:t>v</a:t>
            </a:r>
            <a:r>
              <a:rPr kumimoji="1" lang="en-US" altLang="zh-CN" sz="2800" baseline="-25000" dirty="0">
                <a:solidFill>
                  <a:srgbClr val="4C34FE"/>
                </a:solidFill>
                <a:latin typeface="+mn-lt"/>
                <a:ea typeface="仿宋_GB2312" pitchFamily="49" charset="-122"/>
              </a:rPr>
              <a:t>6</a:t>
            </a:r>
            <a:r>
              <a:rPr kumimoji="1" lang="zh-CN" altLang="en-US" sz="2800" baseline="-25000" dirty="0">
                <a:solidFill>
                  <a:srgbClr val="4C34FE"/>
                </a:solidFill>
                <a:latin typeface="+mn-lt"/>
                <a:ea typeface="仿宋_GB2312" pitchFamily="49" charset="-122"/>
              </a:rPr>
              <a:t>、 </a:t>
            </a:r>
            <a:r>
              <a:rPr kumimoji="1" lang="en-US" altLang="zh-CN" sz="2800" dirty="0">
                <a:solidFill>
                  <a:srgbClr val="4C34FE"/>
                </a:solidFill>
                <a:latin typeface="+mn-lt"/>
                <a:ea typeface="仿宋_GB2312" pitchFamily="49" charset="-122"/>
              </a:rPr>
              <a:t>v</a:t>
            </a:r>
            <a:r>
              <a:rPr kumimoji="1" lang="en-US" altLang="zh-CN" sz="2800" baseline="-25000" dirty="0">
                <a:solidFill>
                  <a:srgbClr val="4C34FE"/>
                </a:solidFill>
                <a:latin typeface="+mn-lt"/>
                <a:ea typeface="仿宋_GB2312" pitchFamily="49" charset="-122"/>
              </a:rPr>
              <a:t>7</a:t>
            </a:r>
          </a:p>
        </p:txBody>
      </p:sp>
      <p:sp>
        <p:nvSpPr>
          <p:cNvPr id="55317" name="文本框 1"/>
          <p:cNvSpPr txBox="1">
            <a:spLocks noChangeArrowheads="1"/>
          </p:cNvSpPr>
          <p:nvPr/>
        </p:nvSpPr>
        <p:spPr bwMode="auto">
          <a:xfrm>
            <a:off x="5940425" y="1125538"/>
            <a:ext cx="27352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ea typeface="宋体" panose="02010600030101010101" pitchFamily="2" charset="-122"/>
              </a:rPr>
              <a:t>以</a:t>
            </a:r>
            <a:r>
              <a:rPr lang="en-US" altLang="zh-CN" sz="2400" dirty="0">
                <a:ea typeface="宋体" panose="02010600030101010101" pitchFamily="2" charset="-122"/>
              </a:rPr>
              <a:t>v</a:t>
            </a:r>
            <a:r>
              <a:rPr lang="en-US" altLang="zh-CN" sz="2400" baseline="-25000" dirty="0"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ea typeface="宋体" panose="02010600030101010101" pitchFamily="2" charset="-122"/>
              </a:rPr>
              <a:t>为起点</a:t>
            </a:r>
          </a:p>
        </p:txBody>
      </p:sp>
      <p:sp>
        <p:nvSpPr>
          <p:cNvPr id="41" name="TextBox 200"/>
          <p:cNvSpPr txBox="1"/>
          <p:nvPr/>
        </p:nvSpPr>
        <p:spPr>
          <a:xfrm>
            <a:off x="5940425" y="3573016"/>
            <a:ext cx="2735263" cy="23544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lnSpc>
                <a:spcPct val="105000"/>
              </a:lnSpc>
              <a:defRPr/>
            </a:pPr>
            <a:r>
              <a:rPr kumimoji="1" lang="zh-CN" altLang="en-US" sz="2800" dirty="0">
                <a:solidFill>
                  <a:srgbClr val="000000"/>
                </a:solidFill>
                <a:latin typeface="仿宋_GB2312" pitchFamily="49" charset="-122"/>
                <a:ea typeface="仿宋_GB2312" pitchFamily="49" charset="-122"/>
              </a:rPr>
              <a:t>规定：当一个顶点有多个邻接点时，首先访问（角标）序号较小的顶点</a:t>
            </a:r>
            <a:endParaRPr kumimoji="1" lang="en-US" altLang="zh-CN" sz="2800" dirty="0">
              <a:solidFill>
                <a:srgbClr val="000000"/>
              </a:solidFill>
              <a:latin typeface="仿宋_GB2312" pitchFamily="49" charset="-122"/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7" grpId="0" animBg="1"/>
      <p:bldP spid="38" grpId="0" animBg="1"/>
      <p:bldP spid="39" grpId="0" animBg="1"/>
      <p:bldP spid="199" grpId="0" animBg="1"/>
      <p:bldP spid="200" grpId="0"/>
      <p:bldP spid="4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31640" y="2615406"/>
            <a:ext cx="6624736" cy="10795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练习 </a:t>
            </a:r>
            <a:r>
              <a:rPr lang="en-US" altLang="zh-CN" dirty="0"/>
              <a:t>6-4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72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FC9BE59-6BE6-4719-943D-2F0BF22505B9}" type="slidenum">
              <a:rPr lang="zh-CN" altLang="en-US" smtClean="0"/>
              <a:pPr>
                <a:defRPr/>
              </a:pPr>
              <a:t>45</a:t>
            </a:fld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为起始点，给出下图的</a:t>
            </a:r>
            <a:r>
              <a:rPr lang="zh-CN" altLang="en-US" sz="26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深度优先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搜索遍历结果</a:t>
            </a:r>
          </a:p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规定：当一个顶点有多个邻接点时，按字典顺序访问</a:t>
            </a:r>
          </a:p>
        </p:txBody>
      </p:sp>
      <p:sp>
        <p:nvSpPr>
          <p:cNvPr id="7" name="圆角矩形 6"/>
          <p:cNvSpPr/>
          <p:nvPr>
            <p:custDataLst>
              <p:tags r:id="rId3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3" name="矩形 12"/>
          <p:cNvSpPr/>
          <p:nvPr>
            <p:custDataLst>
              <p:tags r:id="rId4"/>
            </p:custDataLst>
          </p:nvPr>
        </p:nvSpPr>
        <p:spPr bwMode="auto">
          <a:xfrm>
            <a:off x="0" y="5849303"/>
            <a:ext cx="9144000" cy="365760"/>
          </a:xfrm>
          <a:prstGeom prst="rect">
            <a:avLst/>
          </a:prstGeom>
          <a:solidFill>
            <a:srgbClr val="FBFAE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eaLnBrk="1" hangingPunct="1"/>
            <a:r>
              <a:rPr kumimoji="0" lang="zh-CN" altLang="en-US" sz="1200" b="0" i="1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kumimoji="0" lang="en-US" altLang="zh-CN" sz="1200" b="0" i="1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kumimoji="0" lang="zh-CN" altLang="en-US" sz="1200" b="0" i="1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4" name="组合 31"/>
          <p:cNvGrpSpPr>
            <a:grpSpLocks/>
          </p:cNvGrpSpPr>
          <p:nvPr/>
        </p:nvGrpSpPr>
        <p:grpSpPr bwMode="auto">
          <a:xfrm>
            <a:off x="2843808" y="2353708"/>
            <a:ext cx="3095625" cy="2733429"/>
            <a:chOff x="2484438" y="2565400"/>
            <a:chExt cx="3095625" cy="2732851"/>
          </a:xfrm>
        </p:grpSpPr>
        <p:sp>
          <p:nvSpPr>
            <p:cNvPr id="15" name="Line 3"/>
            <p:cNvSpPr>
              <a:spLocks noChangeShapeType="1"/>
            </p:cNvSpPr>
            <p:nvPr/>
          </p:nvSpPr>
          <p:spPr bwMode="auto">
            <a:xfrm>
              <a:off x="2618641" y="3810403"/>
              <a:ext cx="1450675" cy="0"/>
            </a:xfrm>
            <a:prstGeom prst="line">
              <a:avLst/>
            </a:prstGeom>
            <a:noFill/>
            <a:ln w="508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4"/>
            <p:cNvSpPr>
              <a:spLocks noChangeShapeType="1"/>
            </p:cNvSpPr>
            <p:nvPr/>
          </p:nvSpPr>
          <p:spPr bwMode="auto">
            <a:xfrm flipH="1">
              <a:off x="2719613" y="2769480"/>
              <a:ext cx="1381656" cy="879027"/>
            </a:xfrm>
            <a:prstGeom prst="line">
              <a:avLst/>
            </a:prstGeom>
            <a:noFill/>
            <a:ln w="508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5"/>
            <p:cNvSpPr>
              <a:spLocks noChangeShapeType="1"/>
            </p:cNvSpPr>
            <p:nvPr/>
          </p:nvSpPr>
          <p:spPr bwMode="auto">
            <a:xfrm flipV="1">
              <a:off x="3417471" y="4015624"/>
              <a:ext cx="590495" cy="793517"/>
            </a:xfrm>
            <a:prstGeom prst="line">
              <a:avLst/>
            </a:prstGeom>
            <a:noFill/>
            <a:ln w="508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6"/>
            <p:cNvSpPr>
              <a:spLocks noChangeShapeType="1"/>
            </p:cNvSpPr>
            <p:nvPr/>
          </p:nvSpPr>
          <p:spPr bwMode="auto">
            <a:xfrm>
              <a:off x="4101269" y="2769480"/>
              <a:ext cx="1138812" cy="852804"/>
            </a:xfrm>
            <a:prstGeom prst="line">
              <a:avLst/>
            </a:prstGeom>
            <a:noFill/>
            <a:ln w="508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7"/>
            <p:cNvSpPr>
              <a:spLocks noChangeShapeType="1"/>
            </p:cNvSpPr>
            <p:nvPr/>
          </p:nvSpPr>
          <p:spPr bwMode="auto">
            <a:xfrm>
              <a:off x="4167732" y="3857150"/>
              <a:ext cx="610945" cy="1161203"/>
            </a:xfrm>
            <a:prstGeom prst="line">
              <a:avLst/>
            </a:prstGeom>
            <a:noFill/>
            <a:ln w="508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9"/>
            <p:cNvSpPr>
              <a:spLocks noChangeShapeType="1"/>
            </p:cNvSpPr>
            <p:nvPr/>
          </p:nvSpPr>
          <p:spPr bwMode="auto">
            <a:xfrm flipH="1">
              <a:off x="4900099" y="3810403"/>
              <a:ext cx="318254" cy="1176597"/>
            </a:xfrm>
            <a:prstGeom prst="line">
              <a:avLst/>
            </a:prstGeom>
            <a:noFill/>
            <a:ln w="508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1" name="Group 10"/>
            <p:cNvGrpSpPr>
              <a:grpSpLocks/>
            </p:cNvGrpSpPr>
            <p:nvPr/>
          </p:nvGrpSpPr>
          <p:grpSpPr bwMode="auto">
            <a:xfrm>
              <a:off x="2484438" y="3454688"/>
              <a:ext cx="603276" cy="560936"/>
              <a:chOff x="1479" y="4002"/>
              <a:chExt cx="472" cy="492"/>
            </a:xfrm>
          </p:grpSpPr>
          <p:sp>
            <p:nvSpPr>
              <p:cNvPr id="36" name="Oval 11"/>
              <p:cNvSpPr>
                <a:spLocks noChangeArrowheads="1"/>
              </p:cNvSpPr>
              <p:nvPr/>
            </p:nvSpPr>
            <p:spPr bwMode="auto">
              <a:xfrm>
                <a:off x="1479" y="4002"/>
                <a:ext cx="472" cy="492"/>
              </a:xfrm>
              <a:prstGeom prst="ellipse">
                <a:avLst/>
              </a:prstGeom>
              <a:solidFill>
                <a:srgbClr val="FFFF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ea typeface="宋体" panose="02010600030101010101" pitchFamily="2" charset="-122"/>
                </a:endParaRPr>
              </a:p>
            </p:txBody>
          </p:sp>
          <p:sp>
            <p:nvSpPr>
              <p:cNvPr id="37" name="Rectangle 12"/>
              <p:cNvSpPr>
                <a:spLocks noChangeArrowheads="1"/>
              </p:cNvSpPr>
              <p:nvPr/>
            </p:nvSpPr>
            <p:spPr bwMode="auto">
              <a:xfrm>
                <a:off x="1592" y="4098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b</a:t>
                </a:r>
                <a:endParaRPr lang="zh-CN" altLang="zh-CN" sz="2400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2" name="Oval 13"/>
            <p:cNvSpPr>
              <a:spLocks noChangeArrowheads="1"/>
            </p:cNvSpPr>
            <p:nvPr/>
          </p:nvSpPr>
          <p:spPr bwMode="auto">
            <a:xfrm>
              <a:off x="3826472" y="2565400"/>
              <a:ext cx="544482" cy="53357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23" name="Text Box 14"/>
            <p:cNvSpPr txBox="1">
              <a:spLocks noChangeArrowheads="1"/>
            </p:cNvSpPr>
            <p:nvPr/>
          </p:nvSpPr>
          <p:spPr bwMode="auto">
            <a:xfrm>
              <a:off x="3826472" y="2565400"/>
              <a:ext cx="529145" cy="5335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latin typeface="Calibri" panose="020F0502020204030204" pitchFamily="34" charset="0"/>
                  <a:ea typeface="宋体" panose="02010600030101010101" pitchFamily="2" charset="-122"/>
                </a:rPr>
                <a:t>a</a:t>
              </a:r>
              <a:endParaRPr lang="zh-CN" altLang="zh-CN" sz="2400">
                <a:ea typeface="宋体" panose="02010600030101010101" pitchFamily="2" charset="-122"/>
              </a:endParaRPr>
            </a:p>
          </p:txBody>
        </p:sp>
        <p:grpSp>
          <p:nvGrpSpPr>
            <p:cNvPr id="24" name="Group 15"/>
            <p:cNvGrpSpPr>
              <a:grpSpLocks/>
            </p:cNvGrpSpPr>
            <p:nvPr/>
          </p:nvGrpSpPr>
          <p:grpSpPr bwMode="auto">
            <a:xfrm>
              <a:off x="3742116" y="3695252"/>
              <a:ext cx="603276" cy="560936"/>
              <a:chOff x="1428" y="4147"/>
              <a:chExt cx="472" cy="492"/>
            </a:xfrm>
          </p:grpSpPr>
          <p:sp>
            <p:nvSpPr>
              <p:cNvPr id="34" name="Oval 16"/>
              <p:cNvSpPr>
                <a:spLocks noChangeArrowheads="1"/>
              </p:cNvSpPr>
              <p:nvPr/>
            </p:nvSpPr>
            <p:spPr bwMode="auto">
              <a:xfrm>
                <a:off x="1428" y="4147"/>
                <a:ext cx="472" cy="492"/>
              </a:xfrm>
              <a:prstGeom prst="ellipse">
                <a:avLst/>
              </a:prstGeom>
              <a:solidFill>
                <a:srgbClr val="FFFF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ea typeface="宋体" panose="02010600030101010101" pitchFamily="2" charset="-122"/>
                </a:endParaRPr>
              </a:p>
            </p:txBody>
          </p:sp>
          <p:sp>
            <p:nvSpPr>
              <p:cNvPr id="35" name="Rectangle 17"/>
              <p:cNvSpPr>
                <a:spLocks noChangeArrowheads="1"/>
              </p:cNvSpPr>
              <p:nvPr/>
            </p:nvSpPr>
            <p:spPr bwMode="auto">
              <a:xfrm>
                <a:off x="1570" y="4234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e</a:t>
                </a:r>
                <a:endParaRPr lang="zh-CN" altLang="zh-CN" sz="2400" dirty="0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5" name="Group 18"/>
            <p:cNvGrpSpPr>
              <a:grpSpLocks/>
            </p:cNvGrpSpPr>
            <p:nvPr/>
          </p:nvGrpSpPr>
          <p:grpSpPr bwMode="auto">
            <a:xfrm>
              <a:off x="4976787" y="3420485"/>
              <a:ext cx="603276" cy="560936"/>
              <a:chOff x="1479" y="4002"/>
              <a:chExt cx="472" cy="492"/>
            </a:xfrm>
          </p:grpSpPr>
          <p:sp>
            <p:nvSpPr>
              <p:cNvPr id="32" name="Oval 19"/>
              <p:cNvSpPr>
                <a:spLocks noChangeArrowheads="1"/>
              </p:cNvSpPr>
              <p:nvPr/>
            </p:nvSpPr>
            <p:spPr bwMode="auto">
              <a:xfrm>
                <a:off x="1479" y="4002"/>
                <a:ext cx="472" cy="492"/>
              </a:xfrm>
              <a:prstGeom prst="ellipse">
                <a:avLst/>
              </a:prstGeom>
              <a:solidFill>
                <a:srgbClr val="FFFF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ea typeface="宋体" panose="02010600030101010101" pitchFamily="2" charset="-122"/>
                </a:endParaRPr>
              </a:p>
            </p:txBody>
          </p:sp>
          <p:sp>
            <p:nvSpPr>
              <p:cNvPr id="33" name="Rectangle 20"/>
              <p:cNvSpPr>
                <a:spLocks noChangeArrowheads="1"/>
              </p:cNvSpPr>
              <p:nvPr/>
            </p:nvSpPr>
            <p:spPr bwMode="auto">
              <a:xfrm>
                <a:off x="1613" y="4073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c</a:t>
                </a:r>
                <a:endParaRPr lang="zh-CN" altLang="zh-CN" sz="2400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6" name="Group 21"/>
            <p:cNvGrpSpPr>
              <a:grpSpLocks/>
            </p:cNvGrpSpPr>
            <p:nvPr/>
          </p:nvGrpSpPr>
          <p:grpSpPr bwMode="auto">
            <a:xfrm>
              <a:off x="2979074" y="4737315"/>
              <a:ext cx="603276" cy="560936"/>
              <a:chOff x="1146" y="3999"/>
              <a:chExt cx="472" cy="492"/>
            </a:xfrm>
          </p:grpSpPr>
          <p:sp>
            <p:nvSpPr>
              <p:cNvPr id="30" name="Oval 22"/>
              <p:cNvSpPr>
                <a:spLocks noChangeArrowheads="1"/>
              </p:cNvSpPr>
              <p:nvPr/>
            </p:nvSpPr>
            <p:spPr bwMode="auto">
              <a:xfrm>
                <a:off x="1146" y="3999"/>
                <a:ext cx="472" cy="492"/>
              </a:xfrm>
              <a:prstGeom prst="ellipse">
                <a:avLst/>
              </a:prstGeom>
              <a:solidFill>
                <a:srgbClr val="FFFF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ea typeface="宋体" panose="02010600030101010101" pitchFamily="2" charset="-122"/>
                </a:endParaRPr>
              </a:p>
            </p:txBody>
          </p:sp>
          <p:sp>
            <p:nvSpPr>
              <p:cNvPr id="31" name="Rectangle 23"/>
              <p:cNvSpPr>
                <a:spLocks noChangeArrowheads="1"/>
              </p:cNvSpPr>
              <p:nvPr/>
            </p:nvSpPr>
            <p:spPr bwMode="auto">
              <a:xfrm>
                <a:off x="1277" y="4087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d</a:t>
                </a:r>
                <a:endParaRPr lang="zh-CN" altLang="zh-CN" sz="2400" dirty="0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7" name="Group 24"/>
            <p:cNvGrpSpPr>
              <a:grpSpLocks/>
            </p:cNvGrpSpPr>
            <p:nvPr/>
          </p:nvGrpSpPr>
          <p:grpSpPr bwMode="auto">
            <a:xfrm>
              <a:off x="4497489" y="4699691"/>
              <a:ext cx="603276" cy="560936"/>
              <a:chOff x="1479" y="4002"/>
              <a:chExt cx="472" cy="492"/>
            </a:xfrm>
          </p:grpSpPr>
          <p:sp>
            <p:nvSpPr>
              <p:cNvPr id="28" name="Oval 25"/>
              <p:cNvSpPr>
                <a:spLocks noChangeArrowheads="1"/>
              </p:cNvSpPr>
              <p:nvPr/>
            </p:nvSpPr>
            <p:spPr bwMode="auto">
              <a:xfrm>
                <a:off x="1479" y="4002"/>
                <a:ext cx="472" cy="492"/>
              </a:xfrm>
              <a:prstGeom prst="ellipse">
                <a:avLst/>
              </a:prstGeom>
              <a:solidFill>
                <a:srgbClr val="FFFF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ea typeface="宋体" panose="02010600030101010101" pitchFamily="2" charset="-122"/>
                </a:endParaRPr>
              </a:p>
            </p:txBody>
          </p:sp>
          <p:sp>
            <p:nvSpPr>
              <p:cNvPr id="29" name="Rectangle 26"/>
              <p:cNvSpPr>
                <a:spLocks noChangeArrowheads="1"/>
              </p:cNvSpPr>
              <p:nvPr/>
            </p:nvSpPr>
            <p:spPr bwMode="auto">
              <a:xfrm>
                <a:off x="1594" y="4098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f</a:t>
                </a:r>
                <a:endParaRPr lang="zh-CN" altLang="zh-CN" sz="2400"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12" name="组合 11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8" name="TitleBackground"/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华文细黑" pitchFamily="2" charset="-122"/>
              </a:endParaRPr>
            </a:p>
          </p:txBody>
        </p:sp>
        <p:sp>
          <p:nvSpPr>
            <p:cNvPr id="9" name="ColorBlock"/>
            <p:cNvSpPr/>
            <p:nvPr>
              <p:custDataLst>
                <p:tags r:id="rId8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华文细黑" pitchFamily="2" charset="-122"/>
              </a:endParaRPr>
            </a:p>
          </p:txBody>
        </p:sp>
        <p:sp>
          <p:nvSpPr>
            <p:cNvPr id="10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1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275855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DFS</a:t>
            </a:r>
            <a:r>
              <a:rPr lang="zh-CN" altLang="en-US"/>
              <a:t>算法实现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kumimoji="1" lang="zh-CN" altLang="en-US" dirty="0">
                <a:latin typeface="+mn-ea"/>
              </a:rPr>
              <a:t>为了避免同一顶点被访问多次，在遍历图的过程中，必须记下每个已访问过的顶点</a:t>
            </a:r>
            <a:endParaRPr kumimoji="1" lang="en-US" altLang="zh-CN" dirty="0">
              <a:latin typeface="+mn-ea"/>
            </a:endParaRPr>
          </a:p>
          <a:p>
            <a:pPr>
              <a:defRPr/>
            </a:pPr>
            <a:endParaRPr kumimoji="1" lang="en-US" altLang="zh-CN" dirty="0">
              <a:latin typeface="+mn-ea"/>
            </a:endParaRPr>
          </a:p>
          <a:p>
            <a:pPr>
              <a:defRPr/>
            </a:pPr>
            <a:r>
              <a:rPr kumimoji="1" lang="zh-CN" altLang="en-US" dirty="0">
                <a:latin typeface="+mn-ea"/>
              </a:rPr>
              <a:t>可设置一个标志顶点是否被访问过的辅助数组 </a:t>
            </a:r>
            <a:r>
              <a:rPr kumimoji="1" lang="en-US" altLang="zh-CN" dirty="0">
                <a:solidFill>
                  <a:srgbClr val="FF3300"/>
                </a:solidFill>
                <a:latin typeface="+mn-ea"/>
              </a:rPr>
              <a:t>visited [ 0..n-1 ]</a:t>
            </a:r>
            <a:r>
              <a:rPr kumimoji="1" lang="zh-CN" altLang="en-US" dirty="0">
                <a:latin typeface="+mn-ea"/>
              </a:rPr>
              <a:t>，它的初始状态为 </a:t>
            </a:r>
            <a:r>
              <a:rPr kumimoji="1" lang="en-US" altLang="zh-CN" dirty="0">
                <a:latin typeface="+mn-ea"/>
              </a:rPr>
              <a:t>0</a:t>
            </a:r>
          </a:p>
          <a:p>
            <a:pPr>
              <a:defRPr/>
            </a:pPr>
            <a:endParaRPr kumimoji="1" lang="en-US" altLang="zh-CN" dirty="0">
              <a:latin typeface="+mn-ea"/>
            </a:endParaRPr>
          </a:p>
          <a:p>
            <a:pPr>
              <a:defRPr/>
            </a:pPr>
            <a:r>
              <a:rPr kumimoji="1" lang="zh-CN" altLang="en-US" dirty="0">
                <a:latin typeface="+mn-ea"/>
              </a:rPr>
              <a:t>在图的遍历过程中，一旦某一个顶点 </a:t>
            </a:r>
            <a:r>
              <a:rPr kumimoji="1" lang="en-US" altLang="zh-CN" dirty="0" err="1">
                <a:solidFill>
                  <a:srgbClr val="FF3300"/>
                </a:solidFill>
                <a:latin typeface="+mn-ea"/>
              </a:rPr>
              <a:t>i</a:t>
            </a:r>
            <a:r>
              <a:rPr kumimoji="1" lang="en-US" altLang="zh-CN" baseline="-25000" dirty="0">
                <a:latin typeface="+mn-ea"/>
              </a:rPr>
              <a:t> </a:t>
            </a:r>
            <a:r>
              <a:rPr kumimoji="1" lang="zh-CN" altLang="en-US" dirty="0">
                <a:latin typeface="+mn-ea"/>
              </a:rPr>
              <a:t>被访问，就立即让 </a:t>
            </a:r>
            <a:r>
              <a:rPr kumimoji="1" lang="en-US" altLang="zh-CN" dirty="0">
                <a:solidFill>
                  <a:srgbClr val="FF3300"/>
                </a:solidFill>
                <a:latin typeface="+mn-ea"/>
              </a:rPr>
              <a:t>visited [</a:t>
            </a:r>
            <a:r>
              <a:rPr kumimoji="1" lang="en-US" altLang="zh-CN" dirty="0" err="1">
                <a:solidFill>
                  <a:srgbClr val="FF3300"/>
                </a:solidFill>
                <a:latin typeface="+mn-ea"/>
              </a:rPr>
              <a:t>i</a:t>
            </a:r>
            <a:r>
              <a:rPr kumimoji="1" lang="en-US" altLang="zh-CN" dirty="0">
                <a:solidFill>
                  <a:srgbClr val="FF3300"/>
                </a:solidFill>
                <a:latin typeface="+mn-ea"/>
              </a:rPr>
              <a:t>]</a:t>
            </a:r>
            <a:r>
              <a:rPr kumimoji="1" lang="en-US" altLang="zh-CN" dirty="0">
                <a:latin typeface="+mn-ea"/>
              </a:rPr>
              <a:t> </a:t>
            </a:r>
            <a:r>
              <a:rPr kumimoji="1" lang="zh-CN" altLang="en-US" dirty="0">
                <a:latin typeface="+mn-ea"/>
              </a:rPr>
              <a:t>为 </a:t>
            </a:r>
            <a:r>
              <a:rPr kumimoji="1" lang="en-US" altLang="zh-CN" dirty="0">
                <a:latin typeface="+mn-ea"/>
              </a:rPr>
              <a:t>1</a:t>
            </a:r>
            <a:r>
              <a:rPr kumimoji="1" lang="zh-CN" altLang="en-US" dirty="0">
                <a:latin typeface="+mn-ea"/>
              </a:rPr>
              <a:t>，防止它被多次访问</a:t>
            </a:r>
            <a:endParaRPr kumimoji="1" lang="en-US" altLang="zh-CN" dirty="0">
              <a:latin typeface="+mn-ea"/>
            </a:endParaRPr>
          </a:p>
          <a:p>
            <a:pPr>
              <a:defRPr/>
            </a:pPr>
            <a:endParaRPr kumimoji="1" lang="en-US" altLang="zh-CN" b="1" dirty="0"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仿宋_GB2312" pitchFamily="49" charset="-122"/>
            </a:endParaRPr>
          </a:p>
          <a:p>
            <a:pPr>
              <a:defRPr/>
            </a:pPr>
            <a:endParaRPr lang="zh-CN" altLang="en-US" dirty="0"/>
          </a:p>
        </p:txBody>
      </p:sp>
      <p:sp>
        <p:nvSpPr>
          <p:cNvPr id="57348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33EF93F-C3AB-4A79-B6E0-4CABC7969D8D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46</a:t>
            </a:fld>
            <a:endParaRPr lang="zh-CN" altLang="en-US" sz="1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DFS</a:t>
            </a:r>
            <a:r>
              <a:rPr lang="zh-CN" altLang="en-US"/>
              <a:t>算法实现</a:t>
            </a:r>
          </a:p>
        </p:txBody>
      </p:sp>
      <p:sp>
        <p:nvSpPr>
          <p:cNvPr id="5837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算法步骤</a:t>
            </a:r>
            <a:endParaRPr lang="en-US" altLang="zh-CN"/>
          </a:p>
          <a:p>
            <a:pPr marL="971550" lvl="1" indent="-514350">
              <a:buFont typeface="Arial" panose="020B0604020202020204" pitchFamily="34" charset="0"/>
              <a:buAutoNum type="arabicPeriod"/>
            </a:pPr>
            <a:r>
              <a:rPr lang="zh-CN" altLang="en-US"/>
              <a:t>从图中某个顶点</a:t>
            </a:r>
            <a:r>
              <a:rPr lang="en-US" altLang="zh-CN"/>
              <a:t>v</a:t>
            </a:r>
            <a:r>
              <a:rPr lang="zh-CN" altLang="en-US"/>
              <a:t>出发，访问</a:t>
            </a:r>
            <a:r>
              <a:rPr lang="en-US" altLang="zh-CN"/>
              <a:t>v</a:t>
            </a:r>
            <a:r>
              <a:rPr lang="zh-CN" altLang="en-US"/>
              <a:t>，并置</a:t>
            </a:r>
            <a:r>
              <a:rPr lang="en-US" altLang="zh-CN"/>
              <a:t>visited[v]</a:t>
            </a:r>
            <a:r>
              <a:rPr lang="zh-CN" altLang="en-US"/>
              <a:t>的值为</a:t>
            </a:r>
            <a:r>
              <a:rPr lang="en-US" altLang="zh-CN"/>
              <a:t>1</a:t>
            </a:r>
          </a:p>
          <a:p>
            <a:pPr marL="971550" lvl="1" indent="-514350">
              <a:buFont typeface="Arial" panose="020B0604020202020204" pitchFamily="34" charset="0"/>
              <a:buAutoNum type="arabicPeriod"/>
            </a:pPr>
            <a:r>
              <a:rPr lang="zh-CN" altLang="en-US"/>
              <a:t>依次检查</a:t>
            </a:r>
            <a:r>
              <a:rPr lang="en-US" altLang="zh-CN"/>
              <a:t>v</a:t>
            </a:r>
            <a:r>
              <a:rPr lang="zh-CN" altLang="en-US"/>
              <a:t>的所有邻接点</a:t>
            </a:r>
            <a:r>
              <a:rPr lang="en-US" altLang="zh-CN"/>
              <a:t>w</a:t>
            </a:r>
            <a:r>
              <a:rPr lang="zh-CN" altLang="en-US"/>
              <a:t>，如果</a:t>
            </a:r>
            <a:r>
              <a:rPr lang="en-US" altLang="zh-CN"/>
              <a:t>visited[w]</a:t>
            </a:r>
            <a:r>
              <a:rPr lang="zh-CN" altLang="en-US"/>
              <a:t>的值为</a:t>
            </a:r>
            <a:r>
              <a:rPr lang="en-US" altLang="zh-CN"/>
              <a:t>0</a:t>
            </a:r>
            <a:r>
              <a:rPr lang="zh-CN" altLang="en-US"/>
              <a:t>，再从</a:t>
            </a:r>
            <a:r>
              <a:rPr lang="en-US" altLang="zh-CN"/>
              <a:t>w</a:t>
            </a:r>
            <a:r>
              <a:rPr lang="zh-CN" altLang="en-US"/>
              <a:t>出发进行深度优先遍历</a:t>
            </a:r>
            <a:endParaRPr lang="en-US" altLang="zh-CN"/>
          </a:p>
        </p:txBody>
      </p:sp>
      <p:sp>
        <p:nvSpPr>
          <p:cNvPr id="58372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61899A4-6D22-4912-A4BB-0106C2F4F1C8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47</a:t>
            </a:fld>
            <a:endParaRPr lang="zh-CN" altLang="en-US" sz="1000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611560" y="3933825"/>
            <a:ext cx="7632700" cy="234359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 err="1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typedef</a:t>
            </a: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000" dirty="0" err="1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struct</a:t>
            </a: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{ 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	</a:t>
            </a:r>
            <a:r>
              <a:rPr lang="en-US" altLang="zh-CN" sz="2000" dirty="0" err="1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VertexType</a:t>
            </a: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000" dirty="0" err="1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vexs</a:t>
            </a: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[</a:t>
            </a:r>
            <a:r>
              <a:rPr lang="en-US" altLang="zh-CN" sz="2000" dirty="0" err="1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MVNum</a:t>
            </a: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];            		//</a:t>
            </a:r>
            <a:r>
              <a:rPr lang="zh-CN" altLang="en-US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顶点表 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</a:t>
            </a: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en-US" altLang="zh-CN" sz="2000" dirty="0" err="1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ArcType</a:t>
            </a: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arcs[</a:t>
            </a:r>
            <a:r>
              <a:rPr lang="en-US" altLang="zh-CN" sz="2000" dirty="0" err="1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MVNum</a:t>
            </a: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][</a:t>
            </a:r>
            <a:r>
              <a:rPr lang="en-US" altLang="zh-CN" sz="2000" dirty="0" err="1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MVNum</a:t>
            </a: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];      	//</a:t>
            </a:r>
            <a:r>
              <a:rPr lang="zh-CN" altLang="en-US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邻接矩阵 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</a:t>
            </a: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en-US" altLang="zh-CN" sz="2000" dirty="0" err="1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int</a:t>
            </a: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000" dirty="0" err="1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vexnum,arcnum</a:t>
            </a: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;                	//</a:t>
            </a:r>
            <a:r>
              <a:rPr lang="zh-CN" altLang="en-US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图的当前点数和边数 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}</a:t>
            </a:r>
            <a:r>
              <a:rPr lang="en-US" altLang="zh-CN" sz="2000" dirty="0" err="1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AMGraph</a:t>
            </a: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; 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DFS</a:t>
            </a:r>
            <a:r>
              <a:rPr lang="zh-CN" altLang="en-US"/>
              <a:t>算法实现</a:t>
            </a:r>
          </a:p>
        </p:txBody>
      </p:sp>
      <p:sp>
        <p:nvSpPr>
          <p:cNvPr id="60420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C3998F5-4BAE-4351-9CAA-8F0F0B49954C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48</a:t>
            </a:fld>
            <a:endParaRPr lang="zh-CN" altLang="en-US" sz="1000"/>
          </a:p>
        </p:txBody>
      </p:sp>
      <p:sp>
        <p:nvSpPr>
          <p:cNvPr id="60421" name="Text Box 4"/>
          <p:cNvSpPr txBox="1">
            <a:spLocks noChangeArrowheads="1"/>
          </p:cNvSpPr>
          <p:nvPr/>
        </p:nvSpPr>
        <p:spPr bwMode="auto">
          <a:xfrm>
            <a:off x="539750" y="980728"/>
            <a:ext cx="7993063" cy="32924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void DFS(</a:t>
            </a:r>
            <a:r>
              <a:rPr lang="en-US" altLang="zh-CN" sz="2400" dirty="0" err="1">
                <a:latin typeface="Cambria Math" panose="02040503050406030204" pitchFamily="18" charset="0"/>
                <a:ea typeface="宋体" panose="02010600030101010101" pitchFamily="2" charset="-122"/>
              </a:rPr>
              <a:t>AMGraph</a:t>
            </a: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 G, </a:t>
            </a:r>
            <a:r>
              <a:rPr lang="en-US" altLang="zh-CN" sz="2400" dirty="0" err="1">
                <a:latin typeface="Cambria Math" panose="02040503050406030204" pitchFamily="18" charset="0"/>
                <a:ea typeface="宋体" panose="02010600030101010101" pitchFamily="2" charset="-122"/>
              </a:rPr>
              <a:t>int</a:t>
            </a: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 v){        //</a:t>
            </a:r>
            <a:r>
              <a:rPr lang="zh-CN" altLang="en-US" sz="2400" dirty="0">
                <a:latin typeface="Cambria Math" panose="020405030504060302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G</a:t>
            </a:r>
            <a:r>
              <a:rPr lang="zh-CN" altLang="en-US" sz="2400" dirty="0">
                <a:latin typeface="Cambria Math" panose="02040503050406030204" pitchFamily="18" charset="0"/>
                <a:ea typeface="宋体" panose="02010600030101010101" pitchFamily="2" charset="-122"/>
              </a:rPr>
              <a:t>为邻接矩阵类型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Cambria Math" panose="02040503050406030204" pitchFamily="18" charset="0"/>
                <a:ea typeface="宋体" panose="02010600030101010101" pitchFamily="2" charset="-122"/>
              </a:rPr>
              <a:t>      </a:t>
            </a:r>
            <a:r>
              <a:rPr lang="en-US" altLang="zh-CN" sz="2400" dirty="0" err="1">
                <a:latin typeface="Cambria Math" panose="02040503050406030204" pitchFamily="18" charset="0"/>
                <a:ea typeface="宋体" panose="02010600030101010101" pitchFamily="2" charset="-122"/>
              </a:rPr>
              <a:t>printf</a:t>
            </a: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(“%c”, v);  visited[v] = 1;  	//</a:t>
            </a:r>
            <a:r>
              <a:rPr lang="zh-CN" altLang="en-US" sz="2400" dirty="0">
                <a:latin typeface="Cambria Math" panose="02040503050406030204" pitchFamily="18" charset="0"/>
                <a:ea typeface="宋体" panose="02010600030101010101" pitchFamily="2" charset="-122"/>
              </a:rPr>
              <a:t>访问第</a:t>
            </a: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v</a:t>
            </a:r>
            <a:r>
              <a:rPr lang="zh-CN" altLang="en-US" sz="2400" dirty="0">
                <a:latin typeface="Cambria Math" panose="02040503050406030204" pitchFamily="18" charset="0"/>
                <a:ea typeface="宋体" panose="02010600030101010101" pitchFamily="2" charset="-122"/>
              </a:rPr>
              <a:t>个顶点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Cambria Math" panose="02040503050406030204" pitchFamily="18" charset="0"/>
                <a:ea typeface="宋体" panose="02010600030101010101" pitchFamily="2" charset="-122"/>
              </a:rPr>
              <a:t>      </a:t>
            </a: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for(w = 0; w&lt; </a:t>
            </a:r>
            <a:r>
              <a:rPr lang="en-US" altLang="zh-CN" sz="2400" dirty="0" err="1">
                <a:latin typeface="Cambria Math" panose="02040503050406030204" pitchFamily="18" charset="0"/>
                <a:ea typeface="宋体" panose="02010600030101010101" pitchFamily="2" charset="-122"/>
              </a:rPr>
              <a:t>G.vexnum</a:t>
            </a: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; w++)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				//</a:t>
            </a:r>
            <a:r>
              <a:rPr lang="zh-CN" altLang="en-US" sz="2400" dirty="0">
                <a:latin typeface="Cambria Math" panose="02040503050406030204" pitchFamily="18" charset="0"/>
                <a:ea typeface="宋体" panose="02010600030101010101" pitchFamily="2" charset="-122"/>
              </a:rPr>
              <a:t>依次检查邻接矩阵</a:t>
            </a: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v</a:t>
            </a:r>
            <a:r>
              <a:rPr lang="zh-CN" altLang="en-US" sz="2400" dirty="0">
                <a:latin typeface="Cambria Math" panose="02040503050406030204" pitchFamily="18" charset="0"/>
                <a:ea typeface="宋体" panose="02010600030101010101" pitchFamily="2" charset="-122"/>
              </a:rPr>
              <a:t>所在的行 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Cambria Math" panose="02040503050406030204" pitchFamily="18" charset="0"/>
                <a:ea typeface="宋体" panose="02010600030101010101" pitchFamily="2" charset="-122"/>
              </a:rPr>
              <a:t>        </a:t>
            </a:r>
            <a:r>
              <a:rPr lang="en-US" altLang="zh-CN" dirty="0">
                <a:solidFill>
                  <a:srgbClr val="FF3300"/>
                </a:solidFill>
                <a:latin typeface="Cambria Math" panose="02040503050406030204" pitchFamily="18" charset="0"/>
                <a:ea typeface="宋体" panose="02010600030101010101" pitchFamily="2" charset="-122"/>
              </a:rPr>
              <a:t>if((</a:t>
            </a:r>
            <a:r>
              <a:rPr lang="en-US" altLang="zh-CN" dirty="0" err="1">
                <a:solidFill>
                  <a:srgbClr val="FF3300"/>
                </a:solidFill>
                <a:latin typeface="Cambria Math" panose="02040503050406030204" pitchFamily="18" charset="0"/>
                <a:ea typeface="宋体" panose="02010600030101010101" pitchFamily="2" charset="-122"/>
              </a:rPr>
              <a:t>G.arcs</a:t>
            </a:r>
            <a:r>
              <a:rPr lang="en-US" altLang="zh-CN" dirty="0">
                <a:solidFill>
                  <a:srgbClr val="FF3300"/>
                </a:solidFill>
                <a:latin typeface="Cambria Math" panose="02040503050406030204" pitchFamily="18" charset="0"/>
                <a:ea typeface="宋体" panose="02010600030101010101" pitchFamily="2" charset="-122"/>
              </a:rPr>
              <a:t>[v][w]!=0)&amp;&amp; (!visited[w])) 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>
                <a:solidFill>
                  <a:srgbClr val="FF3300"/>
                </a:solidFill>
                <a:latin typeface="Cambria Math" panose="02040503050406030204" pitchFamily="18" charset="0"/>
                <a:ea typeface="宋体" panose="02010600030101010101" pitchFamily="2" charset="-122"/>
              </a:rPr>
              <a:t>            DFS(G, w);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      //w</a:t>
            </a:r>
            <a:r>
              <a:rPr lang="zh-CN" altLang="en-US" sz="2400" dirty="0">
                <a:latin typeface="Cambria Math" panose="02040503050406030204" pitchFamily="18" charset="0"/>
                <a:ea typeface="宋体" panose="02010600030101010101" pitchFamily="2" charset="-122"/>
              </a:rPr>
              <a:t>是</a:t>
            </a: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v</a:t>
            </a:r>
            <a:r>
              <a:rPr lang="zh-CN" altLang="en-US" sz="2400" dirty="0">
                <a:latin typeface="Cambria Math" panose="02040503050406030204" pitchFamily="18" charset="0"/>
                <a:ea typeface="宋体" panose="02010600030101010101" pitchFamily="2" charset="-122"/>
              </a:rPr>
              <a:t>的邻接点，如果</a:t>
            </a: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w</a:t>
            </a:r>
            <a:r>
              <a:rPr lang="zh-CN" altLang="en-US" sz="2400" dirty="0">
                <a:latin typeface="Cambria Math" panose="02040503050406030204" pitchFamily="18" charset="0"/>
                <a:ea typeface="宋体" panose="02010600030101010101" pitchFamily="2" charset="-122"/>
              </a:rPr>
              <a:t>未访问，则递归调用</a:t>
            </a: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DFS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} </a:t>
            </a:r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755576" y="4397778"/>
            <a:ext cx="7632700" cy="234359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 err="1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typedef</a:t>
            </a: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000" dirty="0" err="1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struct</a:t>
            </a: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{ 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	</a:t>
            </a:r>
            <a:r>
              <a:rPr lang="en-US" altLang="zh-CN" sz="2000" dirty="0" err="1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VertexType</a:t>
            </a: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000" dirty="0" err="1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vexs</a:t>
            </a: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[</a:t>
            </a:r>
            <a:r>
              <a:rPr lang="en-US" altLang="zh-CN" sz="2000" dirty="0" err="1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MVNum</a:t>
            </a: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];            		//</a:t>
            </a:r>
            <a:r>
              <a:rPr lang="zh-CN" altLang="en-US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顶点表 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</a:t>
            </a: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en-US" altLang="zh-CN" sz="2000" dirty="0" err="1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ArcType</a:t>
            </a: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arcs[</a:t>
            </a:r>
            <a:r>
              <a:rPr lang="en-US" altLang="zh-CN" sz="2000" dirty="0" err="1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MVNum</a:t>
            </a: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][</a:t>
            </a:r>
            <a:r>
              <a:rPr lang="en-US" altLang="zh-CN" sz="2000" dirty="0" err="1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MVNum</a:t>
            </a: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];      	//</a:t>
            </a:r>
            <a:r>
              <a:rPr lang="zh-CN" altLang="en-US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邻接矩阵 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</a:t>
            </a: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en-US" altLang="zh-CN" sz="2000" dirty="0" err="1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int</a:t>
            </a: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000" dirty="0" err="1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vexnum,arcnum</a:t>
            </a: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;                	//</a:t>
            </a:r>
            <a:r>
              <a:rPr lang="zh-CN" altLang="en-US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图的当前点数和边数 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}</a:t>
            </a:r>
            <a:r>
              <a:rPr lang="en-US" altLang="zh-CN" sz="2000" dirty="0" err="1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AMGraph</a:t>
            </a:r>
            <a:r>
              <a:rPr lang="en-US" altLang="zh-CN" sz="2000" dirty="0">
                <a:latin typeface="Cambria Math" panose="020405030504060302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; 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DFS</a:t>
            </a:r>
            <a:r>
              <a:rPr lang="zh-CN" altLang="en-US"/>
              <a:t>算法实现</a:t>
            </a:r>
          </a:p>
        </p:txBody>
      </p:sp>
      <p:sp>
        <p:nvSpPr>
          <p:cNvPr id="62467" name="内容占位符 2"/>
          <p:cNvSpPr>
            <a:spLocks noGrp="1"/>
          </p:cNvSpPr>
          <p:nvPr>
            <p:ph idx="1"/>
          </p:nvPr>
        </p:nvSpPr>
        <p:spPr>
          <a:xfrm>
            <a:off x="468313" y="1125538"/>
            <a:ext cx="8207375" cy="935037"/>
          </a:xfrm>
        </p:spPr>
        <p:txBody>
          <a:bodyPr/>
          <a:lstStyle/>
          <a:p>
            <a:r>
              <a:rPr lang="zh-CN" altLang="en-US" dirty="0"/>
              <a:t>邻接表表示法</a:t>
            </a:r>
          </a:p>
        </p:txBody>
      </p:sp>
      <p:sp>
        <p:nvSpPr>
          <p:cNvPr id="62468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D9E63B4-37ED-450F-B431-74EE80A96D68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49</a:t>
            </a:fld>
            <a:endParaRPr lang="zh-CN" altLang="en-US" sz="1000"/>
          </a:p>
        </p:txBody>
      </p:sp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611188" y="1844675"/>
            <a:ext cx="7678737" cy="464742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void DFS(</a:t>
            </a:r>
            <a:r>
              <a:rPr lang="en-US" altLang="zh-CN" sz="2400" dirty="0" err="1">
                <a:latin typeface="Cambria Math" panose="02040503050406030204" pitchFamily="18" charset="0"/>
                <a:ea typeface="宋体" panose="02010600030101010101" pitchFamily="2" charset="-122"/>
              </a:rPr>
              <a:t>ALGraph</a:t>
            </a: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 G, </a:t>
            </a:r>
            <a:r>
              <a:rPr lang="en-US" altLang="zh-CN" sz="2400" dirty="0" err="1">
                <a:latin typeface="Cambria Math" panose="02040503050406030204" pitchFamily="18" charset="0"/>
                <a:ea typeface="宋体" panose="02010600030101010101" pitchFamily="2" charset="-122"/>
              </a:rPr>
              <a:t>int</a:t>
            </a: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 v){  //</a:t>
            </a:r>
            <a:r>
              <a:rPr lang="zh-CN" altLang="en-US" sz="2400" dirty="0">
                <a:latin typeface="Cambria Math" panose="020405030504060302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G</a:t>
            </a:r>
            <a:r>
              <a:rPr lang="zh-CN" altLang="en-US" sz="2400" dirty="0">
                <a:latin typeface="Cambria Math" panose="02040503050406030204" pitchFamily="18" charset="0"/>
                <a:ea typeface="宋体" panose="02010600030101010101" pitchFamily="2" charset="-122"/>
              </a:rPr>
              <a:t>为邻接表类型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      </a:t>
            </a:r>
            <a:r>
              <a:rPr lang="en-US" altLang="zh-CN" sz="2400" dirty="0" err="1">
                <a:latin typeface="Cambria Math" panose="02040503050406030204" pitchFamily="18" charset="0"/>
                <a:ea typeface="宋体" panose="02010600030101010101" pitchFamily="2" charset="-122"/>
              </a:rPr>
              <a:t>printf</a:t>
            </a: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(“%c”, </a:t>
            </a:r>
            <a:r>
              <a:rPr lang="en-US" altLang="zh-CN" sz="2400" dirty="0" err="1">
                <a:latin typeface="Cambria Math" panose="02040503050406030204" pitchFamily="18" charset="0"/>
                <a:ea typeface="宋体" panose="02010600030101010101" pitchFamily="2" charset="-122"/>
              </a:rPr>
              <a:t>G.vertices</a:t>
            </a: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[v].data);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      visited[v] = 1;    //</a:t>
            </a:r>
            <a:r>
              <a:rPr lang="zh-CN" altLang="en-US" sz="2400" dirty="0">
                <a:latin typeface="Cambria Math" panose="02040503050406030204" pitchFamily="18" charset="0"/>
                <a:ea typeface="宋体" panose="02010600030101010101" pitchFamily="2" charset="-122"/>
              </a:rPr>
              <a:t>访问第</a:t>
            </a: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v</a:t>
            </a:r>
            <a:r>
              <a:rPr lang="zh-CN" altLang="en-US" sz="2400" dirty="0">
                <a:latin typeface="Cambria Math" panose="02040503050406030204" pitchFamily="18" charset="0"/>
                <a:ea typeface="宋体" panose="02010600030101010101" pitchFamily="2" charset="-122"/>
              </a:rPr>
              <a:t>个顶点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Cambria Math" panose="02040503050406030204" pitchFamily="18" charset="0"/>
                <a:ea typeface="宋体" panose="02010600030101010101" pitchFamily="2" charset="-122"/>
              </a:rPr>
              <a:t>      </a:t>
            </a: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p= </a:t>
            </a:r>
            <a:r>
              <a:rPr lang="en-US" altLang="zh-CN" sz="2400" dirty="0" err="1">
                <a:latin typeface="Cambria Math" panose="02040503050406030204" pitchFamily="18" charset="0"/>
                <a:ea typeface="宋体" panose="02010600030101010101" pitchFamily="2" charset="-122"/>
              </a:rPr>
              <a:t>G.vertices</a:t>
            </a: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[v].</a:t>
            </a:r>
            <a:r>
              <a:rPr lang="en-US" altLang="zh-CN" sz="2400" dirty="0" err="1">
                <a:latin typeface="Cambria Math" panose="02040503050406030204" pitchFamily="18" charset="0"/>
                <a:ea typeface="宋体" panose="02010600030101010101" pitchFamily="2" charset="-122"/>
              </a:rPr>
              <a:t>firstarc</a:t>
            </a: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;    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		//p</a:t>
            </a:r>
            <a:r>
              <a:rPr lang="zh-CN" altLang="en-US" sz="2400" dirty="0">
                <a:latin typeface="Cambria Math" panose="02040503050406030204" pitchFamily="18" charset="0"/>
                <a:ea typeface="宋体" panose="02010600030101010101" pitchFamily="2" charset="-122"/>
              </a:rPr>
              <a:t>指向</a:t>
            </a: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v</a:t>
            </a:r>
            <a:r>
              <a:rPr lang="zh-CN" altLang="en-US" sz="2400" dirty="0">
                <a:latin typeface="Cambria Math" panose="02040503050406030204" pitchFamily="18" charset="0"/>
                <a:ea typeface="宋体" panose="02010600030101010101" pitchFamily="2" charset="-122"/>
              </a:rPr>
              <a:t>的边链表的第一个边结点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      while(p!=NULL){              //</a:t>
            </a:r>
            <a:r>
              <a:rPr lang="zh-CN" altLang="en-US" sz="2400" dirty="0">
                <a:latin typeface="Cambria Math" panose="02040503050406030204" pitchFamily="18" charset="0"/>
                <a:ea typeface="宋体" panose="02010600030101010101" pitchFamily="2" charset="-122"/>
              </a:rPr>
              <a:t>边结点非空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Cambria Math" panose="020405030504060302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        </a:t>
            </a:r>
            <a:r>
              <a:rPr lang="zh-CN" altLang="en-US" sz="2400" dirty="0">
                <a:latin typeface="Cambria Math" panose="020405030504060302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w=p-&gt;</a:t>
            </a:r>
            <a:r>
              <a:rPr lang="en-US" altLang="zh-CN" sz="2400" dirty="0" err="1">
                <a:latin typeface="Cambria Math" panose="02040503050406030204" pitchFamily="18" charset="0"/>
                <a:ea typeface="宋体" panose="02010600030101010101" pitchFamily="2" charset="-122"/>
              </a:rPr>
              <a:t>adjvex</a:t>
            </a: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;               //</a:t>
            </a:r>
            <a:r>
              <a:rPr lang="zh-CN" altLang="en-US" sz="2400" dirty="0">
                <a:latin typeface="Cambria Math" panose="02040503050406030204" pitchFamily="18" charset="0"/>
                <a:ea typeface="宋体" panose="02010600030101010101" pitchFamily="2" charset="-122"/>
              </a:rPr>
              <a:t>表示</a:t>
            </a: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w</a:t>
            </a:r>
            <a:r>
              <a:rPr lang="zh-CN" altLang="en-US" sz="2400" dirty="0">
                <a:latin typeface="Cambria Math" panose="02040503050406030204" pitchFamily="18" charset="0"/>
                <a:ea typeface="宋体" panose="02010600030101010101" pitchFamily="2" charset="-122"/>
              </a:rPr>
              <a:t>是</a:t>
            </a: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v</a:t>
            </a:r>
            <a:r>
              <a:rPr lang="zh-CN" altLang="en-US" sz="2400" dirty="0">
                <a:latin typeface="Cambria Math" panose="02040503050406030204" pitchFamily="18" charset="0"/>
                <a:ea typeface="宋体" panose="02010600030101010101" pitchFamily="2" charset="-122"/>
              </a:rPr>
              <a:t>的邻接点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rgbClr val="FF6600"/>
                </a:solidFill>
                <a:latin typeface="Cambria Math" panose="02040503050406030204" pitchFamily="18" charset="0"/>
                <a:ea typeface="宋体" panose="02010600030101010101" pitchFamily="2" charset="-122"/>
              </a:rPr>
              <a:t>  </a:t>
            </a:r>
            <a:r>
              <a:rPr lang="en-US" altLang="zh-CN" dirty="0">
                <a:solidFill>
                  <a:srgbClr val="FF6600"/>
                </a:solidFill>
                <a:latin typeface="Cambria Math" panose="02040503050406030204" pitchFamily="18" charset="0"/>
                <a:ea typeface="宋体" panose="02010600030101010101" pitchFamily="2" charset="-122"/>
              </a:rPr>
              <a:t>         if(!visited[w])  DFS(G, w); </a:t>
            </a: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	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			//</a:t>
            </a:r>
            <a:r>
              <a:rPr lang="zh-CN" altLang="en-US" sz="2400" dirty="0">
                <a:latin typeface="Cambria Math" panose="02040503050406030204" pitchFamily="18" charset="0"/>
                <a:ea typeface="宋体" panose="02010600030101010101" pitchFamily="2" charset="-122"/>
              </a:rPr>
              <a:t>如果</a:t>
            </a: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w</a:t>
            </a:r>
            <a:r>
              <a:rPr lang="zh-CN" altLang="en-US" sz="2400" dirty="0">
                <a:latin typeface="Cambria Math" panose="02040503050406030204" pitchFamily="18" charset="0"/>
                <a:ea typeface="宋体" panose="02010600030101010101" pitchFamily="2" charset="-122"/>
              </a:rPr>
              <a:t>未访问，则递归调用</a:t>
            </a: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DFS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           p=p-&gt;</a:t>
            </a:r>
            <a:r>
              <a:rPr lang="en-US" altLang="zh-CN" sz="2400" dirty="0" err="1">
                <a:latin typeface="Cambria Math" panose="02040503050406030204" pitchFamily="18" charset="0"/>
                <a:ea typeface="宋体" panose="02010600030101010101" pitchFamily="2" charset="-122"/>
              </a:rPr>
              <a:t>nextarc</a:t>
            </a: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;                	//p</a:t>
            </a:r>
            <a:r>
              <a:rPr lang="zh-CN" altLang="en-US" sz="2400" dirty="0">
                <a:latin typeface="Cambria Math" panose="02040503050406030204" pitchFamily="18" charset="0"/>
                <a:ea typeface="宋体" panose="02010600030101010101" pitchFamily="2" charset="-122"/>
              </a:rPr>
              <a:t>指向下一个边结点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Cambria Math" panose="02040503050406030204" pitchFamily="18" charset="0"/>
                <a:ea typeface="宋体" panose="02010600030101010101" pitchFamily="2" charset="-122"/>
              </a:rPr>
              <a:t>       </a:t>
            </a: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}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} 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邻接表表示法</a:t>
            </a:r>
          </a:p>
        </p:txBody>
      </p:sp>
      <p:sp>
        <p:nvSpPr>
          <p:cNvPr id="37891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1193ACD-24A3-475B-9D8D-74B3A5BE23E6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50</a:t>
            </a:fld>
            <a:endParaRPr lang="zh-CN" altLang="en-US" sz="1000"/>
          </a:p>
        </p:txBody>
      </p:sp>
      <p:sp>
        <p:nvSpPr>
          <p:cNvPr id="37892" name="TextBox 5"/>
          <p:cNvSpPr txBox="1">
            <a:spLocks noChangeArrowheads="1"/>
          </p:cNvSpPr>
          <p:nvPr/>
        </p:nvSpPr>
        <p:spPr bwMode="auto">
          <a:xfrm>
            <a:off x="971550" y="1484313"/>
            <a:ext cx="6985000" cy="397031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 err="1">
                <a:ea typeface="宋体" panose="02010600030101010101" pitchFamily="2" charset="-122"/>
              </a:rPr>
              <a:t>typedef</a:t>
            </a:r>
            <a:r>
              <a:rPr lang="en-US" altLang="zh-CN" sz="1800" dirty="0">
                <a:ea typeface="宋体" panose="02010600030101010101" pitchFamily="2" charset="-122"/>
              </a:rPr>
              <a:t> </a:t>
            </a:r>
            <a:r>
              <a:rPr lang="en-US" altLang="zh-CN" sz="1800" dirty="0" err="1">
                <a:ea typeface="宋体" panose="02010600030101010101" pitchFamily="2" charset="-122"/>
              </a:rPr>
              <a:t>struct</a:t>
            </a:r>
            <a:r>
              <a:rPr lang="en-US" altLang="zh-CN" sz="1800" dirty="0">
                <a:ea typeface="宋体" panose="02010600030101010101" pitchFamily="2" charset="-122"/>
              </a:rPr>
              <a:t> { 	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       </a:t>
            </a:r>
            <a:r>
              <a:rPr lang="en-US" altLang="zh-CN" sz="1800" dirty="0" err="1">
                <a:ea typeface="宋体" panose="02010600030101010101" pitchFamily="2" charset="-122"/>
              </a:rPr>
              <a:t>VextexType</a:t>
            </a:r>
            <a:r>
              <a:rPr lang="en-US" altLang="zh-CN" sz="1800" dirty="0">
                <a:ea typeface="宋体" panose="02010600030101010101" pitchFamily="2" charset="-122"/>
              </a:rPr>
              <a:t> data; 	// </a:t>
            </a:r>
            <a:r>
              <a:rPr lang="zh-CN" altLang="en-US" sz="1800" dirty="0">
                <a:ea typeface="宋体" panose="02010600030101010101" pitchFamily="2" charset="-122"/>
              </a:rPr>
              <a:t>顶点信息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dirty="0">
                <a:ea typeface="宋体" panose="02010600030101010101" pitchFamily="2" charset="-122"/>
              </a:rPr>
              <a:t>       </a:t>
            </a:r>
            <a:r>
              <a:rPr lang="en-US" altLang="zh-CN" sz="1800" dirty="0" err="1">
                <a:ea typeface="宋体" panose="02010600030101010101" pitchFamily="2" charset="-122"/>
              </a:rPr>
              <a:t>ArcNode</a:t>
            </a:r>
            <a:r>
              <a:rPr lang="en-US" altLang="zh-CN" sz="1800" dirty="0">
                <a:ea typeface="宋体" panose="02010600030101010101" pitchFamily="2" charset="-122"/>
              </a:rPr>
              <a:t> *</a:t>
            </a:r>
            <a:r>
              <a:rPr lang="en-US" altLang="zh-CN" sz="1800" dirty="0" err="1">
                <a:ea typeface="宋体" panose="02010600030101010101" pitchFamily="2" charset="-122"/>
              </a:rPr>
              <a:t>firstarc</a:t>
            </a:r>
            <a:r>
              <a:rPr lang="en-US" altLang="zh-CN" sz="1800" dirty="0">
                <a:ea typeface="宋体" panose="02010600030101010101" pitchFamily="2" charset="-122"/>
              </a:rPr>
              <a:t>;   	// </a:t>
            </a:r>
            <a:r>
              <a:rPr lang="zh-CN" altLang="en-US" sz="1800" dirty="0">
                <a:ea typeface="宋体" panose="02010600030101010101" pitchFamily="2" charset="-122"/>
              </a:rPr>
              <a:t>指向第一条依附该顶点的边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}</a:t>
            </a:r>
            <a:r>
              <a:rPr lang="en-US" altLang="zh-CN" sz="1800" dirty="0" err="1">
                <a:ea typeface="宋体" panose="02010600030101010101" pitchFamily="2" charset="-122"/>
              </a:rPr>
              <a:t>VNode</a:t>
            </a:r>
            <a:r>
              <a:rPr lang="en-US" altLang="zh-CN" sz="1800" dirty="0">
                <a:ea typeface="宋体" panose="02010600030101010101" pitchFamily="2" charset="-122"/>
              </a:rPr>
              <a:t>;	  // </a:t>
            </a:r>
            <a:r>
              <a:rPr lang="zh-CN" altLang="en-US" sz="1800" b="1" dirty="0">
                <a:solidFill>
                  <a:srgbClr val="FF0000"/>
                </a:solidFill>
                <a:ea typeface="宋体" panose="02010600030101010101" pitchFamily="2" charset="-122"/>
              </a:rPr>
              <a:t>表头结点 </a:t>
            </a:r>
            <a:endParaRPr lang="en-US" altLang="zh-CN" sz="18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8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 err="1">
                <a:ea typeface="宋体" panose="02010600030101010101" pitchFamily="2" charset="-122"/>
              </a:rPr>
              <a:t>typedef</a:t>
            </a:r>
            <a:r>
              <a:rPr lang="en-US" altLang="zh-CN" sz="1800" dirty="0">
                <a:ea typeface="宋体" panose="02010600030101010101" pitchFamily="2" charset="-122"/>
              </a:rPr>
              <a:t> </a:t>
            </a:r>
            <a:r>
              <a:rPr lang="en-US" altLang="zh-CN" sz="1800" dirty="0" err="1">
                <a:ea typeface="宋体" panose="02010600030101010101" pitchFamily="2" charset="-122"/>
              </a:rPr>
              <a:t>struct</a:t>
            </a:r>
            <a:r>
              <a:rPr lang="en-US" altLang="zh-CN" sz="1800" dirty="0">
                <a:ea typeface="宋体" panose="02010600030101010101" pitchFamily="2" charset="-122"/>
              </a:rPr>
              <a:t> </a:t>
            </a:r>
            <a:r>
              <a:rPr lang="en-US" altLang="zh-CN" sz="1800" dirty="0" err="1">
                <a:ea typeface="宋体" panose="02010600030101010101" pitchFamily="2" charset="-122"/>
              </a:rPr>
              <a:t>ArcNode</a:t>
            </a:r>
            <a:r>
              <a:rPr lang="en-US" altLang="zh-CN" sz="1800" dirty="0">
                <a:ea typeface="宋体" panose="02010600030101010101" pitchFamily="2" charset="-122"/>
              </a:rPr>
              <a:t> 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       </a:t>
            </a:r>
            <a:r>
              <a:rPr lang="en-US" altLang="zh-CN" sz="1800" dirty="0" err="1">
                <a:ea typeface="宋体" panose="02010600030101010101" pitchFamily="2" charset="-122"/>
              </a:rPr>
              <a:t>int</a:t>
            </a:r>
            <a:r>
              <a:rPr lang="en-US" altLang="zh-CN" sz="1800" dirty="0">
                <a:ea typeface="宋体" panose="02010600030101010101" pitchFamily="2" charset="-122"/>
              </a:rPr>
              <a:t> </a:t>
            </a:r>
            <a:r>
              <a:rPr lang="en-US" altLang="zh-CN" sz="1800" dirty="0" err="1">
                <a:ea typeface="宋体" panose="02010600030101010101" pitchFamily="2" charset="-122"/>
              </a:rPr>
              <a:t>adjvex</a:t>
            </a:r>
            <a:r>
              <a:rPr lang="en-US" altLang="zh-CN" sz="1800" dirty="0">
                <a:ea typeface="宋体" panose="02010600030101010101" pitchFamily="2" charset="-122"/>
              </a:rPr>
              <a:t>;			// </a:t>
            </a:r>
            <a:r>
              <a:rPr lang="zh-CN" altLang="en-US" sz="1800" dirty="0">
                <a:ea typeface="宋体" panose="02010600030101010101" pitchFamily="2" charset="-122"/>
              </a:rPr>
              <a:t>该边的起始点位置</a:t>
            </a:r>
            <a:r>
              <a:rPr lang="en-US" altLang="zh-CN" sz="1800" dirty="0">
                <a:ea typeface="宋体" panose="02010600030101010101" pitchFamily="2" charset="-122"/>
              </a:rPr>
              <a:t>(</a:t>
            </a:r>
            <a:r>
              <a:rPr lang="zh-CN" altLang="en-US" sz="1800" dirty="0">
                <a:ea typeface="宋体" panose="02010600030101010101" pitchFamily="2" charset="-122"/>
              </a:rPr>
              <a:t>下标</a:t>
            </a:r>
            <a:r>
              <a:rPr lang="en-US" altLang="zh-CN" sz="1800" dirty="0">
                <a:ea typeface="宋体" panose="02010600030101010101" pitchFamily="2" charset="-122"/>
              </a:rPr>
              <a:t>)</a:t>
            </a:r>
            <a:endParaRPr lang="zh-CN" altLang="en-US" sz="1800" dirty="0"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dirty="0">
                <a:ea typeface="宋体" panose="02010600030101010101" pitchFamily="2" charset="-122"/>
              </a:rPr>
              <a:t>       </a:t>
            </a:r>
            <a:r>
              <a:rPr lang="en-US" altLang="zh-CN" sz="1800" dirty="0" err="1">
                <a:ea typeface="宋体" panose="02010600030101010101" pitchFamily="2" charset="-122"/>
              </a:rPr>
              <a:t>struct</a:t>
            </a:r>
            <a:r>
              <a:rPr lang="en-US" altLang="zh-CN" sz="1800" dirty="0">
                <a:ea typeface="宋体" panose="02010600030101010101" pitchFamily="2" charset="-122"/>
              </a:rPr>
              <a:t> </a:t>
            </a:r>
            <a:r>
              <a:rPr lang="en-US" altLang="zh-CN" sz="1800" dirty="0" err="1">
                <a:ea typeface="宋体" panose="02010600030101010101" pitchFamily="2" charset="-122"/>
              </a:rPr>
              <a:t>ArcNode</a:t>
            </a:r>
            <a:r>
              <a:rPr lang="en-US" altLang="zh-CN" sz="1800" dirty="0">
                <a:ea typeface="宋体" panose="02010600030101010101" pitchFamily="2" charset="-122"/>
              </a:rPr>
              <a:t> *</a:t>
            </a:r>
            <a:r>
              <a:rPr lang="en-US" altLang="zh-CN" sz="1800" dirty="0" err="1">
                <a:ea typeface="宋体" panose="02010600030101010101" pitchFamily="2" charset="-122"/>
              </a:rPr>
              <a:t>nextarc</a:t>
            </a:r>
            <a:r>
              <a:rPr lang="en-US" altLang="zh-CN" sz="1800" dirty="0">
                <a:ea typeface="宋体" panose="02010600030101010101" pitchFamily="2" charset="-122"/>
              </a:rPr>
              <a:t>;   	 // </a:t>
            </a:r>
            <a:r>
              <a:rPr lang="zh-CN" altLang="en-US" sz="1800" dirty="0">
                <a:ea typeface="宋体" panose="02010600030101010101" pitchFamily="2" charset="-122"/>
              </a:rPr>
              <a:t>指向下一条边的指针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}</a:t>
            </a:r>
            <a:r>
              <a:rPr lang="en-US" altLang="zh-CN" sz="1800" dirty="0" err="1">
                <a:ea typeface="宋体" panose="02010600030101010101" pitchFamily="2" charset="-122"/>
              </a:rPr>
              <a:t>ArcNode</a:t>
            </a:r>
            <a:r>
              <a:rPr lang="en-US" altLang="zh-CN" sz="1800" dirty="0">
                <a:ea typeface="宋体" panose="02010600030101010101" pitchFamily="2" charset="-122"/>
              </a:rPr>
              <a:t>;	 // </a:t>
            </a:r>
            <a:r>
              <a:rPr lang="zh-CN" altLang="en-US" sz="1800" b="1" dirty="0">
                <a:solidFill>
                  <a:srgbClr val="FF0000"/>
                </a:solidFill>
                <a:ea typeface="宋体" panose="02010600030101010101" pitchFamily="2" charset="-122"/>
              </a:rPr>
              <a:t>边结点 </a:t>
            </a:r>
            <a:endParaRPr lang="en-US" altLang="zh-CN" sz="18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CN" sz="1800" dirty="0"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 err="1">
                <a:ea typeface="宋体" panose="02010600030101010101" pitchFamily="2" charset="-122"/>
              </a:rPr>
              <a:t>typedef</a:t>
            </a:r>
            <a:r>
              <a:rPr lang="en-US" altLang="zh-CN" sz="1800" dirty="0">
                <a:ea typeface="宋体" panose="02010600030101010101" pitchFamily="2" charset="-122"/>
              </a:rPr>
              <a:t> </a:t>
            </a:r>
            <a:r>
              <a:rPr lang="en-US" altLang="zh-CN" sz="1800" dirty="0" err="1">
                <a:ea typeface="宋体" panose="02010600030101010101" pitchFamily="2" charset="-122"/>
              </a:rPr>
              <a:t>struct</a:t>
            </a:r>
            <a:r>
              <a:rPr lang="en-US" altLang="zh-CN" sz="1800" dirty="0">
                <a:ea typeface="宋体" panose="02010600030101010101" pitchFamily="2" charset="-122"/>
              </a:rPr>
              <a:t> 	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{     </a:t>
            </a:r>
            <a:r>
              <a:rPr lang="en-US" altLang="zh-CN" sz="1800" dirty="0" err="1">
                <a:ea typeface="宋体" panose="02010600030101010101" pitchFamily="2" charset="-122"/>
              </a:rPr>
              <a:t>VNode</a:t>
            </a:r>
            <a:r>
              <a:rPr lang="en-US" altLang="zh-CN" sz="1800" dirty="0">
                <a:ea typeface="宋体" panose="02010600030101010101" pitchFamily="2" charset="-122"/>
              </a:rPr>
              <a:t> vertices[MAXV];	// </a:t>
            </a:r>
            <a:r>
              <a:rPr lang="zh-CN" altLang="en-US" sz="1800" dirty="0">
                <a:ea typeface="宋体" panose="02010600030101010101" pitchFamily="2" charset="-122"/>
              </a:rPr>
              <a:t>顶点数组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dirty="0">
                <a:ea typeface="宋体" panose="02010600030101010101" pitchFamily="2" charset="-122"/>
              </a:rPr>
              <a:t>      </a:t>
            </a:r>
            <a:r>
              <a:rPr lang="en-US" altLang="zh-CN" sz="1800" dirty="0" err="1">
                <a:ea typeface="宋体" panose="02010600030101010101" pitchFamily="2" charset="-122"/>
              </a:rPr>
              <a:t>int</a:t>
            </a:r>
            <a:r>
              <a:rPr lang="en-US" altLang="zh-CN" sz="1800" dirty="0">
                <a:ea typeface="宋体" panose="02010600030101010101" pitchFamily="2" charset="-122"/>
              </a:rPr>
              <a:t> </a:t>
            </a:r>
            <a:r>
              <a:rPr lang="en-US" altLang="zh-CN" sz="1800" dirty="0" err="1">
                <a:ea typeface="宋体" panose="02010600030101010101" pitchFamily="2" charset="-122"/>
              </a:rPr>
              <a:t>vexnum</a:t>
            </a:r>
            <a:r>
              <a:rPr lang="en-US" altLang="zh-CN" sz="1800" dirty="0">
                <a:ea typeface="宋体" panose="02010600030101010101" pitchFamily="2" charset="-122"/>
              </a:rPr>
              <a:t>, </a:t>
            </a:r>
            <a:r>
              <a:rPr lang="en-US" altLang="zh-CN" sz="1800" dirty="0" err="1">
                <a:ea typeface="宋体" panose="02010600030101010101" pitchFamily="2" charset="-122"/>
              </a:rPr>
              <a:t>arcnum</a:t>
            </a:r>
            <a:r>
              <a:rPr lang="en-US" altLang="zh-CN" sz="1800" dirty="0">
                <a:ea typeface="宋体" panose="02010600030101010101" pitchFamily="2" charset="-122"/>
              </a:rPr>
              <a:t>; 	  	 // </a:t>
            </a:r>
            <a:r>
              <a:rPr lang="zh-CN" altLang="en-US" sz="1800" dirty="0">
                <a:ea typeface="宋体" panose="02010600030101010101" pitchFamily="2" charset="-122"/>
              </a:rPr>
              <a:t>当前顶点数和边数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}</a:t>
            </a:r>
            <a:r>
              <a:rPr lang="en-US" altLang="zh-CN" sz="1800" dirty="0" err="1">
                <a:ea typeface="宋体" panose="02010600030101010101" pitchFamily="2" charset="-122"/>
              </a:rPr>
              <a:t>ALGraph</a:t>
            </a:r>
            <a:r>
              <a:rPr lang="en-US" altLang="zh-CN" sz="1800" dirty="0">
                <a:ea typeface="宋体" panose="02010600030101010101" pitchFamily="2" charset="-122"/>
              </a:rPr>
              <a:t>;    // </a:t>
            </a:r>
            <a:r>
              <a:rPr lang="zh-CN" altLang="en-US" sz="1800" b="1" dirty="0">
                <a:solidFill>
                  <a:srgbClr val="FF0000"/>
                </a:solidFill>
                <a:ea typeface="宋体" panose="02010600030101010101" pitchFamily="2" charset="-122"/>
              </a:rPr>
              <a:t>邻接表 </a:t>
            </a:r>
          </a:p>
        </p:txBody>
      </p:sp>
    </p:spTree>
    <p:extLst>
      <p:ext uri="{BB962C8B-B14F-4D97-AF65-F5344CB8AC3E}">
        <p14:creationId xmlns:p14="http://schemas.microsoft.com/office/powerpoint/2010/main" val="183499208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latin typeface="+mn-ea"/>
                <a:ea typeface="+mn-ea"/>
              </a:rPr>
              <a:t>DFS</a:t>
            </a:r>
            <a:r>
              <a:rPr lang="zh-CN" altLang="en-US" dirty="0">
                <a:latin typeface="+mn-ea"/>
                <a:ea typeface="+mn-ea"/>
              </a:rPr>
              <a:t>算法效率分析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latin typeface="+mn-ea"/>
              </a:rPr>
              <a:t>用</a:t>
            </a:r>
            <a:r>
              <a:rPr lang="zh-CN" altLang="en-US" dirty="0">
                <a:solidFill>
                  <a:schemeClr val="tx2"/>
                </a:solidFill>
                <a:latin typeface="+mn-ea"/>
              </a:rPr>
              <a:t>邻接矩阵</a:t>
            </a:r>
            <a:r>
              <a:rPr lang="zh-CN" altLang="en-US" dirty="0">
                <a:latin typeface="+mn-ea"/>
              </a:rPr>
              <a:t>来表示图，遍历图中每一个顶点都要</a:t>
            </a:r>
            <a:r>
              <a:rPr lang="zh-CN" altLang="en-US" dirty="0">
                <a:solidFill>
                  <a:schemeClr val="hlink"/>
                </a:solidFill>
                <a:latin typeface="+mn-ea"/>
              </a:rPr>
              <a:t>从头扫描</a:t>
            </a:r>
            <a:r>
              <a:rPr lang="zh-CN" altLang="en-US" dirty="0">
                <a:latin typeface="+mn-ea"/>
              </a:rPr>
              <a:t>该顶点所在行，时间复杂度为</a:t>
            </a:r>
            <a:r>
              <a:rPr lang="en-US" altLang="zh-CN" dirty="0">
                <a:solidFill>
                  <a:srgbClr val="FF3300"/>
                </a:solidFill>
                <a:latin typeface="+mn-ea"/>
              </a:rPr>
              <a:t>O(</a:t>
            </a:r>
            <a:r>
              <a:rPr lang="en-US" altLang="zh-CN" i="1" dirty="0">
                <a:solidFill>
                  <a:srgbClr val="FF3300"/>
                </a:solidFill>
                <a:latin typeface="+mn-ea"/>
              </a:rPr>
              <a:t>n</a:t>
            </a:r>
            <a:r>
              <a:rPr lang="en-US" altLang="zh-CN" baseline="30000" dirty="0">
                <a:solidFill>
                  <a:srgbClr val="FF3300"/>
                </a:solidFill>
                <a:latin typeface="+mn-ea"/>
              </a:rPr>
              <a:t>2</a:t>
            </a:r>
            <a:r>
              <a:rPr lang="en-US" altLang="zh-CN" dirty="0">
                <a:solidFill>
                  <a:srgbClr val="FF3300"/>
                </a:solidFill>
                <a:latin typeface="+mn-ea"/>
              </a:rPr>
              <a:t>)</a:t>
            </a:r>
          </a:p>
          <a:p>
            <a:pPr>
              <a:defRPr/>
            </a:pPr>
            <a:r>
              <a:rPr lang="zh-CN" altLang="en-US" dirty="0">
                <a:latin typeface="+mn-ea"/>
              </a:rPr>
              <a:t>用</a:t>
            </a:r>
            <a:r>
              <a:rPr lang="zh-CN" altLang="en-US" dirty="0">
                <a:solidFill>
                  <a:schemeClr val="tx2"/>
                </a:solidFill>
                <a:latin typeface="+mn-ea"/>
              </a:rPr>
              <a:t>邻接表</a:t>
            </a:r>
            <a:r>
              <a:rPr lang="zh-CN" altLang="en-US" dirty="0">
                <a:latin typeface="+mn-ea"/>
              </a:rPr>
              <a:t>来表示图，虽然有 </a:t>
            </a:r>
            <a:r>
              <a:rPr lang="en-US" altLang="zh-CN" dirty="0">
                <a:solidFill>
                  <a:schemeClr val="hlink"/>
                </a:solidFill>
                <a:latin typeface="+mn-ea"/>
              </a:rPr>
              <a:t>2</a:t>
            </a:r>
            <a:r>
              <a:rPr lang="en-US" altLang="zh-CN" i="1" dirty="0">
                <a:solidFill>
                  <a:schemeClr val="hlink"/>
                </a:solidFill>
                <a:latin typeface="+mn-ea"/>
              </a:rPr>
              <a:t>e</a:t>
            </a:r>
            <a:r>
              <a:rPr lang="en-US" altLang="zh-CN" i="1" dirty="0">
                <a:latin typeface="+mn-ea"/>
              </a:rPr>
              <a:t> </a:t>
            </a:r>
            <a:r>
              <a:rPr lang="zh-CN" altLang="en-US" dirty="0">
                <a:latin typeface="+mn-ea"/>
              </a:rPr>
              <a:t>个表结点，但只需扫描 </a:t>
            </a:r>
            <a:r>
              <a:rPr lang="en-US" altLang="zh-CN" i="1" dirty="0">
                <a:solidFill>
                  <a:schemeClr val="hlink"/>
                </a:solidFill>
                <a:latin typeface="+mn-ea"/>
              </a:rPr>
              <a:t>e </a:t>
            </a:r>
            <a:r>
              <a:rPr lang="zh-CN" altLang="en-US" dirty="0">
                <a:latin typeface="+mn-ea"/>
              </a:rPr>
              <a:t>个结点即可完成遍历，加上访问 </a:t>
            </a:r>
            <a:r>
              <a:rPr lang="en-US" altLang="zh-CN" i="1" dirty="0">
                <a:solidFill>
                  <a:schemeClr val="hlink"/>
                </a:solidFill>
                <a:latin typeface="+mn-ea"/>
              </a:rPr>
              <a:t>n</a:t>
            </a:r>
            <a:r>
              <a:rPr lang="zh-CN" altLang="en-US" dirty="0">
                <a:latin typeface="+mn-ea"/>
              </a:rPr>
              <a:t>个头结点的时间，时间复杂度为</a:t>
            </a:r>
            <a:r>
              <a:rPr lang="en-US" altLang="zh-CN" dirty="0">
                <a:solidFill>
                  <a:srgbClr val="FF3300"/>
                </a:solidFill>
                <a:latin typeface="+mn-ea"/>
              </a:rPr>
              <a:t>O(</a:t>
            </a:r>
            <a:r>
              <a:rPr lang="en-US" altLang="zh-CN" i="1" dirty="0" err="1">
                <a:solidFill>
                  <a:srgbClr val="FF3300"/>
                </a:solidFill>
                <a:latin typeface="+mn-ea"/>
              </a:rPr>
              <a:t>n</a:t>
            </a:r>
            <a:r>
              <a:rPr lang="en-US" altLang="zh-CN" dirty="0" err="1">
                <a:solidFill>
                  <a:srgbClr val="FF3300"/>
                </a:solidFill>
                <a:latin typeface="+mn-ea"/>
              </a:rPr>
              <a:t>+</a:t>
            </a:r>
            <a:r>
              <a:rPr lang="en-US" altLang="zh-CN" i="1" dirty="0" err="1">
                <a:solidFill>
                  <a:srgbClr val="FF3300"/>
                </a:solidFill>
                <a:latin typeface="+mn-ea"/>
              </a:rPr>
              <a:t>e</a:t>
            </a:r>
            <a:r>
              <a:rPr lang="en-US" altLang="zh-CN" dirty="0">
                <a:solidFill>
                  <a:srgbClr val="FF3300"/>
                </a:solidFill>
                <a:latin typeface="+mn-ea"/>
              </a:rPr>
              <a:t>)</a:t>
            </a:r>
          </a:p>
        </p:txBody>
      </p:sp>
      <p:sp>
        <p:nvSpPr>
          <p:cNvPr id="63492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EEA5EEA-1461-42B6-8A39-3A0326CE2E23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51</a:t>
            </a:fld>
            <a:endParaRPr lang="zh-CN" altLang="en-US" sz="10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BFS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kumimoji="1" lang="zh-CN" altLang="en-US" dirty="0">
                <a:solidFill>
                  <a:srgbClr val="0000FF"/>
                </a:solidFill>
                <a:latin typeface="+mn-ea"/>
              </a:rPr>
              <a:t>图的广度优先搜索类似于树的层次遍历</a:t>
            </a:r>
          </a:p>
          <a:p>
            <a:pPr lvl="1">
              <a:defRPr/>
            </a:pPr>
            <a:r>
              <a:rPr lang="zh-CN" altLang="en-US" dirty="0"/>
              <a:t>访问起始点</a:t>
            </a:r>
            <a:r>
              <a:rPr lang="en-US" altLang="zh-CN" dirty="0"/>
              <a:t>v</a:t>
            </a:r>
          </a:p>
          <a:p>
            <a:pPr lvl="1">
              <a:defRPr/>
            </a:pPr>
            <a:r>
              <a:rPr lang="zh-CN" altLang="en-US" dirty="0"/>
              <a:t>依次访问</a:t>
            </a:r>
            <a:r>
              <a:rPr lang="en-US" altLang="zh-CN" dirty="0"/>
              <a:t>v</a:t>
            </a:r>
            <a:r>
              <a:rPr lang="zh-CN" altLang="en-US" dirty="0"/>
              <a:t>的邻接点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然后在依次访问这些顶点中未被访问过的邻接点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直到所有顶点都被访问过为止</a:t>
            </a:r>
            <a:endParaRPr lang="en-US" altLang="zh-CN" dirty="0"/>
          </a:p>
          <a:p>
            <a:pPr>
              <a:defRPr/>
            </a:pPr>
            <a:r>
              <a:rPr lang="en-US" altLang="zh-CN" dirty="0"/>
              <a:t>BFS</a:t>
            </a:r>
            <a:r>
              <a:rPr lang="zh-CN" altLang="en-US" dirty="0"/>
              <a:t>没有回溯现象，因此不是递归的</a:t>
            </a:r>
          </a:p>
        </p:txBody>
      </p:sp>
      <p:sp>
        <p:nvSpPr>
          <p:cNvPr id="6451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708AFDD-1015-49A6-A3D5-FF0953BBA3B0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52</a:t>
            </a:fld>
            <a:endParaRPr lang="zh-CN" altLang="en-US" sz="10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BFS</a:t>
            </a:r>
            <a:r>
              <a:rPr lang="zh-CN" altLang="en-US"/>
              <a:t>示例</a:t>
            </a:r>
          </a:p>
        </p:txBody>
      </p:sp>
      <p:sp>
        <p:nvSpPr>
          <p:cNvPr id="65539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C4530B9-481C-4272-8A2C-3028FC6F3ACD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53</a:t>
            </a:fld>
            <a:endParaRPr lang="zh-CN" altLang="en-US" sz="1000"/>
          </a:p>
        </p:txBody>
      </p:sp>
      <p:grpSp>
        <p:nvGrpSpPr>
          <p:cNvPr id="65540" name="Group 2"/>
          <p:cNvGrpSpPr>
            <a:grpSpLocks/>
          </p:cNvGrpSpPr>
          <p:nvPr/>
        </p:nvGrpSpPr>
        <p:grpSpPr bwMode="auto">
          <a:xfrm>
            <a:off x="250825" y="1196975"/>
            <a:ext cx="4891088" cy="4953000"/>
            <a:chOff x="2544" y="1056"/>
            <a:chExt cx="3081" cy="3120"/>
          </a:xfrm>
        </p:grpSpPr>
        <p:grpSp>
          <p:nvGrpSpPr>
            <p:cNvPr id="65550" name="Group 3"/>
            <p:cNvGrpSpPr>
              <a:grpSpLocks/>
            </p:cNvGrpSpPr>
            <p:nvPr/>
          </p:nvGrpSpPr>
          <p:grpSpPr bwMode="auto">
            <a:xfrm>
              <a:off x="2544" y="1056"/>
              <a:ext cx="3081" cy="2548"/>
              <a:chOff x="1104" y="1104"/>
              <a:chExt cx="3081" cy="2548"/>
            </a:xfrm>
          </p:grpSpPr>
          <p:sp>
            <p:nvSpPr>
              <p:cNvPr id="65552" name="Oval 4"/>
              <p:cNvSpPr>
                <a:spLocks noChangeArrowheads="1"/>
              </p:cNvSpPr>
              <p:nvPr/>
            </p:nvSpPr>
            <p:spPr bwMode="auto">
              <a:xfrm>
                <a:off x="2304" y="1104"/>
                <a:ext cx="340" cy="340"/>
              </a:xfrm>
              <a:prstGeom prst="ellips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2000" tIns="10800" rIns="72000" bIns="82800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lnSpc>
                    <a:spcPct val="110000"/>
                  </a:lnSpc>
                  <a:spcBef>
                    <a:spcPct val="25000"/>
                  </a:spcBef>
                  <a:buClrTx/>
                  <a:buFontTx/>
                  <a:buNone/>
                </a:pPr>
                <a:r>
                  <a:rPr kumimoji="1" lang="en-US" altLang="zh-CN" sz="2600" b="1">
                    <a:solidFill>
                      <a:srgbClr val="000000"/>
                    </a:solidFill>
                    <a:latin typeface="仿宋_GB2312" pitchFamily="49" charset="-122"/>
                    <a:ea typeface="仿宋_GB2312" pitchFamily="49" charset="-122"/>
                  </a:rPr>
                  <a:t>V</a:t>
                </a:r>
                <a:r>
                  <a:rPr kumimoji="1" lang="en-US" altLang="zh-CN" sz="2600" b="1" baseline="-25000">
                    <a:solidFill>
                      <a:srgbClr val="000000"/>
                    </a:solidFill>
                    <a:latin typeface="仿宋_GB2312" pitchFamily="49" charset="-122"/>
                    <a:ea typeface="仿宋_GB2312" pitchFamily="49" charset="-122"/>
                  </a:rPr>
                  <a:t>1</a:t>
                </a:r>
              </a:p>
            </p:txBody>
          </p:sp>
          <p:sp>
            <p:nvSpPr>
              <p:cNvPr id="65553" name="Oval 5"/>
              <p:cNvSpPr>
                <a:spLocks noChangeArrowheads="1"/>
              </p:cNvSpPr>
              <p:nvPr/>
            </p:nvSpPr>
            <p:spPr bwMode="auto">
              <a:xfrm>
                <a:off x="2400" y="3312"/>
                <a:ext cx="340" cy="340"/>
              </a:xfrm>
              <a:prstGeom prst="ellips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2000" tIns="10800" rIns="72000" bIns="82800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lnSpc>
                    <a:spcPct val="110000"/>
                  </a:lnSpc>
                  <a:spcBef>
                    <a:spcPct val="25000"/>
                  </a:spcBef>
                  <a:buClrTx/>
                  <a:buFontTx/>
                  <a:buNone/>
                </a:pPr>
                <a:r>
                  <a:rPr kumimoji="1" lang="en-US" altLang="zh-CN" sz="2600" b="1">
                    <a:solidFill>
                      <a:srgbClr val="000000"/>
                    </a:solidFill>
                    <a:latin typeface="仿宋_GB2312" pitchFamily="49" charset="-122"/>
                    <a:ea typeface="仿宋_GB2312" pitchFamily="49" charset="-122"/>
                  </a:rPr>
                  <a:t>V</a:t>
                </a:r>
                <a:r>
                  <a:rPr kumimoji="1" lang="en-US" altLang="zh-CN" sz="2600" b="1" baseline="-25000">
                    <a:solidFill>
                      <a:srgbClr val="000000"/>
                    </a:solidFill>
                    <a:latin typeface="仿宋_GB2312" pitchFamily="49" charset="-122"/>
                    <a:ea typeface="仿宋_GB2312" pitchFamily="49" charset="-122"/>
                  </a:rPr>
                  <a:t>8</a:t>
                </a:r>
              </a:p>
            </p:txBody>
          </p:sp>
          <p:sp>
            <p:nvSpPr>
              <p:cNvPr id="65554" name="Oval 6"/>
              <p:cNvSpPr>
                <a:spLocks noChangeArrowheads="1"/>
              </p:cNvSpPr>
              <p:nvPr/>
            </p:nvSpPr>
            <p:spPr bwMode="auto">
              <a:xfrm>
                <a:off x="1488" y="1899"/>
                <a:ext cx="340" cy="340"/>
              </a:xfrm>
              <a:prstGeom prst="ellips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2000" tIns="10800" rIns="72000" bIns="82800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lnSpc>
                    <a:spcPct val="110000"/>
                  </a:lnSpc>
                  <a:spcBef>
                    <a:spcPct val="25000"/>
                  </a:spcBef>
                  <a:buClrTx/>
                  <a:buFontTx/>
                  <a:buNone/>
                </a:pPr>
                <a:r>
                  <a:rPr kumimoji="1" lang="en-US" altLang="zh-CN" sz="2600" b="1">
                    <a:solidFill>
                      <a:srgbClr val="000000"/>
                    </a:solidFill>
                    <a:latin typeface="仿宋_GB2312" pitchFamily="49" charset="-122"/>
                    <a:ea typeface="仿宋_GB2312" pitchFamily="49" charset="-122"/>
                  </a:rPr>
                  <a:t>V</a:t>
                </a:r>
                <a:r>
                  <a:rPr kumimoji="1" lang="en-US" altLang="zh-CN" sz="2600" b="1" baseline="-25000">
                    <a:solidFill>
                      <a:srgbClr val="000000"/>
                    </a:solidFill>
                    <a:latin typeface="仿宋_GB2312" pitchFamily="49" charset="-122"/>
                    <a:ea typeface="仿宋_GB2312" pitchFamily="49" charset="-122"/>
                  </a:rPr>
                  <a:t>2</a:t>
                </a:r>
              </a:p>
            </p:txBody>
          </p:sp>
          <p:sp>
            <p:nvSpPr>
              <p:cNvPr id="65555" name="Oval 7"/>
              <p:cNvSpPr>
                <a:spLocks noChangeArrowheads="1"/>
              </p:cNvSpPr>
              <p:nvPr/>
            </p:nvSpPr>
            <p:spPr bwMode="auto">
              <a:xfrm>
                <a:off x="3312" y="1872"/>
                <a:ext cx="340" cy="340"/>
              </a:xfrm>
              <a:prstGeom prst="ellips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2000" tIns="10800" rIns="72000" bIns="82800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lnSpc>
                    <a:spcPct val="110000"/>
                  </a:lnSpc>
                  <a:spcBef>
                    <a:spcPct val="25000"/>
                  </a:spcBef>
                  <a:buClrTx/>
                  <a:buFontTx/>
                  <a:buNone/>
                </a:pPr>
                <a:r>
                  <a:rPr kumimoji="1" lang="en-US" altLang="zh-CN" sz="2600" b="1">
                    <a:solidFill>
                      <a:srgbClr val="000000"/>
                    </a:solidFill>
                    <a:latin typeface="仿宋_GB2312" pitchFamily="49" charset="-122"/>
                    <a:ea typeface="仿宋_GB2312" pitchFamily="49" charset="-122"/>
                  </a:rPr>
                  <a:t>V</a:t>
                </a:r>
                <a:r>
                  <a:rPr kumimoji="1" lang="en-US" altLang="zh-CN" sz="2600" b="1" baseline="-25000">
                    <a:solidFill>
                      <a:srgbClr val="000000"/>
                    </a:solidFill>
                    <a:latin typeface="仿宋_GB2312" pitchFamily="49" charset="-122"/>
                    <a:ea typeface="仿宋_GB2312" pitchFamily="49" charset="-122"/>
                  </a:rPr>
                  <a:t>3</a:t>
                </a:r>
              </a:p>
            </p:txBody>
          </p:sp>
          <p:sp>
            <p:nvSpPr>
              <p:cNvPr id="65556" name="Oval 8"/>
              <p:cNvSpPr>
                <a:spLocks noChangeArrowheads="1"/>
              </p:cNvSpPr>
              <p:nvPr/>
            </p:nvSpPr>
            <p:spPr bwMode="auto">
              <a:xfrm>
                <a:off x="2876" y="2619"/>
                <a:ext cx="340" cy="340"/>
              </a:xfrm>
              <a:prstGeom prst="ellips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2000" tIns="10800" rIns="72000" bIns="82800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lnSpc>
                    <a:spcPct val="110000"/>
                  </a:lnSpc>
                  <a:spcBef>
                    <a:spcPct val="25000"/>
                  </a:spcBef>
                  <a:buClrTx/>
                  <a:buFontTx/>
                  <a:buNone/>
                </a:pPr>
                <a:r>
                  <a:rPr kumimoji="1" lang="en-US" altLang="zh-CN" sz="2600" b="1">
                    <a:solidFill>
                      <a:srgbClr val="000000"/>
                    </a:solidFill>
                    <a:latin typeface="仿宋_GB2312" pitchFamily="49" charset="-122"/>
                    <a:ea typeface="仿宋_GB2312" pitchFamily="49" charset="-122"/>
                  </a:rPr>
                  <a:t>V</a:t>
                </a:r>
                <a:r>
                  <a:rPr kumimoji="1" lang="en-US" altLang="zh-CN" sz="2600" b="1" baseline="-25000">
                    <a:solidFill>
                      <a:srgbClr val="000000"/>
                    </a:solidFill>
                    <a:latin typeface="仿宋_GB2312" pitchFamily="49" charset="-122"/>
                    <a:ea typeface="仿宋_GB2312" pitchFamily="49" charset="-122"/>
                  </a:rPr>
                  <a:t>6</a:t>
                </a:r>
              </a:p>
            </p:txBody>
          </p:sp>
          <p:sp>
            <p:nvSpPr>
              <p:cNvPr id="65557" name="Oval 9"/>
              <p:cNvSpPr>
                <a:spLocks noChangeArrowheads="1"/>
              </p:cNvSpPr>
              <p:nvPr/>
            </p:nvSpPr>
            <p:spPr bwMode="auto">
              <a:xfrm>
                <a:off x="3845" y="2616"/>
                <a:ext cx="340" cy="340"/>
              </a:xfrm>
              <a:prstGeom prst="ellips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2000" tIns="10800" rIns="72000" bIns="82800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lnSpc>
                    <a:spcPct val="110000"/>
                  </a:lnSpc>
                  <a:spcBef>
                    <a:spcPct val="25000"/>
                  </a:spcBef>
                  <a:buClrTx/>
                  <a:buFontTx/>
                  <a:buNone/>
                </a:pPr>
                <a:r>
                  <a:rPr kumimoji="1" lang="en-US" altLang="zh-CN" sz="2600" b="1">
                    <a:solidFill>
                      <a:srgbClr val="000000"/>
                    </a:solidFill>
                    <a:latin typeface="仿宋_GB2312" pitchFamily="49" charset="-122"/>
                    <a:ea typeface="仿宋_GB2312" pitchFamily="49" charset="-122"/>
                  </a:rPr>
                  <a:t>V</a:t>
                </a:r>
                <a:r>
                  <a:rPr kumimoji="1" lang="en-US" altLang="zh-CN" sz="2600" b="1" baseline="-25000">
                    <a:solidFill>
                      <a:srgbClr val="000000"/>
                    </a:solidFill>
                    <a:latin typeface="仿宋_GB2312" pitchFamily="49" charset="-122"/>
                    <a:ea typeface="仿宋_GB2312" pitchFamily="49" charset="-122"/>
                  </a:rPr>
                  <a:t>7</a:t>
                </a:r>
              </a:p>
            </p:txBody>
          </p:sp>
          <p:sp>
            <p:nvSpPr>
              <p:cNvPr id="65558" name="Oval 10"/>
              <p:cNvSpPr>
                <a:spLocks noChangeArrowheads="1"/>
              </p:cNvSpPr>
              <p:nvPr/>
            </p:nvSpPr>
            <p:spPr bwMode="auto">
              <a:xfrm>
                <a:off x="1104" y="2688"/>
                <a:ext cx="340" cy="340"/>
              </a:xfrm>
              <a:prstGeom prst="ellips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2000" tIns="10800" rIns="72000" bIns="82800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lnSpc>
                    <a:spcPct val="110000"/>
                  </a:lnSpc>
                  <a:spcBef>
                    <a:spcPct val="25000"/>
                  </a:spcBef>
                  <a:buClrTx/>
                  <a:buFontTx/>
                  <a:buNone/>
                </a:pPr>
                <a:r>
                  <a:rPr kumimoji="1" lang="en-US" altLang="zh-CN" sz="2600" b="1">
                    <a:solidFill>
                      <a:srgbClr val="000000"/>
                    </a:solidFill>
                    <a:latin typeface="仿宋_GB2312" pitchFamily="49" charset="-122"/>
                    <a:ea typeface="仿宋_GB2312" pitchFamily="49" charset="-122"/>
                  </a:rPr>
                  <a:t>V</a:t>
                </a:r>
                <a:r>
                  <a:rPr kumimoji="1" lang="en-US" altLang="zh-CN" sz="2600" b="1" baseline="-25000">
                    <a:solidFill>
                      <a:srgbClr val="000000"/>
                    </a:solidFill>
                    <a:latin typeface="仿宋_GB2312" pitchFamily="49" charset="-122"/>
                    <a:ea typeface="仿宋_GB2312" pitchFamily="49" charset="-122"/>
                  </a:rPr>
                  <a:t>4</a:t>
                </a:r>
              </a:p>
            </p:txBody>
          </p:sp>
          <p:sp>
            <p:nvSpPr>
              <p:cNvPr id="65559" name="Oval 11"/>
              <p:cNvSpPr>
                <a:spLocks noChangeArrowheads="1"/>
              </p:cNvSpPr>
              <p:nvPr/>
            </p:nvSpPr>
            <p:spPr bwMode="auto">
              <a:xfrm>
                <a:off x="2016" y="2640"/>
                <a:ext cx="340" cy="340"/>
              </a:xfrm>
              <a:prstGeom prst="ellips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72000" tIns="10800" rIns="72000" bIns="82800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lnSpc>
                    <a:spcPct val="110000"/>
                  </a:lnSpc>
                  <a:spcBef>
                    <a:spcPct val="25000"/>
                  </a:spcBef>
                  <a:buClrTx/>
                  <a:buFontTx/>
                  <a:buNone/>
                </a:pPr>
                <a:r>
                  <a:rPr kumimoji="1" lang="en-US" altLang="zh-CN" sz="2600" b="1">
                    <a:solidFill>
                      <a:srgbClr val="000000"/>
                    </a:solidFill>
                    <a:latin typeface="仿宋_GB2312" pitchFamily="49" charset="-122"/>
                    <a:ea typeface="仿宋_GB2312" pitchFamily="49" charset="-122"/>
                  </a:rPr>
                  <a:t>V</a:t>
                </a:r>
                <a:r>
                  <a:rPr kumimoji="1" lang="en-US" altLang="zh-CN" sz="2600" b="1" baseline="-25000">
                    <a:solidFill>
                      <a:srgbClr val="000000"/>
                    </a:solidFill>
                    <a:latin typeface="仿宋_GB2312" pitchFamily="49" charset="-122"/>
                    <a:ea typeface="仿宋_GB2312" pitchFamily="49" charset="-122"/>
                  </a:rPr>
                  <a:t>5</a:t>
                </a:r>
              </a:p>
            </p:txBody>
          </p:sp>
          <p:sp>
            <p:nvSpPr>
              <p:cNvPr id="65560" name="Line 12"/>
              <p:cNvSpPr>
                <a:spLocks noChangeShapeType="1"/>
              </p:cNvSpPr>
              <p:nvPr/>
            </p:nvSpPr>
            <p:spPr bwMode="auto">
              <a:xfrm flipH="1">
                <a:off x="1776" y="1392"/>
                <a:ext cx="576" cy="57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5561" name="Line 13"/>
              <p:cNvSpPr>
                <a:spLocks noChangeShapeType="1"/>
              </p:cNvSpPr>
              <p:nvPr/>
            </p:nvSpPr>
            <p:spPr bwMode="auto">
              <a:xfrm flipH="1">
                <a:off x="1296" y="2208"/>
                <a:ext cx="240" cy="4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5562" name="Line 14"/>
              <p:cNvSpPr>
                <a:spLocks noChangeShapeType="1"/>
              </p:cNvSpPr>
              <p:nvPr/>
            </p:nvSpPr>
            <p:spPr bwMode="auto">
              <a:xfrm>
                <a:off x="1776" y="2208"/>
                <a:ext cx="288" cy="4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5563" name="Line 15"/>
              <p:cNvSpPr>
                <a:spLocks noChangeShapeType="1"/>
              </p:cNvSpPr>
              <p:nvPr/>
            </p:nvSpPr>
            <p:spPr bwMode="auto">
              <a:xfrm>
                <a:off x="1392" y="2976"/>
                <a:ext cx="1008" cy="4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5564" name="Line 16"/>
              <p:cNvSpPr>
                <a:spLocks noChangeShapeType="1"/>
              </p:cNvSpPr>
              <p:nvPr/>
            </p:nvSpPr>
            <p:spPr bwMode="auto">
              <a:xfrm>
                <a:off x="2256" y="2976"/>
                <a:ext cx="240" cy="38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5565" name="Line 17"/>
              <p:cNvSpPr>
                <a:spLocks noChangeShapeType="1"/>
              </p:cNvSpPr>
              <p:nvPr/>
            </p:nvSpPr>
            <p:spPr bwMode="auto">
              <a:xfrm>
                <a:off x="2592" y="1392"/>
                <a:ext cx="768" cy="52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5566" name="Line 18"/>
              <p:cNvSpPr>
                <a:spLocks noChangeShapeType="1"/>
              </p:cNvSpPr>
              <p:nvPr/>
            </p:nvSpPr>
            <p:spPr bwMode="auto">
              <a:xfrm flipH="1">
                <a:off x="3120" y="2178"/>
                <a:ext cx="288" cy="4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5567" name="Line 19"/>
              <p:cNvSpPr>
                <a:spLocks noChangeShapeType="1"/>
              </p:cNvSpPr>
              <p:nvPr/>
            </p:nvSpPr>
            <p:spPr bwMode="auto">
              <a:xfrm>
                <a:off x="3600" y="2160"/>
                <a:ext cx="384" cy="4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5568" name="Line 20"/>
              <p:cNvSpPr>
                <a:spLocks noChangeShapeType="1"/>
              </p:cNvSpPr>
              <p:nvPr/>
            </p:nvSpPr>
            <p:spPr bwMode="auto">
              <a:xfrm>
                <a:off x="3216" y="2784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65551" name="Rectangle 21"/>
            <p:cNvSpPr>
              <a:spLocks noChangeArrowheads="1"/>
            </p:cNvSpPr>
            <p:nvPr/>
          </p:nvSpPr>
          <p:spPr bwMode="auto">
            <a:xfrm>
              <a:off x="3696" y="3801"/>
              <a:ext cx="1041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zh-CN" altLang="en-US" sz="30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无向图</a:t>
              </a:r>
              <a:r>
                <a:rPr kumimoji="1" lang="en-US" altLang="zh-CN" sz="30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G</a:t>
              </a:r>
              <a:r>
                <a:rPr kumimoji="1" lang="en-US" altLang="zh-CN" sz="30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1</a:t>
              </a:r>
            </a:p>
          </p:txBody>
        </p:sp>
      </p:grpSp>
      <p:sp>
        <p:nvSpPr>
          <p:cNvPr id="45" name="Line 23"/>
          <p:cNvSpPr>
            <a:spLocks noChangeShapeType="1"/>
          </p:cNvSpPr>
          <p:nvPr/>
        </p:nvSpPr>
        <p:spPr bwMode="auto">
          <a:xfrm flipH="1">
            <a:off x="1317625" y="1654175"/>
            <a:ext cx="914400" cy="914400"/>
          </a:xfrm>
          <a:prstGeom prst="line">
            <a:avLst/>
          </a:prstGeom>
          <a:noFill/>
          <a:ln w="28575">
            <a:solidFill>
              <a:srgbClr val="AE00AE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6" name="Line 24"/>
          <p:cNvSpPr>
            <a:spLocks noChangeShapeType="1"/>
          </p:cNvSpPr>
          <p:nvPr/>
        </p:nvSpPr>
        <p:spPr bwMode="auto">
          <a:xfrm flipH="1">
            <a:off x="555625" y="2949575"/>
            <a:ext cx="381000" cy="762000"/>
          </a:xfrm>
          <a:prstGeom prst="line">
            <a:avLst/>
          </a:prstGeom>
          <a:noFill/>
          <a:ln w="28575">
            <a:solidFill>
              <a:srgbClr val="AE00AE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7" name="Line 25"/>
          <p:cNvSpPr>
            <a:spLocks noChangeShapeType="1"/>
          </p:cNvSpPr>
          <p:nvPr/>
        </p:nvSpPr>
        <p:spPr bwMode="auto">
          <a:xfrm>
            <a:off x="1317625" y="2949575"/>
            <a:ext cx="457200" cy="762000"/>
          </a:xfrm>
          <a:prstGeom prst="line">
            <a:avLst/>
          </a:prstGeom>
          <a:noFill/>
          <a:ln w="28575">
            <a:solidFill>
              <a:srgbClr val="AE00AE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8" name="Line 26"/>
          <p:cNvSpPr>
            <a:spLocks noChangeShapeType="1"/>
          </p:cNvSpPr>
          <p:nvPr/>
        </p:nvSpPr>
        <p:spPr bwMode="auto">
          <a:xfrm>
            <a:off x="708025" y="4168775"/>
            <a:ext cx="1600200" cy="762000"/>
          </a:xfrm>
          <a:prstGeom prst="line">
            <a:avLst/>
          </a:prstGeom>
          <a:noFill/>
          <a:ln w="28575">
            <a:solidFill>
              <a:srgbClr val="AE00AE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9" name="Line 27"/>
          <p:cNvSpPr>
            <a:spLocks noChangeShapeType="1"/>
          </p:cNvSpPr>
          <p:nvPr/>
        </p:nvSpPr>
        <p:spPr bwMode="auto">
          <a:xfrm>
            <a:off x="2613025" y="1654175"/>
            <a:ext cx="1219200" cy="838200"/>
          </a:xfrm>
          <a:prstGeom prst="line">
            <a:avLst/>
          </a:prstGeom>
          <a:noFill/>
          <a:ln w="28575">
            <a:solidFill>
              <a:srgbClr val="AE00AE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0" name="Line 28"/>
          <p:cNvSpPr>
            <a:spLocks noChangeShapeType="1"/>
          </p:cNvSpPr>
          <p:nvPr/>
        </p:nvSpPr>
        <p:spPr bwMode="auto">
          <a:xfrm flipH="1">
            <a:off x="3451225" y="2906713"/>
            <a:ext cx="457200" cy="762000"/>
          </a:xfrm>
          <a:prstGeom prst="line">
            <a:avLst/>
          </a:prstGeom>
          <a:noFill/>
          <a:ln w="28575">
            <a:solidFill>
              <a:srgbClr val="AE00AE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1" name="Line 29"/>
          <p:cNvSpPr>
            <a:spLocks noChangeShapeType="1"/>
          </p:cNvSpPr>
          <p:nvPr/>
        </p:nvSpPr>
        <p:spPr bwMode="auto">
          <a:xfrm>
            <a:off x="4213225" y="2873375"/>
            <a:ext cx="609600" cy="762000"/>
          </a:xfrm>
          <a:prstGeom prst="line">
            <a:avLst/>
          </a:prstGeom>
          <a:noFill/>
          <a:ln w="28575">
            <a:solidFill>
              <a:srgbClr val="AE00AE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2" name="TextBox 51"/>
          <p:cNvSpPr txBox="1"/>
          <p:nvPr/>
        </p:nvSpPr>
        <p:spPr>
          <a:xfrm>
            <a:off x="5976938" y="1706563"/>
            <a:ext cx="2881312" cy="17240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lnSpc>
                <a:spcPct val="105000"/>
              </a:lnSpc>
              <a:defRPr/>
            </a:pPr>
            <a:r>
              <a:rPr kumimoji="1" lang="zh-CN" altLang="en-US" sz="2800" dirty="0">
                <a:solidFill>
                  <a:srgbClr val="000000"/>
                </a:solidFill>
                <a:latin typeface="仿宋_GB2312" pitchFamily="49" charset="-122"/>
                <a:ea typeface="仿宋_GB2312" pitchFamily="49" charset="-122"/>
              </a:rPr>
              <a:t>顶点访问序列为：</a:t>
            </a:r>
          </a:p>
          <a:p>
            <a:pPr eaLnBrk="1" hangingPunct="1">
              <a:lnSpc>
                <a:spcPct val="105000"/>
              </a:lnSpc>
              <a:defRPr/>
            </a:pPr>
            <a:r>
              <a:rPr kumimoji="1" lang="en-US" altLang="zh-CN" sz="2800" dirty="0">
                <a:solidFill>
                  <a:srgbClr val="0000FF"/>
                </a:solidFill>
                <a:latin typeface="+mn-lt"/>
                <a:ea typeface="仿宋_GB2312" pitchFamily="49" charset="-122"/>
              </a:rPr>
              <a:t>v</a:t>
            </a:r>
            <a:r>
              <a:rPr kumimoji="1" lang="en-US" altLang="zh-CN" sz="2800" baseline="-25000" dirty="0">
                <a:solidFill>
                  <a:srgbClr val="0000FF"/>
                </a:solidFill>
                <a:latin typeface="+mn-lt"/>
                <a:ea typeface="仿宋_GB2312" pitchFamily="49" charset="-122"/>
              </a:rPr>
              <a:t>1 </a:t>
            </a:r>
            <a:r>
              <a:rPr kumimoji="1" lang="zh-CN" altLang="en-US" sz="2800" baseline="-25000" dirty="0">
                <a:solidFill>
                  <a:srgbClr val="0000FF"/>
                </a:solidFill>
                <a:latin typeface="+mn-lt"/>
                <a:ea typeface="仿宋_GB2312" pitchFamily="49" charset="-122"/>
              </a:rPr>
              <a:t>、</a:t>
            </a:r>
            <a:r>
              <a:rPr kumimoji="1" lang="en-US" altLang="zh-CN" sz="2800" dirty="0">
                <a:solidFill>
                  <a:srgbClr val="0000FF"/>
                </a:solidFill>
                <a:latin typeface="+mn-lt"/>
                <a:ea typeface="仿宋_GB2312" pitchFamily="49" charset="-122"/>
              </a:rPr>
              <a:t>v</a:t>
            </a:r>
            <a:r>
              <a:rPr kumimoji="1" lang="en-US" altLang="zh-CN" sz="2800" baseline="-25000" dirty="0">
                <a:solidFill>
                  <a:srgbClr val="0000FF"/>
                </a:solidFill>
                <a:latin typeface="+mn-lt"/>
                <a:ea typeface="仿宋_GB2312" pitchFamily="49" charset="-122"/>
              </a:rPr>
              <a:t>2</a:t>
            </a:r>
            <a:r>
              <a:rPr kumimoji="1" lang="zh-CN" altLang="en-US" sz="2800" baseline="-25000" dirty="0">
                <a:solidFill>
                  <a:srgbClr val="0000FF"/>
                </a:solidFill>
                <a:latin typeface="+mn-lt"/>
                <a:ea typeface="仿宋_GB2312" pitchFamily="49" charset="-122"/>
              </a:rPr>
              <a:t>、 </a:t>
            </a:r>
            <a:r>
              <a:rPr kumimoji="1" lang="en-US" altLang="zh-CN" sz="2800" dirty="0">
                <a:solidFill>
                  <a:srgbClr val="0000FF"/>
                </a:solidFill>
                <a:latin typeface="+mn-lt"/>
                <a:ea typeface="仿宋_GB2312" pitchFamily="49" charset="-122"/>
              </a:rPr>
              <a:t>v</a:t>
            </a:r>
            <a:r>
              <a:rPr kumimoji="1" lang="en-US" altLang="zh-CN" sz="2800" baseline="-25000" dirty="0">
                <a:solidFill>
                  <a:srgbClr val="0000FF"/>
                </a:solidFill>
                <a:latin typeface="+mn-lt"/>
                <a:ea typeface="仿宋_GB2312" pitchFamily="49" charset="-122"/>
              </a:rPr>
              <a:t>3</a:t>
            </a:r>
            <a:r>
              <a:rPr kumimoji="1" lang="zh-CN" altLang="en-US" sz="2800" baseline="-25000" dirty="0">
                <a:solidFill>
                  <a:srgbClr val="0000FF"/>
                </a:solidFill>
                <a:latin typeface="+mn-lt"/>
                <a:ea typeface="仿宋_GB2312" pitchFamily="49" charset="-122"/>
              </a:rPr>
              <a:t>、 </a:t>
            </a:r>
            <a:r>
              <a:rPr kumimoji="1" lang="en-US" altLang="zh-CN" sz="2800" dirty="0">
                <a:solidFill>
                  <a:srgbClr val="0000FF"/>
                </a:solidFill>
                <a:latin typeface="+mn-lt"/>
                <a:ea typeface="仿宋_GB2312" pitchFamily="49" charset="-122"/>
              </a:rPr>
              <a:t>v</a:t>
            </a:r>
            <a:r>
              <a:rPr kumimoji="1" lang="en-US" altLang="zh-CN" sz="2800" baseline="-25000" dirty="0">
                <a:solidFill>
                  <a:srgbClr val="0000FF"/>
                </a:solidFill>
                <a:latin typeface="+mn-lt"/>
                <a:ea typeface="仿宋_GB2312" pitchFamily="49" charset="-122"/>
              </a:rPr>
              <a:t>4</a:t>
            </a:r>
            <a:r>
              <a:rPr kumimoji="1" lang="zh-CN" altLang="en-US" sz="2800" baseline="-25000" dirty="0">
                <a:solidFill>
                  <a:srgbClr val="0000FF"/>
                </a:solidFill>
                <a:latin typeface="+mn-lt"/>
                <a:ea typeface="仿宋_GB2312" pitchFamily="49" charset="-122"/>
              </a:rPr>
              <a:t>、 </a:t>
            </a:r>
            <a:r>
              <a:rPr kumimoji="1" lang="en-US" altLang="zh-CN" sz="2800" dirty="0">
                <a:solidFill>
                  <a:srgbClr val="0000FF"/>
                </a:solidFill>
                <a:latin typeface="+mn-lt"/>
                <a:ea typeface="仿宋_GB2312" pitchFamily="49" charset="-122"/>
              </a:rPr>
              <a:t>v</a:t>
            </a:r>
            <a:r>
              <a:rPr kumimoji="1" lang="en-US" altLang="zh-CN" sz="2800" baseline="-25000" dirty="0">
                <a:solidFill>
                  <a:srgbClr val="0000FF"/>
                </a:solidFill>
                <a:latin typeface="+mn-lt"/>
                <a:ea typeface="仿宋_GB2312" pitchFamily="49" charset="-122"/>
              </a:rPr>
              <a:t>5</a:t>
            </a:r>
            <a:r>
              <a:rPr kumimoji="1" lang="zh-CN" altLang="en-US" sz="2800" baseline="-25000" dirty="0">
                <a:solidFill>
                  <a:srgbClr val="0000FF"/>
                </a:solidFill>
                <a:latin typeface="+mn-lt"/>
                <a:ea typeface="仿宋_GB2312" pitchFamily="49" charset="-122"/>
              </a:rPr>
              <a:t>、 </a:t>
            </a:r>
            <a:r>
              <a:rPr kumimoji="1" lang="en-US" altLang="zh-CN" sz="2800" dirty="0">
                <a:solidFill>
                  <a:srgbClr val="0000FF"/>
                </a:solidFill>
                <a:latin typeface="+mn-lt"/>
                <a:ea typeface="仿宋_GB2312" pitchFamily="49" charset="-122"/>
              </a:rPr>
              <a:t>v</a:t>
            </a:r>
            <a:r>
              <a:rPr kumimoji="1" lang="en-US" altLang="zh-CN" sz="2800" baseline="-25000" dirty="0">
                <a:solidFill>
                  <a:srgbClr val="0000FF"/>
                </a:solidFill>
                <a:latin typeface="+mn-lt"/>
                <a:ea typeface="仿宋_GB2312" pitchFamily="49" charset="-122"/>
              </a:rPr>
              <a:t>6</a:t>
            </a:r>
            <a:r>
              <a:rPr kumimoji="1" lang="zh-CN" altLang="en-US" sz="2800" baseline="-25000" dirty="0">
                <a:solidFill>
                  <a:srgbClr val="0000FF"/>
                </a:solidFill>
                <a:latin typeface="+mn-lt"/>
                <a:ea typeface="仿宋_GB2312" pitchFamily="49" charset="-122"/>
              </a:rPr>
              <a:t>、 </a:t>
            </a:r>
            <a:r>
              <a:rPr kumimoji="1" lang="en-US" altLang="zh-CN" sz="2800" dirty="0">
                <a:solidFill>
                  <a:srgbClr val="0000FF"/>
                </a:solidFill>
                <a:latin typeface="+mn-lt"/>
                <a:ea typeface="仿宋_GB2312" pitchFamily="49" charset="-122"/>
              </a:rPr>
              <a:t>v</a:t>
            </a:r>
            <a:r>
              <a:rPr kumimoji="1" lang="en-US" altLang="zh-CN" sz="2800" baseline="-25000" dirty="0">
                <a:solidFill>
                  <a:srgbClr val="0000FF"/>
                </a:solidFill>
                <a:latin typeface="+mn-lt"/>
                <a:ea typeface="仿宋_GB2312" pitchFamily="49" charset="-122"/>
              </a:rPr>
              <a:t>7</a:t>
            </a:r>
            <a:r>
              <a:rPr kumimoji="1" lang="zh-CN" altLang="en-US" sz="2800" baseline="-25000" dirty="0">
                <a:solidFill>
                  <a:srgbClr val="0000FF"/>
                </a:solidFill>
                <a:latin typeface="+mn-lt"/>
                <a:ea typeface="仿宋_GB2312" pitchFamily="49" charset="-122"/>
              </a:rPr>
              <a:t>、 </a:t>
            </a:r>
            <a:r>
              <a:rPr kumimoji="1" lang="en-US" altLang="zh-CN" sz="2800" dirty="0">
                <a:solidFill>
                  <a:srgbClr val="0000FF"/>
                </a:solidFill>
                <a:latin typeface="+mn-lt"/>
                <a:ea typeface="仿宋_GB2312" pitchFamily="49" charset="-122"/>
              </a:rPr>
              <a:t>v</a:t>
            </a:r>
            <a:r>
              <a:rPr kumimoji="1" lang="en-US" altLang="zh-CN" sz="2800" baseline="-25000" dirty="0">
                <a:solidFill>
                  <a:srgbClr val="0000FF"/>
                </a:solidFill>
                <a:latin typeface="+mn-lt"/>
                <a:ea typeface="仿宋_GB2312" pitchFamily="49" charset="-122"/>
              </a:rPr>
              <a:t>8</a:t>
            </a:r>
          </a:p>
          <a:p>
            <a:pPr eaLnBrk="1" hangingPunct="1">
              <a:defRPr/>
            </a:pPr>
            <a:endParaRPr lang="zh-CN" altLang="en-US" dirty="0">
              <a:latin typeface="Arial" charset="0"/>
            </a:endParaRPr>
          </a:p>
        </p:txBody>
      </p:sp>
      <p:sp>
        <p:nvSpPr>
          <p:cNvPr id="65549" name="文本框 31"/>
          <p:cNvSpPr txBox="1">
            <a:spLocks noChangeArrowheads="1"/>
          </p:cNvSpPr>
          <p:nvPr/>
        </p:nvSpPr>
        <p:spPr bwMode="auto">
          <a:xfrm>
            <a:off x="5940425" y="1125538"/>
            <a:ext cx="27352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ea typeface="宋体" panose="02010600030101010101" pitchFamily="2" charset="-122"/>
              </a:rPr>
              <a:t>以</a:t>
            </a:r>
            <a:r>
              <a:rPr lang="en-US" altLang="zh-CN" sz="2400">
                <a:ea typeface="宋体" panose="02010600030101010101" pitchFamily="2" charset="-122"/>
              </a:rPr>
              <a:t>v</a:t>
            </a:r>
            <a:r>
              <a:rPr lang="en-US" altLang="zh-CN" sz="2400" baseline="-25000">
                <a:ea typeface="宋体" panose="02010600030101010101" pitchFamily="2" charset="-122"/>
              </a:rPr>
              <a:t>1</a:t>
            </a:r>
            <a:r>
              <a:rPr lang="zh-CN" altLang="en-US" sz="2400">
                <a:ea typeface="宋体" panose="02010600030101010101" pitchFamily="2" charset="-122"/>
              </a:rPr>
              <a:t>为起点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31640" y="2615406"/>
            <a:ext cx="6624736" cy="10795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练习 </a:t>
            </a:r>
            <a:r>
              <a:rPr lang="en-US" altLang="zh-CN" dirty="0"/>
              <a:t>6-5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258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FC9BE59-6BE6-4719-943D-2F0BF22505B9}" type="slidenum">
              <a:rPr lang="zh-CN" altLang="en-US" smtClean="0"/>
              <a:pPr>
                <a:defRPr/>
              </a:pPr>
              <a:t>55</a:t>
            </a:fld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为起始点，给出下图的</a:t>
            </a:r>
            <a:r>
              <a:rPr lang="zh-CN" altLang="en-US" sz="26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广度优先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搜索遍历结果</a:t>
            </a:r>
          </a:p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规定：当一个顶点有多个邻接点时，按字典顺序访问</a:t>
            </a:r>
          </a:p>
        </p:txBody>
      </p:sp>
      <p:sp>
        <p:nvSpPr>
          <p:cNvPr id="7" name="圆角矩形 6"/>
          <p:cNvSpPr/>
          <p:nvPr>
            <p:custDataLst>
              <p:tags r:id="rId3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3" name="矩形 12"/>
          <p:cNvSpPr/>
          <p:nvPr>
            <p:custDataLst>
              <p:tags r:id="rId4"/>
            </p:custDataLst>
          </p:nvPr>
        </p:nvSpPr>
        <p:spPr bwMode="auto">
          <a:xfrm>
            <a:off x="0" y="5849303"/>
            <a:ext cx="9144000" cy="365760"/>
          </a:xfrm>
          <a:prstGeom prst="rect">
            <a:avLst/>
          </a:prstGeom>
          <a:solidFill>
            <a:srgbClr val="FBFAE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eaLnBrk="1" hangingPunct="1"/>
            <a:r>
              <a:rPr kumimoji="0" lang="zh-CN" altLang="en-US" sz="1200" b="0" i="1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kumimoji="0" lang="en-US" altLang="zh-CN" sz="1200" b="0" i="1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kumimoji="0" lang="zh-CN" altLang="en-US" sz="1200" b="0" i="1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4" name="组合 31"/>
          <p:cNvGrpSpPr>
            <a:grpSpLocks/>
          </p:cNvGrpSpPr>
          <p:nvPr/>
        </p:nvGrpSpPr>
        <p:grpSpPr bwMode="auto">
          <a:xfrm>
            <a:off x="2843808" y="2353708"/>
            <a:ext cx="3095625" cy="2733429"/>
            <a:chOff x="2484438" y="2565400"/>
            <a:chExt cx="3095625" cy="2732851"/>
          </a:xfrm>
        </p:grpSpPr>
        <p:sp>
          <p:nvSpPr>
            <p:cNvPr id="15" name="Line 3"/>
            <p:cNvSpPr>
              <a:spLocks noChangeShapeType="1"/>
            </p:cNvSpPr>
            <p:nvPr/>
          </p:nvSpPr>
          <p:spPr bwMode="auto">
            <a:xfrm>
              <a:off x="2618641" y="3810403"/>
              <a:ext cx="1450675" cy="0"/>
            </a:xfrm>
            <a:prstGeom prst="line">
              <a:avLst/>
            </a:prstGeom>
            <a:noFill/>
            <a:ln w="508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4"/>
            <p:cNvSpPr>
              <a:spLocks noChangeShapeType="1"/>
            </p:cNvSpPr>
            <p:nvPr/>
          </p:nvSpPr>
          <p:spPr bwMode="auto">
            <a:xfrm flipH="1">
              <a:off x="2719613" y="2769480"/>
              <a:ext cx="1381656" cy="879027"/>
            </a:xfrm>
            <a:prstGeom prst="line">
              <a:avLst/>
            </a:prstGeom>
            <a:noFill/>
            <a:ln w="508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5"/>
            <p:cNvSpPr>
              <a:spLocks noChangeShapeType="1"/>
            </p:cNvSpPr>
            <p:nvPr/>
          </p:nvSpPr>
          <p:spPr bwMode="auto">
            <a:xfrm flipV="1">
              <a:off x="3417471" y="4015624"/>
              <a:ext cx="590495" cy="793517"/>
            </a:xfrm>
            <a:prstGeom prst="line">
              <a:avLst/>
            </a:prstGeom>
            <a:noFill/>
            <a:ln w="508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6"/>
            <p:cNvSpPr>
              <a:spLocks noChangeShapeType="1"/>
            </p:cNvSpPr>
            <p:nvPr/>
          </p:nvSpPr>
          <p:spPr bwMode="auto">
            <a:xfrm>
              <a:off x="4101269" y="2769480"/>
              <a:ext cx="1138812" cy="852804"/>
            </a:xfrm>
            <a:prstGeom prst="line">
              <a:avLst/>
            </a:prstGeom>
            <a:noFill/>
            <a:ln w="508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7"/>
            <p:cNvSpPr>
              <a:spLocks noChangeShapeType="1"/>
            </p:cNvSpPr>
            <p:nvPr/>
          </p:nvSpPr>
          <p:spPr bwMode="auto">
            <a:xfrm>
              <a:off x="4167732" y="3857150"/>
              <a:ext cx="610945" cy="1161203"/>
            </a:xfrm>
            <a:prstGeom prst="line">
              <a:avLst/>
            </a:prstGeom>
            <a:noFill/>
            <a:ln w="508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9"/>
            <p:cNvSpPr>
              <a:spLocks noChangeShapeType="1"/>
            </p:cNvSpPr>
            <p:nvPr/>
          </p:nvSpPr>
          <p:spPr bwMode="auto">
            <a:xfrm flipH="1">
              <a:off x="4900099" y="3810403"/>
              <a:ext cx="318254" cy="1176597"/>
            </a:xfrm>
            <a:prstGeom prst="line">
              <a:avLst/>
            </a:prstGeom>
            <a:noFill/>
            <a:ln w="508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1" name="Group 10"/>
            <p:cNvGrpSpPr>
              <a:grpSpLocks/>
            </p:cNvGrpSpPr>
            <p:nvPr/>
          </p:nvGrpSpPr>
          <p:grpSpPr bwMode="auto">
            <a:xfrm>
              <a:off x="2484438" y="3454688"/>
              <a:ext cx="603276" cy="560936"/>
              <a:chOff x="1479" y="4002"/>
              <a:chExt cx="472" cy="492"/>
            </a:xfrm>
          </p:grpSpPr>
          <p:sp>
            <p:nvSpPr>
              <p:cNvPr id="36" name="Oval 11"/>
              <p:cNvSpPr>
                <a:spLocks noChangeArrowheads="1"/>
              </p:cNvSpPr>
              <p:nvPr/>
            </p:nvSpPr>
            <p:spPr bwMode="auto">
              <a:xfrm>
                <a:off x="1479" y="4002"/>
                <a:ext cx="472" cy="492"/>
              </a:xfrm>
              <a:prstGeom prst="ellipse">
                <a:avLst/>
              </a:prstGeom>
              <a:solidFill>
                <a:srgbClr val="FFFF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ea typeface="宋体" panose="02010600030101010101" pitchFamily="2" charset="-122"/>
                </a:endParaRPr>
              </a:p>
            </p:txBody>
          </p:sp>
          <p:sp>
            <p:nvSpPr>
              <p:cNvPr id="37" name="Rectangle 12"/>
              <p:cNvSpPr>
                <a:spLocks noChangeArrowheads="1"/>
              </p:cNvSpPr>
              <p:nvPr/>
            </p:nvSpPr>
            <p:spPr bwMode="auto">
              <a:xfrm>
                <a:off x="1592" y="4098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b</a:t>
                </a:r>
                <a:endParaRPr lang="zh-CN" altLang="zh-CN" sz="2400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2" name="Oval 13"/>
            <p:cNvSpPr>
              <a:spLocks noChangeArrowheads="1"/>
            </p:cNvSpPr>
            <p:nvPr/>
          </p:nvSpPr>
          <p:spPr bwMode="auto">
            <a:xfrm>
              <a:off x="3826472" y="2565400"/>
              <a:ext cx="544482" cy="53357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23" name="Text Box 14"/>
            <p:cNvSpPr txBox="1">
              <a:spLocks noChangeArrowheads="1"/>
            </p:cNvSpPr>
            <p:nvPr/>
          </p:nvSpPr>
          <p:spPr bwMode="auto">
            <a:xfrm>
              <a:off x="3826472" y="2565400"/>
              <a:ext cx="529145" cy="5335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latin typeface="Calibri" panose="020F0502020204030204" pitchFamily="34" charset="0"/>
                  <a:ea typeface="宋体" panose="02010600030101010101" pitchFamily="2" charset="-122"/>
                </a:rPr>
                <a:t>a</a:t>
              </a:r>
              <a:endParaRPr lang="zh-CN" altLang="zh-CN" sz="2400">
                <a:ea typeface="宋体" panose="02010600030101010101" pitchFamily="2" charset="-122"/>
              </a:endParaRPr>
            </a:p>
          </p:txBody>
        </p:sp>
        <p:grpSp>
          <p:nvGrpSpPr>
            <p:cNvPr id="24" name="Group 15"/>
            <p:cNvGrpSpPr>
              <a:grpSpLocks/>
            </p:cNvGrpSpPr>
            <p:nvPr/>
          </p:nvGrpSpPr>
          <p:grpSpPr bwMode="auto">
            <a:xfrm>
              <a:off x="3742116" y="3695252"/>
              <a:ext cx="603276" cy="560936"/>
              <a:chOff x="1428" y="4147"/>
              <a:chExt cx="472" cy="492"/>
            </a:xfrm>
          </p:grpSpPr>
          <p:sp>
            <p:nvSpPr>
              <p:cNvPr id="34" name="Oval 16"/>
              <p:cNvSpPr>
                <a:spLocks noChangeArrowheads="1"/>
              </p:cNvSpPr>
              <p:nvPr/>
            </p:nvSpPr>
            <p:spPr bwMode="auto">
              <a:xfrm>
                <a:off x="1428" y="4147"/>
                <a:ext cx="472" cy="492"/>
              </a:xfrm>
              <a:prstGeom prst="ellipse">
                <a:avLst/>
              </a:prstGeom>
              <a:solidFill>
                <a:srgbClr val="FFFF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ea typeface="宋体" panose="02010600030101010101" pitchFamily="2" charset="-122"/>
                </a:endParaRPr>
              </a:p>
            </p:txBody>
          </p:sp>
          <p:sp>
            <p:nvSpPr>
              <p:cNvPr id="35" name="Rectangle 17"/>
              <p:cNvSpPr>
                <a:spLocks noChangeArrowheads="1"/>
              </p:cNvSpPr>
              <p:nvPr/>
            </p:nvSpPr>
            <p:spPr bwMode="auto">
              <a:xfrm>
                <a:off x="1570" y="4234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e</a:t>
                </a:r>
                <a:endParaRPr lang="zh-CN" altLang="zh-CN" sz="2400" dirty="0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5" name="Group 18"/>
            <p:cNvGrpSpPr>
              <a:grpSpLocks/>
            </p:cNvGrpSpPr>
            <p:nvPr/>
          </p:nvGrpSpPr>
          <p:grpSpPr bwMode="auto">
            <a:xfrm>
              <a:off x="4976787" y="3420485"/>
              <a:ext cx="603276" cy="560936"/>
              <a:chOff x="1479" y="4002"/>
              <a:chExt cx="472" cy="492"/>
            </a:xfrm>
          </p:grpSpPr>
          <p:sp>
            <p:nvSpPr>
              <p:cNvPr id="32" name="Oval 19"/>
              <p:cNvSpPr>
                <a:spLocks noChangeArrowheads="1"/>
              </p:cNvSpPr>
              <p:nvPr/>
            </p:nvSpPr>
            <p:spPr bwMode="auto">
              <a:xfrm>
                <a:off x="1479" y="4002"/>
                <a:ext cx="472" cy="492"/>
              </a:xfrm>
              <a:prstGeom prst="ellipse">
                <a:avLst/>
              </a:prstGeom>
              <a:solidFill>
                <a:srgbClr val="FFFF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ea typeface="宋体" panose="02010600030101010101" pitchFamily="2" charset="-122"/>
                </a:endParaRPr>
              </a:p>
            </p:txBody>
          </p:sp>
          <p:sp>
            <p:nvSpPr>
              <p:cNvPr id="33" name="Rectangle 20"/>
              <p:cNvSpPr>
                <a:spLocks noChangeArrowheads="1"/>
              </p:cNvSpPr>
              <p:nvPr/>
            </p:nvSpPr>
            <p:spPr bwMode="auto">
              <a:xfrm>
                <a:off x="1613" y="4073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c</a:t>
                </a:r>
                <a:endParaRPr lang="zh-CN" altLang="zh-CN" sz="2400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6" name="Group 21"/>
            <p:cNvGrpSpPr>
              <a:grpSpLocks/>
            </p:cNvGrpSpPr>
            <p:nvPr/>
          </p:nvGrpSpPr>
          <p:grpSpPr bwMode="auto">
            <a:xfrm>
              <a:off x="2979074" y="4737315"/>
              <a:ext cx="603276" cy="560936"/>
              <a:chOff x="1146" y="3999"/>
              <a:chExt cx="472" cy="492"/>
            </a:xfrm>
          </p:grpSpPr>
          <p:sp>
            <p:nvSpPr>
              <p:cNvPr id="30" name="Oval 22"/>
              <p:cNvSpPr>
                <a:spLocks noChangeArrowheads="1"/>
              </p:cNvSpPr>
              <p:nvPr/>
            </p:nvSpPr>
            <p:spPr bwMode="auto">
              <a:xfrm>
                <a:off x="1146" y="3999"/>
                <a:ext cx="472" cy="492"/>
              </a:xfrm>
              <a:prstGeom prst="ellipse">
                <a:avLst/>
              </a:prstGeom>
              <a:solidFill>
                <a:srgbClr val="FFFF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ea typeface="宋体" panose="02010600030101010101" pitchFamily="2" charset="-122"/>
                </a:endParaRPr>
              </a:p>
            </p:txBody>
          </p:sp>
          <p:sp>
            <p:nvSpPr>
              <p:cNvPr id="31" name="Rectangle 23"/>
              <p:cNvSpPr>
                <a:spLocks noChangeArrowheads="1"/>
              </p:cNvSpPr>
              <p:nvPr/>
            </p:nvSpPr>
            <p:spPr bwMode="auto">
              <a:xfrm>
                <a:off x="1277" y="4087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d</a:t>
                </a:r>
                <a:endParaRPr lang="zh-CN" altLang="zh-CN" sz="2400" dirty="0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7" name="Group 24"/>
            <p:cNvGrpSpPr>
              <a:grpSpLocks/>
            </p:cNvGrpSpPr>
            <p:nvPr/>
          </p:nvGrpSpPr>
          <p:grpSpPr bwMode="auto">
            <a:xfrm>
              <a:off x="4497489" y="4699691"/>
              <a:ext cx="603276" cy="560936"/>
              <a:chOff x="1479" y="4002"/>
              <a:chExt cx="472" cy="492"/>
            </a:xfrm>
          </p:grpSpPr>
          <p:sp>
            <p:nvSpPr>
              <p:cNvPr id="28" name="Oval 25"/>
              <p:cNvSpPr>
                <a:spLocks noChangeArrowheads="1"/>
              </p:cNvSpPr>
              <p:nvPr/>
            </p:nvSpPr>
            <p:spPr bwMode="auto">
              <a:xfrm>
                <a:off x="1479" y="4002"/>
                <a:ext cx="472" cy="492"/>
              </a:xfrm>
              <a:prstGeom prst="ellipse">
                <a:avLst/>
              </a:prstGeom>
              <a:solidFill>
                <a:srgbClr val="FFFF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ea typeface="宋体" panose="02010600030101010101" pitchFamily="2" charset="-122"/>
                </a:endParaRPr>
              </a:p>
            </p:txBody>
          </p:sp>
          <p:sp>
            <p:nvSpPr>
              <p:cNvPr id="29" name="Rectangle 26"/>
              <p:cNvSpPr>
                <a:spLocks noChangeArrowheads="1"/>
              </p:cNvSpPr>
              <p:nvPr/>
            </p:nvSpPr>
            <p:spPr bwMode="auto">
              <a:xfrm>
                <a:off x="1594" y="4098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f</a:t>
                </a:r>
                <a:endParaRPr lang="zh-CN" altLang="zh-CN" sz="2400"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12" name="组合 11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8" name="TitleBackground"/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华文细黑" pitchFamily="2" charset="-122"/>
              </a:endParaRPr>
            </a:p>
          </p:txBody>
        </p:sp>
        <p:sp>
          <p:nvSpPr>
            <p:cNvPr id="9" name="ColorBlock"/>
            <p:cNvSpPr/>
            <p:nvPr>
              <p:custDataLst>
                <p:tags r:id="rId8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华文细黑" pitchFamily="2" charset="-122"/>
              </a:endParaRPr>
            </a:p>
          </p:txBody>
        </p:sp>
        <p:sp>
          <p:nvSpPr>
            <p:cNvPr id="10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1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1368136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BFS</a:t>
            </a:r>
            <a:r>
              <a:rPr lang="zh-CN" altLang="en-US"/>
              <a:t>算法实现</a:t>
            </a:r>
          </a:p>
        </p:txBody>
      </p:sp>
      <p:sp>
        <p:nvSpPr>
          <p:cNvPr id="5427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算法步骤</a:t>
            </a:r>
            <a:endParaRPr lang="en-US" altLang="zh-CN" dirty="0"/>
          </a:p>
          <a:p>
            <a:pPr lvl="1">
              <a:defRPr/>
            </a:pPr>
            <a:r>
              <a:rPr lang="zh-CN" altLang="en-US" dirty="0">
                <a:latin typeface="+mn-ea"/>
              </a:rPr>
              <a:t>从图中某个顶点</a:t>
            </a:r>
            <a:r>
              <a:rPr lang="en-US" altLang="zh-CN" i="1" dirty="0">
                <a:latin typeface="+mn-ea"/>
              </a:rPr>
              <a:t>v</a:t>
            </a:r>
            <a:r>
              <a:rPr lang="zh-CN" altLang="en-US" dirty="0">
                <a:latin typeface="+mn-ea"/>
              </a:rPr>
              <a:t>出发，访问</a:t>
            </a:r>
            <a:r>
              <a:rPr lang="en-US" altLang="zh-CN" i="1" dirty="0">
                <a:latin typeface="+mn-ea"/>
              </a:rPr>
              <a:t>v</a:t>
            </a:r>
            <a:r>
              <a:rPr lang="zh-CN" altLang="en-US" dirty="0">
                <a:latin typeface="+mn-ea"/>
              </a:rPr>
              <a:t>，并置</a:t>
            </a:r>
            <a:r>
              <a:rPr lang="en-US" altLang="zh-CN" dirty="0">
                <a:latin typeface="+mn-ea"/>
              </a:rPr>
              <a:t>visited[</a:t>
            </a:r>
            <a:r>
              <a:rPr lang="en-US" altLang="zh-CN" i="1" dirty="0">
                <a:latin typeface="+mn-ea"/>
              </a:rPr>
              <a:t>v</a:t>
            </a:r>
            <a:r>
              <a:rPr lang="en-US" altLang="zh-CN" dirty="0">
                <a:latin typeface="+mn-ea"/>
              </a:rPr>
              <a:t>]</a:t>
            </a:r>
            <a:r>
              <a:rPr lang="zh-CN" altLang="en-US" dirty="0">
                <a:latin typeface="+mn-ea"/>
              </a:rPr>
              <a:t>的值为</a:t>
            </a:r>
            <a:r>
              <a:rPr lang="en-US" altLang="zh-CN" dirty="0">
                <a:latin typeface="+mn-ea"/>
              </a:rPr>
              <a:t>1</a:t>
            </a:r>
            <a:r>
              <a:rPr lang="zh-CN" altLang="en-US" dirty="0">
                <a:latin typeface="+mn-ea"/>
              </a:rPr>
              <a:t>，然后将</a:t>
            </a:r>
            <a:r>
              <a:rPr lang="en-US" altLang="zh-CN" i="1" dirty="0">
                <a:latin typeface="+mn-ea"/>
              </a:rPr>
              <a:t>v</a:t>
            </a:r>
            <a:r>
              <a:rPr lang="zh-CN" altLang="en-US" dirty="0">
                <a:latin typeface="+mn-ea"/>
              </a:rPr>
              <a:t>入队</a:t>
            </a:r>
            <a:endParaRPr lang="en-US" altLang="zh-CN" dirty="0">
              <a:latin typeface="+mn-ea"/>
            </a:endParaRPr>
          </a:p>
          <a:p>
            <a:pPr lvl="1">
              <a:defRPr/>
            </a:pPr>
            <a:r>
              <a:rPr lang="zh-CN" altLang="en-US" dirty="0">
                <a:latin typeface="+mn-ea"/>
              </a:rPr>
              <a:t>只要队列不空，则重复下述处理</a:t>
            </a:r>
            <a:endParaRPr lang="en-US" altLang="zh-CN" dirty="0">
              <a:latin typeface="+mn-ea"/>
            </a:endParaRPr>
          </a:p>
          <a:p>
            <a:pPr lvl="2">
              <a:defRPr/>
            </a:pPr>
            <a:r>
              <a:rPr lang="zh-CN" altLang="en-US" dirty="0">
                <a:latin typeface="+mn-ea"/>
              </a:rPr>
              <a:t>队头顶点</a:t>
            </a:r>
            <a:r>
              <a:rPr lang="en-US" altLang="zh-CN" i="1" dirty="0">
                <a:latin typeface="+mn-ea"/>
              </a:rPr>
              <a:t>u</a:t>
            </a:r>
            <a:r>
              <a:rPr lang="zh-CN" altLang="en-US" dirty="0">
                <a:latin typeface="+mn-ea"/>
              </a:rPr>
              <a:t>出队</a:t>
            </a:r>
            <a:endParaRPr lang="en-US" altLang="zh-CN" dirty="0">
              <a:latin typeface="+mn-ea"/>
            </a:endParaRPr>
          </a:p>
          <a:p>
            <a:pPr lvl="2">
              <a:defRPr/>
            </a:pPr>
            <a:r>
              <a:rPr lang="zh-CN" altLang="en-US" dirty="0">
                <a:latin typeface="+mn-ea"/>
              </a:rPr>
              <a:t>依次检查</a:t>
            </a:r>
            <a:r>
              <a:rPr lang="en-US" altLang="zh-CN" i="1" dirty="0">
                <a:latin typeface="+mn-ea"/>
              </a:rPr>
              <a:t>u</a:t>
            </a:r>
            <a:r>
              <a:rPr lang="zh-CN" altLang="en-US" dirty="0">
                <a:latin typeface="+mn-ea"/>
              </a:rPr>
              <a:t>的所有邻接点</a:t>
            </a:r>
            <a:r>
              <a:rPr lang="en-US" altLang="zh-CN" i="1" dirty="0">
                <a:latin typeface="+mn-ea"/>
              </a:rPr>
              <a:t>w</a:t>
            </a:r>
            <a:r>
              <a:rPr lang="zh-CN" altLang="en-US" dirty="0">
                <a:latin typeface="+mn-ea"/>
              </a:rPr>
              <a:t>，如果</a:t>
            </a:r>
            <a:r>
              <a:rPr lang="en-US" altLang="zh-CN" dirty="0">
                <a:latin typeface="+mn-ea"/>
              </a:rPr>
              <a:t>visited[</a:t>
            </a:r>
            <a:r>
              <a:rPr lang="en-US" altLang="zh-CN" i="1" dirty="0">
                <a:latin typeface="+mn-ea"/>
              </a:rPr>
              <a:t>w</a:t>
            </a:r>
            <a:r>
              <a:rPr lang="en-US" altLang="zh-CN" dirty="0">
                <a:latin typeface="+mn-ea"/>
              </a:rPr>
              <a:t>]</a:t>
            </a:r>
            <a:r>
              <a:rPr lang="zh-CN" altLang="en-US" dirty="0">
                <a:latin typeface="+mn-ea"/>
              </a:rPr>
              <a:t>的值为</a:t>
            </a:r>
            <a:r>
              <a:rPr lang="en-US" altLang="zh-CN" dirty="0">
                <a:latin typeface="+mn-ea"/>
              </a:rPr>
              <a:t>0</a:t>
            </a:r>
            <a:r>
              <a:rPr lang="zh-CN" altLang="en-US" dirty="0">
                <a:latin typeface="+mn-ea"/>
              </a:rPr>
              <a:t>，则访问</a:t>
            </a:r>
            <a:r>
              <a:rPr lang="en-US" altLang="zh-CN" i="1" dirty="0">
                <a:latin typeface="+mn-ea"/>
              </a:rPr>
              <a:t>w</a:t>
            </a:r>
            <a:r>
              <a:rPr lang="zh-CN" altLang="en-US" dirty="0">
                <a:latin typeface="+mn-ea"/>
              </a:rPr>
              <a:t>，并置</a:t>
            </a:r>
            <a:r>
              <a:rPr lang="en-US" altLang="zh-CN" dirty="0">
                <a:latin typeface="+mn-ea"/>
              </a:rPr>
              <a:t>visited[</a:t>
            </a:r>
            <a:r>
              <a:rPr lang="en-US" altLang="zh-CN" i="1" dirty="0">
                <a:latin typeface="+mn-ea"/>
              </a:rPr>
              <a:t>w</a:t>
            </a:r>
            <a:r>
              <a:rPr lang="en-US" altLang="zh-CN" dirty="0">
                <a:latin typeface="+mn-ea"/>
              </a:rPr>
              <a:t>]</a:t>
            </a:r>
            <a:r>
              <a:rPr lang="zh-CN" altLang="en-US" dirty="0">
                <a:latin typeface="+mn-ea"/>
              </a:rPr>
              <a:t>的值为</a:t>
            </a:r>
            <a:r>
              <a:rPr lang="en-US" altLang="zh-CN" dirty="0">
                <a:latin typeface="+mn-ea"/>
              </a:rPr>
              <a:t>1</a:t>
            </a:r>
            <a:r>
              <a:rPr lang="zh-CN" altLang="en-US" dirty="0">
                <a:latin typeface="+mn-ea"/>
              </a:rPr>
              <a:t>，然后将</a:t>
            </a:r>
            <a:r>
              <a:rPr lang="en-US" altLang="zh-CN" i="1" dirty="0">
                <a:latin typeface="+mn-ea"/>
              </a:rPr>
              <a:t>w</a:t>
            </a:r>
            <a:r>
              <a:rPr lang="zh-CN" altLang="en-US" dirty="0">
                <a:latin typeface="+mn-ea"/>
              </a:rPr>
              <a:t>入队</a:t>
            </a:r>
            <a:endParaRPr lang="en-US" altLang="zh-CN" dirty="0">
              <a:latin typeface="+mn-ea"/>
            </a:endParaRPr>
          </a:p>
        </p:txBody>
      </p:sp>
      <p:sp>
        <p:nvSpPr>
          <p:cNvPr id="67588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7729458-19CC-4CE0-8D1D-14CFBE83DD61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56</a:t>
            </a:fld>
            <a:endParaRPr lang="zh-CN" altLang="en-US" sz="10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BFS</a:t>
            </a:r>
            <a:r>
              <a:rPr lang="zh-CN" altLang="en-US"/>
              <a:t>实现</a:t>
            </a:r>
          </a:p>
        </p:txBody>
      </p:sp>
      <p:sp>
        <p:nvSpPr>
          <p:cNvPr id="69635" name="内容占位符 2"/>
          <p:cNvSpPr>
            <a:spLocks noGrp="1"/>
          </p:cNvSpPr>
          <p:nvPr>
            <p:ph idx="1"/>
          </p:nvPr>
        </p:nvSpPr>
        <p:spPr>
          <a:xfrm>
            <a:off x="468313" y="1125538"/>
            <a:ext cx="8207375" cy="647700"/>
          </a:xfrm>
        </p:spPr>
        <p:txBody>
          <a:bodyPr/>
          <a:lstStyle/>
          <a:p>
            <a:r>
              <a:rPr lang="zh-CN" altLang="en-US" dirty="0"/>
              <a:t>邻接表表示法</a:t>
            </a:r>
          </a:p>
        </p:txBody>
      </p:sp>
      <p:sp>
        <p:nvSpPr>
          <p:cNvPr id="6963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AF0BFB2-6821-440C-B95F-5E4CC3DB7DAF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57</a:t>
            </a:fld>
            <a:endParaRPr lang="zh-CN" altLang="en-US" sz="1000"/>
          </a:p>
        </p:txBody>
      </p:sp>
      <p:sp>
        <p:nvSpPr>
          <p:cNvPr id="69637" name="Rectangle 4"/>
          <p:cNvSpPr>
            <a:spLocks noChangeArrowheads="1"/>
          </p:cNvSpPr>
          <p:nvPr/>
        </p:nvSpPr>
        <p:spPr bwMode="auto">
          <a:xfrm>
            <a:off x="251521" y="1700213"/>
            <a:ext cx="8712968" cy="47529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void BFS (Graph G, </a:t>
            </a:r>
            <a:r>
              <a:rPr lang="en-US" altLang="zh-CN" sz="2400" dirty="0" err="1">
                <a:latin typeface="Cambria Math" panose="02040503050406030204" pitchFamily="18" charset="0"/>
                <a:ea typeface="宋体" panose="02010600030101010101" pitchFamily="2" charset="-122"/>
              </a:rPr>
              <a:t>int</a:t>
            </a: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 v){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    </a:t>
            </a:r>
            <a:r>
              <a:rPr lang="en-US" altLang="zh-CN" sz="2400" dirty="0" err="1">
                <a:latin typeface="Cambria Math" panose="02040503050406030204" pitchFamily="18" charset="0"/>
                <a:ea typeface="宋体" panose="02010600030101010101" pitchFamily="2" charset="-122"/>
              </a:rPr>
              <a:t>printf</a:t>
            </a: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(“%c”, </a:t>
            </a:r>
            <a:r>
              <a:rPr lang="en-US" altLang="zh-CN" sz="2400" dirty="0" err="1">
                <a:latin typeface="Cambria Math" panose="02040503050406030204" pitchFamily="18" charset="0"/>
                <a:ea typeface="宋体" panose="02010600030101010101" pitchFamily="2" charset="-122"/>
              </a:rPr>
              <a:t>G.vertices</a:t>
            </a: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[v].data); //</a:t>
            </a:r>
            <a:r>
              <a:rPr lang="zh-CN" altLang="en-US" sz="2400" dirty="0">
                <a:latin typeface="Cambria Math" panose="02040503050406030204" pitchFamily="18" charset="0"/>
                <a:ea typeface="宋体" panose="02010600030101010101" pitchFamily="2" charset="-122"/>
              </a:rPr>
              <a:t>访问第</a:t>
            </a: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v</a:t>
            </a:r>
            <a:r>
              <a:rPr lang="zh-CN" altLang="en-US" sz="2400" dirty="0">
                <a:latin typeface="Cambria Math" panose="02040503050406030204" pitchFamily="18" charset="0"/>
                <a:ea typeface="宋体" panose="02010600030101010101" pitchFamily="2" charset="-122"/>
              </a:rPr>
              <a:t>个顶点 </a:t>
            </a:r>
            <a:endParaRPr lang="en-US" altLang="zh-CN" sz="2400" dirty="0">
              <a:latin typeface="Cambria Math" panose="02040503050406030204" pitchFamily="18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    visited[v] = 1;    </a:t>
            </a:r>
            <a:r>
              <a:rPr lang="en-US" altLang="zh-CN" sz="2400" dirty="0" err="1">
                <a:latin typeface="Cambria Math" panose="02040503050406030204" pitchFamily="18" charset="0"/>
                <a:ea typeface="宋体" panose="02010600030101010101" pitchFamily="2" charset="-122"/>
              </a:rPr>
              <a:t>EnQueue</a:t>
            </a: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(Q, v);            	//v</a:t>
            </a:r>
            <a:r>
              <a:rPr lang="zh-CN" altLang="en-US" sz="2400" dirty="0">
                <a:latin typeface="Cambria Math" panose="02040503050406030204" pitchFamily="18" charset="0"/>
                <a:ea typeface="宋体" panose="02010600030101010101" pitchFamily="2" charset="-122"/>
              </a:rPr>
              <a:t>进队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Cambria Math" panose="02040503050406030204" pitchFamily="18" charset="0"/>
                <a:ea typeface="宋体" panose="02010600030101010101" pitchFamily="2" charset="-122"/>
              </a:rPr>
              <a:t>    </a:t>
            </a: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while(!</a:t>
            </a:r>
            <a:r>
              <a:rPr lang="en-US" altLang="zh-CN" sz="2400" dirty="0" err="1">
                <a:latin typeface="Cambria Math" panose="02040503050406030204" pitchFamily="18" charset="0"/>
                <a:ea typeface="宋体" panose="02010600030101010101" pitchFamily="2" charset="-122"/>
              </a:rPr>
              <a:t>QueueEmpty</a:t>
            </a: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(Q)){   		//</a:t>
            </a:r>
            <a:r>
              <a:rPr lang="zh-CN" altLang="en-US" sz="2400" dirty="0">
                <a:latin typeface="Cambria Math" panose="02040503050406030204" pitchFamily="18" charset="0"/>
                <a:ea typeface="宋体" panose="02010600030101010101" pitchFamily="2" charset="-122"/>
              </a:rPr>
              <a:t>队列非空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Cambria Math" panose="02040503050406030204" pitchFamily="18" charset="0"/>
                <a:ea typeface="宋体" panose="02010600030101010101" pitchFamily="2" charset="-122"/>
              </a:rPr>
              <a:t>       </a:t>
            </a:r>
            <a:r>
              <a:rPr lang="en-US" altLang="zh-CN" sz="2400" dirty="0" err="1">
                <a:latin typeface="Cambria Math" panose="02040503050406030204" pitchFamily="18" charset="0"/>
                <a:ea typeface="宋体" panose="02010600030101010101" pitchFamily="2" charset="-122"/>
              </a:rPr>
              <a:t>DeQueue</a:t>
            </a: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(Q, u);        	//</a:t>
            </a:r>
            <a:r>
              <a:rPr lang="zh-CN" altLang="en-US" sz="2400" dirty="0">
                <a:latin typeface="Cambria Math" panose="02040503050406030204" pitchFamily="18" charset="0"/>
                <a:ea typeface="宋体" panose="02010600030101010101" pitchFamily="2" charset="-122"/>
              </a:rPr>
              <a:t>队头元素出队并置为</a:t>
            </a: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u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       for(w = </a:t>
            </a:r>
            <a:r>
              <a:rPr lang="en-US" altLang="zh-CN" sz="2400" dirty="0" err="1">
                <a:latin typeface="Cambria Math" panose="02040503050406030204" pitchFamily="18" charset="0"/>
                <a:ea typeface="宋体" panose="02010600030101010101" pitchFamily="2" charset="-122"/>
              </a:rPr>
              <a:t>FirstAdjVex</a:t>
            </a: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(G, u); w&gt;=0; w = </a:t>
            </a:r>
            <a:r>
              <a:rPr lang="en-US" altLang="zh-CN" sz="2400" dirty="0" err="1">
                <a:latin typeface="Cambria Math" panose="02040503050406030204" pitchFamily="18" charset="0"/>
                <a:ea typeface="宋体" panose="02010600030101010101" pitchFamily="2" charset="-122"/>
              </a:rPr>
              <a:t>NextAdjVex</a:t>
            </a: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(G, u, w))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             if(!visited[w]){          //w</a:t>
            </a:r>
            <a:r>
              <a:rPr lang="zh-CN" altLang="en-US" sz="2400" dirty="0">
                <a:latin typeface="Cambria Math" panose="02040503050406030204" pitchFamily="18" charset="0"/>
                <a:ea typeface="宋体" panose="02010600030101010101" pitchFamily="2" charset="-122"/>
              </a:rPr>
              <a:t>为</a:t>
            </a: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u</a:t>
            </a:r>
            <a:r>
              <a:rPr lang="zh-CN" altLang="en-US" sz="2400" dirty="0">
                <a:latin typeface="Cambria Math" panose="02040503050406030204" pitchFamily="18" charset="0"/>
                <a:ea typeface="宋体" panose="02010600030101010101" pitchFamily="2" charset="-122"/>
              </a:rPr>
              <a:t>的尚未访问的邻接顶点 </a:t>
            </a:r>
          </a:p>
          <a:p>
            <a:pPr>
              <a:spcBef>
                <a:spcPct val="0"/>
              </a:spcBef>
              <a:buClrTx/>
              <a:buNone/>
            </a:pPr>
            <a:r>
              <a:rPr lang="zh-CN" altLang="en-US" sz="2400" dirty="0">
                <a:latin typeface="Cambria Math" panose="02040503050406030204" pitchFamily="18" charset="0"/>
                <a:ea typeface="宋体" panose="02010600030101010101" pitchFamily="2" charset="-122"/>
              </a:rPr>
              <a:t>                 </a:t>
            </a:r>
            <a:r>
              <a:rPr lang="en-US" altLang="zh-CN" sz="2400" dirty="0" err="1">
                <a:latin typeface="Cambria Math" panose="02040503050406030204" pitchFamily="18" charset="0"/>
                <a:ea typeface="宋体" panose="02010600030101010101" pitchFamily="2" charset="-122"/>
              </a:rPr>
              <a:t>printf</a:t>
            </a: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(“%c”, </a:t>
            </a:r>
            <a:r>
              <a:rPr lang="en-US" altLang="zh-CN" sz="2400" dirty="0" err="1">
                <a:latin typeface="Cambria Math" panose="02040503050406030204" pitchFamily="18" charset="0"/>
                <a:ea typeface="宋体" panose="02010600030101010101" pitchFamily="2" charset="-122"/>
              </a:rPr>
              <a:t>G.vertices</a:t>
            </a: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[w].data); //</a:t>
            </a:r>
            <a:r>
              <a:rPr lang="zh-CN" altLang="en-US" sz="2400" dirty="0">
                <a:latin typeface="Cambria Math" panose="02040503050406030204" pitchFamily="18" charset="0"/>
                <a:ea typeface="宋体" panose="02010600030101010101" pitchFamily="2" charset="-122"/>
              </a:rPr>
              <a:t>访问第</a:t>
            </a: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w</a:t>
            </a:r>
            <a:r>
              <a:rPr lang="zh-CN" altLang="en-US" sz="2400" dirty="0">
                <a:latin typeface="Cambria Math" panose="02040503050406030204" pitchFamily="18" charset="0"/>
                <a:ea typeface="宋体" panose="02010600030101010101" pitchFamily="2" charset="-122"/>
              </a:rPr>
              <a:t>个顶点</a:t>
            </a:r>
            <a:endParaRPr lang="en-US" altLang="zh-CN" sz="2400" dirty="0">
              <a:latin typeface="Cambria Math" panose="02040503050406030204" pitchFamily="18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                 visited[w] = 1;      </a:t>
            </a:r>
            <a:r>
              <a:rPr lang="en-US" altLang="zh-CN" sz="2400" dirty="0" err="1">
                <a:latin typeface="Cambria Math" panose="02040503050406030204" pitchFamily="18" charset="0"/>
                <a:ea typeface="宋体" panose="02010600030101010101" pitchFamily="2" charset="-122"/>
              </a:rPr>
              <a:t>EnQueue</a:t>
            </a: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(Q, w); //w</a:t>
            </a:r>
            <a:r>
              <a:rPr lang="zh-CN" altLang="en-US" sz="2400" dirty="0">
                <a:latin typeface="Cambria Math" panose="02040503050406030204" pitchFamily="18" charset="0"/>
                <a:ea typeface="宋体" panose="02010600030101010101" pitchFamily="2" charset="-122"/>
              </a:rPr>
              <a:t>进队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Cambria Math" panose="02040503050406030204" pitchFamily="18" charset="0"/>
                <a:ea typeface="宋体" panose="02010600030101010101" pitchFamily="2" charset="-122"/>
              </a:rPr>
              <a:t>             </a:t>
            </a: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}//if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    }//while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Cambria Math" panose="02040503050406030204" pitchFamily="18" charset="0"/>
                <a:ea typeface="宋体" panose="02010600030101010101" pitchFamily="2" charset="-122"/>
              </a:rPr>
              <a:t>}//BFS 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生成树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FC9BE59-6BE6-4719-943D-2F0BF22505B9}" type="slidenum">
              <a:rPr lang="zh-CN" altLang="en-US" smtClean="0"/>
              <a:pPr>
                <a:defRPr/>
              </a:pPr>
              <a:t>58</a:t>
            </a:fld>
            <a:endParaRPr lang="zh-CN" altLang="en-US"/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468313" y="1125539"/>
            <a:ext cx="8207375" cy="2519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b="1" kern="0" dirty="0">
                <a:solidFill>
                  <a:srgbClr val="FF0000"/>
                </a:solidFill>
              </a:rPr>
              <a:t>连通图的生成树</a:t>
            </a:r>
            <a:r>
              <a:rPr lang="zh-CN" altLang="en-US" kern="0" dirty="0"/>
              <a:t>：一个极小连通子图，它含有图中全部的顶点，但只有足以构成一棵树的</a:t>
            </a:r>
            <a:r>
              <a:rPr lang="en-US" altLang="zh-CN" kern="0" dirty="0"/>
              <a:t>n-1</a:t>
            </a:r>
            <a:r>
              <a:rPr lang="zh-CN" altLang="en-US" kern="0" dirty="0"/>
              <a:t>条边</a:t>
            </a:r>
            <a:endParaRPr lang="en-US" altLang="zh-CN" kern="0" dirty="0"/>
          </a:p>
          <a:p>
            <a:r>
              <a:rPr lang="zh-CN" altLang="en-US" kern="0" dirty="0"/>
              <a:t>图的生成树可能不唯一</a:t>
            </a:r>
            <a:endParaRPr lang="en-US" altLang="zh-CN" kern="0" dirty="0"/>
          </a:p>
        </p:txBody>
      </p:sp>
      <p:grpSp>
        <p:nvGrpSpPr>
          <p:cNvPr id="6" name="Group 217"/>
          <p:cNvGrpSpPr>
            <a:grpSpLocks/>
          </p:cNvGrpSpPr>
          <p:nvPr/>
        </p:nvGrpSpPr>
        <p:grpSpPr bwMode="auto">
          <a:xfrm>
            <a:off x="1547664" y="3611263"/>
            <a:ext cx="2664296" cy="2529997"/>
            <a:chOff x="40" y="413"/>
            <a:chExt cx="1352" cy="816"/>
          </a:xfrm>
        </p:grpSpPr>
        <p:sp>
          <p:nvSpPr>
            <p:cNvPr id="7" name="Oval 218"/>
            <p:cNvSpPr>
              <a:spLocks noChangeArrowheads="1"/>
            </p:cNvSpPr>
            <p:nvPr/>
          </p:nvSpPr>
          <p:spPr bwMode="auto">
            <a:xfrm>
              <a:off x="40" y="441"/>
              <a:ext cx="312" cy="197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rgbClr val="BADE78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chemeClr val="bg1"/>
                  </a:solidFill>
                  <a:ea typeface="黑体" panose="02010609060101010101" pitchFamily="49" charset="-122"/>
                </a:rPr>
                <a:t>v0</a:t>
              </a:r>
            </a:p>
          </p:txBody>
        </p:sp>
        <p:sp>
          <p:nvSpPr>
            <p:cNvPr id="8" name="Oval 219"/>
            <p:cNvSpPr>
              <a:spLocks noChangeArrowheads="1"/>
            </p:cNvSpPr>
            <p:nvPr/>
          </p:nvSpPr>
          <p:spPr bwMode="auto">
            <a:xfrm>
              <a:off x="976" y="413"/>
              <a:ext cx="312" cy="197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rgbClr val="BADE78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chemeClr val="bg1"/>
                  </a:solidFill>
                  <a:ea typeface="黑体" panose="02010609060101010101" pitchFamily="49" charset="-122"/>
                </a:rPr>
                <a:t>v1</a:t>
              </a:r>
            </a:p>
          </p:txBody>
        </p:sp>
        <p:sp>
          <p:nvSpPr>
            <p:cNvPr id="9" name="Oval 220"/>
            <p:cNvSpPr>
              <a:spLocks noChangeArrowheads="1"/>
            </p:cNvSpPr>
            <p:nvPr/>
          </p:nvSpPr>
          <p:spPr bwMode="auto">
            <a:xfrm>
              <a:off x="508" y="723"/>
              <a:ext cx="312" cy="196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rgbClr val="BADE78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chemeClr val="bg1"/>
                  </a:solidFill>
                  <a:ea typeface="黑体" panose="02010609060101010101" pitchFamily="49" charset="-122"/>
                </a:rPr>
                <a:t>v2</a:t>
              </a:r>
            </a:p>
          </p:txBody>
        </p:sp>
        <p:sp>
          <p:nvSpPr>
            <p:cNvPr id="10" name="Oval 221"/>
            <p:cNvSpPr>
              <a:spLocks noChangeArrowheads="1"/>
            </p:cNvSpPr>
            <p:nvPr/>
          </p:nvSpPr>
          <p:spPr bwMode="auto">
            <a:xfrm>
              <a:off x="1080" y="1032"/>
              <a:ext cx="312" cy="197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rgbClr val="BADE78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chemeClr val="bg1"/>
                  </a:solidFill>
                  <a:ea typeface="黑体" panose="02010609060101010101" pitchFamily="49" charset="-122"/>
                </a:rPr>
                <a:t>v4</a:t>
              </a:r>
            </a:p>
          </p:txBody>
        </p:sp>
        <p:sp>
          <p:nvSpPr>
            <p:cNvPr id="11" name="Line 222"/>
            <p:cNvSpPr>
              <a:spLocks noChangeShapeType="1"/>
            </p:cNvSpPr>
            <p:nvPr/>
          </p:nvSpPr>
          <p:spPr bwMode="auto">
            <a:xfrm>
              <a:off x="352" y="526"/>
              <a:ext cx="624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223"/>
            <p:cNvSpPr>
              <a:spLocks noChangeShapeType="1"/>
            </p:cNvSpPr>
            <p:nvPr/>
          </p:nvSpPr>
          <p:spPr bwMode="auto">
            <a:xfrm flipH="1">
              <a:off x="196" y="638"/>
              <a:ext cx="0" cy="366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224"/>
            <p:cNvSpPr>
              <a:spLocks noChangeShapeType="1"/>
            </p:cNvSpPr>
            <p:nvPr/>
          </p:nvSpPr>
          <p:spPr bwMode="auto">
            <a:xfrm>
              <a:off x="352" y="1145"/>
              <a:ext cx="728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225"/>
            <p:cNvSpPr>
              <a:spLocks noChangeShapeType="1"/>
            </p:cNvSpPr>
            <p:nvPr/>
          </p:nvSpPr>
          <p:spPr bwMode="auto">
            <a:xfrm>
              <a:off x="754" y="892"/>
              <a:ext cx="364" cy="169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Oval 226"/>
            <p:cNvSpPr>
              <a:spLocks noChangeArrowheads="1"/>
            </p:cNvSpPr>
            <p:nvPr/>
          </p:nvSpPr>
          <p:spPr bwMode="auto">
            <a:xfrm>
              <a:off x="40" y="1004"/>
              <a:ext cx="312" cy="197"/>
            </a:xfrm>
            <a:prstGeom prst="ellipse">
              <a:avLst/>
            </a:prstGeom>
            <a:solidFill>
              <a:srgbClr val="111147"/>
            </a:solidFill>
            <a:ln w="38100">
              <a:solidFill>
                <a:srgbClr val="BADE78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rgbClr val="CDE5F3"/>
                  </a:solidFill>
                  <a:ea typeface="黑体" panose="02010609060101010101" pitchFamily="49" charset="-122"/>
                </a:rPr>
                <a:t>v4</a:t>
              </a:r>
            </a:p>
          </p:txBody>
        </p:sp>
        <p:sp>
          <p:nvSpPr>
            <p:cNvPr id="16" name="Line 227"/>
            <p:cNvSpPr>
              <a:spLocks noChangeShapeType="1"/>
            </p:cNvSpPr>
            <p:nvPr/>
          </p:nvSpPr>
          <p:spPr bwMode="auto">
            <a:xfrm flipH="1">
              <a:off x="300" y="891"/>
              <a:ext cx="260" cy="141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228"/>
            <p:cNvSpPr>
              <a:spLocks noChangeShapeType="1"/>
            </p:cNvSpPr>
            <p:nvPr/>
          </p:nvSpPr>
          <p:spPr bwMode="auto">
            <a:xfrm flipH="1">
              <a:off x="768" y="582"/>
              <a:ext cx="260" cy="169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229"/>
            <p:cNvSpPr>
              <a:spLocks noChangeShapeType="1"/>
            </p:cNvSpPr>
            <p:nvPr/>
          </p:nvSpPr>
          <p:spPr bwMode="auto">
            <a:xfrm>
              <a:off x="1184" y="610"/>
              <a:ext cx="0" cy="422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Oval 230"/>
            <p:cNvSpPr>
              <a:spLocks noChangeArrowheads="1"/>
            </p:cNvSpPr>
            <p:nvPr/>
          </p:nvSpPr>
          <p:spPr bwMode="auto">
            <a:xfrm>
              <a:off x="40" y="1004"/>
              <a:ext cx="312" cy="197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rgbClr val="BADE78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chemeClr val="bg1"/>
                  </a:solidFill>
                  <a:ea typeface="黑体" panose="02010609060101010101" pitchFamily="49" charset="-122"/>
                </a:rPr>
                <a:t>v3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6404794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最小生成树</a:t>
            </a:r>
          </a:p>
        </p:txBody>
      </p:sp>
      <p:sp>
        <p:nvSpPr>
          <p:cNvPr id="7373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对于连通网络</a:t>
            </a:r>
            <a:r>
              <a:rPr lang="en-US" altLang="zh-CN" dirty="0"/>
              <a:t>G(V, E)</a:t>
            </a:r>
            <a:r>
              <a:rPr lang="zh-CN" altLang="en-US" dirty="0"/>
              <a:t>，边是带权的，因而</a:t>
            </a:r>
            <a:r>
              <a:rPr lang="en-US" altLang="zh-CN" dirty="0"/>
              <a:t>G</a:t>
            </a:r>
            <a:r>
              <a:rPr lang="zh-CN" altLang="en-US" dirty="0"/>
              <a:t>的生成树的各边也是带权的</a:t>
            </a:r>
            <a:endParaRPr lang="en-US" altLang="zh-CN" dirty="0"/>
          </a:p>
          <a:p>
            <a:r>
              <a:rPr lang="zh-CN" altLang="en-US" dirty="0"/>
              <a:t>生成树各边的权值总和称为</a:t>
            </a:r>
            <a:r>
              <a:rPr lang="zh-CN" altLang="en-US" dirty="0">
                <a:solidFill>
                  <a:srgbClr val="4C34FE"/>
                </a:solidFill>
              </a:rPr>
              <a:t>生成树的权</a:t>
            </a:r>
            <a:endParaRPr lang="en-US" altLang="zh-CN" dirty="0">
              <a:solidFill>
                <a:srgbClr val="4C34FE"/>
              </a:solidFill>
            </a:endParaRPr>
          </a:p>
          <a:p>
            <a:r>
              <a:rPr lang="zh-CN" altLang="en-US" dirty="0"/>
              <a:t>权最小的生成树称为</a:t>
            </a:r>
            <a:r>
              <a:rPr lang="en-US" altLang="zh-CN" dirty="0"/>
              <a:t>G</a:t>
            </a:r>
            <a:r>
              <a:rPr lang="zh-CN" altLang="en-US" dirty="0"/>
              <a:t>的</a:t>
            </a:r>
            <a:r>
              <a:rPr lang="zh-CN" altLang="en-US" b="1" dirty="0">
                <a:solidFill>
                  <a:srgbClr val="FF0000"/>
                </a:solidFill>
              </a:rPr>
              <a:t>最小生成树</a:t>
            </a:r>
            <a:r>
              <a:rPr lang="en-US" altLang="zh-CN" dirty="0"/>
              <a:t>(Minimum Cost Spanning Tree)</a:t>
            </a:r>
          </a:p>
          <a:p>
            <a:pPr lvl="1"/>
            <a:r>
              <a:rPr lang="zh-CN" altLang="en-US" dirty="0"/>
              <a:t>最小生成树可能不唯一</a:t>
            </a:r>
            <a:endParaRPr lang="en-US" altLang="zh-CN" dirty="0"/>
          </a:p>
          <a:p>
            <a:r>
              <a:rPr lang="zh-CN" altLang="en-US" dirty="0"/>
              <a:t>生成树和最小生成树有许多重要</a:t>
            </a:r>
            <a:r>
              <a:rPr lang="zh-CN" altLang="en-US" dirty="0">
                <a:solidFill>
                  <a:srgbClr val="4C34FE"/>
                </a:solidFill>
              </a:rPr>
              <a:t>应用</a:t>
            </a:r>
            <a:endParaRPr lang="en-US" altLang="zh-CN" dirty="0">
              <a:solidFill>
                <a:srgbClr val="4C34FE"/>
              </a:solidFill>
            </a:endParaRPr>
          </a:p>
          <a:p>
            <a:pPr lvl="1"/>
            <a:r>
              <a:rPr lang="zh-CN" altLang="en-US" dirty="0"/>
              <a:t>道路交通</a:t>
            </a:r>
            <a:endParaRPr lang="en-US" altLang="zh-CN" dirty="0"/>
          </a:p>
          <a:p>
            <a:pPr lvl="1"/>
            <a:r>
              <a:rPr lang="zh-CN" altLang="en-US" dirty="0"/>
              <a:t>通讯网络</a:t>
            </a:r>
            <a:endParaRPr lang="en-US" altLang="zh-CN" dirty="0"/>
          </a:p>
        </p:txBody>
      </p:sp>
      <p:sp>
        <p:nvSpPr>
          <p:cNvPr id="73732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30B6C10-81C9-4655-9437-E1EB9ADF79CA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59</a:t>
            </a:fld>
            <a:endParaRPr lang="zh-CN" altLang="en-US" sz="1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最小生成树</a:t>
            </a:r>
          </a:p>
        </p:txBody>
      </p:sp>
      <p:sp>
        <p:nvSpPr>
          <p:cNvPr id="74755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E9B236F-598F-4239-BC7E-498A0B062FE5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60</a:t>
            </a:fld>
            <a:endParaRPr lang="zh-CN" altLang="en-US" sz="1000"/>
          </a:p>
        </p:txBody>
      </p:sp>
      <p:grpSp>
        <p:nvGrpSpPr>
          <p:cNvPr id="74756" name="Group 68"/>
          <p:cNvGrpSpPr>
            <a:grpSpLocks/>
          </p:cNvGrpSpPr>
          <p:nvPr/>
        </p:nvGrpSpPr>
        <p:grpSpPr bwMode="auto">
          <a:xfrm>
            <a:off x="755650" y="1700213"/>
            <a:ext cx="3367088" cy="3143250"/>
            <a:chOff x="144" y="144"/>
            <a:chExt cx="2121" cy="1980"/>
          </a:xfrm>
        </p:grpSpPr>
        <p:sp>
          <p:nvSpPr>
            <p:cNvPr id="74774" name="Oval 69"/>
            <p:cNvSpPr>
              <a:spLocks noChangeArrowheads="1"/>
            </p:cNvSpPr>
            <p:nvPr/>
          </p:nvSpPr>
          <p:spPr bwMode="auto">
            <a:xfrm>
              <a:off x="1043" y="144"/>
              <a:ext cx="340" cy="340"/>
            </a:xfrm>
            <a:prstGeom prst="ellipse">
              <a:avLst/>
            </a:prstGeom>
            <a:solidFill>
              <a:srgbClr val="FFCC00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>
              <a:outerShdw dist="40161" dir="1106097" algn="ctr" rotWithShape="0">
                <a:schemeClr val="tx1"/>
              </a:outerShdw>
            </a:effec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6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6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1</a:t>
              </a:r>
            </a:p>
          </p:txBody>
        </p:sp>
        <p:sp>
          <p:nvSpPr>
            <p:cNvPr id="74775" name="Oval 70"/>
            <p:cNvSpPr>
              <a:spLocks noChangeArrowheads="1"/>
            </p:cNvSpPr>
            <p:nvPr/>
          </p:nvSpPr>
          <p:spPr bwMode="auto">
            <a:xfrm>
              <a:off x="144" y="903"/>
              <a:ext cx="340" cy="340"/>
            </a:xfrm>
            <a:prstGeom prst="ellipse">
              <a:avLst/>
            </a:prstGeom>
            <a:solidFill>
              <a:srgbClr val="FFCC00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>
              <a:outerShdw dist="40161" dir="1106097" algn="ctr" rotWithShape="0">
                <a:schemeClr val="tx1"/>
              </a:outerShdw>
            </a:effec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6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6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2</a:t>
              </a:r>
            </a:p>
          </p:txBody>
        </p:sp>
        <p:sp>
          <p:nvSpPr>
            <p:cNvPr id="74776" name="Oval 71"/>
            <p:cNvSpPr>
              <a:spLocks noChangeArrowheads="1"/>
            </p:cNvSpPr>
            <p:nvPr/>
          </p:nvSpPr>
          <p:spPr bwMode="auto">
            <a:xfrm>
              <a:off x="1049" y="1064"/>
              <a:ext cx="340" cy="340"/>
            </a:xfrm>
            <a:prstGeom prst="ellipse">
              <a:avLst/>
            </a:prstGeom>
            <a:solidFill>
              <a:srgbClr val="FFCC00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>
              <a:outerShdw dist="40161" dir="1106097" algn="ctr" rotWithShape="0">
                <a:schemeClr val="tx1"/>
              </a:outerShdw>
            </a:effec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6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6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3</a:t>
              </a:r>
            </a:p>
          </p:txBody>
        </p:sp>
        <p:sp>
          <p:nvSpPr>
            <p:cNvPr id="74777" name="Oval 72"/>
            <p:cNvSpPr>
              <a:spLocks noChangeArrowheads="1"/>
            </p:cNvSpPr>
            <p:nvPr/>
          </p:nvSpPr>
          <p:spPr bwMode="auto">
            <a:xfrm>
              <a:off x="1532" y="1784"/>
              <a:ext cx="340" cy="340"/>
            </a:xfrm>
            <a:prstGeom prst="ellipse">
              <a:avLst/>
            </a:prstGeom>
            <a:solidFill>
              <a:srgbClr val="FFCC00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>
              <a:outerShdw dist="40161" dir="1106097" algn="ctr" rotWithShape="0">
                <a:schemeClr val="tx1"/>
              </a:outerShdw>
            </a:effec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6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6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6</a:t>
              </a:r>
            </a:p>
          </p:txBody>
        </p:sp>
        <p:sp>
          <p:nvSpPr>
            <p:cNvPr id="74778" name="Oval 73"/>
            <p:cNvSpPr>
              <a:spLocks noChangeArrowheads="1"/>
            </p:cNvSpPr>
            <p:nvPr/>
          </p:nvSpPr>
          <p:spPr bwMode="auto">
            <a:xfrm>
              <a:off x="1925" y="894"/>
              <a:ext cx="340" cy="340"/>
            </a:xfrm>
            <a:prstGeom prst="ellipse">
              <a:avLst/>
            </a:prstGeom>
            <a:solidFill>
              <a:srgbClr val="FFCC00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>
              <a:outerShdw dist="40161" dir="1106097" algn="ctr" rotWithShape="0">
                <a:schemeClr val="tx1"/>
              </a:outerShdw>
            </a:effec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6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6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4</a:t>
              </a:r>
            </a:p>
          </p:txBody>
        </p:sp>
        <p:sp>
          <p:nvSpPr>
            <p:cNvPr id="74779" name="Oval 74"/>
            <p:cNvSpPr>
              <a:spLocks noChangeArrowheads="1"/>
            </p:cNvSpPr>
            <p:nvPr/>
          </p:nvSpPr>
          <p:spPr bwMode="auto">
            <a:xfrm>
              <a:off x="572" y="1757"/>
              <a:ext cx="340" cy="340"/>
            </a:xfrm>
            <a:prstGeom prst="ellipse">
              <a:avLst/>
            </a:prstGeom>
            <a:solidFill>
              <a:srgbClr val="FFCC00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>
              <a:outerShdw dist="40161" dir="1106097" algn="ctr" rotWithShape="0">
                <a:schemeClr val="tx1"/>
              </a:outerShdw>
            </a:effec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6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6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5</a:t>
              </a:r>
            </a:p>
          </p:txBody>
        </p:sp>
        <p:sp>
          <p:nvSpPr>
            <p:cNvPr id="74780" name="Line 75"/>
            <p:cNvSpPr>
              <a:spLocks noChangeShapeType="1"/>
            </p:cNvSpPr>
            <p:nvPr/>
          </p:nvSpPr>
          <p:spPr bwMode="auto">
            <a:xfrm flipH="1">
              <a:off x="432" y="396"/>
              <a:ext cx="624" cy="5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4781" name="Line 76"/>
            <p:cNvSpPr>
              <a:spLocks noChangeShapeType="1"/>
            </p:cNvSpPr>
            <p:nvPr/>
          </p:nvSpPr>
          <p:spPr bwMode="auto">
            <a:xfrm>
              <a:off x="384" y="1233"/>
              <a:ext cx="288" cy="5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4782" name="Line 77"/>
            <p:cNvSpPr>
              <a:spLocks noChangeShapeType="1"/>
            </p:cNvSpPr>
            <p:nvPr/>
          </p:nvSpPr>
          <p:spPr bwMode="auto">
            <a:xfrm>
              <a:off x="1344" y="396"/>
              <a:ext cx="672" cy="5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4783" name="Line 78"/>
            <p:cNvSpPr>
              <a:spLocks noChangeShapeType="1"/>
            </p:cNvSpPr>
            <p:nvPr/>
          </p:nvSpPr>
          <p:spPr bwMode="auto">
            <a:xfrm flipH="1">
              <a:off x="1794" y="1218"/>
              <a:ext cx="288" cy="60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4784" name="Line 79"/>
            <p:cNvSpPr>
              <a:spLocks noChangeShapeType="1"/>
            </p:cNvSpPr>
            <p:nvPr/>
          </p:nvSpPr>
          <p:spPr bwMode="auto">
            <a:xfrm>
              <a:off x="912" y="1980"/>
              <a:ext cx="6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4785" name="Line 80"/>
            <p:cNvSpPr>
              <a:spLocks noChangeShapeType="1"/>
            </p:cNvSpPr>
            <p:nvPr/>
          </p:nvSpPr>
          <p:spPr bwMode="auto">
            <a:xfrm>
              <a:off x="1218" y="492"/>
              <a:ext cx="0" cy="5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4786" name="Line 81"/>
            <p:cNvSpPr>
              <a:spLocks noChangeShapeType="1"/>
            </p:cNvSpPr>
            <p:nvPr/>
          </p:nvSpPr>
          <p:spPr bwMode="auto">
            <a:xfrm>
              <a:off x="480" y="1068"/>
              <a:ext cx="576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4787" name="Line 82"/>
            <p:cNvSpPr>
              <a:spLocks noChangeShapeType="1"/>
            </p:cNvSpPr>
            <p:nvPr/>
          </p:nvSpPr>
          <p:spPr bwMode="auto">
            <a:xfrm flipH="1">
              <a:off x="1392" y="1068"/>
              <a:ext cx="528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4788" name="Line 83"/>
            <p:cNvSpPr>
              <a:spLocks noChangeShapeType="1"/>
            </p:cNvSpPr>
            <p:nvPr/>
          </p:nvSpPr>
          <p:spPr bwMode="auto">
            <a:xfrm flipH="1">
              <a:off x="816" y="1356"/>
              <a:ext cx="288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4789" name="Line 84"/>
            <p:cNvSpPr>
              <a:spLocks noChangeShapeType="1"/>
            </p:cNvSpPr>
            <p:nvPr/>
          </p:nvSpPr>
          <p:spPr bwMode="auto">
            <a:xfrm>
              <a:off x="1344" y="1356"/>
              <a:ext cx="288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4790" name="Text Box 85"/>
            <p:cNvSpPr txBox="1">
              <a:spLocks noChangeArrowheads="1"/>
            </p:cNvSpPr>
            <p:nvPr/>
          </p:nvSpPr>
          <p:spPr bwMode="auto">
            <a:xfrm>
              <a:off x="1104" y="1662"/>
              <a:ext cx="237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30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6</a:t>
              </a:r>
            </a:p>
          </p:txBody>
        </p:sp>
        <p:sp>
          <p:nvSpPr>
            <p:cNvPr id="74791" name="Text Box 86"/>
            <p:cNvSpPr txBox="1">
              <a:spLocks noChangeArrowheads="1"/>
            </p:cNvSpPr>
            <p:nvPr/>
          </p:nvSpPr>
          <p:spPr bwMode="auto">
            <a:xfrm>
              <a:off x="1632" y="357"/>
              <a:ext cx="237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30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5</a:t>
              </a:r>
            </a:p>
          </p:txBody>
        </p:sp>
        <p:sp>
          <p:nvSpPr>
            <p:cNvPr id="74792" name="Text Box 87"/>
            <p:cNvSpPr txBox="1">
              <a:spLocks noChangeArrowheads="1"/>
            </p:cNvSpPr>
            <p:nvPr/>
          </p:nvSpPr>
          <p:spPr bwMode="auto">
            <a:xfrm>
              <a:off x="756" y="1305"/>
              <a:ext cx="237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30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6</a:t>
              </a:r>
            </a:p>
          </p:txBody>
        </p:sp>
        <p:sp>
          <p:nvSpPr>
            <p:cNvPr id="74793" name="Text Box 88"/>
            <p:cNvSpPr txBox="1">
              <a:spLocks noChangeArrowheads="1"/>
            </p:cNvSpPr>
            <p:nvPr/>
          </p:nvSpPr>
          <p:spPr bwMode="auto">
            <a:xfrm>
              <a:off x="1488" y="837"/>
              <a:ext cx="237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30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5</a:t>
              </a:r>
            </a:p>
          </p:txBody>
        </p:sp>
        <p:sp>
          <p:nvSpPr>
            <p:cNvPr id="74794" name="Text Box 89"/>
            <p:cNvSpPr txBox="1">
              <a:spLocks noChangeArrowheads="1"/>
            </p:cNvSpPr>
            <p:nvPr/>
          </p:nvSpPr>
          <p:spPr bwMode="auto">
            <a:xfrm>
              <a:off x="558" y="405"/>
              <a:ext cx="237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3000" b="1" dirty="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6</a:t>
              </a:r>
            </a:p>
          </p:txBody>
        </p:sp>
        <p:sp>
          <p:nvSpPr>
            <p:cNvPr id="74795" name="Text Box 90"/>
            <p:cNvSpPr txBox="1">
              <a:spLocks noChangeArrowheads="1"/>
            </p:cNvSpPr>
            <p:nvPr/>
          </p:nvSpPr>
          <p:spPr bwMode="auto">
            <a:xfrm>
              <a:off x="660" y="816"/>
              <a:ext cx="237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30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5</a:t>
              </a:r>
            </a:p>
          </p:txBody>
        </p:sp>
        <p:sp>
          <p:nvSpPr>
            <p:cNvPr id="74796" name="Text Box 91"/>
            <p:cNvSpPr txBox="1">
              <a:spLocks noChangeArrowheads="1"/>
            </p:cNvSpPr>
            <p:nvPr/>
          </p:nvSpPr>
          <p:spPr bwMode="auto">
            <a:xfrm>
              <a:off x="315" y="1338"/>
              <a:ext cx="237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30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3</a:t>
              </a:r>
            </a:p>
          </p:txBody>
        </p:sp>
        <p:sp>
          <p:nvSpPr>
            <p:cNvPr id="74797" name="Text Box 92"/>
            <p:cNvSpPr txBox="1">
              <a:spLocks noChangeArrowheads="1"/>
            </p:cNvSpPr>
            <p:nvPr/>
          </p:nvSpPr>
          <p:spPr bwMode="auto">
            <a:xfrm>
              <a:off x="1920" y="1440"/>
              <a:ext cx="237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30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2</a:t>
              </a:r>
            </a:p>
          </p:txBody>
        </p:sp>
        <p:sp>
          <p:nvSpPr>
            <p:cNvPr id="74798" name="Text Box 93"/>
            <p:cNvSpPr txBox="1">
              <a:spLocks noChangeArrowheads="1"/>
            </p:cNvSpPr>
            <p:nvPr/>
          </p:nvSpPr>
          <p:spPr bwMode="auto">
            <a:xfrm>
              <a:off x="1440" y="1296"/>
              <a:ext cx="237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30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4</a:t>
              </a:r>
            </a:p>
          </p:txBody>
        </p:sp>
        <p:sp>
          <p:nvSpPr>
            <p:cNvPr id="74799" name="Text Box 94"/>
            <p:cNvSpPr txBox="1">
              <a:spLocks noChangeArrowheads="1"/>
            </p:cNvSpPr>
            <p:nvPr/>
          </p:nvSpPr>
          <p:spPr bwMode="auto">
            <a:xfrm>
              <a:off x="1182" y="576"/>
              <a:ext cx="237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30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1</a:t>
              </a:r>
            </a:p>
          </p:txBody>
        </p:sp>
      </p:grpSp>
      <p:grpSp>
        <p:nvGrpSpPr>
          <p:cNvPr id="5" name="Group 50"/>
          <p:cNvGrpSpPr>
            <a:grpSpLocks/>
          </p:cNvGrpSpPr>
          <p:nvPr/>
        </p:nvGrpSpPr>
        <p:grpSpPr bwMode="auto">
          <a:xfrm>
            <a:off x="4859338" y="1773238"/>
            <a:ext cx="3536950" cy="3089275"/>
            <a:chOff x="3984" y="2592"/>
            <a:chExt cx="1593" cy="1440"/>
          </a:xfrm>
        </p:grpSpPr>
        <p:sp>
          <p:nvSpPr>
            <p:cNvPr id="74758" name="Line 51"/>
            <p:cNvSpPr>
              <a:spLocks noChangeShapeType="1"/>
            </p:cNvSpPr>
            <p:nvPr/>
          </p:nvSpPr>
          <p:spPr bwMode="auto">
            <a:xfrm>
              <a:off x="4163" y="3384"/>
              <a:ext cx="215" cy="384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4759" name="Line 52"/>
            <p:cNvSpPr>
              <a:spLocks noChangeShapeType="1"/>
            </p:cNvSpPr>
            <p:nvPr/>
          </p:nvSpPr>
          <p:spPr bwMode="auto">
            <a:xfrm>
              <a:off x="4244" y="3264"/>
              <a:ext cx="430" cy="10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4760" name="Oval 53"/>
            <p:cNvSpPr>
              <a:spLocks noChangeArrowheads="1"/>
            </p:cNvSpPr>
            <p:nvPr/>
          </p:nvSpPr>
          <p:spPr bwMode="auto">
            <a:xfrm>
              <a:off x="4664" y="2592"/>
              <a:ext cx="254" cy="24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1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1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1</a:t>
              </a:r>
            </a:p>
          </p:txBody>
        </p:sp>
        <p:sp>
          <p:nvSpPr>
            <p:cNvPr id="74761" name="Oval 54"/>
            <p:cNvSpPr>
              <a:spLocks noChangeArrowheads="1"/>
            </p:cNvSpPr>
            <p:nvPr/>
          </p:nvSpPr>
          <p:spPr bwMode="auto">
            <a:xfrm>
              <a:off x="3984" y="3135"/>
              <a:ext cx="254" cy="24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1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1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2</a:t>
              </a:r>
            </a:p>
          </p:txBody>
        </p:sp>
        <p:sp>
          <p:nvSpPr>
            <p:cNvPr id="74762" name="Oval 55"/>
            <p:cNvSpPr>
              <a:spLocks noChangeArrowheads="1"/>
            </p:cNvSpPr>
            <p:nvPr/>
          </p:nvSpPr>
          <p:spPr bwMode="auto">
            <a:xfrm>
              <a:off x="4669" y="3261"/>
              <a:ext cx="254" cy="24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1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1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3</a:t>
              </a:r>
            </a:p>
          </p:txBody>
        </p:sp>
        <p:sp>
          <p:nvSpPr>
            <p:cNvPr id="74763" name="Oval 56"/>
            <p:cNvSpPr>
              <a:spLocks noChangeArrowheads="1"/>
            </p:cNvSpPr>
            <p:nvPr/>
          </p:nvSpPr>
          <p:spPr bwMode="auto">
            <a:xfrm>
              <a:off x="5030" y="3785"/>
              <a:ext cx="254" cy="24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1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1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6</a:t>
              </a:r>
            </a:p>
          </p:txBody>
        </p:sp>
        <p:sp>
          <p:nvSpPr>
            <p:cNvPr id="74764" name="Oval 57"/>
            <p:cNvSpPr>
              <a:spLocks noChangeArrowheads="1"/>
            </p:cNvSpPr>
            <p:nvPr/>
          </p:nvSpPr>
          <p:spPr bwMode="auto">
            <a:xfrm>
              <a:off x="5323" y="3137"/>
              <a:ext cx="254" cy="24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1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1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4</a:t>
              </a:r>
            </a:p>
          </p:txBody>
        </p:sp>
        <p:sp>
          <p:nvSpPr>
            <p:cNvPr id="74765" name="Oval 58"/>
            <p:cNvSpPr>
              <a:spLocks noChangeArrowheads="1"/>
            </p:cNvSpPr>
            <p:nvPr/>
          </p:nvSpPr>
          <p:spPr bwMode="auto">
            <a:xfrm>
              <a:off x="4349" y="3738"/>
              <a:ext cx="254" cy="24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1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1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5</a:t>
              </a:r>
            </a:p>
          </p:txBody>
        </p:sp>
        <p:sp>
          <p:nvSpPr>
            <p:cNvPr id="74766" name="Line 59"/>
            <p:cNvSpPr>
              <a:spLocks noChangeShapeType="1"/>
            </p:cNvSpPr>
            <p:nvPr/>
          </p:nvSpPr>
          <p:spPr bwMode="auto">
            <a:xfrm flipH="1">
              <a:off x="5225" y="3373"/>
              <a:ext cx="215" cy="441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4767" name="Line 60"/>
            <p:cNvSpPr>
              <a:spLocks noChangeShapeType="1"/>
            </p:cNvSpPr>
            <p:nvPr/>
          </p:nvSpPr>
          <p:spPr bwMode="auto">
            <a:xfrm>
              <a:off x="4795" y="2845"/>
              <a:ext cx="0" cy="41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4768" name="Line 61"/>
            <p:cNvSpPr>
              <a:spLocks noChangeShapeType="1"/>
            </p:cNvSpPr>
            <p:nvPr/>
          </p:nvSpPr>
          <p:spPr bwMode="auto">
            <a:xfrm>
              <a:off x="4889" y="3473"/>
              <a:ext cx="215" cy="31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4" name="Text Box 62"/>
            <p:cNvSpPr txBox="1">
              <a:spLocks noChangeArrowheads="1"/>
            </p:cNvSpPr>
            <p:nvPr/>
          </p:nvSpPr>
          <p:spPr bwMode="auto">
            <a:xfrm>
              <a:off x="4944" y="3390"/>
              <a:ext cx="221" cy="3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defRPr/>
              </a:pPr>
              <a:r>
                <a:rPr kumimoji="1" lang="en-US" altLang="zh-CN" sz="2600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仿宋_GB2312" pitchFamily="49" charset="-122"/>
                  <a:ea typeface="仿宋_GB2312" pitchFamily="49" charset="-122"/>
                </a:rPr>
                <a:t>4</a:t>
              </a:r>
            </a:p>
          </p:txBody>
        </p:sp>
        <p:sp>
          <p:nvSpPr>
            <p:cNvPr id="45" name="Text Box 63"/>
            <p:cNvSpPr txBox="1">
              <a:spLocks noChangeArrowheads="1"/>
            </p:cNvSpPr>
            <p:nvPr/>
          </p:nvSpPr>
          <p:spPr bwMode="auto">
            <a:xfrm>
              <a:off x="4761" y="2880"/>
              <a:ext cx="221" cy="3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defRPr/>
              </a:pPr>
              <a:r>
                <a:rPr kumimoji="1" lang="en-US" altLang="zh-CN" sz="2600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仿宋_GB2312" pitchFamily="49" charset="-122"/>
                  <a:ea typeface="仿宋_GB2312" pitchFamily="49" charset="-122"/>
                </a:rPr>
                <a:t>1</a:t>
              </a:r>
            </a:p>
          </p:txBody>
        </p:sp>
        <p:sp>
          <p:nvSpPr>
            <p:cNvPr id="46" name="Text Box 64"/>
            <p:cNvSpPr txBox="1">
              <a:spLocks noChangeArrowheads="1"/>
            </p:cNvSpPr>
            <p:nvPr/>
          </p:nvSpPr>
          <p:spPr bwMode="auto">
            <a:xfrm>
              <a:off x="5337" y="3456"/>
              <a:ext cx="221" cy="3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defRPr/>
              </a:pPr>
              <a:r>
                <a:rPr kumimoji="1" lang="en-US" altLang="zh-CN" sz="2600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仿宋_GB2312" pitchFamily="49" charset="-122"/>
                  <a:ea typeface="仿宋_GB2312" pitchFamily="49" charset="-122"/>
                </a:rPr>
                <a:t>2</a:t>
              </a:r>
            </a:p>
          </p:txBody>
        </p:sp>
        <p:sp>
          <p:nvSpPr>
            <p:cNvPr id="47" name="Text Box 65"/>
            <p:cNvSpPr txBox="1">
              <a:spLocks noChangeArrowheads="1"/>
            </p:cNvSpPr>
            <p:nvPr/>
          </p:nvSpPr>
          <p:spPr bwMode="auto">
            <a:xfrm>
              <a:off x="4252" y="2976"/>
              <a:ext cx="221" cy="3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defRPr/>
              </a:pPr>
              <a:r>
                <a:rPr kumimoji="1" lang="en-US" altLang="zh-CN" sz="2600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仿宋_GB2312" pitchFamily="49" charset="-122"/>
                  <a:ea typeface="仿宋_GB2312" pitchFamily="49" charset="-122"/>
                </a:rPr>
                <a:t>5</a:t>
              </a:r>
            </a:p>
          </p:txBody>
        </p:sp>
        <p:sp>
          <p:nvSpPr>
            <p:cNvPr id="48" name="Text Box 66"/>
            <p:cNvSpPr txBox="1">
              <a:spLocks noChangeArrowheads="1"/>
            </p:cNvSpPr>
            <p:nvPr/>
          </p:nvSpPr>
          <p:spPr bwMode="auto">
            <a:xfrm>
              <a:off x="4051" y="3408"/>
              <a:ext cx="221" cy="3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defRPr/>
              </a:pPr>
              <a:r>
                <a:rPr kumimoji="1" lang="en-US" altLang="zh-CN" sz="2600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仿宋_GB2312" pitchFamily="49" charset="-122"/>
                  <a:ea typeface="仿宋_GB2312" pitchFamily="49" charset="-122"/>
                </a:rPr>
                <a:t>3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最小生成树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3" y="1146770"/>
            <a:ext cx="8207375" cy="516255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ct val="25000"/>
              </a:spcBef>
              <a:defRPr/>
            </a:pPr>
            <a:r>
              <a:rPr kumimoji="1" lang="zh-CN" altLang="en-US" dirty="0">
                <a:solidFill>
                  <a:srgbClr val="000000"/>
                </a:solidFill>
                <a:latin typeface="+mn-ea"/>
              </a:rPr>
              <a:t>构造最小生成树可以有多种算法</a:t>
            </a:r>
            <a:endParaRPr kumimoji="1" lang="en-US" altLang="zh-CN" dirty="0">
              <a:solidFill>
                <a:srgbClr val="000000"/>
              </a:solidFill>
              <a:latin typeface="+mn-ea"/>
            </a:endParaRPr>
          </a:p>
          <a:p>
            <a:pPr lvl="1" eaLnBrk="1" hangingPunct="1">
              <a:lnSpc>
                <a:spcPct val="110000"/>
              </a:lnSpc>
              <a:spcBef>
                <a:spcPct val="25000"/>
              </a:spcBef>
              <a:defRPr/>
            </a:pPr>
            <a:r>
              <a:rPr kumimoji="1" lang="zh-CN" altLang="en-US" dirty="0">
                <a:solidFill>
                  <a:srgbClr val="FF3300"/>
                </a:solidFill>
                <a:latin typeface="+mn-ea"/>
              </a:rPr>
              <a:t>普里姆</a:t>
            </a:r>
            <a:r>
              <a:rPr kumimoji="1" lang="en-US" altLang="zh-CN" dirty="0">
                <a:solidFill>
                  <a:srgbClr val="FF3300"/>
                </a:solidFill>
                <a:latin typeface="+mn-ea"/>
              </a:rPr>
              <a:t>(Prim)</a:t>
            </a:r>
            <a:r>
              <a:rPr kumimoji="1" lang="zh-CN" altLang="en-US" dirty="0">
                <a:solidFill>
                  <a:srgbClr val="FF3300"/>
                </a:solidFill>
                <a:latin typeface="+mn-ea"/>
              </a:rPr>
              <a:t>算法</a:t>
            </a:r>
            <a:endParaRPr kumimoji="1" lang="en-US" altLang="zh-CN" dirty="0">
              <a:solidFill>
                <a:srgbClr val="000000"/>
              </a:solidFill>
              <a:latin typeface="+mn-ea"/>
            </a:endParaRPr>
          </a:p>
          <a:p>
            <a:pPr lvl="1" eaLnBrk="1" hangingPunct="1">
              <a:lnSpc>
                <a:spcPct val="110000"/>
              </a:lnSpc>
              <a:spcBef>
                <a:spcPct val="25000"/>
              </a:spcBef>
              <a:defRPr/>
            </a:pPr>
            <a:r>
              <a:rPr kumimoji="1" lang="zh-CN" altLang="en-US" dirty="0">
                <a:solidFill>
                  <a:srgbClr val="FF3300"/>
                </a:solidFill>
                <a:latin typeface="+mn-ea"/>
              </a:rPr>
              <a:t>克鲁斯卡尔</a:t>
            </a:r>
            <a:r>
              <a:rPr kumimoji="1" lang="en-US" altLang="zh-CN" dirty="0">
                <a:solidFill>
                  <a:srgbClr val="FF3300"/>
                </a:solidFill>
                <a:latin typeface="+mn-ea"/>
              </a:rPr>
              <a:t>(</a:t>
            </a:r>
            <a:r>
              <a:rPr kumimoji="1" lang="en-US" altLang="zh-CN" dirty="0" err="1">
                <a:solidFill>
                  <a:srgbClr val="FF3300"/>
                </a:solidFill>
                <a:latin typeface="+mn-ea"/>
              </a:rPr>
              <a:t>Kruskal</a:t>
            </a:r>
            <a:r>
              <a:rPr kumimoji="1" lang="en-US" altLang="zh-CN" dirty="0">
                <a:solidFill>
                  <a:srgbClr val="FF3300"/>
                </a:solidFill>
                <a:latin typeface="+mn-ea"/>
              </a:rPr>
              <a:t>)</a:t>
            </a:r>
            <a:r>
              <a:rPr kumimoji="1" lang="zh-CN" altLang="en-US" dirty="0">
                <a:solidFill>
                  <a:srgbClr val="FF3300"/>
                </a:solidFill>
                <a:latin typeface="+mn-ea"/>
              </a:rPr>
              <a:t>算法</a:t>
            </a:r>
            <a:endParaRPr kumimoji="1" lang="en-US" altLang="zh-CN" dirty="0">
              <a:solidFill>
                <a:srgbClr val="000000"/>
              </a:solidFill>
              <a:latin typeface="+mn-ea"/>
            </a:endParaRPr>
          </a:p>
          <a:p>
            <a:pPr eaLnBrk="1" hangingPunct="1">
              <a:lnSpc>
                <a:spcPct val="110000"/>
              </a:lnSpc>
              <a:spcBef>
                <a:spcPct val="25000"/>
              </a:spcBef>
              <a:defRPr/>
            </a:pPr>
            <a:r>
              <a:rPr kumimoji="1" lang="zh-CN" altLang="en-US" dirty="0">
                <a:solidFill>
                  <a:srgbClr val="000000"/>
                </a:solidFill>
                <a:latin typeface="+mn-ea"/>
              </a:rPr>
              <a:t>大多数算法都利用了以下</a:t>
            </a:r>
            <a:r>
              <a:rPr kumimoji="1" lang="en-US" altLang="zh-CN" dirty="0">
                <a:solidFill>
                  <a:srgbClr val="000000"/>
                </a:solidFill>
                <a:latin typeface="+mn-ea"/>
              </a:rPr>
              <a:t>MST</a:t>
            </a:r>
            <a:r>
              <a:rPr kumimoji="1" lang="zh-CN" altLang="en-US" dirty="0">
                <a:solidFill>
                  <a:srgbClr val="4C34FE"/>
                </a:solidFill>
                <a:latin typeface="+mn-ea"/>
              </a:rPr>
              <a:t>性质</a:t>
            </a:r>
            <a:r>
              <a:rPr kumimoji="1" lang="zh-CN" altLang="en-US" dirty="0">
                <a:solidFill>
                  <a:srgbClr val="000000"/>
                </a:solidFill>
                <a:latin typeface="+mn-ea"/>
              </a:rPr>
              <a:t>：</a:t>
            </a:r>
            <a:endParaRPr kumimoji="1" lang="en-US" altLang="zh-CN" dirty="0">
              <a:solidFill>
                <a:srgbClr val="000000"/>
              </a:solidFill>
              <a:latin typeface="+mn-ea"/>
            </a:endParaRPr>
          </a:p>
          <a:p>
            <a:pPr lvl="1" eaLnBrk="1" hangingPunct="1">
              <a:lnSpc>
                <a:spcPct val="110000"/>
              </a:lnSpc>
              <a:spcBef>
                <a:spcPct val="25000"/>
              </a:spcBef>
              <a:defRPr/>
            </a:pPr>
            <a:r>
              <a:rPr kumimoji="1" lang="zh-CN" altLang="en-US" dirty="0">
                <a:solidFill>
                  <a:srgbClr val="000000"/>
                </a:solidFill>
                <a:latin typeface="+mn-ea"/>
              </a:rPr>
              <a:t>假设</a:t>
            </a:r>
            <a:r>
              <a:rPr kumimoji="1" lang="en-US" altLang="zh-CN" dirty="0">
                <a:solidFill>
                  <a:srgbClr val="000000"/>
                </a:solidFill>
                <a:latin typeface="+mn-ea"/>
              </a:rPr>
              <a:t>G=(V, E)</a:t>
            </a:r>
            <a:r>
              <a:rPr kumimoji="1" lang="zh-CN" altLang="en-US" dirty="0">
                <a:solidFill>
                  <a:srgbClr val="000000"/>
                </a:solidFill>
                <a:latin typeface="+mn-ea"/>
              </a:rPr>
              <a:t>是一个连通网络，</a:t>
            </a:r>
            <a:r>
              <a:rPr kumimoji="1" lang="en-US" altLang="zh-CN" dirty="0">
                <a:solidFill>
                  <a:srgbClr val="000000"/>
                </a:solidFill>
                <a:latin typeface="+mn-ea"/>
              </a:rPr>
              <a:t>U</a:t>
            </a:r>
            <a:r>
              <a:rPr kumimoji="1" lang="zh-CN" altLang="en-US" dirty="0">
                <a:solidFill>
                  <a:srgbClr val="000000"/>
                </a:solidFill>
                <a:latin typeface="+mn-ea"/>
              </a:rPr>
              <a:t>是顶点集</a:t>
            </a:r>
            <a:r>
              <a:rPr kumimoji="1" lang="en-US" altLang="zh-CN" dirty="0">
                <a:solidFill>
                  <a:srgbClr val="000000"/>
                </a:solidFill>
                <a:latin typeface="+mn-ea"/>
              </a:rPr>
              <a:t>V</a:t>
            </a:r>
            <a:r>
              <a:rPr kumimoji="1" lang="zh-CN" altLang="en-US" dirty="0">
                <a:solidFill>
                  <a:srgbClr val="000000"/>
                </a:solidFill>
                <a:latin typeface="+mn-ea"/>
              </a:rPr>
              <a:t>的一个非空子集。若</a:t>
            </a:r>
            <a:r>
              <a:rPr kumimoji="1" lang="en-US" altLang="zh-CN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en-US" altLang="zh-CN" dirty="0" err="1">
                <a:solidFill>
                  <a:srgbClr val="000000"/>
                </a:solidFill>
                <a:latin typeface="+mn-ea"/>
              </a:rPr>
              <a:t>u,v</a:t>
            </a:r>
            <a:r>
              <a:rPr kumimoji="1" lang="en-US" altLang="zh-CN" dirty="0">
                <a:solidFill>
                  <a:srgbClr val="000000"/>
                </a:solidFill>
                <a:latin typeface="+mn-ea"/>
              </a:rPr>
              <a:t>)</a:t>
            </a:r>
            <a:r>
              <a:rPr kumimoji="1" lang="zh-CN" altLang="en-US" dirty="0">
                <a:solidFill>
                  <a:srgbClr val="000000"/>
                </a:solidFill>
                <a:latin typeface="+mn-ea"/>
              </a:rPr>
              <a:t>是</a:t>
            </a:r>
            <a:r>
              <a:rPr kumimoji="1" lang="en-US" altLang="zh-CN" dirty="0">
                <a:solidFill>
                  <a:srgbClr val="000000"/>
                </a:solidFill>
                <a:latin typeface="+mn-ea"/>
              </a:rPr>
              <a:t>G</a:t>
            </a:r>
            <a:r>
              <a:rPr kumimoji="1" lang="zh-CN" altLang="en-US" dirty="0">
                <a:solidFill>
                  <a:srgbClr val="000000"/>
                </a:solidFill>
                <a:latin typeface="+mn-ea"/>
              </a:rPr>
              <a:t>中所有的一个端点在</a:t>
            </a:r>
            <a:r>
              <a:rPr kumimoji="1" lang="en-US" altLang="zh-CN" dirty="0">
                <a:solidFill>
                  <a:srgbClr val="000000"/>
                </a:solidFill>
                <a:latin typeface="+mn-ea"/>
              </a:rPr>
              <a:t>U(</a:t>
            </a:r>
            <a:r>
              <a:rPr kumimoji="1" lang="zh-CN" altLang="en-US" dirty="0">
                <a:solidFill>
                  <a:srgbClr val="000000"/>
                </a:solidFill>
                <a:latin typeface="+mn-ea"/>
              </a:rPr>
              <a:t>即</a:t>
            </a:r>
            <a:r>
              <a:rPr kumimoji="1" lang="en-US" altLang="zh-CN" dirty="0" err="1">
                <a:solidFill>
                  <a:srgbClr val="000000"/>
                </a:solidFill>
                <a:latin typeface="+mn-ea"/>
              </a:rPr>
              <a:t>u</a:t>
            </a:r>
            <a:r>
              <a:rPr kumimoji="1" lang="en-US" altLang="zh-CN" dirty="0" err="1">
                <a:latin typeface="+mn-ea"/>
                <a:sym typeface="Symbol" pitchFamily="18" charset="2"/>
              </a:rPr>
              <a:t>U</a:t>
            </a:r>
            <a:r>
              <a:rPr kumimoji="1" lang="en-US" altLang="zh-CN" dirty="0">
                <a:latin typeface="+mn-ea"/>
                <a:sym typeface="Symbol" pitchFamily="18" charset="2"/>
              </a:rPr>
              <a:t>)</a:t>
            </a:r>
            <a:r>
              <a:rPr kumimoji="1" lang="zh-CN" altLang="en-US" dirty="0">
                <a:latin typeface="+mn-ea"/>
                <a:sym typeface="Symbol" pitchFamily="18" charset="2"/>
              </a:rPr>
              <a:t>里，另一个端点不在</a:t>
            </a:r>
            <a:r>
              <a:rPr kumimoji="1" lang="en-US" altLang="zh-CN" dirty="0">
                <a:latin typeface="+mn-ea"/>
                <a:sym typeface="Symbol" pitchFamily="18" charset="2"/>
              </a:rPr>
              <a:t>U(</a:t>
            </a:r>
            <a:r>
              <a:rPr kumimoji="1" lang="zh-CN" altLang="en-US" dirty="0">
                <a:latin typeface="+mn-ea"/>
                <a:sym typeface="Symbol" pitchFamily="18" charset="2"/>
              </a:rPr>
              <a:t>即</a:t>
            </a:r>
            <a:r>
              <a:rPr kumimoji="1" lang="en-US" altLang="zh-CN" dirty="0">
                <a:latin typeface="+mn-ea"/>
                <a:sym typeface="Symbol" pitchFamily="18" charset="2"/>
              </a:rPr>
              <a:t>,</a:t>
            </a:r>
            <a:r>
              <a:rPr kumimoji="1" lang="en-US" altLang="zh-CN" dirty="0" err="1">
                <a:latin typeface="+mn-ea"/>
                <a:sym typeface="Symbol" pitchFamily="18" charset="2"/>
              </a:rPr>
              <a:t>vV</a:t>
            </a:r>
            <a:r>
              <a:rPr kumimoji="1" lang="en-US" altLang="zh-CN" dirty="0">
                <a:latin typeface="+mn-ea"/>
                <a:sym typeface="Symbol" pitchFamily="18" charset="2"/>
              </a:rPr>
              <a:t>-U)</a:t>
            </a:r>
            <a:r>
              <a:rPr kumimoji="1" lang="zh-CN" altLang="en-US" dirty="0">
                <a:latin typeface="+mn-ea"/>
                <a:sym typeface="Symbol" pitchFamily="18" charset="2"/>
              </a:rPr>
              <a:t>里的边中，具有最小权值的一条边，则一定存在</a:t>
            </a:r>
            <a:r>
              <a:rPr kumimoji="1" lang="en-US" altLang="zh-CN" dirty="0">
                <a:latin typeface="+mn-ea"/>
                <a:sym typeface="Symbol" pitchFamily="18" charset="2"/>
              </a:rPr>
              <a:t>G</a:t>
            </a:r>
            <a:r>
              <a:rPr kumimoji="1" lang="zh-CN" altLang="en-US" dirty="0">
                <a:latin typeface="+mn-ea"/>
                <a:sym typeface="Symbol" pitchFamily="18" charset="2"/>
              </a:rPr>
              <a:t>的一棵最小生成树包含此边</a:t>
            </a:r>
            <a:r>
              <a:rPr kumimoji="1" lang="en-US" altLang="zh-CN" dirty="0">
                <a:latin typeface="+mn-ea"/>
                <a:sym typeface="Symbol" pitchFamily="18" charset="2"/>
              </a:rPr>
              <a:t>(</a:t>
            </a:r>
            <a:r>
              <a:rPr kumimoji="1" lang="en-US" altLang="zh-CN" dirty="0" err="1">
                <a:latin typeface="+mn-ea"/>
                <a:sym typeface="Symbol" pitchFamily="18" charset="2"/>
              </a:rPr>
              <a:t>u,v</a:t>
            </a:r>
            <a:r>
              <a:rPr kumimoji="1" lang="en-US" altLang="zh-CN" dirty="0">
                <a:latin typeface="+mn-ea"/>
                <a:sym typeface="Symbol" pitchFamily="18" charset="2"/>
              </a:rPr>
              <a:t>)</a:t>
            </a:r>
          </a:p>
          <a:p>
            <a:pPr lvl="2" eaLnBrk="1" hangingPunct="1">
              <a:lnSpc>
                <a:spcPct val="110000"/>
              </a:lnSpc>
              <a:spcBef>
                <a:spcPct val="25000"/>
              </a:spcBef>
              <a:defRPr/>
            </a:pPr>
            <a:r>
              <a:rPr kumimoji="1" lang="zh-CN" altLang="en-US" dirty="0">
                <a:latin typeface="+mn-ea"/>
                <a:sym typeface="Symbol" pitchFamily="18" charset="2"/>
              </a:rPr>
              <a:t>可以用反证法证明</a:t>
            </a:r>
            <a:endParaRPr kumimoji="1" lang="en-US" altLang="zh-CN" dirty="0">
              <a:latin typeface="+mn-ea"/>
              <a:sym typeface="Symbol" pitchFamily="18" charset="2"/>
            </a:endParaRPr>
          </a:p>
        </p:txBody>
      </p:sp>
      <p:sp>
        <p:nvSpPr>
          <p:cNvPr id="75780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2D0FFC8-F96C-4EFC-8606-769C61138F00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61</a:t>
            </a:fld>
            <a:endParaRPr lang="zh-CN" altLang="en-US" sz="1000"/>
          </a:p>
        </p:txBody>
      </p:sp>
      <p:grpSp>
        <p:nvGrpSpPr>
          <p:cNvPr id="75781" name="Group 68"/>
          <p:cNvGrpSpPr>
            <a:grpSpLocks/>
          </p:cNvGrpSpPr>
          <p:nvPr/>
        </p:nvGrpSpPr>
        <p:grpSpPr bwMode="auto">
          <a:xfrm>
            <a:off x="6588125" y="1052513"/>
            <a:ext cx="2143125" cy="2088455"/>
            <a:chOff x="144" y="144"/>
            <a:chExt cx="2121" cy="1980"/>
          </a:xfrm>
        </p:grpSpPr>
        <p:sp>
          <p:nvSpPr>
            <p:cNvPr id="75782" name="Oval 69"/>
            <p:cNvSpPr>
              <a:spLocks noChangeArrowheads="1"/>
            </p:cNvSpPr>
            <p:nvPr/>
          </p:nvSpPr>
          <p:spPr bwMode="auto">
            <a:xfrm>
              <a:off x="1043" y="144"/>
              <a:ext cx="341" cy="340"/>
            </a:xfrm>
            <a:prstGeom prst="ellipse">
              <a:avLst/>
            </a:prstGeom>
            <a:solidFill>
              <a:srgbClr val="FFCC00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>
              <a:outerShdw dist="40161" dir="1106097" algn="ctr" rotWithShape="0">
                <a:schemeClr val="tx1"/>
              </a:outerShdw>
            </a:effec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14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14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1</a:t>
              </a:r>
            </a:p>
          </p:txBody>
        </p:sp>
        <p:sp>
          <p:nvSpPr>
            <p:cNvPr id="75783" name="Oval 70"/>
            <p:cNvSpPr>
              <a:spLocks noChangeArrowheads="1"/>
            </p:cNvSpPr>
            <p:nvPr/>
          </p:nvSpPr>
          <p:spPr bwMode="auto">
            <a:xfrm>
              <a:off x="144" y="904"/>
              <a:ext cx="339" cy="339"/>
            </a:xfrm>
            <a:prstGeom prst="ellipse">
              <a:avLst/>
            </a:prstGeom>
            <a:solidFill>
              <a:srgbClr val="FFCC00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>
              <a:outerShdw dist="40161" dir="1106097" algn="ctr" rotWithShape="0">
                <a:schemeClr val="tx1"/>
              </a:outerShdw>
            </a:effec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14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14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2</a:t>
              </a:r>
            </a:p>
          </p:txBody>
        </p:sp>
        <p:sp>
          <p:nvSpPr>
            <p:cNvPr id="75784" name="Oval 71"/>
            <p:cNvSpPr>
              <a:spLocks noChangeArrowheads="1"/>
            </p:cNvSpPr>
            <p:nvPr/>
          </p:nvSpPr>
          <p:spPr bwMode="auto">
            <a:xfrm>
              <a:off x="1049" y="1064"/>
              <a:ext cx="339" cy="340"/>
            </a:xfrm>
            <a:prstGeom prst="ellipse">
              <a:avLst/>
            </a:prstGeom>
            <a:solidFill>
              <a:srgbClr val="FFCC00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>
              <a:outerShdw dist="40161" dir="1106097" algn="ctr" rotWithShape="0">
                <a:schemeClr val="tx1"/>
              </a:outerShdw>
            </a:effec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14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14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3</a:t>
              </a:r>
            </a:p>
          </p:txBody>
        </p:sp>
        <p:sp>
          <p:nvSpPr>
            <p:cNvPr id="75785" name="Oval 72"/>
            <p:cNvSpPr>
              <a:spLocks noChangeArrowheads="1"/>
            </p:cNvSpPr>
            <p:nvPr/>
          </p:nvSpPr>
          <p:spPr bwMode="auto">
            <a:xfrm>
              <a:off x="1531" y="1784"/>
              <a:ext cx="341" cy="340"/>
            </a:xfrm>
            <a:prstGeom prst="ellipse">
              <a:avLst/>
            </a:prstGeom>
            <a:solidFill>
              <a:srgbClr val="FFCC00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>
              <a:outerShdw dist="40161" dir="1106097" algn="ctr" rotWithShape="0">
                <a:schemeClr val="tx1"/>
              </a:outerShdw>
            </a:effec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14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14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6</a:t>
              </a:r>
            </a:p>
          </p:txBody>
        </p:sp>
        <p:sp>
          <p:nvSpPr>
            <p:cNvPr id="75786" name="Oval 73"/>
            <p:cNvSpPr>
              <a:spLocks noChangeArrowheads="1"/>
            </p:cNvSpPr>
            <p:nvPr/>
          </p:nvSpPr>
          <p:spPr bwMode="auto">
            <a:xfrm>
              <a:off x="1926" y="895"/>
              <a:ext cx="339" cy="339"/>
            </a:xfrm>
            <a:prstGeom prst="ellipse">
              <a:avLst/>
            </a:prstGeom>
            <a:solidFill>
              <a:srgbClr val="FFCC00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>
              <a:outerShdw dist="40161" dir="1106097" algn="ctr" rotWithShape="0">
                <a:schemeClr val="tx1"/>
              </a:outerShdw>
            </a:effec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14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14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4</a:t>
              </a:r>
            </a:p>
          </p:txBody>
        </p:sp>
        <p:sp>
          <p:nvSpPr>
            <p:cNvPr id="75787" name="Oval 74"/>
            <p:cNvSpPr>
              <a:spLocks noChangeArrowheads="1"/>
            </p:cNvSpPr>
            <p:nvPr/>
          </p:nvSpPr>
          <p:spPr bwMode="auto">
            <a:xfrm>
              <a:off x="571" y="1757"/>
              <a:ext cx="341" cy="340"/>
            </a:xfrm>
            <a:prstGeom prst="ellipse">
              <a:avLst/>
            </a:prstGeom>
            <a:solidFill>
              <a:srgbClr val="FFCC00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>
              <a:outerShdw dist="40161" dir="1106097" algn="ctr" rotWithShape="0">
                <a:schemeClr val="tx1"/>
              </a:outerShdw>
            </a:effec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14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14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5</a:t>
              </a:r>
            </a:p>
          </p:txBody>
        </p:sp>
        <p:sp>
          <p:nvSpPr>
            <p:cNvPr id="75788" name="Line 75"/>
            <p:cNvSpPr>
              <a:spLocks noChangeShapeType="1"/>
            </p:cNvSpPr>
            <p:nvPr/>
          </p:nvSpPr>
          <p:spPr bwMode="auto">
            <a:xfrm flipH="1">
              <a:off x="432" y="396"/>
              <a:ext cx="624" cy="5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5789" name="Line 76"/>
            <p:cNvSpPr>
              <a:spLocks noChangeShapeType="1"/>
            </p:cNvSpPr>
            <p:nvPr/>
          </p:nvSpPr>
          <p:spPr bwMode="auto">
            <a:xfrm>
              <a:off x="384" y="1233"/>
              <a:ext cx="288" cy="5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5790" name="Line 77"/>
            <p:cNvSpPr>
              <a:spLocks noChangeShapeType="1"/>
            </p:cNvSpPr>
            <p:nvPr/>
          </p:nvSpPr>
          <p:spPr bwMode="auto">
            <a:xfrm>
              <a:off x="1344" y="396"/>
              <a:ext cx="672" cy="5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5791" name="Line 78"/>
            <p:cNvSpPr>
              <a:spLocks noChangeShapeType="1"/>
            </p:cNvSpPr>
            <p:nvPr/>
          </p:nvSpPr>
          <p:spPr bwMode="auto">
            <a:xfrm flipH="1">
              <a:off x="1794" y="1218"/>
              <a:ext cx="288" cy="60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5792" name="Line 79"/>
            <p:cNvSpPr>
              <a:spLocks noChangeShapeType="1"/>
            </p:cNvSpPr>
            <p:nvPr/>
          </p:nvSpPr>
          <p:spPr bwMode="auto">
            <a:xfrm>
              <a:off x="912" y="1980"/>
              <a:ext cx="6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5793" name="Line 80"/>
            <p:cNvSpPr>
              <a:spLocks noChangeShapeType="1"/>
            </p:cNvSpPr>
            <p:nvPr/>
          </p:nvSpPr>
          <p:spPr bwMode="auto">
            <a:xfrm>
              <a:off x="1218" y="492"/>
              <a:ext cx="0" cy="5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5794" name="Line 81"/>
            <p:cNvSpPr>
              <a:spLocks noChangeShapeType="1"/>
            </p:cNvSpPr>
            <p:nvPr/>
          </p:nvSpPr>
          <p:spPr bwMode="auto">
            <a:xfrm>
              <a:off x="480" y="1068"/>
              <a:ext cx="576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5795" name="Line 82"/>
            <p:cNvSpPr>
              <a:spLocks noChangeShapeType="1"/>
            </p:cNvSpPr>
            <p:nvPr/>
          </p:nvSpPr>
          <p:spPr bwMode="auto">
            <a:xfrm flipH="1">
              <a:off x="1392" y="1068"/>
              <a:ext cx="528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5796" name="Line 83"/>
            <p:cNvSpPr>
              <a:spLocks noChangeShapeType="1"/>
            </p:cNvSpPr>
            <p:nvPr/>
          </p:nvSpPr>
          <p:spPr bwMode="auto">
            <a:xfrm flipH="1">
              <a:off x="816" y="1356"/>
              <a:ext cx="288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5797" name="Line 84"/>
            <p:cNvSpPr>
              <a:spLocks noChangeShapeType="1"/>
            </p:cNvSpPr>
            <p:nvPr/>
          </p:nvSpPr>
          <p:spPr bwMode="auto">
            <a:xfrm>
              <a:off x="1344" y="1356"/>
              <a:ext cx="288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5798" name="Text Box 85"/>
            <p:cNvSpPr txBox="1">
              <a:spLocks noChangeArrowheads="1"/>
            </p:cNvSpPr>
            <p:nvPr/>
          </p:nvSpPr>
          <p:spPr bwMode="auto">
            <a:xfrm>
              <a:off x="1104" y="1662"/>
              <a:ext cx="272" cy="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14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6</a:t>
              </a:r>
            </a:p>
          </p:txBody>
        </p:sp>
        <p:sp>
          <p:nvSpPr>
            <p:cNvPr id="75799" name="Text Box 86"/>
            <p:cNvSpPr txBox="1">
              <a:spLocks noChangeArrowheads="1"/>
            </p:cNvSpPr>
            <p:nvPr/>
          </p:nvSpPr>
          <p:spPr bwMode="auto">
            <a:xfrm>
              <a:off x="1632" y="357"/>
              <a:ext cx="272" cy="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14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5</a:t>
              </a:r>
            </a:p>
          </p:txBody>
        </p:sp>
        <p:sp>
          <p:nvSpPr>
            <p:cNvPr id="75800" name="Text Box 87"/>
            <p:cNvSpPr txBox="1">
              <a:spLocks noChangeArrowheads="1"/>
            </p:cNvSpPr>
            <p:nvPr/>
          </p:nvSpPr>
          <p:spPr bwMode="auto">
            <a:xfrm>
              <a:off x="756" y="1305"/>
              <a:ext cx="272" cy="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14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6</a:t>
              </a:r>
            </a:p>
          </p:txBody>
        </p:sp>
        <p:sp>
          <p:nvSpPr>
            <p:cNvPr id="75801" name="Text Box 88"/>
            <p:cNvSpPr txBox="1">
              <a:spLocks noChangeArrowheads="1"/>
            </p:cNvSpPr>
            <p:nvPr/>
          </p:nvSpPr>
          <p:spPr bwMode="auto">
            <a:xfrm>
              <a:off x="1488" y="837"/>
              <a:ext cx="272" cy="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14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5</a:t>
              </a:r>
            </a:p>
          </p:txBody>
        </p:sp>
        <p:sp>
          <p:nvSpPr>
            <p:cNvPr id="75802" name="Text Box 89"/>
            <p:cNvSpPr txBox="1">
              <a:spLocks noChangeArrowheads="1"/>
            </p:cNvSpPr>
            <p:nvPr/>
          </p:nvSpPr>
          <p:spPr bwMode="auto">
            <a:xfrm>
              <a:off x="558" y="405"/>
              <a:ext cx="272" cy="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14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6</a:t>
              </a:r>
            </a:p>
          </p:txBody>
        </p:sp>
        <p:sp>
          <p:nvSpPr>
            <p:cNvPr id="75803" name="Text Box 90"/>
            <p:cNvSpPr txBox="1">
              <a:spLocks noChangeArrowheads="1"/>
            </p:cNvSpPr>
            <p:nvPr/>
          </p:nvSpPr>
          <p:spPr bwMode="auto">
            <a:xfrm>
              <a:off x="660" y="816"/>
              <a:ext cx="272" cy="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14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5</a:t>
              </a:r>
            </a:p>
          </p:txBody>
        </p:sp>
        <p:sp>
          <p:nvSpPr>
            <p:cNvPr id="75804" name="Text Box 91"/>
            <p:cNvSpPr txBox="1">
              <a:spLocks noChangeArrowheads="1"/>
            </p:cNvSpPr>
            <p:nvPr/>
          </p:nvSpPr>
          <p:spPr bwMode="auto">
            <a:xfrm>
              <a:off x="315" y="1338"/>
              <a:ext cx="272" cy="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14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3</a:t>
              </a:r>
            </a:p>
          </p:txBody>
        </p:sp>
        <p:sp>
          <p:nvSpPr>
            <p:cNvPr id="75805" name="Text Box 92"/>
            <p:cNvSpPr txBox="1">
              <a:spLocks noChangeArrowheads="1"/>
            </p:cNvSpPr>
            <p:nvPr/>
          </p:nvSpPr>
          <p:spPr bwMode="auto">
            <a:xfrm>
              <a:off x="1920" y="1440"/>
              <a:ext cx="272" cy="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14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2</a:t>
              </a:r>
            </a:p>
          </p:txBody>
        </p:sp>
        <p:sp>
          <p:nvSpPr>
            <p:cNvPr id="75806" name="Text Box 93"/>
            <p:cNvSpPr txBox="1">
              <a:spLocks noChangeArrowheads="1"/>
            </p:cNvSpPr>
            <p:nvPr/>
          </p:nvSpPr>
          <p:spPr bwMode="auto">
            <a:xfrm>
              <a:off x="1440" y="1296"/>
              <a:ext cx="272" cy="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14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4</a:t>
              </a:r>
            </a:p>
          </p:txBody>
        </p:sp>
        <p:sp>
          <p:nvSpPr>
            <p:cNvPr id="75807" name="Text Box 94"/>
            <p:cNvSpPr txBox="1">
              <a:spLocks noChangeArrowheads="1"/>
            </p:cNvSpPr>
            <p:nvPr/>
          </p:nvSpPr>
          <p:spPr bwMode="auto">
            <a:xfrm>
              <a:off x="1182" y="576"/>
              <a:ext cx="272" cy="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14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1</a:t>
              </a:r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kumimoji="1" lang="zh-CN" altLang="en-US" dirty="0">
                <a:latin typeface="+mn-ea"/>
                <a:ea typeface="+mn-ea"/>
              </a:rPr>
              <a:t>普里姆算法</a:t>
            </a:r>
            <a:r>
              <a:rPr kumimoji="1" lang="en-US" altLang="zh-CN" dirty="0">
                <a:latin typeface="+mn-ea"/>
                <a:ea typeface="+mn-ea"/>
              </a:rPr>
              <a:t>(Prim)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kumimoji="1" lang="zh-CN" altLang="en-US" sz="2800" dirty="0">
                <a:solidFill>
                  <a:srgbClr val="000000"/>
                </a:solidFill>
                <a:latin typeface="+mn-ea"/>
              </a:rPr>
              <a:t>假设</a:t>
            </a:r>
            <a:r>
              <a:rPr kumimoji="1" lang="en-US" altLang="zh-CN" sz="2800" dirty="0">
                <a:solidFill>
                  <a:srgbClr val="000000"/>
                </a:solidFill>
                <a:latin typeface="+mn-ea"/>
              </a:rPr>
              <a:t>N=(V,E)</a:t>
            </a:r>
            <a:r>
              <a:rPr kumimoji="1" lang="zh-CN" altLang="en-US" sz="2800" dirty="0">
                <a:solidFill>
                  <a:srgbClr val="000000"/>
                </a:solidFill>
                <a:latin typeface="+mn-ea"/>
              </a:rPr>
              <a:t>是连通网，</a:t>
            </a:r>
            <a:r>
              <a:rPr kumimoji="1" lang="en-US" altLang="zh-CN" sz="2800" dirty="0">
                <a:solidFill>
                  <a:srgbClr val="000000"/>
                </a:solidFill>
                <a:latin typeface="+mn-ea"/>
              </a:rPr>
              <a:t>TE</a:t>
            </a:r>
            <a:r>
              <a:rPr kumimoji="1" lang="zh-CN" altLang="en-US" sz="2800" dirty="0">
                <a:solidFill>
                  <a:srgbClr val="000000"/>
                </a:solidFill>
                <a:latin typeface="+mn-ea"/>
              </a:rPr>
              <a:t>是</a:t>
            </a:r>
            <a:r>
              <a:rPr kumimoji="1" lang="en-US" altLang="zh-CN" sz="2800" dirty="0">
                <a:solidFill>
                  <a:srgbClr val="000000"/>
                </a:solidFill>
                <a:latin typeface="+mn-ea"/>
              </a:rPr>
              <a:t>N</a:t>
            </a:r>
            <a:r>
              <a:rPr kumimoji="1" lang="zh-CN" altLang="en-US" sz="2800" dirty="0">
                <a:solidFill>
                  <a:srgbClr val="000000"/>
                </a:solidFill>
                <a:latin typeface="+mn-ea"/>
              </a:rPr>
              <a:t>上</a:t>
            </a:r>
            <a:endParaRPr kumimoji="1" lang="en-US" altLang="zh-CN" sz="2800" dirty="0">
              <a:solidFill>
                <a:srgbClr val="000000"/>
              </a:solidFill>
              <a:latin typeface="+mn-ea"/>
            </a:endParaRPr>
          </a:p>
          <a:p>
            <a:pPr marL="0" indent="0">
              <a:buNone/>
              <a:defRPr/>
            </a:pPr>
            <a:r>
              <a:rPr kumimoji="1" lang="zh-CN" altLang="en-US" sz="2800" dirty="0">
                <a:solidFill>
                  <a:srgbClr val="000000"/>
                </a:solidFill>
                <a:latin typeface="+mn-ea"/>
              </a:rPr>
              <a:t>    最小生成树中集合的边</a:t>
            </a:r>
            <a:endParaRPr kumimoji="1" lang="en-US" altLang="zh-CN" sz="2800" dirty="0">
              <a:solidFill>
                <a:srgbClr val="000000"/>
              </a:solidFill>
              <a:latin typeface="+mn-ea"/>
            </a:endParaRPr>
          </a:p>
          <a:p>
            <a:pPr>
              <a:defRPr/>
            </a:pPr>
            <a:r>
              <a:rPr kumimoji="1" lang="zh-CN" altLang="en-US" dirty="0">
                <a:solidFill>
                  <a:srgbClr val="000000"/>
                </a:solidFill>
                <a:latin typeface="+mn-ea"/>
              </a:rPr>
              <a:t>基本思想</a:t>
            </a:r>
            <a:endParaRPr kumimoji="1" lang="en-US" altLang="zh-CN" dirty="0">
              <a:solidFill>
                <a:srgbClr val="000000"/>
              </a:solidFill>
              <a:latin typeface="+mn-ea"/>
            </a:endParaRPr>
          </a:p>
          <a:p>
            <a:pPr marL="971550" lvl="1" indent="-514350">
              <a:buFont typeface="+mj-lt"/>
              <a:buAutoNum type="arabicPeriod"/>
              <a:defRPr/>
            </a:pPr>
            <a:r>
              <a:rPr kumimoji="1" lang="en-US" altLang="zh-CN" dirty="0">
                <a:solidFill>
                  <a:srgbClr val="000000"/>
                </a:solidFill>
                <a:latin typeface="+mn-ea"/>
              </a:rPr>
              <a:t>U={u</a:t>
            </a:r>
            <a:r>
              <a:rPr kumimoji="1" lang="en-US" altLang="zh-CN" baseline="-25000" dirty="0">
                <a:solidFill>
                  <a:srgbClr val="000000"/>
                </a:solidFill>
                <a:latin typeface="+mn-ea"/>
              </a:rPr>
              <a:t>0</a:t>
            </a:r>
            <a:r>
              <a:rPr kumimoji="1" lang="en-US" altLang="zh-CN" dirty="0">
                <a:solidFill>
                  <a:srgbClr val="000000"/>
                </a:solidFill>
                <a:latin typeface="+mn-ea"/>
              </a:rPr>
              <a:t>}(u</a:t>
            </a:r>
            <a:r>
              <a:rPr kumimoji="1" lang="en-US" altLang="zh-CN" baseline="-25000" dirty="0">
                <a:solidFill>
                  <a:srgbClr val="000000"/>
                </a:solidFill>
                <a:latin typeface="+mn-ea"/>
              </a:rPr>
              <a:t>0</a:t>
            </a:r>
            <a:r>
              <a:rPr lang="zh-CN" altLang="en-US" dirty="0"/>
              <a:t>∈</a:t>
            </a:r>
            <a:r>
              <a:rPr kumimoji="1" lang="en-US" altLang="zh-CN" dirty="0">
                <a:solidFill>
                  <a:srgbClr val="000000"/>
                </a:solidFill>
                <a:latin typeface="+mn-ea"/>
              </a:rPr>
              <a:t>V</a:t>
            </a:r>
            <a:r>
              <a:rPr kumimoji="1" lang="zh-CN" altLang="en-US" dirty="0">
                <a:solidFill>
                  <a:srgbClr val="000000"/>
                </a:solidFill>
                <a:latin typeface="+mn-ea"/>
              </a:rPr>
              <a:t>）</a:t>
            </a:r>
            <a:r>
              <a:rPr kumimoji="1" lang="en-US" altLang="zh-CN" dirty="0">
                <a:solidFill>
                  <a:srgbClr val="000000"/>
                </a:solidFill>
                <a:latin typeface="+mn-ea"/>
              </a:rPr>
              <a:t>, TE={}</a:t>
            </a:r>
          </a:p>
          <a:p>
            <a:pPr marL="971550" lvl="1" indent="-514350">
              <a:buFont typeface="+mj-lt"/>
              <a:buAutoNum type="arabicPeriod"/>
              <a:defRPr/>
            </a:pPr>
            <a:r>
              <a:rPr kumimoji="1" lang="zh-CN" altLang="en-US" dirty="0">
                <a:latin typeface="+mn-ea"/>
              </a:rPr>
              <a:t>在所有</a:t>
            </a:r>
            <a:r>
              <a:rPr kumimoji="1" lang="en-US" altLang="zh-CN" dirty="0">
                <a:latin typeface="+mn-ea"/>
              </a:rPr>
              <a:t>u</a:t>
            </a:r>
            <a:r>
              <a:rPr lang="zh-CN" altLang="en-US" dirty="0"/>
              <a:t>∈</a:t>
            </a:r>
            <a:r>
              <a:rPr kumimoji="1" lang="en-US" altLang="zh-CN" dirty="0">
                <a:latin typeface="+mn-ea"/>
              </a:rPr>
              <a:t>V</a:t>
            </a:r>
            <a:r>
              <a:rPr kumimoji="1" lang="zh-CN" altLang="en-US" dirty="0">
                <a:latin typeface="+mn-ea"/>
              </a:rPr>
              <a:t>，</a:t>
            </a:r>
            <a:r>
              <a:rPr kumimoji="1" lang="en-US" altLang="zh-CN" dirty="0">
                <a:latin typeface="+mn-ea"/>
              </a:rPr>
              <a:t>v</a:t>
            </a:r>
            <a:r>
              <a:rPr lang="zh-CN" altLang="en-US" dirty="0"/>
              <a:t>∈</a:t>
            </a:r>
            <a:r>
              <a:rPr kumimoji="1" lang="en-US" altLang="zh-CN" dirty="0">
                <a:latin typeface="+mn-ea"/>
              </a:rPr>
              <a:t>V-U</a:t>
            </a:r>
            <a:r>
              <a:rPr kumimoji="1" lang="zh-CN" altLang="en-US" dirty="0">
                <a:latin typeface="+mn-ea"/>
              </a:rPr>
              <a:t>的边</a:t>
            </a:r>
            <a:r>
              <a:rPr kumimoji="1" lang="en-US" altLang="zh-CN" dirty="0">
                <a:latin typeface="+mn-ea"/>
              </a:rPr>
              <a:t>(</a:t>
            </a:r>
            <a:r>
              <a:rPr kumimoji="1" lang="en-US" altLang="zh-CN" dirty="0" err="1">
                <a:latin typeface="+mn-ea"/>
              </a:rPr>
              <a:t>u,v</a:t>
            </a:r>
            <a:r>
              <a:rPr kumimoji="1" lang="en-US" altLang="zh-CN" dirty="0">
                <a:latin typeface="+mn-ea"/>
              </a:rPr>
              <a:t>)</a:t>
            </a:r>
            <a:r>
              <a:rPr lang="zh-CN" altLang="en-US" dirty="0"/>
              <a:t>∈</a:t>
            </a:r>
            <a:r>
              <a:rPr kumimoji="1" lang="en-US" altLang="zh-CN" dirty="0">
                <a:latin typeface="+mn-ea"/>
              </a:rPr>
              <a:t>E</a:t>
            </a:r>
            <a:r>
              <a:rPr kumimoji="1" lang="zh-CN" altLang="en-US" dirty="0">
                <a:latin typeface="+mn-ea"/>
              </a:rPr>
              <a:t>中找到权值最小的边</a:t>
            </a:r>
            <a:r>
              <a:rPr kumimoji="1" lang="en-US" altLang="zh-CN" dirty="0">
                <a:latin typeface="+mn-ea"/>
              </a:rPr>
              <a:t>(u</a:t>
            </a:r>
            <a:r>
              <a:rPr kumimoji="1" lang="en-US" altLang="zh-CN" baseline="-25000" dirty="0">
                <a:latin typeface="+mn-ea"/>
              </a:rPr>
              <a:t>0</a:t>
            </a:r>
            <a:r>
              <a:rPr kumimoji="1" lang="en-US" altLang="zh-CN" dirty="0">
                <a:latin typeface="+mn-ea"/>
              </a:rPr>
              <a:t>,v</a:t>
            </a:r>
            <a:r>
              <a:rPr kumimoji="1" lang="en-US" altLang="zh-CN" baseline="-25000" dirty="0">
                <a:latin typeface="+mn-ea"/>
              </a:rPr>
              <a:t>0</a:t>
            </a:r>
            <a:r>
              <a:rPr kumimoji="1" lang="en-US" altLang="zh-CN" dirty="0">
                <a:latin typeface="+mn-ea"/>
              </a:rPr>
              <a:t>)</a:t>
            </a:r>
            <a:r>
              <a:rPr kumimoji="1" lang="zh-CN" altLang="en-US" dirty="0">
                <a:latin typeface="+mn-ea"/>
              </a:rPr>
              <a:t>并加入集合</a:t>
            </a:r>
            <a:r>
              <a:rPr kumimoji="1" lang="en-US" altLang="zh-CN" dirty="0">
                <a:latin typeface="+mn-ea"/>
              </a:rPr>
              <a:t>TE</a:t>
            </a:r>
            <a:r>
              <a:rPr kumimoji="1" lang="zh-CN" altLang="en-US" dirty="0">
                <a:latin typeface="+mn-ea"/>
              </a:rPr>
              <a:t>，同时</a:t>
            </a:r>
            <a:r>
              <a:rPr kumimoji="1" lang="en-US" altLang="zh-CN" dirty="0">
                <a:latin typeface="+mn-ea"/>
              </a:rPr>
              <a:t>v</a:t>
            </a:r>
            <a:r>
              <a:rPr kumimoji="1" lang="en-US" altLang="zh-CN" baseline="-25000" dirty="0">
                <a:latin typeface="+mn-ea"/>
              </a:rPr>
              <a:t>0</a:t>
            </a:r>
            <a:r>
              <a:rPr kumimoji="1" lang="zh-CN" altLang="en-US" dirty="0">
                <a:latin typeface="+mn-ea"/>
              </a:rPr>
              <a:t>并入</a:t>
            </a:r>
            <a:r>
              <a:rPr kumimoji="1" lang="en-US" altLang="zh-CN" dirty="0">
                <a:latin typeface="+mn-ea"/>
              </a:rPr>
              <a:t>U</a:t>
            </a:r>
          </a:p>
          <a:p>
            <a:pPr marL="971550" lvl="1" indent="-514350">
              <a:buFont typeface="+mj-lt"/>
              <a:buAutoNum type="arabicPeriod"/>
              <a:defRPr/>
            </a:pPr>
            <a:r>
              <a:rPr kumimoji="1" lang="zh-CN" altLang="en-US" dirty="0">
                <a:latin typeface="+mn-ea"/>
              </a:rPr>
              <a:t>重复</a:t>
            </a:r>
            <a:r>
              <a:rPr kumimoji="1" lang="en-US" altLang="zh-CN" dirty="0">
                <a:latin typeface="+mn-ea"/>
              </a:rPr>
              <a:t>2</a:t>
            </a:r>
            <a:r>
              <a:rPr kumimoji="1" lang="zh-CN" altLang="en-US" dirty="0">
                <a:latin typeface="+mn-ea"/>
              </a:rPr>
              <a:t>，直至</a:t>
            </a:r>
            <a:r>
              <a:rPr kumimoji="1" lang="en-US" altLang="zh-CN" dirty="0">
                <a:latin typeface="+mn-ea"/>
              </a:rPr>
              <a:t>U=V</a:t>
            </a:r>
            <a:r>
              <a:rPr kumimoji="1" lang="zh-CN" altLang="en-US" dirty="0">
                <a:latin typeface="+mn-ea"/>
              </a:rPr>
              <a:t>为止</a:t>
            </a:r>
            <a:endParaRPr kumimoji="1" lang="en-US" altLang="zh-CN" dirty="0">
              <a:latin typeface="+mn-ea"/>
            </a:endParaRPr>
          </a:p>
          <a:p>
            <a:pPr>
              <a:defRPr/>
            </a:pPr>
            <a:r>
              <a:rPr kumimoji="1" lang="zh-CN" altLang="en-US" dirty="0">
                <a:latin typeface="+mn-ea"/>
              </a:rPr>
              <a:t>此时</a:t>
            </a:r>
            <a:r>
              <a:rPr kumimoji="1" lang="en-US" altLang="zh-CN" dirty="0">
                <a:latin typeface="+mn-ea"/>
              </a:rPr>
              <a:t>TE</a:t>
            </a:r>
            <a:r>
              <a:rPr kumimoji="1" lang="zh-CN" altLang="en-US" dirty="0">
                <a:latin typeface="+mn-ea"/>
              </a:rPr>
              <a:t>中必有</a:t>
            </a:r>
            <a:r>
              <a:rPr kumimoji="1" lang="en-US" altLang="zh-CN" dirty="0">
                <a:latin typeface="+mn-ea"/>
              </a:rPr>
              <a:t>n-1</a:t>
            </a:r>
            <a:r>
              <a:rPr kumimoji="1" lang="zh-CN" altLang="en-US" dirty="0">
                <a:latin typeface="+mn-ea"/>
              </a:rPr>
              <a:t>条边，则</a:t>
            </a:r>
            <a:r>
              <a:rPr kumimoji="1" lang="en-US" altLang="zh-CN" dirty="0">
                <a:latin typeface="+mn-ea"/>
              </a:rPr>
              <a:t>T=(V,TE)</a:t>
            </a:r>
            <a:r>
              <a:rPr kumimoji="1" lang="zh-CN" altLang="en-US" dirty="0">
                <a:latin typeface="+mn-ea"/>
              </a:rPr>
              <a:t>为</a:t>
            </a:r>
            <a:r>
              <a:rPr kumimoji="1" lang="en-US" altLang="zh-CN" dirty="0">
                <a:latin typeface="+mn-ea"/>
              </a:rPr>
              <a:t>N</a:t>
            </a:r>
            <a:r>
              <a:rPr kumimoji="1" lang="zh-CN" altLang="en-US" dirty="0">
                <a:latin typeface="+mn-ea"/>
              </a:rPr>
              <a:t>的最小生成树</a:t>
            </a:r>
            <a:endParaRPr lang="zh-CN" altLang="en-US" dirty="0">
              <a:latin typeface="+mn-ea"/>
            </a:endParaRPr>
          </a:p>
        </p:txBody>
      </p:sp>
      <p:sp>
        <p:nvSpPr>
          <p:cNvPr id="76804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3AA6A89-1214-4ABC-BF36-3B344A6E1514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62</a:t>
            </a:fld>
            <a:endParaRPr lang="zh-CN" altLang="en-US" sz="1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200" y="611981"/>
            <a:ext cx="2571961" cy="24503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kumimoji="1" lang="zh-CN" altLang="en-US" dirty="0">
                <a:latin typeface="+mn-ea"/>
              </a:rPr>
              <a:t>普里姆算法</a:t>
            </a:r>
            <a:r>
              <a:rPr kumimoji="1" lang="en-US" altLang="zh-CN" dirty="0">
                <a:latin typeface="+mn-ea"/>
              </a:rPr>
              <a:t>(Prim)</a:t>
            </a:r>
            <a:endParaRPr lang="zh-CN" altLang="en-US" dirty="0"/>
          </a:p>
        </p:txBody>
      </p:sp>
      <p:sp>
        <p:nvSpPr>
          <p:cNvPr id="77827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AB14AA7-8B2B-49F1-B704-D3CA4B40035E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63</a:t>
            </a:fld>
            <a:endParaRPr lang="zh-CN" altLang="en-US" sz="1000"/>
          </a:p>
        </p:txBody>
      </p:sp>
      <p:sp>
        <p:nvSpPr>
          <p:cNvPr id="77914" name="Oval 3"/>
          <p:cNvSpPr>
            <a:spLocks noChangeArrowheads="1"/>
          </p:cNvSpPr>
          <p:nvPr/>
        </p:nvSpPr>
        <p:spPr bwMode="auto">
          <a:xfrm>
            <a:off x="4773613" y="1557338"/>
            <a:ext cx="403225" cy="392113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72000" tIns="10800" rIns="72000" bIns="82800" anchor="ctr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25000"/>
              </a:spcBef>
              <a:buClrTx/>
              <a:buFontTx/>
              <a:buNone/>
            </a:pPr>
            <a:r>
              <a:rPr kumimoji="1" lang="en-US" altLang="zh-CN" sz="2100" b="1">
                <a:solidFill>
                  <a:srgbClr val="000000"/>
                </a:solidFill>
                <a:latin typeface="仿宋_GB2312" pitchFamily="49" charset="-122"/>
                <a:ea typeface="仿宋_GB2312" pitchFamily="49" charset="-122"/>
              </a:rPr>
              <a:t>V</a:t>
            </a:r>
            <a:r>
              <a:rPr kumimoji="1" lang="en-US" altLang="zh-CN" sz="2100" b="1" baseline="-25000">
                <a:solidFill>
                  <a:srgbClr val="000000"/>
                </a:solidFill>
                <a:latin typeface="仿宋_GB2312" pitchFamily="49" charset="-122"/>
                <a:ea typeface="仿宋_GB2312" pitchFamily="49" charset="-122"/>
              </a:rPr>
              <a:t>1</a:t>
            </a:r>
          </a:p>
        </p:txBody>
      </p:sp>
      <p:sp>
        <p:nvSpPr>
          <p:cNvPr id="77916" name="Oval 5"/>
          <p:cNvSpPr>
            <a:spLocks noChangeArrowheads="1"/>
          </p:cNvSpPr>
          <p:nvPr/>
        </p:nvSpPr>
        <p:spPr bwMode="auto">
          <a:xfrm>
            <a:off x="4781551" y="2619376"/>
            <a:ext cx="403225" cy="392113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72000" tIns="10800" rIns="72000" bIns="82800" anchor="ctr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25000"/>
              </a:spcBef>
              <a:buClrTx/>
              <a:buFontTx/>
              <a:buNone/>
            </a:pPr>
            <a:r>
              <a:rPr kumimoji="1" lang="en-US" altLang="zh-CN" sz="2100" b="1">
                <a:solidFill>
                  <a:srgbClr val="000000"/>
                </a:solidFill>
                <a:latin typeface="仿宋_GB2312" pitchFamily="49" charset="-122"/>
                <a:ea typeface="仿宋_GB2312" pitchFamily="49" charset="-122"/>
              </a:rPr>
              <a:t>V</a:t>
            </a:r>
            <a:r>
              <a:rPr kumimoji="1" lang="en-US" altLang="zh-CN" sz="2100" b="1" baseline="-25000">
                <a:solidFill>
                  <a:srgbClr val="000000"/>
                </a:solidFill>
                <a:latin typeface="仿宋_GB2312" pitchFamily="49" charset="-122"/>
                <a:ea typeface="仿宋_GB2312" pitchFamily="49" charset="-122"/>
              </a:rPr>
              <a:t>3</a:t>
            </a:r>
          </a:p>
        </p:txBody>
      </p:sp>
      <p:sp>
        <p:nvSpPr>
          <p:cNvPr id="77920" name="Line 9"/>
          <p:cNvSpPr>
            <a:spLocks noChangeShapeType="1"/>
          </p:cNvSpPr>
          <p:nvPr/>
        </p:nvSpPr>
        <p:spPr bwMode="auto">
          <a:xfrm>
            <a:off x="4981576" y="1958976"/>
            <a:ext cx="0" cy="66516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06" name="Text Box 10"/>
          <p:cNvSpPr txBox="1">
            <a:spLocks noChangeArrowheads="1"/>
          </p:cNvSpPr>
          <p:nvPr/>
        </p:nvSpPr>
        <p:spPr bwMode="auto">
          <a:xfrm>
            <a:off x="4984751" y="2014538"/>
            <a:ext cx="350838" cy="52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25000"/>
              </a:spcBef>
              <a:defRPr/>
            </a:pPr>
            <a:r>
              <a:rPr kumimoji="1" lang="en-US" altLang="zh-CN" sz="26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</a:rPr>
              <a:t>1</a:t>
            </a:r>
          </a:p>
        </p:txBody>
      </p: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7554912" y="1546225"/>
            <a:ext cx="984250" cy="2286000"/>
            <a:chOff x="4736" y="569"/>
            <a:chExt cx="620" cy="1440"/>
          </a:xfrm>
        </p:grpSpPr>
        <p:sp>
          <p:nvSpPr>
            <p:cNvPr id="77904" name="Oval 12"/>
            <p:cNvSpPr>
              <a:spLocks noChangeArrowheads="1"/>
            </p:cNvSpPr>
            <p:nvPr/>
          </p:nvSpPr>
          <p:spPr bwMode="auto">
            <a:xfrm>
              <a:off x="4736" y="569"/>
              <a:ext cx="254" cy="24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1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1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1</a:t>
              </a:r>
            </a:p>
          </p:txBody>
        </p:sp>
        <p:sp>
          <p:nvSpPr>
            <p:cNvPr id="77906" name="Oval 14"/>
            <p:cNvSpPr>
              <a:spLocks noChangeArrowheads="1"/>
            </p:cNvSpPr>
            <p:nvPr/>
          </p:nvSpPr>
          <p:spPr bwMode="auto">
            <a:xfrm>
              <a:off x="4741" y="1238"/>
              <a:ext cx="254" cy="24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1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1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3</a:t>
              </a:r>
            </a:p>
          </p:txBody>
        </p:sp>
        <p:sp>
          <p:nvSpPr>
            <p:cNvPr id="77907" name="Oval 15"/>
            <p:cNvSpPr>
              <a:spLocks noChangeArrowheads="1"/>
            </p:cNvSpPr>
            <p:nvPr/>
          </p:nvSpPr>
          <p:spPr bwMode="auto">
            <a:xfrm>
              <a:off x="5102" y="1762"/>
              <a:ext cx="254" cy="24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1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1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6</a:t>
              </a:r>
            </a:p>
          </p:txBody>
        </p:sp>
        <p:sp>
          <p:nvSpPr>
            <p:cNvPr id="77910" name="Line 18"/>
            <p:cNvSpPr>
              <a:spLocks noChangeShapeType="1"/>
            </p:cNvSpPr>
            <p:nvPr/>
          </p:nvSpPr>
          <p:spPr bwMode="auto">
            <a:xfrm>
              <a:off x="4867" y="822"/>
              <a:ext cx="0" cy="41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7911" name="Line 19"/>
            <p:cNvSpPr>
              <a:spLocks noChangeShapeType="1"/>
            </p:cNvSpPr>
            <p:nvPr/>
          </p:nvSpPr>
          <p:spPr bwMode="auto">
            <a:xfrm>
              <a:off x="4961" y="1450"/>
              <a:ext cx="215" cy="31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16" name="Text Box 20"/>
            <p:cNvSpPr txBox="1">
              <a:spLocks noChangeArrowheads="1"/>
            </p:cNvSpPr>
            <p:nvPr/>
          </p:nvSpPr>
          <p:spPr bwMode="auto">
            <a:xfrm>
              <a:off x="4863" y="896"/>
              <a:ext cx="221" cy="3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defRPr/>
              </a:pPr>
              <a:r>
                <a:rPr kumimoji="1" lang="en-US" altLang="zh-CN" sz="2600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仿宋_GB2312" pitchFamily="49" charset="-122"/>
                  <a:ea typeface="仿宋_GB2312" pitchFamily="49" charset="-122"/>
                </a:rPr>
                <a:t>1</a:t>
              </a:r>
            </a:p>
          </p:txBody>
        </p:sp>
        <p:sp>
          <p:nvSpPr>
            <p:cNvPr id="117" name="Text Box 21"/>
            <p:cNvSpPr txBox="1">
              <a:spLocks noChangeArrowheads="1"/>
            </p:cNvSpPr>
            <p:nvPr/>
          </p:nvSpPr>
          <p:spPr bwMode="auto">
            <a:xfrm>
              <a:off x="5043" y="1358"/>
              <a:ext cx="221" cy="3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defRPr/>
              </a:pPr>
              <a:r>
                <a:rPr kumimoji="1" lang="en-US" altLang="zh-CN" sz="2600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仿宋_GB2312" pitchFamily="49" charset="-122"/>
                  <a:ea typeface="仿宋_GB2312" pitchFamily="49" charset="-122"/>
                </a:rPr>
                <a:t>4</a:t>
              </a:r>
            </a:p>
          </p:txBody>
        </p:sp>
      </p:grpSp>
      <p:grpSp>
        <p:nvGrpSpPr>
          <p:cNvPr id="5" name="Group 22"/>
          <p:cNvGrpSpPr>
            <a:grpSpLocks/>
          </p:cNvGrpSpPr>
          <p:nvPr/>
        </p:nvGrpSpPr>
        <p:grpSpPr bwMode="auto">
          <a:xfrm>
            <a:off x="1301750" y="4376738"/>
            <a:ext cx="1449388" cy="2286000"/>
            <a:chOff x="863" y="2592"/>
            <a:chExt cx="913" cy="1440"/>
          </a:xfrm>
        </p:grpSpPr>
        <p:sp>
          <p:nvSpPr>
            <p:cNvPr id="77892" name="Oval 23"/>
            <p:cNvSpPr>
              <a:spLocks noChangeArrowheads="1"/>
            </p:cNvSpPr>
            <p:nvPr/>
          </p:nvSpPr>
          <p:spPr bwMode="auto">
            <a:xfrm>
              <a:off x="863" y="2592"/>
              <a:ext cx="254" cy="24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1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1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1</a:t>
              </a:r>
            </a:p>
          </p:txBody>
        </p:sp>
        <p:sp>
          <p:nvSpPr>
            <p:cNvPr id="77894" name="Oval 25"/>
            <p:cNvSpPr>
              <a:spLocks noChangeArrowheads="1"/>
            </p:cNvSpPr>
            <p:nvPr/>
          </p:nvSpPr>
          <p:spPr bwMode="auto">
            <a:xfrm>
              <a:off x="868" y="3261"/>
              <a:ext cx="254" cy="24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1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1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3</a:t>
              </a:r>
            </a:p>
          </p:txBody>
        </p:sp>
        <p:sp>
          <p:nvSpPr>
            <p:cNvPr id="77895" name="Oval 26"/>
            <p:cNvSpPr>
              <a:spLocks noChangeArrowheads="1"/>
            </p:cNvSpPr>
            <p:nvPr/>
          </p:nvSpPr>
          <p:spPr bwMode="auto">
            <a:xfrm>
              <a:off x="1229" y="3785"/>
              <a:ext cx="254" cy="24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1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1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6</a:t>
              </a:r>
            </a:p>
          </p:txBody>
        </p:sp>
        <p:sp>
          <p:nvSpPr>
            <p:cNvPr id="77896" name="Oval 27"/>
            <p:cNvSpPr>
              <a:spLocks noChangeArrowheads="1"/>
            </p:cNvSpPr>
            <p:nvPr/>
          </p:nvSpPr>
          <p:spPr bwMode="auto">
            <a:xfrm>
              <a:off x="1522" y="3137"/>
              <a:ext cx="254" cy="24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1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1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4</a:t>
              </a:r>
            </a:p>
          </p:txBody>
        </p:sp>
        <p:sp>
          <p:nvSpPr>
            <p:cNvPr id="77898" name="Line 29"/>
            <p:cNvSpPr>
              <a:spLocks noChangeShapeType="1"/>
            </p:cNvSpPr>
            <p:nvPr/>
          </p:nvSpPr>
          <p:spPr bwMode="auto">
            <a:xfrm flipH="1">
              <a:off x="1424" y="3373"/>
              <a:ext cx="215" cy="441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7899" name="Line 30"/>
            <p:cNvSpPr>
              <a:spLocks noChangeShapeType="1"/>
            </p:cNvSpPr>
            <p:nvPr/>
          </p:nvSpPr>
          <p:spPr bwMode="auto">
            <a:xfrm>
              <a:off x="994" y="2845"/>
              <a:ext cx="0" cy="41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7900" name="Line 31"/>
            <p:cNvSpPr>
              <a:spLocks noChangeShapeType="1"/>
            </p:cNvSpPr>
            <p:nvPr/>
          </p:nvSpPr>
          <p:spPr bwMode="auto">
            <a:xfrm>
              <a:off x="1088" y="3473"/>
              <a:ext cx="215" cy="31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28" name="Text Box 32"/>
            <p:cNvSpPr txBox="1">
              <a:spLocks noChangeArrowheads="1"/>
            </p:cNvSpPr>
            <p:nvPr/>
          </p:nvSpPr>
          <p:spPr bwMode="auto">
            <a:xfrm>
              <a:off x="1143" y="3390"/>
              <a:ext cx="221" cy="3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defRPr/>
              </a:pPr>
              <a:r>
                <a:rPr kumimoji="1" lang="en-US" altLang="zh-CN" sz="2600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仿宋_GB2312" pitchFamily="49" charset="-122"/>
                  <a:ea typeface="仿宋_GB2312" pitchFamily="49" charset="-122"/>
                </a:rPr>
                <a:t>4</a:t>
              </a:r>
            </a:p>
          </p:txBody>
        </p:sp>
        <p:sp>
          <p:nvSpPr>
            <p:cNvPr id="129" name="Text Box 33"/>
            <p:cNvSpPr txBox="1">
              <a:spLocks noChangeArrowheads="1"/>
            </p:cNvSpPr>
            <p:nvPr/>
          </p:nvSpPr>
          <p:spPr bwMode="auto">
            <a:xfrm>
              <a:off x="960" y="2880"/>
              <a:ext cx="221" cy="3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defRPr/>
              </a:pPr>
              <a:r>
                <a:rPr kumimoji="1" lang="en-US" altLang="zh-CN" sz="2600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仿宋_GB2312" pitchFamily="49" charset="-122"/>
                  <a:ea typeface="仿宋_GB2312" pitchFamily="49" charset="-122"/>
                </a:rPr>
                <a:t>1</a:t>
              </a:r>
            </a:p>
          </p:txBody>
        </p:sp>
        <p:sp>
          <p:nvSpPr>
            <p:cNvPr id="130" name="Text Box 34"/>
            <p:cNvSpPr txBox="1">
              <a:spLocks noChangeArrowheads="1"/>
            </p:cNvSpPr>
            <p:nvPr/>
          </p:nvSpPr>
          <p:spPr bwMode="auto">
            <a:xfrm>
              <a:off x="1536" y="3456"/>
              <a:ext cx="221" cy="3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defRPr/>
              </a:pPr>
              <a:r>
                <a:rPr kumimoji="1" lang="en-US" altLang="zh-CN" sz="2600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仿宋_GB2312" pitchFamily="49" charset="-122"/>
                  <a:ea typeface="仿宋_GB2312" pitchFamily="49" charset="-122"/>
                </a:rPr>
                <a:t>2</a:t>
              </a:r>
            </a:p>
          </p:txBody>
        </p:sp>
      </p:grpSp>
      <p:grpSp>
        <p:nvGrpSpPr>
          <p:cNvPr id="6" name="Group 35"/>
          <p:cNvGrpSpPr>
            <a:grpSpLocks/>
          </p:cNvGrpSpPr>
          <p:nvPr/>
        </p:nvGrpSpPr>
        <p:grpSpPr bwMode="auto">
          <a:xfrm>
            <a:off x="3327400" y="4376738"/>
            <a:ext cx="2528888" cy="2286000"/>
            <a:chOff x="2112" y="2592"/>
            <a:chExt cx="1593" cy="1440"/>
          </a:xfrm>
        </p:grpSpPr>
        <p:sp>
          <p:nvSpPr>
            <p:cNvPr id="77878" name="Line 36"/>
            <p:cNvSpPr>
              <a:spLocks noChangeShapeType="1"/>
            </p:cNvSpPr>
            <p:nvPr/>
          </p:nvSpPr>
          <p:spPr bwMode="auto">
            <a:xfrm>
              <a:off x="2372" y="3264"/>
              <a:ext cx="430" cy="10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7879" name="Oval 37"/>
            <p:cNvSpPr>
              <a:spLocks noChangeArrowheads="1"/>
            </p:cNvSpPr>
            <p:nvPr/>
          </p:nvSpPr>
          <p:spPr bwMode="auto">
            <a:xfrm>
              <a:off x="2792" y="2592"/>
              <a:ext cx="254" cy="24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1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1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1</a:t>
              </a:r>
            </a:p>
          </p:txBody>
        </p:sp>
        <p:sp>
          <p:nvSpPr>
            <p:cNvPr id="77880" name="Oval 38"/>
            <p:cNvSpPr>
              <a:spLocks noChangeArrowheads="1"/>
            </p:cNvSpPr>
            <p:nvPr/>
          </p:nvSpPr>
          <p:spPr bwMode="auto">
            <a:xfrm>
              <a:off x="2112" y="3135"/>
              <a:ext cx="254" cy="24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1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1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2</a:t>
              </a:r>
            </a:p>
          </p:txBody>
        </p:sp>
        <p:sp>
          <p:nvSpPr>
            <p:cNvPr id="77881" name="Oval 39"/>
            <p:cNvSpPr>
              <a:spLocks noChangeArrowheads="1"/>
            </p:cNvSpPr>
            <p:nvPr/>
          </p:nvSpPr>
          <p:spPr bwMode="auto">
            <a:xfrm>
              <a:off x="2797" y="3261"/>
              <a:ext cx="254" cy="24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1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1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3</a:t>
              </a:r>
            </a:p>
          </p:txBody>
        </p:sp>
        <p:sp>
          <p:nvSpPr>
            <p:cNvPr id="77882" name="Oval 40"/>
            <p:cNvSpPr>
              <a:spLocks noChangeArrowheads="1"/>
            </p:cNvSpPr>
            <p:nvPr/>
          </p:nvSpPr>
          <p:spPr bwMode="auto">
            <a:xfrm>
              <a:off x="3158" y="3785"/>
              <a:ext cx="254" cy="24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1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1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6</a:t>
              </a:r>
            </a:p>
          </p:txBody>
        </p:sp>
        <p:sp>
          <p:nvSpPr>
            <p:cNvPr id="77883" name="Oval 41"/>
            <p:cNvSpPr>
              <a:spLocks noChangeArrowheads="1"/>
            </p:cNvSpPr>
            <p:nvPr/>
          </p:nvSpPr>
          <p:spPr bwMode="auto">
            <a:xfrm>
              <a:off x="3451" y="3137"/>
              <a:ext cx="254" cy="24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1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1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4</a:t>
              </a:r>
            </a:p>
          </p:txBody>
        </p:sp>
        <p:sp>
          <p:nvSpPr>
            <p:cNvPr id="77885" name="Line 43"/>
            <p:cNvSpPr>
              <a:spLocks noChangeShapeType="1"/>
            </p:cNvSpPr>
            <p:nvPr/>
          </p:nvSpPr>
          <p:spPr bwMode="auto">
            <a:xfrm flipH="1">
              <a:off x="3353" y="3373"/>
              <a:ext cx="215" cy="441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7886" name="Line 44"/>
            <p:cNvSpPr>
              <a:spLocks noChangeShapeType="1"/>
            </p:cNvSpPr>
            <p:nvPr/>
          </p:nvSpPr>
          <p:spPr bwMode="auto">
            <a:xfrm>
              <a:off x="2923" y="2845"/>
              <a:ext cx="0" cy="41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7887" name="Line 45"/>
            <p:cNvSpPr>
              <a:spLocks noChangeShapeType="1"/>
            </p:cNvSpPr>
            <p:nvPr/>
          </p:nvSpPr>
          <p:spPr bwMode="auto">
            <a:xfrm>
              <a:off x="3017" y="3473"/>
              <a:ext cx="215" cy="31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2" name="Text Box 46"/>
            <p:cNvSpPr txBox="1">
              <a:spLocks noChangeArrowheads="1"/>
            </p:cNvSpPr>
            <p:nvPr/>
          </p:nvSpPr>
          <p:spPr bwMode="auto">
            <a:xfrm>
              <a:off x="3072" y="3390"/>
              <a:ext cx="221" cy="3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defRPr/>
              </a:pPr>
              <a:r>
                <a:rPr kumimoji="1" lang="en-US" altLang="zh-CN" sz="2600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仿宋_GB2312" pitchFamily="49" charset="-122"/>
                  <a:ea typeface="仿宋_GB2312" pitchFamily="49" charset="-122"/>
                </a:rPr>
                <a:t>4</a:t>
              </a:r>
            </a:p>
          </p:txBody>
        </p:sp>
        <p:sp>
          <p:nvSpPr>
            <p:cNvPr id="143" name="Text Box 47"/>
            <p:cNvSpPr txBox="1">
              <a:spLocks noChangeArrowheads="1"/>
            </p:cNvSpPr>
            <p:nvPr/>
          </p:nvSpPr>
          <p:spPr bwMode="auto">
            <a:xfrm>
              <a:off x="2889" y="2880"/>
              <a:ext cx="221" cy="3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defRPr/>
              </a:pPr>
              <a:r>
                <a:rPr kumimoji="1" lang="en-US" altLang="zh-CN" sz="2600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仿宋_GB2312" pitchFamily="49" charset="-122"/>
                  <a:ea typeface="仿宋_GB2312" pitchFamily="49" charset="-122"/>
                </a:rPr>
                <a:t>1</a:t>
              </a:r>
            </a:p>
          </p:txBody>
        </p:sp>
        <p:sp>
          <p:nvSpPr>
            <p:cNvPr id="144" name="Text Box 48"/>
            <p:cNvSpPr txBox="1">
              <a:spLocks noChangeArrowheads="1"/>
            </p:cNvSpPr>
            <p:nvPr/>
          </p:nvSpPr>
          <p:spPr bwMode="auto">
            <a:xfrm>
              <a:off x="3465" y="3456"/>
              <a:ext cx="221" cy="3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defRPr/>
              </a:pPr>
              <a:r>
                <a:rPr kumimoji="1" lang="en-US" altLang="zh-CN" sz="2600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仿宋_GB2312" pitchFamily="49" charset="-122"/>
                  <a:ea typeface="仿宋_GB2312" pitchFamily="49" charset="-122"/>
                </a:rPr>
                <a:t>2</a:t>
              </a:r>
            </a:p>
          </p:txBody>
        </p:sp>
        <p:sp>
          <p:nvSpPr>
            <p:cNvPr id="145" name="Text Box 49"/>
            <p:cNvSpPr txBox="1">
              <a:spLocks noChangeArrowheads="1"/>
            </p:cNvSpPr>
            <p:nvPr/>
          </p:nvSpPr>
          <p:spPr bwMode="auto">
            <a:xfrm>
              <a:off x="2380" y="2976"/>
              <a:ext cx="221" cy="3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defRPr/>
              </a:pPr>
              <a:r>
                <a:rPr kumimoji="1" lang="en-US" altLang="zh-CN" sz="2600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仿宋_GB2312" pitchFamily="49" charset="-122"/>
                  <a:ea typeface="仿宋_GB2312" pitchFamily="49" charset="-122"/>
                </a:rPr>
                <a:t>5</a:t>
              </a:r>
            </a:p>
          </p:txBody>
        </p:sp>
      </p:grpSp>
      <p:grpSp>
        <p:nvGrpSpPr>
          <p:cNvPr id="7" name="Group 50"/>
          <p:cNvGrpSpPr>
            <a:grpSpLocks/>
          </p:cNvGrpSpPr>
          <p:nvPr/>
        </p:nvGrpSpPr>
        <p:grpSpPr bwMode="auto">
          <a:xfrm>
            <a:off x="6299200" y="4376738"/>
            <a:ext cx="2528888" cy="2286000"/>
            <a:chOff x="3984" y="2592"/>
            <a:chExt cx="1593" cy="1440"/>
          </a:xfrm>
        </p:grpSpPr>
        <p:sp>
          <p:nvSpPr>
            <p:cNvPr id="77862" name="Line 51"/>
            <p:cNvSpPr>
              <a:spLocks noChangeShapeType="1"/>
            </p:cNvSpPr>
            <p:nvPr/>
          </p:nvSpPr>
          <p:spPr bwMode="auto">
            <a:xfrm>
              <a:off x="4163" y="3384"/>
              <a:ext cx="215" cy="384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7863" name="Line 52"/>
            <p:cNvSpPr>
              <a:spLocks noChangeShapeType="1"/>
            </p:cNvSpPr>
            <p:nvPr/>
          </p:nvSpPr>
          <p:spPr bwMode="auto">
            <a:xfrm>
              <a:off x="4244" y="3264"/>
              <a:ext cx="430" cy="10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7864" name="Oval 53"/>
            <p:cNvSpPr>
              <a:spLocks noChangeArrowheads="1"/>
            </p:cNvSpPr>
            <p:nvPr/>
          </p:nvSpPr>
          <p:spPr bwMode="auto">
            <a:xfrm>
              <a:off x="4664" y="2592"/>
              <a:ext cx="254" cy="24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1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1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1</a:t>
              </a:r>
            </a:p>
          </p:txBody>
        </p:sp>
        <p:sp>
          <p:nvSpPr>
            <p:cNvPr id="77865" name="Oval 54"/>
            <p:cNvSpPr>
              <a:spLocks noChangeArrowheads="1"/>
            </p:cNvSpPr>
            <p:nvPr/>
          </p:nvSpPr>
          <p:spPr bwMode="auto">
            <a:xfrm>
              <a:off x="3984" y="3135"/>
              <a:ext cx="254" cy="24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1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1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2</a:t>
              </a:r>
            </a:p>
          </p:txBody>
        </p:sp>
        <p:sp>
          <p:nvSpPr>
            <p:cNvPr id="77866" name="Oval 55"/>
            <p:cNvSpPr>
              <a:spLocks noChangeArrowheads="1"/>
            </p:cNvSpPr>
            <p:nvPr/>
          </p:nvSpPr>
          <p:spPr bwMode="auto">
            <a:xfrm>
              <a:off x="4669" y="3261"/>
              <a:ext cx="254" cy="24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1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1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3</a:t>
              </a:r>
            </a:p>
          </p:txBody>
        </p:sp>
        <p:sp>
          <p:nvSpPr>
            <p:cNvPr id="77867" name="Oval 56"/>
            <p:cNvSpPr>
              <a:spLocks noChangeArrowheads="1"/>
            </p:cNvSpPr>
            <p:nvPr/>
          </p:nvSpPr>
          <p:spPr bwMode="auto">
            <a:xfrm>
              <a:off x="5030" y="3785"/>
              <a:ext cx="254" cy="24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1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1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6</a:t>
              </a:r>
            </a:p>
          </p:txBody>
        </p:sp>
        <p:sp>
          <p:nvSpPr>
            <p:cNvPr id="77868" name="Oval 57"/>
            <p:cNvSpPr>
              <a:spLocks noChangeArrowheads="1"/>
            </p:cNvSpPr>
            <p:nvPr/>
          </p:nvSpPr>
          <p:spPr bwMode="auto">
            <a:xfrm>
              <a:off x="5323" y="3137"/>
              <a:ext cx="254" cy="24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1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1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4</a:t>
              </a:r>
            </a:p>
          </p:txBody>
        </p:sp>
        <p:sp>
          <p:nvSpPr>
            <p:cNvPr id="77869" name="Oval 58"/>
            <p:cNvSpPr>
              <a:spLocks noChangeArrowheads="1"/>
            </p:cNvSpPr>
            <p:nvPr/>
          </p:nvSpPr>
          <p:spPr bwMode="auto">
            <a:xfrm>
              <a:off x="4349" y="3738"/>
              <a:ext cx="254" cy="24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1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1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5</a:t>
              </a:r>
            </a:p>
          </p:txBody>
        </p:sp>
        <p:sp>
          <p:nvSpPr>
            <p:cNvPr id="77870" name="Line 59"/>
            <p:cNvSpPr>
              <a:spLocks noChangeShapeType="1"/>
            </p:cNvSpPr>
            <p:nvPr/>
          </p:nvSpPr>
          <p:spPr bwMode="auto">
            <a:xfrm flipH="1">
              <a:off x="5225" y="3373"/>
              <a:ext cx="215" cy="441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7871" name="Line 60"/>
            <p:cNvSpPr>
              <a:spLocks noChangeShapeType="1"/>
            </p:cNvSpPr>
            <p:nvPr/>
          </p:nvSpPr>
          <p:spPr bwMode="auto">
            <a:xfrm>
              <a:off x="4795" y="2845"/>
              <a:ext cx="0" cy="41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7872" name="Line 61"/>
            <p:cNvSpPr>
              <a:spLocks noChangeShapeType="1"/>
            </p:cNvSpPr>
            <p:nvPr/>
          </p:nvSpPr>
          <p:spPr bwMode="auto">
            <a:xfrm>
              <a:off x="4889" y="3473"/>
              <a:ext cx="215" cy="31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58" name="Text Box 62"/>
            <p:cNvSpPr txBox="1">
              <a:spLocks noChangeArrowheads="1"/>
            </p:cNvSpPr>
            <p:nvPr/>
          </p:nvSpPr>
          <p:spPr bwMode="auto">
            <a:xfrm>
              <a:off x="4944" y="3390"/>
              <a:ext cx="221" cy="3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defRPr/>
              </a:pPr>
              <a:r>
                <a:rPr kumimoji="1" lang="en-US" altLang="zh-CN" sz="2600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仿宋_GB2312" pitchFamily="49" charset="-122"/>
                  <a:ea typeface="仿宋_GB2312" pitchFamily="49" charset="-122"/>
                </a:rPr>
                <a:t>4</a:t>
              </a:r>
            </a:p>
          </p:txBody>
        </p:sp>
        <p:sp>
          <p:nvSpPr>
            <p:cNvPr id="159" name="Text Box 63"/>
            <p:cNvSpPr txBox="1">
              <a:spLocks noChangeArrowheads="1"/>
            </p:cNvSpPr>
            <p:nvPr/>
          </p:nvSpPr>
          <p:spPr bwMode="auto">
            <a:xfrm>
              <a:off x="4761" y="2880"/>
              <a:ext cx="221" cy="3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defRPr/>
              </a:pPr>
              <a:r>
                <a:rPr kumimoji="1" lang="en-US" altLang="zh-CN" sz="2600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仿宋_GB2312" pitchFamily="49" charset="-122"/>
                  <a:ea typeface="仿宋_GB2312" pitchFamily="49" charset="-122"/>
                </a:rPr>
                <a:t>1</a:t>
              </a:r>
            </a:p>
          </p:txBody>
        </p:sp>
        <p:sp>
          <p:nvSpPr>
            <p:cNvPr id="160" name="Text Box 64"/>
            <p:cNvSpPr txBox="1">
              <a:spLocks noChangeArrowheads="1"/>
            </p:cNvSpPr>
            <p:nvPr/>
          </p:nvSpPr>
          <p:spPr bwMode="auto">
            <a:xfrm>
              <a:off x="5337" y="3456"/>
              <a:ext cx="221" cy="3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defRPr/>
              </a:pPr>
              <a:r>
                <a:rPr kumimoji="1" lang="en-US" altLang="zh-CN" sz="2600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仿宋_GB2312" pitchFamily="49" charset="-122"/>
                  <a:ea typeface="仿宋_GB2312" pitchFamily="49" charset="-122"/>
                </a:rPr>
                <a:t>2</a:t>
              </a:r>
            </a:p>
          </p:txBody>
        </p:sp>
        <p:sp>
          <p:nvSpPr>
            <p:cNvPr id="161" name="Text Box 65"/>
            <p:cNvSpPr txBox="1">
              <a:spLocks noChangeArrowheads="1"/>
            </p:cNvSpPr>
            <p:nvPr/>
          </p:nvSpPr>
          <p:spPr bwMode="auto">
            <a:xfrm>
              <a:off x="4252" y="2976"/>
              <a:ext cx="221" cy="3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defRPr/>
              </a:pPr>
              <a:r>
                <a:rPr kumimoji="1" lang="en-US" altLang="zh-CN" sz="2600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仿宋_GB2312" pitchFamily="49" charset="-122"/>
                  <a:ea typeface="仿宋_GB2312" pitchFamily="49" charset="-122"/>
                </a:rPr>
                <a:t>5</a:t>
              </a:r>
            </a:p>
          </p:txBody>
        </p:sp>
        <p:sp>
          <p:nvSpPr>
            <p:cNvPr id="162" name="Text Box 66"/>
            <p:cNvSpPr txBox="1">
              <a:spLocks noChangeArrowheads="1"/>
            </p:cNvSpPr>
            <p:nvPr/>
          </p:nvSpPr>
          <p:spPr bwMode="auto">
            <a:xfrm>
              <a:off x="4051" y="3408"/>
              <a:ext cx="221" cy="3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defRPr/>
              </a:pPr>
              <a:r>
                <a:rPr kumimoji="1" lang="en-US" altLang="zh-CN" sz="2600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仿宋_GB2312" pitchFamily="49" charset="-122"/>
                  <a:ea typeface="仿宋_GB2312" pitchFamily="49" charset="-122"/>
                </a:rPr>
                <a:t>3</a:t>
              </a:r>
            </a:p>
          </p:txBody>
        </p:sp>
      </p:grpSp>
      <p:grpSp>
        <p:nvGrpSpPr>
          <p:cNvPr id="77833" name="Group 68"/>
          <p:cNvGrpSpPr>
            <a:grpSpLocks/>
          </p:cNvGrpSpPr>
          <p:nvPr/>
        </p:nvGrpSpPr>
        <p:grpSpPr bwMode="auto">
          <a:xfrm>
            <a:off x="188913" y="871538"/>
            <a:ext cx="3367087" cy="3143250"/>
            <a:chOff x="144" y="144"/>
            <a:chExt cx="2121" cy="1980"/>
          </a:xfrm>
        </p:grpSpPr>
        <p:sp>
          <p:nvSpPr>
            <p:cNvPr id="77836" name="Oval 69"/>
            <p:cNvSpPr>
              <a:spLocks noChangeArrowheads="1"/>
            </p:cNvSpPr>
            <p:nvPr/>
          </p:nvSpPr>
          <p:spPr bwMode="auto">
            <a:xfrm>
              <a:off x="1043" y="144"/>
              <a:ext cx="340" cy="340"/>
            </a:xfrm>
            <a:prstGeom prst="ellipse">
              <a:avLst/>
            </a:prstGeom>
            <a:solidFill>
              <a:srgbClr val="FFCC00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>
              <a:outerShdw dist="40161" dir="1106097" algn="ctr" rotWithShape="0">
                <a:schemeClr val="tx1"/>
              </a:outerShdw>
            </a:effec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6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6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1</a:t>
              </a:r>
            </a:p>
          </p:txBody>
        </p:sp>
        <p:sp>
          <p:nvSpPr>
            <p:cNvPr id="77837" name="Oval 70"/>
            <p:cNvSpPr>
              <a:spLocks noChangeArrowheads="1"/>
            </p:cNvSpPr>
            <p:nvPr/>
          </p:nvSpPr>
          <p:spPr bwMode="auto">
            <a:xfrm>
              <a:off x="144" y="903"/>
              <a:ext cx="340" cy="340"/>
            </a:xfrm>
            <a:prstGeom prst="ellipse">
              <a:avLst/>
            </a:prstGeom>
            <a:solidFill>
              <a:srgbClr val="FFCC00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>
              <a:outerShdw dist="40161" dir="1106097" algn="ctr" rotWithShape="0">
                <a:schemeClr val="tx1"/>
              </a:outerShdw>
            </a:effec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6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6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2</a:t>
              </a:r>
            </a:p>
          </p:txBody>
        </p:sp>
        <p:sp>
          <p:nvSpPr>
            <p:cNvPr id="77838" name="Oval 71"/>
            <p:cNvSpPr>
              <a:spLocks noChangeArrowheads="1"/>
            </p:cNvSpPr>
            <p:nvPr/>
          </p:nvSpPr>
          <p:spPr bwMode="auto">
            <a:xfrm>
              <a:off x="1049" y="1064"/>
              <a:ext cx="340" cy="340"/>
            </a:xfrm>
            <a:prstGeom prst="ellipse">
              <a:avLst/>
            </a:prstGeom>
            <a:solidFill>
              <a:srgbClr val="FFCC00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>
              <a:outerShdw dist="40161" dir="1106097" algn="ctr" rotWithShape="0">
                <a:schemeClr val="tx1"/>
              </a:outerShdw>
            </a:effec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6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6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3</a:t>
              </a:r>
            </a:p>
          </p:txBody>
        </p:sp>
        <p:sp>
          <p:nvSpPr>
            <p:cNvPr id="77839" name="Oval 72"/>
            <p:cNvSpPr>
              <a:spLocks noChangeArrowheads="1"/>
            </p:cNvSpPr>
            <p:nvPr/>
          </p:nvSpPr>
          <p:spPr bwMode="auto">
            <a:xfrm>
              <a:off x="1532" y="1784"/>
              <a:ext cx="340" cy="340"/>
            </a:xfrm>
            <a:prstGeom prst="ellipse">
              <a:avLst/>
            </a:prstGeom>
            <a:solidFill>
              <a:srgbClr val="FFCC00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>
              <a:outerShdw dist="40161" dir="1106097" algn="ctr" rotWithShape="0">
                <a:schemeClr val="tx1"/>
              </a:outerShdw>
            </a:effec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6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6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6</a:t>
              </a:r>
            </a:p>
          </p:txBody>
        </p:sp>
        <p:sp>
          <p:nvSpPr>
            <p:cNvPr id="77840" name="Oval 73"/>
            <p:cNvSpPr>
              <a:spLocks noChangeArrowheads="1"/>
            </p:cNvSpPr>
            <p:nvPr/>
          </p:nvSpPr>
          <p:spPr bwMode="auto">
            <a:xfrm>
              <a:off x="1925" y="894"/>
              <a:ext cx="340" cy="340"/>
            </a:xfrm>
            <a:prstGeom prst="ellipse">
              <a:avLst/>
            </a:prstGeom>
            <a:solidFill>
              <a:srgbClr val="FFCC00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>
              <a:outerShdw dist="40161" dir="1106097" algn="ctr" rotWithShape="0">
                <a:schemeClr val="tx1"/>
              </a:outerShdw>
            </a:effec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6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6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4</a:t>
              </a:r>
            </a:p>
          </p:txBody>
        </p:sp>
        <p:sp>
          <p:nvSpPr>
            <p:cNvPr id="77841" name="Oval 74"/>
            <p:cNvSpPr>
              <a:spLocks noChangeArrowheads="1"/>
            </p:cNvSpPr>
            <p:nvPr/>
          </p:nvSpPr>
          <p:spPr bwMode="auto">
            <a:xfrm>
              <a:off x="572" y="1757"/>
              <a:ext cx="340" cy="340"/>
            </a:xfrm>
            <a:prstGeom prst="ellipse">
              <a:avLst/>
            </a:prstGeom>
            <a:solidFill>
              <a:srgbClr val="FFCC00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>
              <a:outerShdw dist="40161" dir="1106097" algn="ctr" rotWithShape="0">
                <a:schemeClr val="tx1"/>
              </a:outerShdw>
            </a:effec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6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6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5</a:t>
              </a:r>
            </a:p>
          </p:txBody>
        </p:sp>
        <p:sp>
          <p:nvSpPr>
            <p:cNvPr id="77842" name="Line 75"/>
            <p:cNvSpPr>
              <a:spLocks noChangeShapeType="1"/>
            </p:cNvSpPr>
            <p:nvPr/>
          </p:nvSpPr>
          <p:spPr bwMode="auto">
            <a:xfrm flipH="1">
              <a:off x="432" y="396"/>
              <a:ext cx="624" cy="5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7843" name="Line 76"/>
            <p:cNvSpPr>
              <a:spLocks noChangeShapeType="1"/>
            </p:cNvSpPr>
            <p:nvPr/>
          </p:nvSpPr>
          <p:spPr bwMode="auto">
            <a:xfrm>
              <a:off x="384" y="1233"/>
              <a:ext cx="288" cy="5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7844" name="Line 77"/>
            <p:cNvSpPr>
              <a:spLocks noChangeShapeType="1"/>
            </p:cNvSpPr>
            <p:nvPr/>
          </p:nvSpPr>
          <p:spPr bwMode="auto">
            <a:xfrm>
              <a:off x="1344" y="396"/>
              <a:ext cx="672" cy="5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7845" name="Line 78"/>
            <p:cNvSpPr>
              <a:spLocks noChangeShapeType="1"/>
            </p:cNvSpPr>
            <p:nvPr/>
          </p:nvSpPr>
          <p:spPr bwMode="auto">
            <a:xfrm flipH="1">
              <a:off x="1794" y="1218"/>
              <a:ext cx="288" cy="60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7846" name="Line 79"/>
            <p:cNvSpPr>
              <a:spLocks noChangeShapeType="1"/>
            </p:cNvSpPr>
            <p:nvPr/>
          </p:nvSpPr>
          <p:spPr bwMode="auto">
            <a:xfrm>
              <a:off x="912" y="1980"/>
              <a:ext cx="6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7847" name="Line 80"/>
            <p:cNvSpPr>
              <a:spLocks noChangeShapeType="1"/>
            </p:cNvSpPr>
            <p:nvPr/>
          </p:nvSpPr>
          <p:spPr bwMode="auto">
            <a:xfrm>
              <a:off x="1218" y="492"/>
              <a:ext cx="0" cy="5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7848" name="Line 81"/>
            <p:cNvSpPr>
              <a:spLocks noChangeShapeType="1"/>
            </p:cNvSpPr>
            <p:nvPr/>
          </p:nvSpPr>
          <p:spPr bwMode="auto">
            <a:xfrm>
              <a:off x="480" y="1068"/>
              <a:ext cx="576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7849" name="Line 82"/>
            <p:cNvSpPr>
              <a:spLocks noChangeShapeType="1"/>
            </p:cNvSpPr>
            <p:nvPr/>
          </p:nvSpPr>
          <p:spPr bwMode="auto">
            <a:xfrm flipH="1">
              <a:off x="1392" y="1068"/>
              <a:ext cx="528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7850" name="Line 83"/>
            <p:cNvSpPr>
              <a:spLocks noChangeShapeType="1"/>
            </p:cNvSpPr>
            <p:nvPr/>
          </p:nvSpPr>
          <p:spPr bwMode="auto">
            <a:xfrm flipH="1">
              <a:off x="816" y="1356"/>
              <a:ext cx="288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7851" name="Line 84"/>
            <p:cNvSpPr>
              <a:spLocks noChangeShapeType="1"/>
            </p:cNvSpPr>
            <p:nvPr/>
          </p:nvSpPr>
          <p:spPr bwMode="auto">
            <a:xfrm>
              <a:off x="1344" y="1356"/>
              <a:ext cx="288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7852" name="Text Box 85"/>
            <p:cNvSpPr txBox="1">
              <a:spLocks noChangeArrowheads="1"/>
            </p:cNvSpPr>
            <p:nvPr/>
          </p:nvSpPr>
          <p:spPr bwMode="auto">
            <a:xfrm>
              <a:off x="1104" y="1662"/>
              <a:ext cx="237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30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6</a:t>
              </a:r>
            </a:p>
          </p:txBody>
        </p:sp>
        <p:sp>
          <p:nvSpPr>
            <p:cNvPr id="77853" name="Text Box 86"/>
            <p:cNvSpPr txBox="1">
              <a:spLocks noChangeArrowheads="1"/>
            </p:cNvSpPr>
            <p:nvPr/>
          </p:nvSpPr>
          <p:spPr bwMode="auto">
            <a:xfrm>
              <a:off x="1632" y="357"/>
              <a:ext cx="237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30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5</a:t>
              </a:r>
            </a:p>
          </p:txBody>
        </p:sp>
        <p:sp>
          <p:nvSpPr>
            <p:cNvPr id="77854" name="Text Box 87"/>
            <p:cNvSpPr txBox="1">
              <a:spLocks noChangeArrowheads="1"/>
            </p:cNvSpPr>
            <p:nvPr/>
          </p:nvSpPr>
          <p:spPr bwMode="auto">
            <a:xfrm>
              <a:off x="756" y="1305"/>
              <a:ext cx="237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30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6</a:t>
              </a:r>
            </a:p>
          </p:txBody>
        </p:sp>
        <p:sp>
          <p:nvSpPr>
            <p:cNvPr id="77855" name="Text Box 88"/>
            <p:cNvSpPr txBox="1">
              <a:spLocks noChangeArrowheads="1"/>
            </p:cNvSpPr>
            <p:nvPr/>
          </p:nvSpPr>
          <p:spPr bwMode="auto">
            <a:xfrm>
              <a:off x="1488" y="837"/>
              <a:ext cx="237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30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5</a:t>
              </a:r>
            </a:p>
          </p:txBody>
        </p:sp>
        <p:sp>
          <p:nvSpPr>
            <p:cNvPr id="77856" name="Text Box 89"/>
            <p:cNvSpPr txBox="1">
              <a:spLocks noChangeArrowheads="1"/>
            </p:cNvSpPr>
            <p:nvPr/>
          </p:nvSpPr>
          <p:spPr bwMode="auto">
            <a:xfrm>
              <a:off x="558" y="405"/>
              <a:ext cx="237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30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6</a:t>
              </a:r>
            </a:p>
          </p:txBody>
        </p:sp>
        <p:sp>
          <p:nvSpPr>
            <p:cNvPr id="77857" name="Text Box 90"/>
            <p:cNvSpPr txBox="1">
              <a:spLocks noChangeArrowheads="1"/>
            </p:cNvSpPr>
            <p:nvPr/>
          </p:nvSpPr>
          <p:spPr bwMode="auto">
            <a:xfrm>
              <a:off x="660" y="816"/>
              <a:ext cx="237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30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5</a:t>
              </a:r>
            </a:p>
          </p:txBody>
        </p:sp>
        <p:sp>
          <p:nvSpPr>
            <p:cNvPr id="77858" name="Text Box 91"/>
            <p:cNvSpPr txBox="1">
              <a:spLocks noChangeArrowheads="1"/>
            </p:cNvSpPr>
            <p:nvPr/>
          </p:nvSpPr>
          <p:spPr bwMode="auto">
            <a:xfrm>
              <a:off x="315" y="1338"/>
              <a:ext cx="237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30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3</a:t>
              </a:r>
            </a:p>
          </p:txBody>
        </p:sp>
        <p:sp>
          <p:nvSpPr>
            <p:cNvPr id="77859" name="Text Box 92"/>
            <p:cNvSpPr txBox="1">
              <a:spLocks noChangeArrowheads="1"/>
            </p:cNvSpPr>
            <p:nvPr/>
          </p:nvSpPr>
          <p:spPr bwMode="auto">
            <a:xfrm>
              <a:off x="1920" y="1440"/>
              <a:ext cx="237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30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2</a:t>
              </a:r>
            </a:p>
          </p:txBody>
        </p:sp>
        <p:sp>
          <p:nvSpPr>
            <p:cNvPr id="77860" name="Text Box 93"/>
            <p:cNvSpPr txBox="1">
              <a:spLocks noChangeArrowheads="1"/>
            </p:cNvSpPr>
            <p:nvPr/>
          </p:nvSpPr>
          <p:spPr bwMode="auto">
            <a:xfrm>
              <a:off x="1440" y="1296"/>
              <a:ext cx="237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30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4</a:t>
              </a:r>
            </a:p>
          </p:txBody>
        </p:sp>
        <p:sp>
          <p:nvSpPr>
            <p:cNvPr id="77861" name="Text Box 94"/>
            <p:cNvSpPr txBox="1">
              <a:spLocks noChangeArrowheads="1"/>
            </p:cNvSpPr>
            <p:nvPr/>
          </p:nvSpPr>
          <p:spPr bwMode="auto">
            <a:xfrm>
              <a:off x="1182" y="576"/>
              <a:ext cx="237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30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1</a:t>
              </a:r>
            </a:p>
          </p:txBody>
        </p:sp>
      </p:grpSp>
      <p:sp>
        <p:nvSpPr>
          <p:cNvPr id="190" name="AutoShape 95"/>
          <p:cNvSpPr>
            <a:spLocks noChangeArrowheads="1"/>
          </p:cNvSpPr>
          <p:nvPr/>
        </p:nvSpPr>
        <p:spPr bwMode="auto">
          <a:xfrm>
            <a:off x="3276600" y="1052513"/>
            <a:ext cx="990600" cy="457200"/>
          </a:xfrm>
          <a:prstGeom prst="wedgeEllipseCallout">
            <a:avLst>
              <a:gd name="adj1" fmla="val -156412"/>
              <a:gd name="adj2" fmla="val -32153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sz="20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起点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914" grpId="0" animBg="1"/>
      <p:bldP spid="77916" grpId="0" animBg="1"/>
      <p:bldP spid="77920" grpId="0" animBg="1"/>
      <p:bldP spid="106" grpId="0"/>
      <p:bldP spid="190" grpId="0" animBg="1" autoUpdateAnimBg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latin typeface="+mn-ea"/>
                <a:ea typeface="+mn-ea"/>
              </a:rPr>
              <a:t>克鲁斯卡尔算法</a:t>
            </a:r>
            <a:r>
              <a:rPr lang="en-US" altLang="zh-CN" dirty="0">
                <a:latin typeface="+mn-ea"/>
                <a:ea typeface="+mn-ea"/>
              </a:rPr>
              <a:t>(</a:t>
            </a:r>
            <a:r>
              <a:rPr lang="en-US" altLang="zh-CN" dirty="0" err="1">
                <a:latin typeface="+mn-ea"/>
                <a:ea typeface="+mn-ea"/>
              </a:rPr>
              <a:t>Kruskal</a:t>
            </a:r>
            <a:r>
              <a:rPr lang="en-US" altLang="zh-CN" dirty="0">
                <a:latin typeface="+mn-ea"/>
                <a:ea typeface="+mn-ea"/>
              </a:rPr>
              <a:t>)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kumimoji="1" lang="zh-CN" altLang="en-US" dirty="0">
                <a:solidFill>
                  <a:srgbClr val="000000"/>
                </a:solidFill>
                <a:latin typeface="+mn-ea"/>
              </a:rPr>
              <a:t>假设</a:t>
            </a:r>
            <a:r>
              <a:rPr kumimoji="1" lang="en-US" altLang="zh-CN" dirty="0">
                <a:solidFill>
                  <a:srgbClr val="000000"/>
                </a:solidFill>
                <a:latin typeface="+mn-ea"/>
              </a:rPr>
              <a:t>N=(V,E)</a:t>
            </a:r>
            <a:r>
              <a:rPr kumimoji="1" lang="zh-CN" altLang="en-US" dirty="0">
                <a:solidFill>
                  <a:srgbClr val="000000"/>
                </a:solidFill>
                <a:latin typeface="+mn-ea"/>
              </a:rPr>
              <a:t>是连通网，</a:t>
            </a:r>
            <a:r>
              <a:rPr kumimoji="1" lang="en-US" altLang="zh-CN" dirty="0">
                <a:solidFill>
                  <a:srgbClr val="000000"/>
                </a:solidFill>
                <a:latin typeface="+mn-ea"/>
              </a:rPr>
              <a:t>TE</a:t>
            </a:r>
            <a:r>
              <a:rPr kumimoji="1" lang="zh-CN" altLang="en-US" dirty="0">
                <a:solidFill>
                  <a:srgbClr val="000000"/>
                </a:solidFill>
                <a:latin typeface="+mn-ea"/>
              </a:rPr>
              <a:t>是</a:t>
            </a:r>
            <a:r>
              <a:rPr kumimoji="1" lang="en-US" altLang="zh-CN" dirty="0">
                <a:solidFill>
                  <a:srgbClr val="000000"/>
                </a:solidFill>
                <a:latin typeface="+mn-ea"/>
              </a:rPr>
              <a:t>N</a:t>
            </a:r>
            <a:r>
              <a:rPr kumimoji="1" lang="zh-CN" altLang="en-US" dirty="0">
                <a:solidFill>
                  <a:srgbClr val="000000"/>
                </a:solidFill>
                <a:latin typeface="+mn-ea"/>
              </a:rPr>
              <a:t>上最小生成树中集合的边，</a:t>
            </a:r>
            <a:r>
              <a:rPr kumimoji="1" lang="en-US" altLang="zh-CN" dirty="0">
                <a:latin typeface="+mn-ea"/>
              </a:rPr>
              <a:t> T=(V,TE)</a:t>
            </a:r>
            <a:r>
              <a:rPr kumimoji="1" lang="zh-CN" altLang="en-US" dirty="0">
                <a:latin typeface="+mn-ea"/>
              </a:rPr>
              <a:t>为</a:t>
            </a:r>
            <a:r>
              <a:rPr kumimoji="1" lang="en-US" altLang="zh-CN" dirty="0">
                <a:latin typeface="+mn-ea"/>
              </a:rPr>
              <a:t>N</a:t>
            </a:r>
            <a:r>
              <a:rPr kumimoji="1" lang="zh-CN" altLang="en-US" dirty="0">
                <a:latin typeface="+mn-ea"/>
              </a:rPr>
              <a:t>的最小生成树</a:t>
            </a:r>
            <a:endParaRPr kumimoji="1" lang="en-US" altLang="zh-CN" dirty="0">
              <a:solidFill>
                <a:srgbClr val="000000"/>
              </a:solidFill>
              <a:latin typeface="+mn-ea"/>
            </a:endParaRPr>
          </a:p>
          <a:p>
            <a:pPr>
              <a:defRPr/>
            </a:pPr>
            <a:r>
              <a:rPr kumimoji="1" lang="zh-CN" altLang="en-US" dirty="0">
                <a:latin typeface="+mn-ea"/>
              </a:rPr>
              <a:t>基本思想 </a:t>
            </a:r>
            <a:endParaRPr kumimoji="1" lang="en-US" altLang="zh-CN" dirty="0">
              <a:latin typeface="+mn-ea"/>
            </a:endParaRPr>
          </a:p>
          <a:p>
            <a:pPr marL="971550" lvl="1" indent="-514350">
              <a:buFont typeface="+mj-lt"/>
              <a:buAutoNum type="arabicPeriod"/>
              <a:defRPr/>
            </a:pPr>
            <a:r>
              <a:rPr kumimoji="1" lang="zh-CN" altLang="en-US" dirty="0">
                <a:latin typeface="+mn-ea"/>
              </a:rPr>
              <a:t>初始状态只有</a:t>
            </a:r>
            <a:r>
              <a:rPr kumimoji="1" lang="en-US" altLang="zh-CN" dirty="0">
                <a:latin typeface="+mn-ea"/>
              </a:rPr>
              <a:t>n</a:t>
            </a:r>
            <a:r>
              <a:rPr kumimoji="1" lang="zh-CN" altLang="en-US" dirty="0">
                <a:latin typeface="+mn-ea"/>
              </a:rPr>
              <a:t>个顶点而无边的非连通图（</a:t>
            </a:r>
            <a:r>
              <a:rPr kumimoji="1" lang="en-US" altLang="zh-CN" dirty="0">
                <a:latin typeface="+mn-ea"/>
              </a:rPr>
              <a:t>TE</a:t>
            </a:r>
            <a:r>
              <a:rPr kumimoji="1" lang="zh-CN" altLang="en-US" dirty="0">
                <a:latin typeface="+mn-ea"/>
              </a:rPr>
              <a:t>为空），图中每个顶点自成一个连通分量</a:t>
            </a:r>
            <a:endParaRPr kumimoji="1" lang="en-US" altLang="zh-CN" dirty="0">
              <a:latin typeface="+mn-ea"/>
            </a:endParaRPr>
          </a:p>
          <a:p>
            <a:pPr marL="971550" lvl="1" indent="-514350">
              <a:buFont typeface="+mj-lt"/>
              <a:buAutoNum type="arabicPeriod"/>
              <a:defRPr/>
            </a:pPr>
            <a:r>
              <a:rPr kumimoji="1" lang="zh-CN" altLang="en-US" dirty="0">
                <a:latin typeface="+mn-ea"/>
              </a:rPr>
              <a:t>在</a:t>
            </a:r>
            <a:r>
              <a:rPr kumimoji="1" lang="en-US" altLang="zh-CN" dirty="0">
                <a:latin typeface="+mn-ea"/>
              </a:rPr>
              <a:t>E</a:t>
            </a:r>
            <a:r>
              <a:rPr kumimoji="1" lang="zh-CN" altLang="en-US" dirty="0">
                <a:latin typeface="+mn-ea"/>
              </a:rPr>
              <a:t>中选择权值最小的边，若该边依附的顶点落在</a:t>
            </a:r>
            <a:r>
              <a:rPr kumimoji="1" lang="en-US" altLang="zh-CN" dirty="0">
                <a:latin typeface="+mn-ea"/>
              </a:rPr>
              <a:t>T</a:t>
            </a:r>
            <a:r>
              <a:rPr kumimoji="1" lang="zh-CN" altLang="en-US" dirty="0">
                <a:latin typeface="+mn-ea"/>
              </a:rPr>
              <a:t>中不同的连通分量上（即不形成回路），则将此边加入到</a:t>
            </a:r>
            <a:r>
              <a:rPr kumimoji="1" lang="en-US" altLang="zh-CN" dirty="0">
                <a:latin typeface="+mn-ea"/>
              </a:rPr>
              <a:t>TE</a:t>
            </a:r>
            <a:r>
              <a:rPr kumimoji="1" lang="zh-CN" altLang="en-US" dirty="0">
                <a:latin typeface="+mn-ea"/>
              </a:rPr>
              <a:t>中，否则舍去此边而选择下一条权值最小的边</a:t>
            </a:r>
            <a:endParaRPr kumimoji="1" lang="en-US" altLang="zh-CN" dirty="0">
              <a:latin typeface="+mn-ea"/>
            </a:endParaRPr>
          </a:p>
          <a:p>
            <a:pPr marL="971550" lvl="1" indent="-514350">
              <a:buFont typeface="+mj-lt"/>
              <a:buAutoNum type="arabicPeriod"/>
              <a:defRPr/>
            </a:pPr>
            <a:r>
              <a:rPr kumimoji="1" lang="zh-CN" altLang="en-US" dirty="0">
                <a:latin typeface="+mn-ea"/>
              </a:rPr>
              <a:t>重复</a:t>
            </a:r>
            <a:r>
              <a:rPr kumimoji="1" lang="en-US" altLang="zh-CN" dirty="0">
                <a:latin typeface="+mn-ea"/>
              </a:rPr>
              <a:t>2</a:t>
            </a:r>
            <a:r>
              <a:rPr kumimoji="1" lang="zh-CN" altLang="en-US" dirty="0">
                <a:latin typeface="+mn-ea"/>
              </a:rPr>
              <a:t>，直至</a:t>
            </a:r>
            <a:r>
              <a:rPr kumimoji="1" lang="en-US" altLang="zh-CN" dirty="0">
                <a:latin typeface="+mn-ea"/>
              </a:rPr>
              <a:t>T</a:t>
            </a:r>
            <a:r>
              <a:rPr kumimoji="1" lang="zh-CN" altLang="en-US" dirty="0">
                <a:latin typeface="+mn-ea"/>
              </a:rPr>
              <a:t>中所有顶点都在同一连通分量上</a:t>
            </a:r>
            <a:endParaRPr kumimoji="1" lang="en-US" altLang="zh-CN" dirty="0">
              <a:latin typeface="+mn-ea"/>
            </a:endParaRPr>
          </a:p>
        </p:txBody>
      </p:sp>
      <p:sp>
        <p:nvSpPr>
          <p:cNvPr id="7987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26B8F2-E270-40CB-BE5C-401DE797D9E8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64</a:t>
            </a:fld>
            <a:endParaRPr lang="zh-CN" altLang="en-US" sz="1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latin typeface="+mn-ea"/>
              </a:rPr>
              <a:t>克鲁斯卡尔算法</a:t>
            </a:r>
            <a:r>
              <a:rPr lang="en-US" altLang="zh-CN" dirty="0">
                <a:latin typeface="+mn-ea"/>
              </a:rPr>
              <a:t>(</a:t>
            </a:r>
            <a:r>
              <a:rPr lang="en-US" altLang="zh-CN" dirty="0" err="1">
                <a:latin typeface="+mn-ea"/>
              </a:rPr>
              <a:t>Kruskal</a:t>
            </a:r>
            <a:r>
              <a:rPr lang="en-US" altLang="zh-CN" dirty="0">
                <a:latin typeface="+mn-ea"/>
              </a:rPr>
              <a:t>)</a:t>
            </a:r>
            <a:endParaRPr lang="zh-CN" altLang="en-US" dirty="0"/>
          </a:p>
        </p:txBody>
      </p:sp>
      <p:sp>
        <p:nvSpPr>
          <p:cNvPr id="80899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A9713B2-7430-4B0D-A4B9-7F53CF6005A5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65</a:t>
            </a:fld>
            <a:endParaRPr lang="zh-CN" altLang="en-US" sz="1000"/>
          </a:p>
        </p:txBody>
      </p:sp>
      <p:grpSp>
        <p:nvGrpSpPr>
          <p:cNvPr id="80900" name="Group 2"/>
          <p:cNvGrpSpPr>
            <a:grpSpLocks/>
          </p:cNvGrpSpPr>
          <p:nvPr/>
        </p:nvGrpSpPr>
        <p:grpSpPr bwMode="auto">
          <a:xfrm>
            <a:off x="177800" y="871538"/>
            <a:ext cx="3367088" cy="3143250"/>
            <a:chOff x="144" y="144"/>
            <a:chExt cx="2121" cy="1980"/>
          </a:xfrm>
        </p:grpSpPr>
        <p:sp>
          <p:nvSpPr>
            <p:cNvPr id="80967" name="Oval 3"/>
            <p:cNvSpPr>
              <a:spLocks noChangeArrowheads="1"/>
            </p:cNvSpPr>
            <p:nvPr/>
          </p:nvSpPr>
          <p:spPr bwMode="auto">
            <a:xfrm>
              <a:off x="1043" y="144"/>
              <a:ext cx="340" cy="340"/>
            </a:xfrm>
            <a:prstGeom prst="ellipse">
              <a:avLst/>
            </a:prstGeom>
            <a:solidFill>
              <a:srgbClr val="FFCC00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>
              <a:outerShdw dist="40161" dir="1106097" algn="ctr" rotWithShape="0">
                <a:schemeClr val="tx1"/>
              </a:outerShdw>
            </a:effec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6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6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1</a:t>
              </a:r>
            </a:p>
          </p:txBody>
        </p:sp>
        <p:sp>
          <p:nvSpPr>
            <p:cNvPr id="80968" name="Oval 4"/>
            <p:cNvSpPr>
              <a:spLocks noChangeArrowheads="1"/>
            </p:cNvSpPr>
            <p:nvPr/>
          </p:nvSpPr>
          <p:spPr bwMode="auto">
            <a:xfrm>
              <a:off x="144" y="903"/>
              <a:ext cx="340" cy="340"/>
            </a:xfrm>
            <a:prstGeom prst="ellipse">
              <a:avLst/>
            </a:prstGeom>
            <a:solidFill>
              <a:srgbClr val="FFCC00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>
              <a:outerShdw dist="40161" dir="1106097" algn="ctr" rotWithShape="0">
                <a:schemeClr val="tx1"/>
              </a:outerShdw>
            </a:effec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6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6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2</a:t>
              </a:r>
            </a:p>
          </p:txBody>
        </p:sp>
        <p:sp>
          <p:nvSpPr>
            <p:cNvPr id="80969" name="Oval 5"/>
            <p:cNvSpPr>
              <a:spLocks noChangeArrowheads="1"/>
            </p:cNvSpPr>
            <p:nvPr/>
          </p:nvSpPr>
          <p:spPr bwMode="auto">
            <a:xfrm>
              <a:off x="1049" y="1064"/>
              <a:ext cx="340" cy="340"/>
            </a:xfrm>
            <a:prstGeom prst="ellipse">
              <a:avLst/>
            </a:prstGeom>
            <a:solidFill>
              <a:srgbClr val="FFCC00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>
              <a:outerShdw dist="40161" dir="1106097" algn="ctr" rotWithShape="0">
                <a:schemeClr val="tx1"/>
              </a:outerShdw>
            </a:effec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6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6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3</a:t>
              </a:r>
            </a:p>
          </p:txBody>
        </p:sp>
        <p:sp>
          <p:nvSpPr>
            <p:cNvPr id="80970" name="Oval 6"/>
            <p:cNvSpPr>
              <a:spLocks noChangeArrowheads="1"/>
            </p:cNvSpPr>
            <p:nvPr/>
          </p:nvSpPr>
          <p:spPr bwMode="auto">
            <a:xfrm>
              <a:off x="1532" y="1784"/>
              <a:ext cx="340" cy="340"/>
            </a:xfrm>
            <a:prstGeom prst="ellipse">
              <a:avLst/>
            </a:prstGeom>
            <a:solidFill>
              <a:srgbClr val="FFCC00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>
              <a:outerShdw dist="40161" dir="1106097" algn="ctr" rotWithShape="0">
                <a:schemeClr val="tx1"/>
              </a:outerShdw>
            </a:effec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6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6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6</a:t>
              </a:r>
            </a:p>
          </p:txBody>
        </p:sp>
        <p:sp>
          <p:nvSpPr>
            <p:cNvPr id="80971" name="Oval 7"/>
            <p:cNvSpPr>
              <a:spLocks noChangeArrowheads="1"/>
            </p:cNvSpPr>
            <p:nvPr/>
          </p:nvSpPr>
          <p:spPr bwMode="auto">
            <a:xfrm>
              <a:off x="1925" y="894"/>
              <a:ext cx="340" cy="340"/>
            </a:xfrm>
            <a:prstGeom prst="ellipse">
              <a:avLst/>
            </a:prstGeom>
            <a:solidFill>
              <a:srgbClr val="FFCC00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>
              <a:outerShdw dist="40161" dir="1106097" algn="ctr" rotWithShape="0">
                <a:schemeClr val="tx1"/>
              </a:outerShdw>
            </a:effec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6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6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4</a:t>
              </a:r>
            </a:p>
          </p:txBody>
        </p:sp>
        <p:sp>
          <p:nvSpPr>
            <p:cNvPr id="80972" name="Oval 8"/>
            <p:cNvSpPr>
              <a:spLocks noChangeArrowheads="1"/>
            </p:cNvSpPr>
            <p:nvPr/>
          </p:nvSpPr>
          <p:spPr bwMode="auto">
            <a:xfrm>
              <a:off x="572" y="1757"/>
              <a:ext cx="340" cy="340"/>
            </a:xfrm>
            <a:prstGeom prst="ellipse">
              <a:avLst/>
            </a:prstGeom>
            <a:solidFill>
              <a:srgbClr val="FFCC00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>
              <a:outerShdw dist="40161" dir="1106097" algn="ctr" rotWithShape="0">
                <a:schemeClr val="tx1"/>
              </a:outerShdw>
            </a:effec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6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6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5</a:t>
              </a:r>
            </a:p>
          </p:txBody>
        </p:sp>
        <p:sp>
          <p:nvSpPr>
            <p:cNvPr id="80973" name="Line 9"/>
            <p:cNvSpPr>
              <a:spLocks noChangeShapeType="1"/>
            </p:cNvSpPr>
            <p:nvPr/>
          </p:nvSpPr>
          <p:spPr bwMode="auto">
            <a:xfrm flipH="1">
              <a:off x="432" y="396"/>
              <a:ext cx="624" cy="5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80974" name="Line 10"/>
            <p:cNvSpPr>
              <a:spLocks noChangeShapeType="1"/>
            </p:cNvSpPr>
            <p:nvPr/>
          </p:nvSpPr>
          <p:spPr bwMode="auto">
            <a:xfrm>
              <a:off x="384" y="1233"/>
              <a:ext cx="288" cy="5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80975" name="Line 11"/>
            <p:cNvSpPr>
              <a:spLocks noChangeShapeType="1"/>
            </p:cNvSpPr>
            <p:nvPr/>
          </p:nvSpPr>
          <p:spPr bwMode="auto">
            <a:xfrm>
              <a:off x="1344" y="396"/>
              <a:ext cx="672" cy="5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80976" name="Line 12"/>
            <p:cNvSpPr>
              <a:spLocks noChangeShapeType="1"/>
            </p:cNvSpPr>
            <p:nvPr/>
          </p:nvSpPr>
          <p:spPr bwMode="auto">
            <a:xfrm flipH="1">
              <a:off x="1794" y="1218"/>
              <a:ext cx="288" cy="60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80977" name="Line 13"/>
            <p:cNvSpPr>
              <a:spLocks noChangeShapeType="1"/>
            </p:cNvSpPr>
            <p:nvPr/>
          </p:nvSpPr>
          <p:spPr bwMode="auto">
            <a:xfrm>
              <a:off x="912" y="1980"/>
              <a:ext cx="6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80978" name="Line 14"/>
            <p:cNvSpPr>
              <a:spLocks noChangeShapeType="1"/>
            </p:cNvSpPr>
            <p:nvPr/>
          </p:nvSpPr>
          <p:spPr bwMode="auto">
            <a:xfrm>
              <a:off x="1218" y="492"/>
              <a:ext cx="0" cy="5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80979" name="Line 15"/>
            <p:cNvSpPr>
              <a:spLocks noChangeShapeType="1"/>
            </p:cNvSpPr>
            <p:nvPr/>
          </p:nvSpPr>
          <p:spPr bwMode="auto">
            <a:xfrm>
              <a:off x="480" y="1068"/>
              <a:ext cx="576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80980" name="Line 16"/>
            <p:cNvSpPr>
              <a:spLocks noChangeShapeType="1"/>
            </p:cNvSpPr>
            <p:nvPr/>
          </p:nvSpPr>
          <p:spPr bwMode="auto">
            <a:xfrm flipH="1">
              <a:off x="1392" y="1068"/>
              <a:ext cx="528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80981" name="Line 17"/>
            <p:cNvSpPr>
              <a:spLocks noChangeShapeType="1"/>
            </p:cNvSpPr>
            <p:nvPr/>
          </p:nvSpPr>
          <p:spPr bwMode="auto">
            <a:xfrm flipH="1">
              <a:off x="816" y="1356"/>
              <a:ext cx="288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80982" name="Line 18"/>
            <p:cNvSpPr>
              <a:spLocks noChangeShapeType="1"/>
            </p:cNvSpPr>
            <p:nvPr/>
          </p:nvSpPr>
          <p:spPr bwMode="auto">
            <a:xfrm>
              <a:off x="1344" y="1356"/>
              <a:ext cx="288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80983" name="Text Box 19"/>
            <p:cNvSpPr txBox="1">
              <a:spLocks noChangeArrowheads="1"/>
            </p:cNvSpPr>
            <p:nvPr/>
          </p:nvSpPr>
          <p:spPr bwMode="auto">
            <a:xfrm>
              <a:off x="1104" y="1662"/>
              <a:ext cx="237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30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6</a:t>
              </a:r>
            </a:p>
          </p:txBody>
        </p:sp>
        <p:sp>
          <p:nvSpPr>
            <p:cNvPr id="80984" name="Text Box 20"/>
            <p:cNvSpPr txBox="1">
              <a:spLocks noChangeArrowheads="1"/>
            </p:cNvSpPr>
            <p:nvPr/>
          </p:nvSpPr>
          <p:spPr bwMode="auto">
            <a:xfrm>
              <a:off x="1632" y="357"/>
              <a:ext cx="237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30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5</a:t>
              </a:r>
            </a:p>
          </p:txBody>
        </p:sp>
        <p:sp>
          <p:nvSpPr>
            <p:cNvPr id="80985" name="Text Box 21"/>
            <p:cNvSpPr txBox="1">
              <a:spLocks noChangeArrowheads="1"/>
            </p:cNvSpPr>
            <p:nvPr/>
          </p:nvSpPr>
          <p:spPr bwMode="auto">
            <a:xfrm>
              <a:off x="756" y="1305"/>
              <a:ext cx="237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30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6</a:t>
              </a:r>
            </a:p>
          </p:txBody>
        </p:sp>
        <p:sp>
          <p:nvSpPr>
            <p:cNvPr id="80986" name="Text Box 22"/>
            <p:cNvSpPr txBox="1">
              <a:spLocks noChangeArrowheads="1"/>
            </p:cNvSpPr>
            <p:nvPr/>
          </p:nvSpPr>
          <p:spPr bwMode="auto">
            <a:xfrm>
              <a:off x="1488" y="837"/>
              <a:ext cx="237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30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5</a:t>
              </a:r>
            </a:p>
          </p:txBody>
        </p:sp>
        <p:sp>
          <p:nvSpPr>
            <p:cNvPr id="80987" name="Text Box 23"/>
            <p:cNvSpPr txBox="1">
              <a:spLocks noChangeArrowheads="1"/>
            </p:cNvSpPr>
            <p:nvPr/>
          </p:nvSpPr>
          <p:spPr bwMode="auto">
            <a:xfrm>
              <a:off x="558" y="405"/>
              <a:ext cx="237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30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6</a:t>
              </a:r>
            </a:p>
          </p:txBody>
        </p:sp>
        <p:sp>
          <p:nvSpPr>
            <p:cNvPr id="80988" name="Text Box 24"/>
            <p:cNvSpPr txBox="1">
              <a:spLocks noChangeArrowheads="1"/>
            </p:cNvSpPr>
            <p:nvPr/>
          </p:nvSpPr>
          <p:spPr bwMode="auto">
            <a:xfrm>
              <a:off x="660" y="816"/>
              <a:ext cx="237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30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5</a:t>
              </a:r>
            </a:p>
          </p:txBody>
        </p:sp>
        <p:sp>
          <p:nvSpPr>
            <p:cNvPr id="80989" name="Text Box 25"/>
            <p:cNvSpPr txBox="1">
              <a:spLocks noChangeArrowheads="1"/>
            </p:cNvSpPr>
            <p:nvPr/>
          </p:nvSpPr>
          <p:spPr bwMode="auto">
            <a:xfrm>
              <a:off x="315" y="1338"/>
              <a:ext cx="237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30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3</a:t>
              </a:r>
            </a:p>
          </p:txBody>
        </p:sp>
        <p:sp>
          <p:nvSpPr>
            <p:cNvPr id="80990" name="Text Box 26"/>
            <p:cNvSpPr txBox="1">
              <a:spLocks noChangeArrowheads="1"/>
            </p:cNvSpPr>
            <p:nvPr/>
          </p:nvSpPr>
          <p:spPr bwMode="auto">
            <a:xfrm>
              <a:off x="1920" y="1440"/>
              <a:ext cx="237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30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2</a:t>
              </a:r>
            </a:p>
          </p:txBody>
        </p:sp>
        <p:sp>
          <p:nvSpPr>
            <p:cNvPr id="80991" name="Text Box 27"/>
            <p:cNvSpPr txBox="1">
              <a:spLocks noChangeArrowheads="1"/>
            </p:cNvSpPr>
            <p:nvPr/>
          </p:nvSpPr>
          <p:spPr bwMode="auto">
            <a:xfrm>
              <a:off x="1440" y="1296"/>
              <a:ext cx="237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30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4</a:t>
              </a:r>
            </a:p>
          </p:txBody>
        </p:sp>
        <p:sp>
          <p:nvSpPr>
            <p:cNvPr id="80992" name="Text Box 28"/>
            <p:cNvSpPr txBox="1">
              <a:spLocks noChangeArrowheads="1"/>
            </p:cNvSpPr>
            <p:nvPr/>
          </p:nvSpPr>
          <p:spPr bwMode="auto">
            <a:xfrm>
              <a:off x="1182" y="576"/>
              <a:ext cx="237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30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1</a:t>
              </a:r>
            </a:p>
          </p:txBody>
        </p:sp>
      </p:grpSp>
      <p:sp>
        <p:nvSpPr>
          <p:cNvPr id="80959" name="Oval 30"/>
          <p:cNvSpPr>
            <a:spLocks noChangeArrowheads="1"/>
          </p:cNvSpPr>
          <p:nvPr/>
        </p:nvSpPr>
        <p:spPr bwMode="auto">
          <a:xfrm>
            <a:off x="4762500" y="1557338"/>
            <a:ext cx="403225" cy="392113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72000" tIns="10800" rIns="72000" bIns="82800" anchor="ctr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25000"/>
              </a:spcBef>
              <a:buClrTx/>
              <a:buFontTx/>
              <a:buNone/>
            </a:pPr>
            <a:r>
              <a:rPr kumimoji="1" lang="en-US" altLang="zh-CN" sz="2100" b="1">
                <a:solidFill>
                  <a:srgbClr val="000000"/>
                </a:solidFill>
                <a:latin typeface="仿宋_GB2312" pitchFamily="49" charset="-122"/>
                <a:ea typeface="仿宋_GB2312" pitchFamily="49" charset="-122"/>
              </a:rPr>
              <a:t>V</a:t>
            </a:r>
            <a:r>
              <a:rPr kumimoji="1" lang="en-US" altLang="zh-CN" sz="2100" b="1" baseline="-25000">
                <a:solidFill>
                  <a:srgbClr val="000000"/>
                </a:solidFill>
                <a:latin typeface="仿宋_GB2312" pitchFamily="49" charset="-122"/>
                <a:ea typeface="仿宋_GB2312" pitchFamily="49" charset="-122"/>
              </a:rPr>
              <a:t>1</a:t>
            </a:r>
          </a:p>
        </p:txBody>
      </p:sp>
      <p:sp>
        <p:nvSpPr>
          <p:cNvPr id="80960" name="Oval 31"/>
          <p:cNvSpPr>
            <a:spLocks noChangeArrowheads="1"/>
          </p:cNvSpPr>
          <p:nvPr/>
        </p:nvSpPr>
        <p:spPr bwMode="auto">
          <a:xfrm>
            <a:off x="3779838" y="2433638"/>
            <a:ext cx="403225" cy="392113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72000" tIns="10800" rIns="72000" bIns="82800" anchor="ctr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25000"/>
              </a:spcBef>
              <a:buClrTx/>
              <a:buFontTx/>
              <a:buNone/>
            </a:pPr>
            <a:r>
              <a:rPr kumimoji="1" lang="en-US" altLang="zh-CN" sz="2100" b="1">
                <a:solidFill>
                  <a:srgbClr val="000000"/>
                </a:solidFill>
                <a:latin typeface="仿宋_GB2312" pitchFamily="49" charset="-122"/>
                <a:ea typeface="仿宋_GB2312" pitchFamily="49" charset="-122"/>
              </a:rPr>
              <a:t>V</a:t>
            </a:r>
            <a:r>
              <a:rPr kumimoji="1" lang="en-US" altLang="zh-CN" sz="2100" b="1" baseline="-25000">
                <a:solidFill>
                  <a:srgbClr val="000000"/>
                </a:solidFill>
                <a:latin typeface="仿宋_GB2312" pitchFamily="49" charset="-122"/>
                <a:ea typeface="仿宋_GB2312" pitchFamily="49" charset="-122"/>
              </a:rPr>
              <a:t>2</a:t>
            </a:r>
          </a:p>
        </p:txBody>
      </p:sp>
      <p:sp>
        <p:nvSpPr>
          <p:cNvPr id="80961" name="Oval 32"/>
          <p:cNvSpPr>
            <a:spLocks noChangeArrowheads="1"/>
          </p:cNvSpPr>
          <p:nvPr/>
        </p:nvSpPr>
        <p:spPr bwMode="auto">
          <a:xfrm>
            <a:off x="4770438" y="2619376"/>
            <a:ext cx="403225" cy="392113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72000" tIns="10800" rIns="72000" bIns="82800" anchor="ctr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25000"/>
              </a:spcBef>
              <a:buClrTx/>
              <a:buFontTx/>
              <a:buNone/>
            </a:pPr>
            <a:r>
              <a:rPr kumimoji="1" lang="en-US" altLang="zh-CN" sz="2100" b="1">
                <a:solidFill>
                  <a:srgbClr val="000000"/>
                </a:solidFill>
                <a:latin typeface="仿宋_GB2312" pitchFamily="49" charset="-122"/>
                <a:ea typeface="仿宋_GB2312" pitchFamily="49" charset="-122"/>
              </a:rPr>
              <a:t>V</a:t>
            </a:r>
            <a:r>
              <a:rPr kumimoji="1" lang="en-US" altLang="zh-CN" sz="2100" b="1" baseline="-25000">
                <a:solidFill>
                  <a:srgbClr val="000000"/>
                </a:solidFill>
                <a:latin typeface="仿宋_GB2312" pitchFamily="49" charset="-122"/>
                <a:ea typeface="仿宋_GB2312" pitchFamily="49" charset="-122"/>
              </a:rPr>
              <a:t>3</a:t>
            </a:r>
          </a:p>
        </p:txBody>
      </p:sp>
      <p:sp>
        <p:nvSpPr>
          <p:cNvPr id="80962" name="Oval 33"/>
          <p:cNvSpPr>
            <a:spLocks noChangeArrowheads="1"/>
          </p:cNvSpPr>
          <p:nvPr/>
        </p:nvSpPr>
        <p:spPr bwMode="auto">
          <a:xfrm>
            <a:off x="5343525" y="3394076"/>
            <a:ext cx="403225" cy="392113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72000" tIns="10800" rIns="72000" bIns="82800" anchor="ctr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25000"/>
              </a:spcBef>
              <a:buClrTx/>
              <a:buFontTx/>
              <a:buNone/>
            </a:pPr>
            <a:r>
              <a:rPr kumimoji="1" lang="en-US" altLang="zh-CN" sz="2100" b="1">
                <a:solidFill>
                  <a:srgbClr val="000000"/>
                </a:solidFill>
                <a:latin typeface="仿宋_GB2312" pitchFamily="49" charset="-122"/>
                <a:ea typeface="仿宋_GB2312" pitchFamily="49" charset="-122"/>
              </a:rPr>
              <a:t>V</a:t>
            </a:r>
            <a:r>
              <a:rPr kumimoji="1" lang="en-US" altLang="zh-CN" sz="2100" b="1" baseline="-25000">
                <a:solidFill>
                  <a:srgbClr val="000000"/>
                </a:solidFill>
                <a:latin typeface="仿宋_GB2312" pitchFamily="49" charset="-122"/>
                <a:ea typeface="仿宋_GB2312" pitchFamily="49" charset="-122"/>
              </a:rPr>
              <a:t>6</a:t>
            </a:r>
          </a:p>
        </p:txBody>
      </p:sp>
      <p:sp>
        <p:nvSpPr>
          <p:cNvPr id="80963" name="Oval 34"/>
          <p:cNvSpPr>
            <a:spLocks noChangeArrowheads="1"/>
          </p:cNvSpPr>
          <p:nvPr/>
        </p:nvSpPr>
        <p:spPr bwMode="auto">
          <a:xfrm>
            <a:off x="5737225" y="2422526"/>
            <a:ext cx="403225" cy="3937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72000" tIns="10800" rIns="72000" bIns="82800" anchor="ctr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25000"/>
              </a:spcBef>
              <a:buClrTx/>
              <a:buFontTx/>
              <a:buNone/>
            </a:pPr>
            <a:r>
              <a:rPr kumimoji="1" lang="en-US" altLang="zh-CN" sz="2100" b="1">
                <a:solidFill>
                  <a:srgbClr val="000000"/>
                </a:solidFill>
                <a:latin typeface="仿宋_GB2312" pitchFamily="49" charset="-122"/>
                <a:ea typeface="仿宋_GB2312" pitchFamily="49" charset="-122"/>
              </a:rPr>
              <a:t>V</a:t>
            </a:r>
            <a:r>
              <a:rPr kumimoji="1" lang="en-US" altLang="zh-CN" sz="2100" b="1" baseline="-25000">
                <a:solidFill>
                  <a:srgbClr val="000000"/>
                </a:solidFill>
                <a:latin typeface="仿宋_GB2312" pitchFamily="49" charset="-122"/>
                <a:ea typeface="仿宋_GB2312" pitchFamily="49" charset="-122"/>
              </a:rPr>
              <a:t>4</a:t>
            </a:r>
          </a:p>
        </p:txBody>
      </p:sp>
      <p:sp>
        <p:nvSpPr>
          <p:cNvPr id="80964" name="Oval 35"/>
          <p:cNvSpPr>
            <a:spLocks noChangeArrowheads="1"/>
          </p:cNvSpPr>
          <p:nvPr/>
        </p:nvSpPr>
        <p:spPr bwMode="auto">
          <a:xfrm>
            <a:off x="4205288" y="3362326"/>
            <a:ext cx="403225" cy="392113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72000" tIns="10800" rIns="72000" bIns="82800" anchor="ctr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25000"/>
              </a:spcBef>
              <a:buClrTx/>
              <a:buFontTx/>
              <a:buNone/>
            </a:pPr>
            <a:r>
              <a:rPr kumimoji="1" lang="en-US" altLang="zh-CN" sz="2100" b="1">
                <a:solidFill>
                  <a:srgbClr val="000000"/>
                </a:solidFill>
                <a:latin typeface="仿宋_GB2312" pitchFamily="49" charset="-122"/>
                <a:ea typeface="仿宋_GB2312" pitchFamily="49" charset="-122"/>
              </a:rPr>
              <a:t>V</a:t>
            </a:r>
            <a:r>
              <a:rPr kumimoji="1" lang="en-US" altLang="zh-CN" sz="2100" b="1" baseline="-25000">
                <a:solidFill>
                  <a:srgbClr val="000000"/>
                </a:solidFill>
                <a:latin typeface="仿宋_GB2312" pitchFamily="49" charset="-122"/>
                <a:ea typeface="仿宋_GB2312" pitchFamily="49" charset="-122"/>
              </a:rPr>
              <a:t>5</a:t>
            </a:r>
          </a:p>
        </p:txBody>
      </p:sp>
      <p:sp>
        <p:nvSpPr>
          <p:cNvPr id="80965" name="Line 36"/>
          <p:cNvSpPr>
            <a:spLocks noChangeShapeType="1"/>
          </p:cNvSpPr>
          <p:nvPr/>
        </p:nvSpPr>
        <p:spPr bwMode="auto">
          <a:xfrm>
            <a:off x="4970463" y="1958976"/>
            <a:ext cx="0" cy="66516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0" name="Text Box 37"/>
          <p:cNvSpPr txBox="1">
            <a:spLocks noChangeArrowheads="1"/>
          </p:cNvSpPr>
          <p:nvPr/>
        </p:nvSpPr>
        <p:spPr bwMode="auto">
          <a:xfrm>
            <a:off x="4973638" y="2014538"/>
            <a:ext cx="350837" cy="52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25000"/>
              </a:spcBef>
              <a:defRPr/>
            </a:pPr>
            <a:r>
              <a:rPr kumimoji="1" lang="en-US" altLang="zh-CN" sz="26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仿宋_GB2312" pitchFamily="49" charset="-122"/>
                <a:ea typeface="仿宋_GB2312" pitchFamily="49" charset="-122"/>
              </a:rPr>
              <a:t>1</a:t>
            </a:r>
          </a:p>
        </p:txBody>
      </p:sp>
      <p:grpSp>
        <p:nvGrpSpPr>
          <p:cNvPr id="5" name="Group 38"/>
          <p:cNvGrpSpPr>
            <a:grpSpLocks/>
          </p:cNvGrpSpPr>
          <p:nvPr/>
        </p:nvGrpSpPr>
        <p:grpSpPr bwMode="auto">
          <a:xfrm>
            <a:off x="6259513" y="4405313"/>
            <a:ext cx="2528887" cy="2286000"/>
            <a:chOff x="3984" y="2352"/>
            <a:chExt cx="1593" cy="1440"/>
          </a:xfrm>
        </p:grpSpPr>
        <p:sp>
          <p:nvSpPr>
            <p:cNvPr id="80943" name="Line 39"/>
            <p:cNvSpPr>
              <a:spLocks noChangeShapeType="1"/>
            </p:cNvSpPr>
            <p:nvPr/>
          </p:nvSpPr>
          <p:spPr bwMode="auto">
            <a:xfrm>
              <a:off x="4163" y="3144"/>
              <a:ext cx="215" cy="384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80944" name="Line 40"/>
            <p:cNvSpPr>
              <a:spLocks noChangeShapeType="1"/>
            </p:cNvSpPr>
            <p:nvPr/>
          </p:nvSpPr>
          <p:spPr bwMode="auto">
            <a:xfrm>
              <a:off x="4244" y="3024"/>
              <a:ext cx="430" cy="10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80945" name="Oval 41"/>
            <p:cNvSpPr>
              <a:spLocks noChangeArrowheads="1"/>
            </p:cNvSpPr>
            <p:nvPr/>
          </p:nvSpPr>
          <p:spPr bwMode="auto">
            <a:xfrm>
              <a:off x="4664" y="2352"/>
              <a:ext cx="254" cy="24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1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1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1</a:t>
              </a:r>
            </a:p>
          </p:txBody>
        </p:sp>
        <p:sp>
          <p:nvSpPr>
            <p:cNvPr id="80946" name="Oval 42"/>
            <p:cNvSpPr>
              <a:spLocks noChangeArrowheads="1"/>
            </p:cNvSpPr>
            <p:nvPr/>
          </p:nvSpPr>
          <p:spPr bwMode="auto">
            <a:xfrm>
              <a:off x="3984" y="2895"/>
              <a:ext cx="254" cy="24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1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1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2</a:t>
              </a:r>
            </a:p>
          </p:txBody>
        </p:sp>
        <p:sp>
          <p:nvSpPr>
            <p:cNvPr id="80947" name="Oval 43"/>
            <p:cNvSpPr>
              <a:spLocks noChangeArrowheads="1"/>
            </p:cNvSpPr>
            <p:nvPr/>
          </p:nvSpPr>
          <p:spPr bwMode="auto">
            <a:xfrm>
              <a:off x="4669" y="3021"/>
              <a:ext cx="254" cy="24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1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1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3</a:t>
              </a:r>
            </a:p>
          </p:txBody>
        </p:sp>
        <p:sp>
          <p:nvSpPr>
            <p:cNvPr id="80948" name="Oval 44"/>
            <p:cNvSpPr>
              <a:spLocks noChangeArrowheads="1"/>
            </p:cNvSpPr>
            <p:nvPr/>
          </p:nvSpPr>
          <p:spPr bwMode="auto">
            <a:xfrm>
              <a:off x="5030" y="3545"/>
              <a:ext cx="254" cy="24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1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1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6</a:t>
              </a:r>
            </a:p>
          </p:txBody>
        </p:sp>
        <p:sp>
          <p:nvSpPr>
            <p:cNvPr id="80949" name="Oval 45"/>
            <p:cNvSpPr>
              <a:spLocks noChangeArrowheads="1"/>
            </p:cNvSpPr>
            <p:nvPr/>
          </p:nvSpPr>
          <p:spPr bwMode="auto">
            <a:xfrm>
              <a:off x="5323" y="2897"/>
              <a:ext cx="254" cy="24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1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1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4</a:t>
              </a:r>
            </a:p>
          </p:txBody>
        </p:sp>
        <p:sp>
          <p:nvSpPr>
            <p:cNvPr id="80950" name="Oval 46"/>
            <p:cNvSpPr>
              <a:spLocks noChangeArrowheads="1"/>
            </p:cNvSpPr>
            <p:nvPr/>
          </p:nvSpPr>
          <p:spPr bwMode="auto">
            <a:xfrm>
              <a:off x="4349" y="3498"/>
              <a:ext cx="254" cy="24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1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1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5</a:t>
              </a:r>
            </a:p>
          </p:txBody>
        </p:sp>
        <p:sp>
          <p:nvSpPr>
            <p:cNvPr id="80951" name="Line 47"/>
            <p:cNvSpPr>
              <a:spLocks noChangeShapeType="1"/>
            </p:cNvSpPr>
            <p:nvPr/>
          </p:nvSpPr>
          <p:spPr bwMode="auto">
            <a:xfrm flipH="1">
              <a:off x="5225" y="3133"/>
              <a:ext cx="215" cy="441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80952" name="Line 48"/>
            <p:cNvSpPr>
              <a:spLocks noChangeShapeType="1"/>
            </p:cNvSpPr>
            <p:nvPr/>
          </p:nvSpPr>
          <p:spPr bwMode="auto">
            <a:xfrm>
              <a:off x="4795" y="2605"/>
              <a:ext cx="0" cy="41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80953" name="Line 49"/>
            <p:cNvSpPr>
              <a:spLocks noChangeShapeType="1"/>
            </p:cNvSpPr>
            <p:nvPr/>
          </p:nvSpPr>
          <p:spPr bwMode="auto">
            <a:xfrm>
              <a:off x="4889" y="3233"/>
              <a:ext cx="215" cy="31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3" name="Text Box 50"/>
            <p:cNvSpPr txBox="1">
              <a:spLocks noChangeArrowheads="1"/>
            </p:cNvSpPr>
            <p:nvPr/>
          </p:nvSpPr>
          <p:spPr bwMode="auto">
            <a:xfrm>
              <a:off x="4944" y="3150"/>
              <a:ext cx="221" cy="3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defRPr/>
              </a:pPr>
              <a:r>
                <a:rPr kumimoji="1" lang="en-US" altLang="zh-CN" sz="2600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仿宋_GB2312" pitchFamily="49" charset="-122"/>
                  <a:ea typeface="仿宋_GB2312" pitchFamily="49" charset="-122"/>
                </a:rPr>
                <a:t>4</a:t>
              </a:r>
            </a:p>
          </p:txBody>
        </p:sp>
        <p:sp>
          <p:nvSpPr>
            <p:cNvPr id="54" name="Text Box 51"/>
            <p:cNvSpPr txBox="1">
              <a:spLocks noChangeArrowheads="1"/>
            </p:cNvSpPr>
            <p:nvPr/>
          </p:nvSpPr>
          <p:spPr bwMode="auto">
            <a:xfrm>
              <a:off x="4761" y="2640"/>
              <a:ext cx="221" cy="3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defRPr/>
              </a:pPr>
              <a:r>
                <a:rPr kumimoji="1" lang="en-US" altLang="zh-CN" sz="2600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仿宋_GB2312" pitchFamily="49" charset="-122"/>
                  <a:ea typeface="仿宋_GB2312" pitchFamily="49" charset="-122"/>
                </a:rPr>
                <a:t>1</a:t>
              </a:r>
            </a:p>
          </p:txBody>
        </p:sp>
        <p:sp>
          <p:nvSpPr>
            <p:cNvPr id="55" name="Text Box 52"/>
            <p:cNvSpPr txBox="1">
              <a:spLocks noChangeArrowheads="1"/>
            </p:cNvSpPr>
            <p:nvPr/>
          </p:nvSpPr>
          <p:spPr bwMode="auto">
            <a:xfrm>
              <a:off x="5337" y="3216"/>
              <a:ext cx="221" cy="3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defRPr/>
              </a:pPr>
              <a:r>
                <a:rPr kumimoji="1" lang="en-US" altLang="zh-CN" sz="2600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仿宋_GB2312" pitchFamily="49" charset="-122"/>
                  <a:ea typeface="仿宋_GB2312" pitchFamily="49" charset="-122"/>
                </a:rPr>
                <a:t>2</a:t>
              </a:r>
            </a:p>
          </p:txBody>
        </p:sp>
        <p:sp>
          <p:nvSpPr>
            <p:cNvPr id="56" name="Text Box 53"/>
            <p:cNvSpPr txBox="1">
              <a:spLocks noChangeArrowheads="1"/>
            </p:cNvSpPr>
            <p:nvPr/>
          </p:nvSpPr>
          <p:spPr bwMode="auto">
            <a:xfrm>
              <a:off x="4252" y="2736"/>
              <a:ext cx="221" cy="3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defRPr/>
              </a:pPr>
              <a:r>
                <a:rPr kumimoji="1" lang="en-US" altLang="zh-CN" sz="2600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仿宋_GB2312" pitchFamily="49" charset="-122"/>
                  <a:ea typeface="仿宋_GB2312" pitchFamily="49" charset="-122"/>
                </a:rPr>
                <a:t>5</a:t>
              </a:r>
            </a:p>
          </p:txBody>
        </p:sp>
        <p:sp>
          <p:nvSpPr>
            <p:cNvPr id="57" name="Text Box 54"/>
            <p:cNvSpPr txBox="1">
              <a:spLocks noChangeArrowheads="1"/>
            </p:cNvSpPr>
            <p:nvPr/>
          </p:nvSpPr>
          <p:spPr bwMode="auto">
            <a:xfrm>
              <a:off x="4051" y="3168"/>
              <a:ext cx="221" cy="3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defRPr/>
              </a:pPr>
              <a:r>
                <a:rPr kumimoji="1" lang="en-US" altLang="zh-CN" sz="2600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仿宋_GB2312" pitchFamily="49" charset="-122"/>
                  <a:ea typeface="仿宋_GB2312" pitchFamily="49" charset="-122"/>
                </a:rPr>
                <a:t>3</a:t>
              </a:r>
            </a:p>
          </p:txBody>
        </p:sp>
      </p:grpSp>
      <p:grpSp>
        <p:nvGrpSpPr>
          <p:cNvPr id="6" name="Group 56"/>
          <p:cNvGrpSpPr>
            <a:grpSpLocks/>
          </p:cNvGrpSpPr>
          <p:nvPr/>
        </p:nvGrpSpPr>
        <p:grpSpPr bwMode="auto">
          <a:xfrm>
            <a:off x="6621463" y="1546225"/>
            <a:ext cx="2257425" cy="2286000"/>
            <a:chOff x="4194" y="569"/>
            <a:chExt cx="1422" cy="1440"/>
          </a:xfrm>
        </p:grpSpPr>
        <p:sp>
          <p:nvSpPr>
            <p:cNvPr id="80933" name="Oval 57"/>
            <p:cNvSpPr>
              <a:spLocks noChangeArrowheads="1"/>
            </p:cNvSpPr>
            <p:nvPr/>
          </p:nvSpPr>
          <p:spPr bwMode="auto">
            <a:xfrm>
              <a:off x="4775" y="569"/>
              <a:ext cx="254" cy="24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1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1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1</a:t>
              </a:r>
            </a:p>
          </p:txBody>
        </p:sp>
        <p:sp>
          <p:nvSpPr>
            <p:cNvPr id="80934" name="Oval 58"/>
            <p:cNvSpPr>
              <a:spLocks noChangeArrowheads="1"/>
            </p:cNvSpPr>
            <p:nvPr/>
          </p:nvSpPr>
          <p:spPr bwMode="auto">
            <a:xfrm>
              <a:off x="4194" y="1121"/>
              <a:ext cx="254" cy="24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1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1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2</a:t>
              </a:r>
            </a:p>
          </p:txBody>
        </p:sp>
        <p:sp>
          <p:nvSpPr>
            <p:cNvPr id="80935" name="Oval 59"/>
            <p:cNvSpPr>
              <a:spLocks noChangeArrowheads="1"/>
            </p:cNvSpPr>
            <p:nvPr/>
          </p:nvSpPr>
          <p:spPr bwMode="auto">
            <a:xfrm>
              <a:off x="4780" y="1238"/>
              <a:ext cx="254" cy="24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1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1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3</a:t>
              </a:r>
            </a:p>
          </p:txBody>
        </p:sp>
        <p:sp>
          <p:nvSpPr>
            <p:cNvPr id="80936" name="Oval 60"/>
            <p:cNvSpPr>
              <a:spLocks noChangeArrowheads="1"/>
            </p:cNvSpPr>
            <p:nvPr/>
          </p:nvSpPr>
          <p:spPr bwMode="auto">
            <a:xfrm>
              <a:off x="5141" y="1762"/>
              <a:ext cx="254" cy="24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1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1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6</a:t>
              </a:r>
            </a:p>
          </p:txBody>
        </p:sp>
        <p:sp>
          <p:nvSpPr>
            <p:cNvPr id="80937" name="Oval 61"/>
            <p:cNvSpPr>
              <a:spLocks noChangeArrowheads="1"/>
            </p:cNvSpPr>
            <p:nvPr/>
          </p:nvSpPr>
          <p:spPr bwMode="auto">
            <a:xfrm>
              <a:off x="5362" y="1114"/>
              <a:ext cx="254" cy="24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1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1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4</a:t>
              </a:r>
            </a:p>
          </p:txBody>
        </p:sp>
        <p:sp>
          <p:nvSpPr>
            <p:cNvPr id="80938" name="Oval 62"/>
            <p:cNvSpPr>
              <a:spLocks noChangeArrowheads="1"/>
            </p:cNvSpPr>
            <p:nvPr/>
          </p:nvSpPr>
          <p:spPr bwMode="auto">
            <a:xfrm>
              <a:off x="4496" y="1742"/>
              <a:ext cx="254" cy="24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1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1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5</a:t>
              </a:r>
            </a:p>
          </p:txBody>
        </p:sp>
        <p:sp>
          <p:nvSpPr>
            <p:cNvPr id="80939" name="Line 63"/>
            <p:cNvSpPr>
              <a:spLocks noChangeShapeType="1"/>
            </p:cNvSpPr>
            <p:nvPr/>
          </p:nvSpPr>
          <p:spPr bwMode="auto">
            <a:xfrm>
              <a:off x="4906" y="822"/>
              <a:ext cx="0" cy="41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6" name="Text Box 64"/>
            <p:cNvSpPr txBox="1">
              <a:spLocks noChangeArrowheads="1"/>
            </p:cNvSpPr>
            <p:nvPr/>
          </p:nvSpPr>
          <p:spPr bwMode="auto">
            <a:xfrm>
              <a:off x="4902" y="896"/>
              <a:ext cx="221" cy="3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defRPr/>
              </a:pPr>
              <a:r>
                <a:rPr kumimoji="1" lang="en-US" altLang="zh-CN" sz="2600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仿宋_GB2312" pitchFamily="49" charset="-122"/>
                  <a:ea typeface="仿宋_GB2312" pitchFamily="49" charset="-122"/>
                </a:rPr>
                <a:t>1</a:t>
              </a:r>
            </a:p>
          </p:txBody>
        </p:sp>
        <p:sp>
          <p:nvSpPr>
            <p:cNvPr id="80941" name="Line 65"/>
            <p:cNvSpPr>
              <a:spLocks noChangeShapeType="1"/>
            </p:cNvSpPr>
            <p:nvPr/>
          </p:nvSpPr>
          <p:spPr bwMode="auto">
            <a:xfrm flipH="1">
              <a:off x="5280" y="1344"/>
              <a:ext cx="215" cy="441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8" name="Text Box 66"/>
            <p:cNvSpPr txBox="1">
              <a:spLocks noChangeArrowheads="1"/>
            </p:cNvSpPr>
            <p:nvPr/>
          </p:nvSpPr>
          <p:spPr bwMode="auto">
            <a:xfrm>
              <a:off x="5376" y="1392"/>
              <a:ext cx="221" cy="3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defRPr/>
              </a:pPr>
              <a:r>
                <a:rPr kumimoji="1" lang="en-US" altLang="zh-CN" sz="2600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仿宋_GB2312" pitchFamily="49" charset="-122"/>
                  <a:ea typeface="仿宋_GB2312" pitchFamily="49" charset="-122"/>
                </a:rPr>
                <a:t>2</a:t>
              </a:r>
            </a:p>
          </p:txBody>
        </p:sp>
      </p:grpSp>
      <p:grpSp>
        <p:nvGrpSpPr>
          <p:cNvPr id="7" name="Group 67"/>
          <p:cNvGrpSpPr>
            <a:grpSpLocks/>
          </p:cNvGrpSpPr>
          <p:nvPr/>
        </p:nvGrpSpPr>
        <p:grpSpPr bwMode="auto">
          <a:xfrm>
            <a:off x="3397250" y="4405313"/>
            <a:ext cx="2286000" cy="2286000"/>
            <a:chOff x="2256" y="2364"/>
            <a:chExt cx="1440" cy="1440"/>
          </a:xfrm>
        </p:grpSpPr>
        <p:sp>
          <p:nvSpPr>
            <p:cNvPr id="80919" name="Line 68"/>
            <p:cNvSpPr>
              <a:spLocks noChangeShapeType="1"/>
            </p:cNvSpPr>
            <p:nvPr/>
          </p:nvSpPr>
          <p:spPr bwMode="auto">
            <a:xfrm>
              <a:off x="3066" y="3260"/>
              <a:ext cx="215" cy="31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1" name="Text Box 69"/>
            <p:cNvSpPr txBox="1">
              <a:spLocks noChangeArrowheads="1"/>
            </p:cNvSpPr>
            <p:nvPr/>
          </p:nvSpPr>
          <p:spPr bwMode="auto">
            <a:xfrm>
              <a:off x="3121" y="3177"/>
              <a:ext cx="221" cy="3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defRPr/>
              </a:pPr>
              <a:r>
                <a:rPr kumimoji="1" lang="en-US" altLang="zh-CN" sz="2600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仿宋_GB2312" pitchFamily="49" charset="-122"/>
                  <a:ea typeface="仿宋_GB2312" pitchFamily="49" charset="-122"/>
                </a:rPr>
                <a:t>4</a:t>
              </a:r>
            </a:p>
          </p:txBody>
        </p:sp>
        <p:sp>
          <p:nvSpPr>
            <p:cNvPr id="80921" name="Oval 70"/>
            <p:cNvSpPr>
              <a:spLocks noChangeArrowheads="1"/>
            </p:cNvSpPr>
            <p:nvPr/>
          </p:nvSpPr>
          <p:spPr bwMode="auto">
            <a:xfrm>
              <a:off x="2855" y="2364"/>
              <a:ext cx="254" cy="24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1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1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1</a:t>
              </a:r>
            </a:p>
          </p:txBody>
        </p:sp>
        <p:sp>
          <p:nvSpPr>
            <p:cNvPr id="80922" name="Oval 71"/>
            <p:cNvSpPr>
              <a:spLocks noChangeArrowheads="1"/>
            </p:cNvSpPr>
            <p:nvPr/>
          </p:nvSpPr>
          <p:spPr bwMode="auto">
            <a:xfrm>
              <a:off x="2256" y="2916"/>
              <a:ext cx="254" cy="24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1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1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2</a:t>
              </a:r>
            </a:p>
          </p:txBody>
        </p:sp>
        <p:sp>
          <p:nvSpPr>
            <p:cNvPr id="80923" name="Oval 72"/>
            <p:cNvSpPr>
              <a:spLocks noChangeArrowheads="1"/>
            </p:cNvSpPr>
            <p:nvPr/>
          </p:nvSpPr>
          <p:spPr bwMode="auto">
            <a:xfrm>
              <a:off x="2860" y="3033"/>
              <a:ext cx="254" cy="24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1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1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3</a:t>
              </a:r>
            </a:p>
          </p:txBody>
        </p:sp>
        <p:sp>
          <p:nvSpPr>
            <p:cNvPr id="80924" name="Oval 73"/>
            <p:cNvSpPr>
              <a:spLocks noChangeArrowheads="1"/>
            </p:cNvSpPr>
            <p:nvPr/>
          </p:nvSpPr>
          <p:spPr bwMode="auto">
            <a:xfrm>
              <a:off x="3221" y="3557"/>
              <a:ext cx="254" cy="24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1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1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6</a:t>
              </a:r>
            </a:p>
          </p:txBody>
        </p:sp>
        <p:sp>
          <p:nvSpPr>
            <p:cNvPr id="80925" name="Oval 74"/>
            <p:cNvSpPr>
              <a:spLocks noChangeArrowheads="1"/>
            </p:cNvSpPr>
            <p:nvPr/>
          </p:nvSpPr>
          <p:spPr bwMode="auto">
            <a:xfrm>
              <a:off x="3442" y="2909"/>
              <a:ext cx="254" cy="24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1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1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4</a:t>
              </a:r>
            </a:p>
          </p:txBody>
        </p:sp>
        <p:sp>
          <p:nvSpPr>
            <p:cNvPr id="80926" name="Oval 75"/>
            <p:cNvSpPr>
              <a:spLocks noChangeArrowheads="1"/>
            </p:cNvSpPr>
            <p:nvPr/>
          </p:nvSpPr>
          <p:spPr bwMode="auto">
            <a:xfrm>
              <a:off x="2576" y="3537"/>
              <a:ext cx="254" cy="24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1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1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5</a:t>
              </a:r>
            </a:p>
          </p:txBody>
        </p:sp>
        <p:sp>
          <p:nvSpPr>
            <p:cNvPr id="80927" name="Line 76"/>
            <p:cNvSpPr>
              <a:spLocks noChangeShapeType="1"/>
            </p:cNvSpPr>
            <p:nvPr/>
          </p:nvSpPr>
          <p:spPr bwMode="auto">
            <a:xfrm>
              <a:off x="2986" y="2617"/>
              <a:ext cx="0" cy="41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79" name="Text Box 77"/>
            <p:cNvSpPr txBox="1">
              <a:spLocks noChangeArrowheads="1"/>
            </p:cNvSpPr>
            <p:nvPr/>
          </p:nvSpPr>
          <p:spPr bwMode="auto">
            <a:xfrm>
              <a:off x="2982" y="2691"/>
              <a:ext cx="221" cy="3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defRPr/>
              </a:pPr>
              <a:r>
                <a:rPr kumimoji="1" lang="en-US" altLang="zh-CN" sz="2600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仿宋_GB2312" pitchFamily="49" charset="-122"/>
                  <a:ea typeface="仿宋_GB2312" pitchFamily="49" charset="-122"/>
                </a:rPr>
                <a:t>1</a:t>
              </a:r>
            </a:p>
          </p:txBody>
        </p:sp>
        <p:sp>
          <p:nvSpPr>
            <p:cNvPr id="80929" name="Line 78"/>
            <p:cNvSpPr>
              <a:spLocks noChangeShapeType="1"/>
            </p:cNvSpPr>
            <p:nvPr/>
          </p:nvSpPr>
          <p:spPr bwMode="auto">
            <a:xfrm flipH="1">
              <a:off x="3360" y="3139"/>
              <a:ext cx="215" cy="441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81" name="Text Box 79"/>
            <p:cNvSpPr txBox="1">
              <a:spLocks noChangeArrowheads="1"/>
            </p:cNvSpPr>
            <p:nvPr/>
          </p:nvSpPr>
          <p:spPr bwMode="auto">
            <a:xfrm>
              <a:off x="3456" y="3187"/>
              <a:ext cx="221" cy="3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defRPr/>
              </a:pPr>
              <a:r>
                <a:rPr kumimoji="1" lang="en-US" altLang="zh-CN" sz="2600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仿宋_GB2312" pitchFamily="49" charset="-122"/>
                  <a:ea typeface="仿宋_GB2312" pitchFamily="49" charset="-122"/>
                </a:rPr>
                <a:t>2</a:t>
              </a:r>
            </a:p>
          </p:txBody>
        </p:sp>
        <p:sp>
          <p:nvSpPr>
            <p:cNvPr id="80931" name="Line 80"/>
            <p:cNvSpPr>
              <a:spLocks noChangeShapeType="1"/>
            </p:cNvSpPr>
            <p:nvPr/>
          </p:nvSpPr>
          <p:spPr bwMode="auto">
            <a:xfrm>
              <a:off x="2416" y="3163"/>
              <a:ext cx="215" cy="384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83" name="Text Box 81"/>
            <p:cNvSpPr txBox="1">
              <a:spLocks noChangeArrowheads="1"/>
            </p:cNvSpPr>
            <p:nvPr/>
          </p:nvSpPr>
          <p:spPr bwMode="auto">
            <a:xfrm>
              <a:off x="2304" y="3187"/>
              <a:ext cx="221" cy="3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defRPr/>
              </a:pPr>
              <a:r>
                <a:rPr kumimoji="1" lang="en-US" altLang="zh-CN" sz="2600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仿宋_GB2312" pitchFamily="49" charset="-122"/>
                  <a:ea typeface="仿宋_GB2312" pitchFamily="49" charset="-122"/>
                </a:rPr>
                <a:t>3</a:t>
              </a:r>
            </a:p>
          </p:txBody>
        </p:sp>
      </p:grpSp>
      <p:grpSp>
        <p:nvGrpSpPr>
          <p:cNvPr id="8" name="Group 82"/>
          <p:cNvGrpSpPr>
            <a:grpSpLocks/>
          </p:cNvGrpSpPr>
          <p:nvPr/>
        </p:nvGrpSpPr>
        <p:grpSpPr bwMode="auto">
          <a:xfrm>
            <a:off x="420688" y="4391025"/>
            <a:ext cx="2286000" cy="2286000"/>
            <a:chOff x="378" y="2361"/>
            <a:chExt cx="1440" cy="1440"/>
          </a:xfrm>
        </p:grpSpPr>
        <p:sp>
          <p:nvSpPr>
            <p:cNvPr id="80907" name="Oval 83"/>
            <p:cNvSpPr>
              <a:spLocks noChangeArrowheads="1"/>
            </p:cNvSpPr>
            <p:nvPr/>
          </p:nvSpPr>
          <p:spPr bwMode="auto">
            <a:xfrm>
              <a:off x="977" y="2361"/>
              <a:ext cx="254" cy="24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1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1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1</a:t>
              </a:r>
            </a:p>
          </p:txBody>
        </p:sp>
        <p:sp>
          <p:nvSpPr>
            <p:cNvPr id="80908" name="Oval 84"/>
            <p:cNvSpPr>
              <a:spLocks noChangeArrowheads="1"/>
            </p:cNvSpPr>
            <p:nvPr/>
          </p:nvSpPr>
          <p:spPr bwMode="auto">
            <a:xfrm>
              <a:off x="378" y="2913"/>
              <a:ext cx="254" cy="24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1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1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2</a:t>
              </a:r>
            </a:p>
          </p:txBody>
        </p:sp>
        <p:sp>
          <p:nvSpPr>
            <p:cNvPr id="80909" name="Oval 85"/>
            <p:cNvSpPr>
              <a:spLocks noChangeArrowheads="1"/>
            </p:cNvSpPr>
            <p:nvPr/>
          </p:nvSpPr>
          <p:spPr bwMode="auto">
            <a:xfrm>
              <a:off x="982" y="3030"/>
              <a:ext cx="254" cy="24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1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1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3</a:t>
              </a:r>
            </a:p>
          </p:txBody>
        </p:sp>
        <p:sp>
          <p:nvSpPr>
            <p:cNvPr id="80910" name="Oval 86"/>
            <p:cNvSpPr>
              <a:spLocks noChangeArrowheads="1"/>
            </p:cNvSpPr>
            <p:nvPr/>
          </p:nvSpPr>
          <p:spPr bwMode="auto">
            <a:xfrm>
              <a:off x="1343" y="3554"/>
              <a:ext cx="254" cy="24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1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1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6</a:t>
              </a:r>
            </a:p>
          </p:txBody>
        </p:sp>
        <p:sp>
          <p:nvSpPr>
            <p:cNvPr id="80911" name="Oval 87"/>
            <p:cNvSpPr>
              <a:spLocks noChangeArrowheads="1"/>
            </p:cNvSpPr>
            <p:nvPr/>
          </p:nvSpPr>
          <p:spPr bwMode="auto">
            <a:xfrm>
              <a:off x="1564" y="2906"/>
              <a:ext cx="254" cy="24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1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1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4</a:t>
              </a:r>
            </a:p>
          </p:txBody>
        </p:sp>
        <p:sp>
          <p:nvSpPr>
            <p:cNvPr id="80912" name="Oval 88"/>
            <p:cNvSpPr>
              <a:spLocks noChangeArrowheads="1"/>
            </p:cNvSpPr>
            <p:nvPr/>
          </p:nvSpPr>
          <p:spPr bwMode="auto">
            <a:xfrm>
              <a:off x="698" y="3534"/>
              <a:ext cx="254" cy="24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72000" tIns="10800" rIns="72000" bIns="82800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buClrTx/>
                <a:buFontTx/>
                <a:buNone/>
              </a:pPr>
              <a:r>
                <a:rPr kumimoji="1" lang="en-US" altLang="zh-CN" sz="2100" b="1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V</a:t>
              </a:r>
              <a:r>
                <a:rPr kumimoji="1" lang="en-US" altLang="zh-CN" sz="2100" b="1" baseline="-25000">
                  <a:solidFill>
                    <a:srgbClr val="000000"/>
                  </a:solidFill>
                  <a:latin typeface="仿宋_GB2312" pitchFamily="49" charset="-122"/>
                  <a:ea typeface="仿宋_GB2312" pitchFamily="49" charset="-122"/>
                </a:rPr>
                <a:t>5</a:t>
              </a:r>
            </a:p>
          </p:txBody>
        </p:sp>
        <p:sp>
          <p:nvSpPr>
            <p:cNvPr id="80913" name="Line 89"/>
            <p:cNvSpPr>
              <a:spLocks noChangeShapeType="1"/>
            </p:cNvSpPr>
            <p:nvPr/>
          </p:nvSpPr>
          <p:spPr bwMode="auto">
            <a:xfrm>
              <a:off x="1108" y="2614"/>
              <a:ext cx="0" cy="41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92" name="Text Box 90"/>
            <p:cNvSpPr txBox="1">
              <a:spLocks noChangeArrowheads="1"/>
            </p:cNvSpPr>
            <p:nvPr/>
          </p:nvSpPr>
          <p:spPr bwMode="auto">
            <a:xfrm>
              <a:off x="1104" y="2688"/>
              <a:ext cx="221" cy="3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defRPr/>
              </a:pPr>
              <a:r>
                <a:rPr kumimoji="1" lang="en-US" altLang="zh-CN" sz="2600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仿宋_GB2312" pitchFamily="49" charset="-122"/>
                  <a:ea typeface="仿宋_GB2312" pitchFamily="49" charset="-122"/>
                </a:rPr>
                <a:t>1</a:t>
              </a:r>
            </a:p>
          </p:txBody>
        </p:sp>
        <p:sp>
          <p:nvSpPr>
            <p:cNvPr id="80915" name="Line 91"/>
            <p:cNvSpPr>
              <a:spLocks noChangeShapeType="1"/>
            </p:cNvSpPr>
            <p:nvPr/>
          </p:nvSpPr>
          <p:spPr bwMode="auto">
            <a:xfrm flipH="1">
              <a:off x="1482" y="3136"/>
              <a:ext cx="215" cy="441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94" name="Text Box 92"/>
            <p:cNvSpPr txBox="1">
              <a:spLocks noChangeArrowheads="1"/>
            </p:cNvSpPr>
            <p:nvPr/>
          </p:nvSpPr>
          <p:spPr bwMode="auto">
            <a:xfrm>
              <a:off x="1578" y="3184"/>
              <a:ext cx="221" cy="3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defRPr/>
              </a:pPr>
              <a:r>
                <a:rPr kumimoji="1" lang="en-US" altLang="zh-CN" sz="2600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仿宋_GB2312" pitchFamily="49" charset="-122"/>
                  <a:ea typeface="仿宋_GB2312" pitchFamily="49" charset="-122"/>
                </a:rPr>
                <a:t>2</a:t>
              </a:r>
            </a:p>
          </p:txBody>
        </p:sp>
        <p:sp>
          <p:nvSpPr>
            <p:cNvPr id="80917" name="Line 93"/>
            <p:cNvSpPr>
              <a:spLocks noChangeShapeType="1"/>
            </p:cNvSpPr>
            <p:nvPr/>
          </p:nvSpPr>
          <p:spPr bwMode="auto">
            <a:xfrm>
              <a:off x="538" y="3160"/>
              <a:ext cx="215" cy="384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96" name="Text Box 94"/>
            <p:cNvSpPr txBox="1">
              <a:spLocks noChangeArrowheads="1"/>
            </p:cNvSpPr>
            <p:nvPr/>
          </p:nvSpPr>
          <p:spPr bwMode="auto">
            <a:xfrm>
              <a:off x="426" y="3184"/>
              <a:ext cx="221" cy="3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25000"/>
                </a:spcBef>
                <a:defRPr/>
              </a:pPr>
              <a:r>
                <a:rPr kumimoji="1" lang="en-US" altLang="zh-CN" sz="2600" b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仿宋_GB2312" pitchFamily="49" charset="-122"/>
                  <a:ea typeface="仿宋_GB2312" pitchFamily="49" charset="-122"/>
                </a:rPr>
                <a:t>3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59" grpId="0" animBg="1"/>
      <p:bldP spid="80960" grpId="0" animBg="1"/>
      <p:bldP spid="80961" grpId="0" animBg="1"/>
      <p:bldP spid="80962" grpId="0" animBg="1"/>
      <p:bldP spid="80963" grpId="0" animBg="1"/>
      <p:bldP spid="80964" grpId="0" animBg="1"/>
      <p:bldP spid="80965" grpId="0" animBg="1"/>
      <p:bldP spid="40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31640" y="2615406"/>
            <a:ext cx="6624736" cy="10795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练习 </a:t>
            </a:r>
            <a:r>
              <a:rPr lang="en-US" altLang="zh-CN" dirty="0"/>
              <a:t>6-6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9689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练习：</a:t>
            </a:r>
            <a:r>
              <a:rPr lang="zh-CN" altLang="en-US" dirty="0">
                <a:latin typeface="+mn-ea"/>
              </a:rPr>
              <a:t>克鲁斯卡尔算法</a:t>
            </a:r>
            <a:endParaRPr lang="zh-CN" altLang="en-US" dirty="0"/>
          </a:p>
        </p:txBody>
      </p:sp>
      <p:sp>
        <p:nvSpPr>
          <p:cNvPr id="81923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39DC878-8AED-4C4F-9BDD-FF8BA4E091EC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67</a:t>
            </a:fld>
            <a:endParaRPr lang="zh-CN" altLang="en-US" sz="1000"/>
          </a:p>
        </p:txBody>
      </p:sp>
      <p:sp>
        <p:nvSpPr>
          <p:cNvPr id="51" name="内容占位符 2"/>
          <p:cNvSpPr>
            <a:spLocks noGrp="1"/>
          </p:cNvSpPr>
          <p:nvPr>
            <p:ph idx="1"/>
          </p:nvPr>
        </p:nvSpPr>
        <p:spPr>
          <a:xfrm>
            <a:off x="468313" y="1125538"/>
            <a:ext cx="8207375" cy="1397000"/>
          </a:xfrm>
        </p:spPr>
        <p:txBody>
          <a:bodyPr/>
          <a:lstStyle/>
          <a:p>
            <a:pPr>
              <a:defRPr/>
            </a:pPr>
            <a:r>
              <a:rPr kumimoji="1" lang="zh-CN" altLang="en-US" dirty="0">
                <a:latin typeface="+mn-ea"/>
              </a:rPr>
              <a:t>找到下图的一个最小生成树，并给出示意图</a:t>
            </a:r>
            <a:endParaRPr kumimoji="1" lang="en-US" altLang="zh-CN" dirty="0">
              <a:latin typeface="+mn-ea"/>
            </a:endParaRPr>
          </a:p>
        </p:txBody>
      </p:sp>
      <p:grpSp>
        <p:nvGrpSpPr>
          <p:cNvPr id="81925" name="Group 4"/>
          <p:cNvGrpSpPr>
            <a:grpSpLocks/>
          </p:cNvGrpSpPr>
          <p:nvPr/>
        </p:nvGrpSpPr>
        <p:grpSpPr bwMode="auto">
          <a:xfrm>
            <a:off x="2267744" y="2352160"/>
            <a:ext cx="4175293" cy="3452512"/>
            <a:chOff x="1351" y="2792"/>
            <a:chExt cx="1771" cy="1284"/>
          </a:xfrm>
        </p:grpSpPr>
        <p:grpSp>
          <p:nvGrpSpPr>
            <p:cNvPr id="81927" name="Group 5"/>
            <p:cNvGrpSpPr>
              <a:grpSpLocks/>
            </p:cNvGrpSpPr>
            <p:nvPr/>
          </p:nvGrpSpPr>
          <p:grpSpPr bwMode="auto">
            <a:xfrm>
              <a:off x="1351" y="2855"/>
              <a:ext cx="1670" cy="1132"/>
              <a:chOff x="1351" y="2855"/>
              <a:chExt cx="1670" cy="1132"/>
            </a:xfrm>
          </p:grpSpPr>
          <p:sp>
            <p:nvSpPr>
              <p:cNvPr id="81935" name="Oval 6"/>
              <p:cNvSpPr>
                <a:spLocks noChangeArrowheads="1"/>
              </p:cNvSpPr>
              <p:nvPr/>
            </p:nvSpPr>
            <p:spPr bwMode="auto">
              <a:xfrm>
                <a:off x="1689" y="2855"/>
                <a:ext cx="222" cy="21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2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81936" name="Oval 7"/>
              <p:cNvSpPr>
                <a:spLocks noChangeArrowheads="1"/>
              </p:cNvSpPr>
              <p:nvPr/>
            </p:nvSpPr>
            <p:spPr bwMode="auto">
              <a:xfrm>
                <a:off x="2419" y="3329"/>
                <a:ext cx="222" cy="21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2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6</a:t>
                </a:r>
              </a:p>
            </p:txBody>
          </p:sp>
          <p:sp>
            <p:nvSpPr>
              <p:cNvPr id="81937" name="Oval 8"/>
              <p:cNvSpPr>
                <a:spLocks noChangeArrowheads="1"/>
              </p:cNvSpPr>
              <p:nvPr/>
            </p:nvSpPr>
            <p:spPr bwMode="auto">
              <a:xfrm>
                <a:off x="1936" y="3358"/>
                <a:ext cx="222" cy="21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2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5</a:t>
                </a:r>
              </a:p>
            </p:txBody>
          </p:sp>
          <p:sp>
            <p:nvSpPr>
              <p:cNvPr id="81938" name="Oval 9"/>
              <p:cNvSpPr>
                <a:spLocks noChangeArrowheads="1"/>
              </p:cNvSpPr>
              <p:nvPr/>
            </p:nvSpPr>
            <p:spPr bwMode="auto">
              <a:xfrm>
                <a:off x="2799" y="3776"/>
                <a:ext cx="222" cy="21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2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4</a:t>
                </a:r>
              </a:p>
            </p:txBody>
          </p:sp>
          <p:sp>
            <p:nvSpPr>
              <p:cNvPr id="81939" name="Oval 10"/>
              <p:cNvSpPr>
                <a:spLocks noChangeArrowheads="1"/>
              </p:cNvSpPr>
              <p:nvPr/>
            </p:nvSpPr>
            <p:spPr bwMode="auto">
              <a:xfrm>
                <a:off x="1351" y="3761"/>
                <a:ext cx="222" cy="21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2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3</a:t>
                </a:r>
              </a:p>
            </p:txBody>
          </p:sp>
          <p:sp>
            <p:nvSpPr>
              <p:cNvPr id="81940" name="Oval 11"/>
              <p:cNvSpPr>
                <a:spLocks noChangeArrowheads="1"/>
              </p:cNvSpPr>
              <p:nvPr/>
            </p:nvSpPr>
            <p:spPr bwMode="auto">
              <a:xfrm>
                <a:off x="2791" y="2855"/>
                <a:ext cx="222" cy="21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2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81941" name="Line 12"/>
              <p:cNvSpPr>
                <a:spLocks noChangeShapeType="1"/>
              </p:cNvSpPr>
              <p:nvPr/>
            </p:nvSpPr>
            <p:spPr bwMode="auto">
              <a:xfrm>
                <a:off x="1900" y="2966"/>
                <a:ext cx="9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81942" name="Line 13"/>
              <p:cNvSpPr>
                <a:spLocks noChangeShapeType="1"/>
              </p:cNvSpPr>
              <p:nvPr/>
            </p:nvSpPr>
            <p:spPr bwMode="auto">
              <a:xfrm flipH="1">
                <a:off x="1500" y="3066"/>
                <a:ext cx="267" cy="7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81943" name="Line 14"/>
              <p:cNvSpPr>
                <a:spLocks noChangeShapeType="1"/>
              </p:cNvSpPr>
              <p:nvPr/>
            </p:nvSpPr>
            <p:spPr bwMode="auto">
              <a:xfrm>
                <a:off x="1856" y="3055"/>
                <a:ext cx="144" cy="3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81944" name="Line 15"/>
              <p:cNvSpPr>
                <a:spLocks noChangeShapeType="1"/>
              </p:cNvSpPr>
              <p:nvPr/>
            </p:nvSpPr>
            <p:spPr bwMode="auto">
              <a:xfrm>
                <a:off x="1578" y="3900"/>
                <a:ext cx="123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81945" name="Line 17"/>
              <p:cNvSpPr>
                <a:spLocks noChangeShapeType="1"/>
              </p:cNvSpPr>
              <p:nvPr/>
            </p:nvSpPr>
            <p:spPr bwMode="auto">
              <a:xfrm>
                <a:off x="1889" y="3033"/>
                <a:ext cx="558" cy="32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81946" name="Line 18"/>
              <p:cNvSpPr>
                <a:spLocks noChangeShapeType="1"/>
              </p:cNvSpPr>
              <p:nvPr/>
            </p:nvSpPr>
            <p:spPr bwMode="auto">
              <a:xfrm flipH="1">
                <a:off x="2900" y="3078"/>
                <a:ext cx="0" cy="6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  <p:sp>
            <p:nvSpPr>
              <p:cNvPr id="81947" name="Line 19"/>
              <p:cNvSpPr>
                <a:spLocks noChangeShapeType="1"/>
              </p:cNvSpPr>
              <p:nvPr/>
            </p:nvSpPr>
            <p:spPr bwMode="auto">
              <a:xfrm flipH="1">
                <a:off x="2611" y="3055"/>
                <a:ext cx="234" cy="3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/>
              </a:p>
            </p:txBody>
          </p:sp>
        </p:grpSp>
        <p:sp>
          <p:nvSpPr>
            <p:cNvPr id="81928" name="Text Box 22"/>
            <p:cNvSpPr txBox="1">
              <a:spLocks noChangeArrowheads="1"/>
            </p:cNvSpPr>
            <p:nvPr/>
          </p:nvSpPr>
          <p:spPr bwMode="auto">
            <a:xfrm>
              <a:off x="2236" y="2792"/>
              <a:ext cx="154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81929" name="Text Box 23"/>
            <p:cNvSpPr txBox="1">
              <a:spLocks noChangeArrowheads="1"/>
            </p:cNvSpPr>
            <p:nvPr/>
          </p:nvSpPr>
          <p:spPr bwMode="auto">
            <a:xfrm>
              <a:off x="1407" y="3247"/>
              <a:ext cx="231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宋体" panose="02010600030101010101" pitchFamily="2" charset="-122"/>
                </a:rPr>
                <a:t>13</a:t>
              </a:r>
            </a:p>
          </p:txBody>
        </p:sp>
        <p:sp>
          <p:nvSpPr>
            <p:cNvPr id="81930" name="Text Box 25"/>
            <p:cNvSpPr txBox="1">
              <a:spLocks noChangeArrowheads="1"/>
            </p:cNvSpPr>
            <p:nvPr/>
          </p:nvSpPr>
          <p:spPr bwMode="auto">
            <a:xfrm>
              <a:off x="1791" y="3202"/>
              <a:ext cx="154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宋体" panose="02010600030101010101" pitchFamily="2" charset="-122"/>
                </a:rPr>
                <a:t>9</a:t>
              </a:r>
            </a:p>
          </p:txBody>
        </p:sp>
        <p:sp>
          <p:nvSpPr>
            <p:cNvPr id="81931" name="Text Box 26"/>
            <p:cNvSpPr txBox="1">
              <a:spLocks noChangeArrowheads="1"/>
            </p:cNvSpPr>
            <p:nvPr/>
          </p:nvSpPr>
          <p:spPr bwMode="auto">
            <a:xfrm>
              <a:off x="2040" y="3881"/>
              <a:ext cx="231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宋体" panose="02010600030101010101" pitchFamily="2" charset="-122"/>
                </a:rPr>
                <a:t>18</a:t>
              </a:r>
            </a:p>
          </p:txBody>
        </p:sp>
        <p:sp>
          <p:nvSpPr>
            <p:cNvPr id="81932" name="Text Box 28"/>
            <p:cNvSpPr txBox="1">
              <a:spLocks noChangeArrowheads="1"/>
            </p:cNvSpPr>
            <p:nvPr/>
          </p:nvSpPr>
          <p:spPr bwMode="auto">
            <a:xfrm>
              <a:off x="2125" y="3059"/>
              <a:ext cx="154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81933" name="Text Box 29"/>
            <p:cNvSpPr txBox="1">
              <a:spLocks noChangeArrowheads="1"/>
            </p:cNvSpPr>
            <p:nvPr/>
          </p:nvSpPr>
          <p:spPr bwMode="auto">
            <a:xfrm>
              <a:off x="2558" y="3125"/>
              <a:ext cx="154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81934" name="Text Box 30"/>
            <p:cNvSpPr txBox="1">
              <a:spLocks noChangeArrowheads="1"/>
            </p:cNvSpPr>
            <p:nvPr/>
          </p:nvSpPr>
          <p:spPr bwMode="auto">
            <a:xfrm>
              <a:off x="2891" y="3325"/>
              <a:ext cx="231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24</a:t>
              </a:r>
            </a:p>
          </p:txBody>
        </p:sp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最短路径</a:t>
            </a:r>
          </a:p>
        </p:txBody>
      </p:sp>
      <p:sp>
        <p:nvSpPr>
          <p:cNvPr id="6451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kumimoji="1" lang="zh-CN" altLang="en-US" dirty="0">
                <a:solidFill>
                  <a:schemeClr val="tx2"/>
                </a:solidFill>
                <a:latin typeface="+mn-ea"/>
              </a:rPr>
              <a:t>典型用途：</a:t>
            </a:r>
            <a:r>
              <a:rPr kumimoji="1" lang="zh-CN" altLang="en-US" dirty="0">
                <a:latin typeface="+mn-ea"/>
              </a:rPr>
              <a:t>交通问题。</a:t>
            </a:r>
            <a:endParaRPr kumimoji="1" lang="en-US" altLang="zh-CN" dirty="0">
              <a:latin typeface="+mn-ea"/>
            </a:endParaRPr>
          </a:p>
          <a:p>
            <a:pPr lvl="1" eaLnBrk="1" hangingPunct="1">
              <a:defRPr/>
            </a:pPr>
            <a:r>
              <a:rPr kumimoji="1" lang="zh-CN" altLang="en-US" dirty="0">
                <a:latin typeface="+mn-ea"/>
              </a:rPr>
              <a:t>如：城市</a:t>
            </a:r>
            <a:r>
              <a:rPr kumimoji="1" lang="en-US" altLang="zh-CN" dirty="0">
                <a:latin typeface="+mn-ea"/>
              </a:rPr>
              <a:t>A</a:t>
            </a:r>
            <a:r>
              <a:rPr kumimoji="1" lang="zh-CN" altLang="en-US" dirty="0">
                <a:latin typeface="+mn-ea"/>
              </a:rPr>
              <a:t>到城市</a:t>
            </a:r>
            <a:r>
              <a:rPr kumimoji="1" lang="en-US" altLang="zh-CN" dirty="0">
                <a:latin typeface="+mn-ea"/>
              </a:rPr>
              <a:t>B</a:t>
            </a:r>
            <a:r>
              <a:rPr kumimoji="1" lang="zh-CN" altLang="en-US" dirty="0">
                <a:latin typeface="+mn-ea"/>
              </a:rPr>
              <a:t>有多条线路，但每条线路的交通费（或所需时间）不同，那么，</a:t>
            </a:r>
            <a:r>
              <a:rPr kumimoji="1" lang="zh-CN" altLang="en-US" dirty="0">
                <a:solidFill>
                  <a:schemeClr val="tx2"/>
                </a:solidFill>
                <a:latin typeface="+mn-ea"/>
              </a:rPr>
              <a:t>如何选择一条线路，使总费用（或总时间）最少？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dirty="0">
                <a:solidFill>
                  <a:schemeClr val="tx2"/>
                </a:solidFill>
                <a:latin typeface="+mn-ea"/>
              </a:rPr>
              <a:t>问题抽象：</a:t>
            </a:r>
            <a:r>
              <a:rPr kumimoji="1" lang="zh-CN" altLang="en-US" dirty="0">
                <a:latin typeface="+mn-ea"/>
              </a:rPr>
              <a:t>在</a:t>
            </a:r>
            <a:r>
              <a:rPr kumimoji="1" lang="zh-CN" altLang="en-US" dirty="0">
                <a:solidFill>
                  <a:schemeClr val="tx2"/>
                </a:solidFill>
                <a:latin typeface="+mn-ea"/>
              </a:rPr>
              <a:t>带权有向图</a:t>
            </a:r>
            <a:r>
              <a:rPr kumimoji="1" lang="zh-CN" altLang="en-US" dirty="0">
                <a:latin typeface="+mn-ea"/>
              </a:rPr>
              <a:t>中</a:t>
            </a:r>
            <a:r>
              <a:rPr kumimoji="1" lang="en-US" altLang="zh-CN" dirty="0">
                <a:latin typeface="+mn-ea"/>
              </a:rPr>
              <a:t>A</a:t>
            </a:r>
            <a:r>
              <a:rPr kumimoji="1" lang="zh-CN" altLang="en-US" dirty="0">
                <a:latin typeface="+mn-ea"/>
              </a:rPr>
              <a:t>点（源点）到达</a:t>
            </a:r>
            <a:r>
              <a:rPr kumimoji="1" lang="en-US" altLang="zh-CN" dirty="0">
                <a:latin typeface="+mn-ea"/>
              </a:rPr>
              <a:t>B</a:t>
            </a:r>
            <a:r>
              <a:rPr kumimoji="1" lang="zh-CN" altLang="en-US" dirty="0">
                <a:latin typeface="+mn-ea"/>
              </a:rPr>
              <a:t>点（终点）的多条路径中，寻找一条</a:t>
            </a:r>
            <a:r>
              <a:rPr kumimoji="1" lang="zh-CN" altLang="en-US" dirty="0">
                <a:solidFill>
                  <a:schemeClr val="tx2"/>
                </a:solidFill>
                <a:latin typeface="+mn-ea"/>
              </a:rPr>
              <a:t>各边权值之和最小</a:t>
            </a:r>
            <a:r>
              <a:rPr kumimoji="1" lang="zh-CN" altLang="en-US" dirty="0">
                <a:latin typeface="+mn-ea"/>
              </a:rPr>
              <a:t>的路径，即最短路径。</a:t>
            </a:r>
          </a:p>
          <a:p>
            <a:pPr lvl="1">
              <a:defRPr/>
            </a:pPr>
            <a:r>
              <a:rPr kumimoji="1" lang="zh-CN" altLang="en-US" dirty="0">
                <a:solidFill>
                  <a:schemeClr val="tx2"/>
                </a:solidFill>
                <a:latin typeface="+mn-ea"/>
              </a:rPr>
              <a:t>最短路径与最小生成树不同，路径上不一定包含</a:t>
            </a:r>
            <a:r>
              <a:rPr kumimoji="1" lang="en-US" altLang="zh-CN" dirty="0">
                <a:solidFill>
                  <a:schemeClr val="tx2"/>
                </a:solidFill>
                <a:latin typeface="+mn-ea"/>
              </a:rPr>
              <a:t>n</a:t>
            </a:r>
            <a:r>
              <a:rPr kumimoji="1" lang="zh-CN" altLang="en-US" dirty="0">
                <a:solidFill>
                  <a:schemeClr val="tx2"/>
                </a:solidFill>
                <a:latin typeface="+mn-ea"/>
              </a:rPr>
              <a:t>个顶点</a:t>
            </a:r>
            <a:endParaRPr lang="zh-CN" altLang="en-US" dirty="0">
              <a:latin typeface="+mn-ea"/>
            </a:endParaRPr>
          </a:p>
        </p:txBody>
      </p:sp>
      <p:sp>
        <p:nvSpPr>
          <p:cNvPr id="82948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294FBCC-D6C1-4EA3-86FE-6822B322E47C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68</a:t>
            </a:fld>
            <a:endParaRPr lang="zh-CN" altLang="en-US" sz="10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最短路径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05000"/>
              </a:lnSpc>
              <a:spcBef>
                <a:spcPct val="50000"/>
              </a:spcBef>
              <a:defRPr/>
            </a:pPr>
            <a:r>
              <a:rPr kumimoji="1" lang="zh-CN" altLang="en-US" dirty="0">
                <a:solidFill>
                  <a:schemeClr val="tx2"/>
                </a:solidFill>
                <a:latin typeface="+mn-ea"/>
              </a:rPr>
              <a:t>这里只讨论有向网络</a:t>
            </a:r>
            <a:endParaRPr kumimoji="1" lang="en-US" altLang="zh-CN" dirty="0">
              <a:solidFill>
                <a:schemeClr val="tx2"/>
              </a:solidFill>
              <a:latin typeface="+mn-ea"/>
            </a:endParaRPr>
          </a:p>
          <a:p>
            <a:pPr lvl="1" eaLnBrk="1" hangingPunct="1">
              <a:lnSpc>
                <a:spcPct val="105000"/>
              </a:lnSpc>
              <a:spcBef>
                <a:spcPct val="50000"/>
              </a:spcBef>
              <a:defRPr/>
            </a:pPr>
            <a:r>
              <a:rPr kumimoji="1" lang="zh-CN" altLang="en-US" dirty="0">
                <a:solidFill>
                  <a:schemeClr val="tx2"/>
                </a:solidFill>
                <a:latin typeface="+mn-ea"/>
              </a:rPr>
              <a:t>路径的开始顶点为源点</a:t>
            </a:r>
            <a:r>
              <a:rPr kumimoji="1" lang="en-US" altLang="zh-CN" dirty="0">
                <a:solidFill>
                  <a:schemeClr val="tx2"/>
                </a:solidFill>
                <a:latin typeface="+mn-ea"/>
              </a:rPr>
              <a:t>(Source)</a:t>
            </a:r>
          </a:p>
          <a:p>
            <a:pPr lvl="1" eaLnBrk="1" hangingPunct="1">
              <a:lnSpc>
                <a:spcPct val="105000"/>
              </a:lnSpc>
              <a:spcBef>
                <a:spcPct val="50000"/>
              </a:spcBef>
              <a:defRPr/>
            </a:pPr>
            <a:r>
              <a:rPr kumimoji="1" lang="zh-CN" altLang="en-US" dirty="0">
                <a:latin typeface="+mn-ea"/>
              </a:rPr>
              <a:t>路径的最后一个顶点为终点</a:t>
            </a:r>
            <a:r>
              <a:rPr kumimoji="1" lang="en-US" altLang="zh-CN" dirty="0">
                <a:latin typeface="+mn-ea"/>
              </a:rPr>
              <a:t>(Destination)</a:t>
            </a:r>
            <a:endParaRPr kumimoji="1" lang="zh-CN" altLang="en-US" dirty="0">
              <a:latin typeface="+mn-ea"/>
            </a:endParaRPr>
          </a:p>
          <a:p>
            <a:pPr eaLnBrk="1" hangingPunct="1">
              <a:lnSpc>
                <a:spcPct val="105000"/>
              </a:lnSpc>
              <a:spcBef>
                <a:spcPct val="50000"/>
              </a:spcBef>
              <a:defRPr/>
            </a:pPr>
            <a:r>
              <a:rPr kumimoji="1" lang="zh-CN" altLang="en-US" dirty="0">
                <a:solidFill>
                  <a:schemeClr val="tx2"/>
                </a:solidFill>
                <a:latin typeface="+mn-ea"/>
              </a:rPr>
              <a:t>两种常见的最短路径问题：</a:t>
            </a:r>
          </a:p>
          <a:p>
            <a:pPr lvl="1" eaLnBrk="1" hangingPunct="1">
              <a:lnSpc>
                <a:spcPct val="105000"/>
              </a:lnSpc>
              <a:spcBef>
                <a:spcPct val="50000"/>
              </a:spcBef>
              <a:defRPr/>
            </a:pPr>
            <a:r>
              <a:rPr kumimoji="1" lang="zh-CN" altLang="en-US" dirty="0">
                <a:solidFill>
                  <a:schemeClr val="tx2"/>
                </a:solidFill>
                <a:latin typeface="+mn-ea"/>
              </a:rPr>
              <a:t>单源最短路径</a:t>
            </a:r>
            <a:r>
              <a:rPr kumimoji="1" lang="en-US" altLang="zh-CN" dirty="0">
                <a:latin typeface="+mn-ea"/>
              </a:rPr>
              <a:t>—</a:t>
            </a:r>
            <a:r>
              <a:rPr kumimoji="1" lang="zh-CN" altLang="en-US" dirty="0">
                <a:latin typeface="+mn-ea"/>
              </a:rPr>
              <a:t>用</a:t>
            </a:r>
            <a:r>
              <a:rPr kumimoji="1" lang="en-US" altLang="zh-CN" dirty="0" err="1">
                <a:solidFill>
                  <a:schemeClr val="tx2"/>
                </a:solidFill>
                <a:latin typeface="+mn-ea"/>
              </a:rPr>
              <a:t>Dijkstra</a:t>
            </a:r>
            <a:r>
              <a:rPr kumimoji="1" lang="zh-CN" altLang="en-US" dirty="0">
                <a:solidFill>
                  <a:schemeClr val="tx2"/>
                </a:solidFill>
                <a:latin typeface="+mn-ea"/>
              </a:rPr>
              <a:t>（迪杰斯特拉）</a:t>
            </a:r>
            <a:r>
              <a:rPr kumimoji="1" lang="zh-CN" altLang="en-US" dirty="0">
                <a:latin typeface="+mn-ea"/>
              </a:rPr>
              <a:t>算法</a:t>
            </a:r>
            <a:endParaRPr kumimoji="1" lang="en-US" altLang="zh-CN" dirty="0">
              <a:latin typeface="+mn-ea"/>
            </a:endParaRPr>
          </a:p>
          <a:p>
            <a:pPr lvl="2" eaLnBrk="1" hangingPunct="1">
              <a:lnSpc>
                <a:spcPct val="105000"/>
              </a:lnSpc>
              <a:spcBef>
                <a:spcPct val="50000"/>
              </a:spcBef>
              <a:defRPr/>
            </a:pPr>
            <a:r>
              <a:rPr kumimoji="1" lang="zh-CN" altLang="en-US" dirty="0">
                <a:latin typeface="+mn-ea"/>
              </a:rPr>
              <a:t>第一个顶点到其他顶点的最短路径</a:t>
            </a:r>
          </a:p>
          <a:p>
            <a:pPr lvl="1" eaLnBrk="1" hangingPunct="1">
              <a:lnSpc>
                <a:spcPct val="105000"/>
              </a:lnSpc>
              <a:spcBef>
                <a:spcPct val="50000"/>
              </a:spcBef>
              <a:defRPr/>
            </a:pPr>
            <a:r>
              <a:rPr kumimoji="1" lang="zh-CN" altLang="en-US" dirty="0">
                <a:solidFill>
                  <a:schemeClr val="tx2"/>
                </a:solidFill>
                <a:latin typeface="+mn-ea"/>
              </a:rPr>
              <a:t>所有顶点间的最短路径</a:t>
            </a:r>
            <a:r>
              <a:rPr kumimoji="1" lang="en-US" altLang="zh-CN" dirty="0">
                <a:latin typeface="+mn-ea"/>
              </a:rPr>
              <a:t>—</a:t>
            </a:r>
            <a:r>
              <a:rPr kumimoji="1" lang="zh-CN" altLang="en-US" dirty="0">
                <a:latin typeface="+mn-ea"/>
              </a:rPr>
              <a:t>用</a:t>
            </a:r>
            <a:r>
              <a:rPr kumimoji="1" lang="en-US" altLang="zh-CN" dirty="0">
                <a:solidFill>
                  <a:schemeClr val="tx2"/>
                </a:solidFill>
                <a:latin typeface="+mn-ea"/>
              </a:rPr>
              <a:t>Floyd</a:t>
            </a:r>
            <a:r>
              <a:rPr kumimoji="1" lang="zh-CN" altLang="en-US" dirty="0">
                <a:solidFill>
                  <a:schemeClr val="tx2"/>
                </a:solidFill>
                <a:latin typeface="+mn-ea"/>
              </a:rPr>
              <a:t>（弗洛伊德）</a:t>
            </a:r>
            <a:r>
              <a:rPr kumimoji="1" lang="zh-CN" altLang="en-US" dirty="0">
                <a:latin typeface="+mn-ea"/>
              </a:rPr>
              <a:t>算法（略）</a:t>
            </a:r>
            <a:endParaRPr kumimoji="1" lang="en-US" altLang="zh-CN" dirty="0">
              <a:latin typeface="+mn-ea"/>
            </a:endParaRPr>
          </a:p>
          <a:p>
            <a:pPr>
              <a:defRPr/>
            </a:pPr>
            <a:endParaRPr lang="zh-CN" altLang="en-US" dirty="0"/>
          </a:p>
        </p:txBody>
      </p:sp>
      <p:sp>
        <p:nvSpPr>
          <p:cNvPr id="83972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5E2714E-1C9F-4CE5-82D5-40D9E0D25799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69</a:t>
            </a:fld>
            <a:endParaRPr lang="zh-CN" altLang="en-US" sz="100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kumimoji="1" lang="zh-CN" altLang="en-US" dirty="0">
                <a:latin typeface="+mn-ea"/>
              </a:rPr>
              <a:t>迪杰斯特拉</a:t>
            </a:r>
            <a:r>
              <a:rPr kumimoji="1" lang="en-US" altLang="zh-CN" dirty="0">
                <a:latin typeface="+mn-ea"/>
              </a:rPr>
              <a:t>(</a:t>
            </a:r>
            <a:r>
              <a:rPr kumimoji="1" lang="en-US" altLang="zh-CN" dirty="0" err="1">
                <a:latin typeface="+mn-ea"/>
              </a:rPr>
              <a:t>Dijkstra</a:t>
            </a:r>
            <a:r>
              <a:rPr kumimoji="1" lang="en-US" altLang="zh-CN" dirty="0">
                <a:latin typeface="+mn-ea"/>
              </a:rPr>
              <a:t>)</a:t>
            </a:r>
            <a:r>
              <a:rPr kumimoji="1" lang="zh-CN" altLang="en-US" dirty="0">
                <a:latin typeface="+mn-ea"/>
              </a:rPr>
              <a:t>算法</a:t>
            </a:r>
            <a:endParaRPr lang="zh-CN" altLang="en-US" dirty="0"/>
          </a:p>
        </p:txBody>
      </p:sp>
      <p:sp>
        <p:nvSpPr>
          <p:cNvPr id="849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对于网</a:t>
            </a:r>
            <a:r>
              <a:rPr lang="en-US" altLang="zh-CN" dirty="0"/>
              <a:t>N=(V, E)</a:t>
            </a:r>
            <a:r>
              <a:rPr lang="zh-CN" altLang="en-US" dirty="0"/>
              <a:t>，将</a:t>
            </a:r>
            <a:r>
              <a:rPr lang="en-US" altLang="zh-CN" dirty="0"/>
              <a:t>N</a:t>
            </a:r>
            <a:r>
              <a:rPr lang="zh-CN" altLang="en-US" dirty="0"/>
              <a:t>中的顶点分成两组</a:t>
            </a:r>
            <a:endParaRPr lang="en-US" altLang="zh-CN" dirty="0"/>
          </a:p>
          <a:p>
            <a:pPr lvl="1"/>
            <a:r>
              <a:rPr lang="en-US" altLang="zh-CN" dirty="0"/>
              <a:t>S</a:t>
            </a:r>
            <a:r>
              <a:rPr lang="zh-CN" altLang="en-US" dirty="0"/>
              <a:t>：已求出的最短路径的终点集合</a:t>
            </a:r>
            <a:endParaRPr lang="en-US" altLang="zh-CN" dirty="0"/>
          </a:p>
          <a:p>
            <a:pPr lvl="2"/>
            <a:r>
              <a:rPr lang="zh-CN" altLang="en-US" dirty="0"/>
              <a:t>（初始状态为</a:t>
            </a:r>
            <a:r>
              <a:rPr lang="en-US" altLang="zh-CN" dirty="0"/>
              <a:t>S={v</a:t>
            </a:r>
            <a:r>
              <a:rPr lang="en-US" altLang="zh-CN" baseline="-25000" dirty="0"/>
              <a:t>0</a:t>
            </a:r>
            <a:r>
              <a:rPr lang="en-US" altLang="zh-CN" dirty="0"/>
              <a:t>}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en-US" altLang="zh-CN" dirty="0"/>
              <a:t>V-S</a:t>
            </a:r>
            <a:r>
              <a:rPr lang="zh-CN" altLang="en-US" dirty="0"/>
              <a:t>：尚未求出最短路径的顶点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   </a:t>
            </a:r>
            <a:r>
              <a:rPr lang="zh-CN" altLang="en-US" dirty="0"/>
              <a:t>的集合</a:t>
            </a:r>
            <a:endParaRPr lang="en-US" altLang="zh-CN" dirty="0"/>
          </a:p>
          <a:p>
            <a:pPr lvl="2"/>
            <a:r>
              <a:rPr lang="zh-CN" altLang="en-US" dirty="0"/>
              <a:t>（初始状态为</a:t>
            </a:r>
            <a:r>
              <a:rPr lang="en-US" altLang="zh-CN" dirty="0"/>
              <a:t>V-{v</a:t>
            </a:r>
            <a:r>
              <a:rPr lang="en-US" altLang="zh-CN" baseline="-25000" dirty="0"/>
              <a:t>0</a:t>
            </a:r>
            <a:r>
              <a:rPr lang="en-US" altLang="zh-CN" dirty="0"/>
              <a:t>}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sz="2800" dirty="0"/>
              <a:t>算法将按</a:t>
            </a:r>
            <a:r>
              <a:rPr lang="en-US" altLang="zh-CN" sz="2800" dirty="0"/>
              <a:t>v</a:t>
            </a:r>
            <a:r>
              <a:rPr lang="en-US" altLang="zh-CN" sz="2800" baseline="-25000" dirty="0"/>
              <a:t>0</a:t>
            </a:r>
            <a:r>
              <a:rPr lang="zh-CN" altLang="en-US" sz="2800" dirty="0"/>
              <a:t>到各个顶点间的最短路径长度递增的次序，逐个将集合</a:t>
            </a:r>
            <a:r>
              <a:rPr lang="en-US" altLang="zh-CN" sz="2800" dirty="0"/>
              <a:t>V-S</a:t>
            </a:r>
            <a:r>
              <a:rPr lang="zh-CN" altLang="en-US" sz="2800" dirty="0"/>
              <a:t>中的顶点加入到集合</a:t>
            </a:r>
            <a:r>
              <a:rPr lang="en-US" altLang="zh-CN" sz="2800" dirty="0"/>
              <a:t>S</a:t>
            </a:r>
            <a:r>
              <a:rPr lang="zh-CN" altLang="en-US" sz="2800" dirty="0"/>
              <a:t>中</a:t>
            </a:r>
            <a:endParaRPr lang="en-US" altLang="zh-CN" sz="2800" dirty="0"/>
          </a:p>
          <a:p>
            <a:pPr lvl="1"/>
            <a:r>
              <a:rPr lang="zh-CN" altLang="en-US" sz="2400" dirty="0"/>
              <a:t>在这个过程中，总保持从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0</a:t>
            </a:r>
            <a:r>
              <a:rPr lang="zh-CN" altLang="en-US" sz="2400" dirty="0"/>
              <a:t>到集合</a:t>
            </a:r>
            <a:r>
              <a:rPr lang="en-US" altLang="zh-CN" sz="2400" dirty="0"/>
              <a:t>S</a:t>
            </a:r>
            <a:r>
              <a:rPr lang="zh-CN" altLang="en-US" sz="2400" dirty="0"/>
              <a:t>中各顶点的路径长度不大于到集合</a:t>
            </a:r>
            <a:r>
              <a:rPr lang="en-US" altLang="zh-CN" sz="2400" dirty="0"/>
              <a:t>V-S</a:t>
            </a:r>
            <a:r>
              <a:rPr lang="zh-CN" altLang="en-US" sz="2400" dirty="0"/>
              <a:t>中各顶点路径的长度</a:t>
            </a:r>
            <a:endParaRPr lang="en-US" altLang="zh-CN" sz="2400" dirty="0"/>
          </a:p>
          <a:p>
            <a:r>
              <a:rPr lang="zh-CN" altLang="en-US" sz="2800" dirty="0"/>
              <a:t>用一维数组</a:t>
            </a:r>
            <a:r>
              <a:rPr lang="en-US" altLang="zh-CN" sz="2800" dirty="0"/>
              <a:t>D</a:t>
            </a:r>
            <a:r>
              <a:rPr lang="zh-CN" altLang="en-US" sz="2800" dirty="0"/>
              <a:t>记录</a:t>
            </a:r>
            <a:r>
              <a:rPr lang="en-US" altLang="zh-CN" sz="2800" dirty="0"/>
              <a:t>V</a:t>
            </a:r>
            <a:r>
              <a:rPr lang="en-US" altLang="zh-CN" sz="2800" baseline="-25000" dirty="0"/>
              <a:t>0</a:t>
            </a:r>
            <a:r>
              <a:rPr lang="zh-CN" altLang="en-US" sz="2800" dirty="0"/>
              <a:t>到各个终点的最短距离</a:t>
            </a:r>
            <a:endParaRPr lang="en-US" altLang="zh-CN" sz="2800" dirty="0"/>
          </a:p>
        </p:txBody>
      </p:sp>
      <p:sp>
        <p:nvSpPr>
          <p:cNvPr id="8499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BB8249A-10E4-48B5-A94B-DC4A86D15F52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70</a:t>
            </a:fld>
            <a:endParaRPr lang="zh-CN" altLang="en-US" sz="1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7216" y="1628801"/>
            <a:ext cx="2465636" cy="2448272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kumimoji="1" lang="zh-CN" altLang="en-US" dirty="0">
                <a:latin typeface="+mn-ea"/>
              </a:rPr>
              <a:t>迪杰斯特拉</a:t>
            </a:r>
            <a:r>
              <a:rPr kumimoji="1" lang="en-US" altLang="zh-CN" dirty="0">
                <a:latin typeface="+mn-ea"/>
              </a:rPr>
              <a:t>(</a:t>
            </a:r>
            <a:r>
              <a:rPr kumimoji="1" lang="en-US" altLang="zh-CN" dirty="0" err="1">
                <a:latin typeface="+mn-ea"/>
              </a:rPr>
              <a:t>Dijkstra</a:t>
            </a:r>
            <a:r>
              <a:rPr kumimoji="1" lang="en-US" altLang="zh-CN" dirty="0">
                <a:latin typeface="+mn-ea"/>
              </a:rPr>
              <a:t>)</a:t>
            </a:r>
            <a:r>
              <a:rPr kumimoji="1" lang="zh-CN" altLang="en-US" dirty="0">
                <a:latin typeface="+mn-ea"/>
              </a:rPr>
              <a:t>算法</a:t>
            </a:r>
            <a:endParaRPr lang="zh-CN" altLang="en-US" dirty="0"/>
          </a:p>
        </p:txBody>
      </p:sp>
      <p:sp>
        <p:nvSpPr>
          <p:cNvPr id="8601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zh-CN" altLang="en-US" dirty="0"/>
              <a:t>初始化</a:t>
            </a:r>
            <a:endParaRPr lang="en-US" altLang="zh-CN" dirty="0"/>
          </a:p>
          <a:p>
            <a:pPr marL="914400" lvl="1" indent="-514350"/>
            <a:r>
              <a:rPr lang="en-US" altLang="zh-CN" dirty="0"/>
              <a:t>S={v0}</a:t>
            </a:r>
          </a:p>
          <a:p>
            <a:pPr marL="914400" lvl="1" indent="-514350"/>
            <a:r>
              <a:rPr lang="zh-CN" altLang="en-US" dirty="0"/>
              <a:t>路径</a:t>
            </a:r>
            <a:r>
              <a:rPr lang="en-US" altLang="zh-CN" dirty="0"/>
              <a:t>D</a:t>
            </a:r>
            <a:r>
              <a:rPr lang="zh-CN" altLang="en-US" dirty="0"/>
              <a:t>：</a:t>
            </a:r>
            <a:r>
              <a:rPr lang="en-US" altLang="zh-CN" dirty="0"/>
              <a:t>v0</a:t>
            </a:r>
            <a:r>
              <a:rPr lang="zh-CN" altLang="en-US" dirty="0"/>
              <a:t>到各个终点的边（长度为权值）</a:t>
            </a:r>
            <a:endParaRPr lang="en-US" altLang="zh-CN" dirty="0"/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zh-CN" altLang="en-US" dirty="0"/>
              <a:t>在第</a:t>
            </a:r>
            <a:r>
              <a:rPr lang="en-US" altLang="zh-CN" dirty="0" err="1"/>
              <a:t>i</a:t>
            </a:r>
            <a:r>
              <a:rPr lang="zh-CN" altLang="en-US" dirty="0"/>
              <a:t>次循环中（共循环</a:t>
            </a:r>
            <a:r>
              <a:rPr lang="en-US" altLang="zh-CN" dirty="0"/>
              <a:t>n-1</a:t>
            </a:r>
            <a:r>
              <a:rPr lang="zh-CN" altLang="en-US" dirty="0"/>
              <a:t>次）</a:t>
            </a:r>
            <a:endParaRPr lang="en-US" altLang="zh-CN" dirty="0"/>
          </a:p>
          <a:p>
            <a:pPr marL="914400" lvl="1" indent="-514350"/>
            <a:r>
              <a:rPr lang="zh-CN" altLang="en-US" dirty="0"/>
              <a:t>在</a:t>
            </a:r>
            <a:r>
              <a:rPr lang="en-US" altLang="zh-CN" dirty="0"/>
              <a:t>V-S</a:t>
            </a:r>
            <a:r>
              <a:rPr lang="zh-CN" altLang="en-US" dirty="0"/>
              <a:t>中，选择从</a:t>
            </a:r>
            <a:r>
              <a:rPr lang="en-US" altLang="zh-CN" dirty="0"/>
              <a:t>V0</a:t>
            </a:r>
            <a:r>
              <a:rPr lang="zh-CN" altLang="en-US" dirty="0"/>
              <a:t>起始的最短路径</a:t>
            </a:r>
            <a:endParaRPr lang="en-US" altLang="zh-CN" dirty="0"/>
          </a:p>
          <a:p>
            <a:pPr marL="914400" lvl="1" indent="-514350"/>
            <a:r>
              <a:rPr lang="zh-CN" altLang="en-US" dirty="0"/>
              <a:t>将其终点</a:t>
            </a:r>
            <a:r>
              <a:rPr lang="en-US" altLang="zh-CN" dirty="0" err="1"/>
              <a:t>vk</a:t>
            </a:r>
            <a:r>
              <a:rPr lang="zh-CN" altLang="en-US" dirty="0"/>
              <a:t>加入到</a:t>
            </a:r>
            <a:r>
              <a:rPr lang="en-US" altLang="zh-CN" dirty="0"/>
              <a:t>S</a:t>
            </a:r>
            <a:r>
              <a:rPr lang="zh-CN" altLang="en-US" dirty="0"/>
              <a:t>中</a:t>
            </a:r>
            <a:endParaRPr lang="en-US" altLang="zh-CN" dirty="0"/>
          </a:p>
          <a:p>
            <a:pPr marL="1314450" lvl="2" indent="-514350"/>
            <a:r>
              <a:rPr lang="zh-CN" altLang="en-US" dirty="0"/>
              <a:t>此时</a:t>
            </a:r>
            <a:r>
              <a:rPr lang="en-US" altLang="zh-CN" dirty="0"/>
              <a:t>v0</a:t>
            </a:r>
            <a:r>
              <a:rPr lang="zh-CN" altLang="en-US" dirty="0"/>
              <a:t>到</a:t>
            </a:r>
            <a:r>
              <a:rPr lang="en-US" altLang="zh-CN" dirty="0" err="1"/>
              <a:t>vk</a:t>
            </a:r>
            <a:r>
              <a:rPr lang="zh-CN" altLang="en-US" dirty="0"/>
              <a:t>的最短路径已确定</a:t>
            </a:r>
            <a:endParaRPr lang="en-US" altLang="zh-CN" dirty="0"/>
          </a:p>
          <a:p>
            <a:pPr marL="914400" lvl="1" indent="-514350"/>
            <a:r>
              <a:rPr lang="zh-CN" altLang="en-US" dirty="0"/>
              <a:t>根据条件更新从</a:t>
            </a:r>
            <a:r>
              <a:rPr lang="en-US" altLang="zh-CN" dirty="0"/>
              <a:t>v0</a:t>
            </a:r>
            <a:r>
              <a:rPr lang="zh-CN" altLang="en-US" dirty="0"/>
              <a:t>出发到集合</a:t>
            </a:r>
            <a:r>
              <a:rPr lang="en-US" altLang="zh-CN" dirty="0"/>
              <a:t>V-S</a:t>
            </a:r>
            <a:r>
              <a:rPr lang="zh-CN" altLang="en-US" dirty="0"/>
              <a:t>上任一顶点的最短路径长度</a:t>
            </a:r>
            <a:endParaRPr lang="en-US" altLang="zh-CN" dirty="0"/>
          </a:p>
          <a:p>
            <a:pPr marL="1314450" lvl="2" indent="-514350"/>
            <a:r>
              <a:rPr lang="zh-CN" altLang="en-US" dirty="0"/>
              <a:t>如果</a:t>
            </a:r>
            <a:r>
              <a:rPr lang="en-US" altLang="zh-CN" dirty="0"/>
              <a:t>D[</a:t>
            </a:r>
            <a:r>
              <a:rPr lang="en-US" altLang="zh-CN" i="1" dirty="0"/>
              <a:t>k</a:t>
            </a:r>
            <a:r>
              <a:rPr lang="en-US" altLang="zh-CN" dirty="0"/>
              <a:t>]+</a:t>
            </a:r>
            <a:r>
              <a:rPr lang="en-US" altLang="zh-CN" dirty="0" err="1"/>
              <a:t>G.arcs</a:t>
            </a:r>
            <a:r>
              <a:rPr lang="en-US" altLang="zh-CN" dirty="0"/>
              <a:t>[</a:t>
            </a:r>
            <a:r>
              <a:rPr lang="en-US" altLang="zh-CN" i="1" dirty="0"/>
              <a:t>k</a:t>
            </a:r>
            <a:r>
              <a:rPr lang="en-US" altLang="zh-CN" dirty="0"/>
              <a:t>][</a:t>
            </a:r>
            <a:r>
              <a:rPr lang="en-US" altLang="zh-CN" i="1" dirty="0" err="1"/>
              <a:t>i</a:t>
            </a:r>
            <a:r>
              <a:rPr lang="en-US" altLang="zh-CN" dirty="0"/>
              <a:t>]&lt;D[</a:t>
            </a:r>
            <a:r>
              <a:rPr lang="en-US" altLang="zh-CN" i="1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，则</a:t>
            </a:r>
            <a:r>
              <a:rPr lang="en-US" altLang="zh-CN" dirty="0"/>
              <a:t>D[</a:t>
            </a:r>
            <a:r>
              <a:rPr lang="en-US" altLang="zh-CN" i="1" dirty="0" err="1"/>
              <a:t>i</a:t>
            </a:r>
            <a:r>
              <a:rPr lang="en-US" altLang="zh-CN" dirty="0"/>
              <a:t>]=D[</a:t>
            </a:r>
            <a:r>
              <a:rPr lang="en-US" altLang="zh-CN" i="1" dirty="0"/>
              <a:t>k</a:t>
            </a:r>
            <a:r>
              <a:rPr lang="en-US" altLang="zh-CN" dirty="0"/>
              <a:t>]+ </a:t>
            </a:r>
            <a:r>
              <a:rPr lang="en-US" altLang="zh-CN" dirty="0" err="1"/>
              <a:t>G.arcs</a:t>
            </a:r>
            <a:r>
              <a:rPr lang="en-US" altLang="zh-CN" dirty="0"/>
              <a:t>[</a:t>
            </a:r>
            <a:r>
              <a:rPr lang="en-US" altLang="zh-CN" i="1" dirty="0"/>
              <a:t>k</a:t>
            </a:r>
            <a:r>
              <a:rPr lang="en-US" altLang="zh-CN" dirty="0"/>
              <a:t>][</a:t>
            </a:r>
            <a:r>
              <a:rPr lang="en-US" altLang="zh-CN" i="1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，同时更改路径</a:t>
            </a:r>
            <a:endParaRPr lang="en-US" altLang="zh-CN" dirty="0"/>
          </a:p>
          <a:p>
            <a:pPr marL="914400" lvl="1" indent="-514350">
              <a:buFont typeface="Arial" panose="020B0604020202020204" pitchFamily="34" charset="0"/>
              <a:buAutoNum type="arabicPeriod"/>
            </a:pPr>
            <a:endParaRPr lang="en-US" altLang="zh-CN" dirty="0"/>
          </a:p>
          <a:p>
            <a:pPr marL="914400" lvl="1" indent="-514350">
              <a:buFont typeface="Arial" panose="020B0604020202020204" pitchFamily="34" charset="0"/>
              <a:buAutoNum type="arabicPeriod"/>
            </a:pPr>
            <a:endParaRPr lang="en-US" altLang="zh-CN" dirty="0"/>
          </a:p>
          <a:p>
            <a:pPr marL="914400" lvl="1" indent="-514350">
              <a:buFont typeface="Arial" panose="020B0604020202020204" pitchFamily="34" charset="0"/>
              <a:buAutoNum type="arabicPeriod"/>
            </a:pPr>
            <a:endParaRPr lang="en-US" altLang="zh-CN" dirty="0"/>
          </a:p>
        </p:txBody>
      </p:sp>
      <p:sp>
        <p:nvSpPr>
          <p:cNvPr id="86020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443F57E-0AD4-45DB-B444-8523552DE586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71</a:t>
            </a:fld>
            <a:endParaRPr lang="zh-CN" altLang="en-US" sz="1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6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6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86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6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6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6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60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60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60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60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60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60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60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60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60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860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860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60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kumimoji="1" lang="zh-CN" altLang="en-US" dirty="0">
                <a:latin typeface="+mn-ea"/>
              </a:rPr>
              <a:t>迪杰斯特拉</a:t>
            </a:r>
            <a:r>
              <a:rPr kumimoji="1" lang="en-US" altLang="zh-CN" dirty="0">
                <a:latin typeface="+mn-ea"/>
              </a:rPr>
              <a:t>(</a:t>
            </a:r>
            <a:r>
              <a:rPr kumimoji="1" lang="en-US" altLang="zh-CN" dirty="0" err="1">
                <a:latin typeface="+mn-ea"/>
              </a:rPr>
              <a:t>Dijkstra</a:t>
            </a:r>
            <a:r>
              <a:rPr kumimoji="1" lang="en-US" altLang="zh-CN" dirty="0">
                <a:latin typeface="+mn-ea"/>
              </a:rPr>
              <a:t>)</a:t>
            </a:r>
            <a:r>
              <a:rPr kumimoji="1" lang="zh-CN" altLang="en-US" dirty="0">
                <a:latin typeface="+mn-ea"/>
              </a:rPr>
              <a:t>算法</a:t>
            </a:r>
            <a:endParaRPr lang="zh-CN" altLang="en-US" dirty="0"/>
          </a:p>
        </p:txBody>
      </p:sp>
      <p:sp>
        <p:nvSpPr>
          <p:cNvPr id="87043" name="内容占位符 2"/>
          <p:cNvSpPr>
            <a:spLocks noGrp="1"/>
          </p:cNvSpPr>
          <p:nvPr>
            <p:ph idx="1"/>
          </p:nvPr>
        </p:nvSpPr>
        <p:spPr>
          <a:xfrm>
            <a:off x="468313" y="1125538"/>
            <a:ext cx="8207375" cy="1150937"/>
          </a:xfrm>
        </p:spPr>
        <p:txBody>
          <a:bodyPr/>
          <a:lstStyle/>
          <a:p>
            <a:r>
              <a:rPr lang="zh-CN" altLang="en-US" dirty="0"/>
              <a:t>从</a:t>
            </a:r>
            <a:r>
              <a:rPr lang="en-US" altLang="zh-CN" dirty="0"/>
              <a:t>v0</a:t>
            </a:r>
            <a:r>
              <a:rPr lang="zh-CN" altLang="en-US" dirty="0"/>
              <a:t>到各个终点的最短路径及其长度的求解过程</a:t>
            </a:r>
          </a:p>
        </p:txBody>
      </p:sp>
      <p:sp>
        <p:nvSpPr>
          <p:cNvPr id="87044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73AA8EA-B415-4596-B033-DF64798CC969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72</a:t>
            </a:fld>
            <a:endParaRPr lang="zh-CN" altLang="en-US" sz="100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0929586"/>
              </p:ext>
            </p:extLst>
          </p:nvPr>
        </p:nvGraphicFramePr>
        <p:xfrm>
          <a:off x="3144155" y="2906296"/>
          <a:ext cx="5832168" cy="34750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8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6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0088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终点</a:t>
                      </a:r>
                      <a:endParaRPr lang="en-US" altLang="zh-CN" sz="1800" dirty="0"/>
                    </a:p>
                  </a:txBody>
                  <a:tcPr marL="91426" marR="91426" marT="45711" marB="457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从</a:t>
                      </a:r>
                      <a:r>
                        <a:rPr lang="en-US" altLang="zh-CN" sz="1800" dirty="0"/>
                        <a:t>v0</a:t>
                      </a:r>
                      <a:r>
                        <a:rPr lang="zh-CN" altLang="en-US" sz="1800" dirty="0"/>
                        <a:t>到各终点最短路径长度</a:t>
                      </a:r>
                      <a:r>
                        <a:rPr lang="en-US" altLang="zh-CN" sz="1800" dirty="0"/>
                        <a:t>D</a:t>
                      </a:r>
                      <a:r>
                        <a:rPr lang="zh-CN" altLang="en-US" sz="1800" dirty="0"/>
                        <a:t>及最短路径</a:t>
                      </a:r>
                    </a:p>
                  </a:txBody>
                  <a:tcPr marL="91426" marR="91426" marT="45711" marB="457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marL="91426" marR="91426" marT="45711" marB="45711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marL="91426" marR="91426" marT="45711" marB="45711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marL="91426" marR="91426" marT="45711" marB="45711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marL="91426" marR="91426" marT="45711" marB="4571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31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初始</a:t>
                      </a:r>
                    </a:p>
                  </a:txBody>
                  <a:tcPr marL="91426" marR="91426" marT="45711" marB="457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i</a:t>
                      </a:r>
                      <a:r>
                        <a:rPr lang="en-US" altLang="zh-CN" sz="1800" dirty="0"/>
                        <a:t>=1</a:t>
                      </a:r>
                      <a:endParaRPr lang="zh-CN" altLang="en-US" sz="18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i</a:t>
                      </a:r>
                      <a:r>
                        <a:rPr lang="en-US" altLang="zh-CN" sz="1800" dirty="0"/>
                        <a:t>=2</a:t>
                      </a:r>
                      <a:endParaRPr lang="zh-CN" altLang="en-US" sz="18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i</a:t>
                      </a:r>
                      <a:r>
                        <a:rPr lang="en-US" altLang="zh-CN" sz="1800" dirty="0"/>
                        <a:t>=3</a:t>
                      </a:r>
                      <a:endParaRPr lang="zh-CN" altLang="en-US" sz="18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i</a:t>
                      </a:r>
                      <a:r>
                        <a:rPr lang="en-US" altLang="zh-CN" sz="1800" dirty="0"/>
                        <a:t>=4</a:t>
                      </a:r>
                      <a:endParaRPr lang="zh-CN" altLang="en-US" sz="1800" dirty="0"/>
                    </a:p>
                  </a:txBody>
                  <a:tcPr marL="91426" marR="91426" marT="45711" marB="45711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5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Vk</a:t>
                      </a:r>
                      <a:endParaRPr lang="zh-CN" altLang="en-US" sz="1800" dirty="0"/>
                    </a:p>
                  </a:txBody>
                  <a:tcPr marL="91426" marR="91426" marT="45711" marB="4571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5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S</a:t>
                      </a:r>
                      <a:endParaRPr lang="zh-CN" altLang="en-US" sz="1800" dirty="0"/>
                    </a:p>
                  </a:txBody>
                  <a:tcPr marL="91426" marR="91426" marT="45711" marB="4571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{v0}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5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v2</a:t>
                      </a:r>
                      <a:endParaRPr lang="zh-CN" altLang="en-US" sz="1800" dirty="0"/>
                    </a:p>
                  </a:txBody>
                  <a:tcPr marL="91426" marR="91426" marT="45711" marB="4571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10</a:t>
                      </a:r>
                    </a:p>
                    <a:p>
                      <a:pPr algn="ctr"/>
                      <a:r>
                        <a:rPr lang="en-US" altLang="zh-CN" sz="1200" dirty="0"/>
                        <a:t>(v0,v2)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5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v3</a:t>
                      </a:r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/>
                        <a:t>Inf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5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v4</a:t>
                      </a:r>
                      <a:endParaRPr lang="zh-CN" altLang="en-US" sz="18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30</a:t>
                      </a:r>
                    </a:p>
                    <a:p>
                      <a:pPr algn="ctr"/>
                      <a:r>
                        <a:rPr lang="en-US" altLang="zh-CN" sz="1200" dirty="0"/>
                        <a:t>(v0,v4)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5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v5</a:t>
                      </a:r>
                      <a:endParaRPr lang="zh-CN" altLang="en-US" sz="18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100</a:t>
                      </a:r>
                    </a:p>
                    <a:p>
                      <a:pPr algn="ctr"/>
                      <a:r>
                        <a:rPr lang="en-US" altLang="zh-CN" sz="1200" dirty="0"/>
                        <a:t>(v0,v5)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28" name="Group 67"/>
          <p:cNvGrpSpPr>
            <a:grpSpLocks/>
          </p:cNvGrpSpPr>
          <p:nvPr/>
        </p:nvGrpSpPr>
        <p:grpSpPr bwMode="auto">
          <a:xfrm>
            <a:off x="468188" y="2924944"/>
            <a:ext cx="2590800" cy="2576512"/>
            <a:chOff x="144" y="1104"/>
            <a:chExt cx="1632" cy="1623"/>
          </a:xfrm>
        </p:grpSpPr>
        <p:sp>
          <p:nvSpPr>
            <p:cNvPr id="29" name="Oval 69"/>
            <p:cNvSpPr>
              <a:spLocks noChangeArrowheads="1"/>
            </p:cNvSpPr>
            <p:nvPr/>
          </p:nvSpPr>
          <p:spPr bwMode="auto">
            <a:xfrm>
              <a:off x="750" y="1104"/>
              <a:ext cx="233" cy="16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  <a:ea typeface="黑体" panose="02010609060101010101" pitchFamily="49" charset="-122"/>
                </a:rPr>
                <a:t>V5</a:t>
              </a:r>
            </a:p>
          </p:txBody>
        </p:sp>
        <p:sp>
          <p:nvSpPr>
            <p:cNvPr id="30" name="Oval 70"/>
            <p:cNvSpPr>
              <a:spLocks noChangeArrowheads="1"/>
            </p:cNvSpPr>
            <p:nvPr/>
          </p:nvSpPr>
          <p:spPr bwMode="auto">
            <a:xfrm>
              <a:off x="1544" y="1644"/>
              <a:ext cx="232" cy="18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  <a:ea typeface="黑体" panose="02010609060101010101" pitchFamily="49" charset="-122"/>
                </a:rPr>
                <a:t>V4</a:t>
              </a:r>
            </a:p>
          </p:txBody>
        </p:sp>
        <p:sp>
          <p:nvSpPr>
            <p:cNvPr id="31" name="Oval 71"/>
            <p:cNvSpPr>
              <a:spLocks noChangeArrowheads="1"/>
            </p:cNvSpPr>
            <p:nvPr/>
          </p:nvSpPr>
          <p:spPr bwMode="auto">
            <a:xfrm>
              <a:off x="144" y="1644"/>
              <a:ext cx="232" cy="16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1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V0</a:t>
              </a:r>
            </a:p>
          </p:txBody>
        </p:sp>
        <p:sp>
          <p:nvSpPr>
            <p:cNvPr id="32" name="Oval 72"/>
            <p:cNvSpPr>
              <a:spLocks noChangeArrowheads="1"/>
            </p:cNvSpPr>
            <p:nvPr/>
          </p:nvSpPr>
          <p:spPr bwMode="auto">
            <a:xfrm>
              <a:off x="1114" y="2148"/>
              <a:ext cx="233" cy="167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  <a:ea typeface="黑体" panose="02010609060101010101" pitchFamily="49" charset="-122"/>
                </a:rPr>
                <a:t>V3</a:t>
              </a:r>
            </a:p>
          </p:txBody>
        </p:sp>
        <p:sp>
          <p:nvSpPr>
            <p:cNvPr id="33" name="Oval 74"/>
            <p:cNvSpPr>
              <a:spLocks noChangeArrowheads="1"/>
            </p:cNvSpPr>
            <p:nvPr/>
          </p:nvSpPr>
          <p:spPr bwMode="auto">
            <a:xfrm>
              <a:off x="779" y="2511"/>
              <a:ext cx="232" cy="21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  <a:ea typeface="黑体" panose="02010609060101010101" pitchFamily="49" charset="-122"/>
                </a:rPr>
                <a:t>V2</a:t>
              </a:r>
            </a:p>
          </p:txBody>
        </p:sp>
        <p:sp>
          <p:nvSpPr>
            <p:cNvPr id="34" name="Line 75"/>
            <p:cNvSpPr>
              <a:spLocks noChangeShapeType="1"/>
            </p:cNvSpPr>
            <p:nvPr/>
          </p:nvSpPr>
          <p:spPr bwMode="auto">
            <a:xfrm flipH="1">
              <a:off x="265" y="1266"/>
              <a:ext cx="557" cy="37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Text Box 76"/>
            <p:cNvSpPr txBox="1">
              <a:spLocks noChangeArrowheads="1"/>
            </p:cNvSpPr>
            <p:nvPr/>
          </p:nvSpPr>
          <p:spPr bwMode="auto">
            <a:xfrm>
              <a:off x="204" y="1321"/>
              <a:ext cx="37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  <a:ea typeface="宋体" panose="02010600030101010101" pitchFamily="2" charset="-122"/>
                </a:rPr>
                <a:t>100</a:t>
              </a:r>
            </a:p>
          </p:txBody>
        </p:sp>
        <p:sp>
          <p:nvSpPr>
            <p:cNvPr id="36" name="Line 77"/>
            <p:cNvSpPr>
              <a:spLocks noChangeShapeType="1"/>
            </p:cNvSpPr>
            <p:nvPr/>
          </p:nvSpPr>
          <p:spPr bwMode="auto">
            <a:xfrm>
              <a:off x="952" y="1266"/>
              <a:ext cx="605" cy="37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sm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Text Box 78"/>
            <p:cNvSpPr txBox="1">
              <a:spLocks noChangeArrowheads="1"/>
            </p:cNvSpPr>
            <p:nvPr/>
          </p:nvSpPr>
          <p:spPr bwMode="auto">
            <a:xfrm>
              <a:off x="1208" y="1308"/>
              <a:ext cx="40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  <a:ea typeface="宋体" panose="02010600030101010101" pitchFamily="2" charset="-122"/>
                </a:rPr>
                <a:t>60</a:t>
              </a:r>
            </a:p>
          </p:txBody>
        </p:sp>
        <p:sp>
          <p:nvSpPr>
            <p:cNvPr id="38" name="Line 79"/>
            <p:cNvSpPr>
              <a:spLocks noChangeShapeType="1"/>
            </p:cNvSpPr>
            <p:nvPr/>
          </p:nvSpPr>
          <p:spPr bwMode="auto">
            <a:xfrm>
              <a:off x="346" y="1728"/>
              <a:ext cx="1207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Text Box 80"/>
            <p:cNvSpPr txBox="1">
              <a:spLocks noChangeArrowheads="1"/>
            </p:cNvSpPr>
            <p:nvPr/>
          </p:nvSpPr>
          <p:spPr bwMode="auto">
            <a:xfrm>
              <a:off x="481" y="1518"/>
              <a:ext cx="35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  <a:ea typeface="宋体" panose="02010600030101010101" pitchFamily="2" charset="-122"/>
                </a:rPr>
                <a:t>30</a:t>
              </a:r>
            </a:p>
          </p:txBody>
        </p:sp>
        <p:sp>
          <p:nvSpPr>
            <p:cNvPr id="40" name="Line 81"/>
            <p:cNvSpPr>
              <a:spLocks noChangeShapeType="1"/>
            </p:cNvSpPr>
            <p:nvPr/>
          </p:nvSpPr>
          <p:spPr bwMode="auto">
            <a:xfrm>
              <a:off x="280" y="1830"/>
              <a:ext cx="544" cy="7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Text Box 82"/>
            <p:cNvSpPr txBox="1">
              <a:spLocks noChangeArrowheads="1"/>
            </p:cNvSpPr>
            <p:nvPr/>
          </p:nvSpPr>
          <p:spPr bwMode="auto">
            <a:xfrm>
              <a:off x="280" y="2064"/>
              <a:ext cx="278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42" name="Line 83"/>
            <p:cNvSpPr>
              <a:spLocks noChangeShapeType="1"/>
            </p:cNvSpPr>
            <p:nvPr/>
          </p:nvSpPr>
          <p:spPr bwMode="auto">
            <a:xfrm>
              <a:off x="855" y="1258"/>
              <a:ext cx="331" cy="89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Text Box 84"/>
            <p:cNvSpPr txBox="1">
              <a:spLocks noChangeArrowheads="1"/>
            </p:cNvSpPr>
            <p:nvPr/>
          </p:nvSpPr>
          <p:spPr bwMode="auto">
            <a:xfrm>
              <a:off x="872" y="1854"/>
              <a:ext cx="278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44" name="Line 85"/>
            <p:cNvSpPr>
              <a:spLocks noChangeShapeType="1"/>
            </p:cNvSpPr>
            <p:nvPr/>
          </p:nvSpPr>
          <p:spPr bwMode="auto">
            <a:xfrm flipH="1">
              <a:off x="1277" y="1812"/>
              <a:ext cx="285" cy="3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Text Box 86"/>
            <p:cNvSpPr txBox="1">
              <a:spLocks noChangeArrowheads="1"/>
            </p:cNvSpPr>
            <p:nvPr/>
          </p:nvSpPr>
          <p:spPr bwMode="auto">
            <a:xfrm>
              <a:off x="1405" y="1911"/>
              <a:ext cx="32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  <a:ea typeface="宋体" panose="02010600030101010101" pitchFamily="2" charset="-122"/>
                </a:rPr>
                <a:t>20</a:t>
              </a:r>
            </a:p>
          </p:txBody>
        </p:sp>
        <p:sp>
          <p:nvSpPr>
            <p:cNvPr id="46" name="Line 87"/>
            <p:cNvSpPr>
              <a:spLocks noChangeShapeType="1"/>
            </p:cNvSpPr>
            <p:nvPr/>
          </p:nvSpPr>
          <p:spPr bwMode="auto">
            <a:xfrm flipV="1">
              <a:off x="952" y="2284"/>
              <a:ext cx="235" cy="2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Text Box 88"/>
            <p:cNvSpPr txBox="1">
              <a:spLocks noChangeArrowheads="1"/>
            </p:cNvSpPr>
            <p:nvPr/>
          </p:nvSpPr>
          <p:spPr bwMode="auto">
            <a:xfrm>
              <a:off x="993" y="2399"/>
              <a:ext cx="32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  <a:ea typeface="宋体" panose="02010600030101010101" pitchFamily="2" charset="-122"/>
                </a:rPr>
                <a:t>50</a:t>
              </a:r>
            </a:p>
          </p:txBody>
        </p:sp>
      </p:grpSp>
      <p:sp>
        <p:nvSpPr>
          <p:cNvPr id="48" name="Oval 134"/>
          <p:cNvSpPr>
            <a:spLocks noChangeArrowheads="1"/>
          </p:cNvSpPr>
          <p:nvPr/>
        </p:nvSpPr>
        <p:spPr bwMode="auto">
          <a:xfrm>
            <a:off x="468188" y="3763144"/>
            <a:ext cx="381000" cy="304800"/>
          </a:xfrm>
          <a:prstGeom prst="ellipse">
            <a:avLst/>
          </a:prstGeom>
          <a:noFill/>
          <a:ln w="38100">
            <a:solidFill>
              <a:srgbClr val="4C34FE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400">
              <a:ea typeface="宋体" panose="02010600030101010101" pitchFamily="2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1921781" y="2200877"/>
            <a:ext cx="7018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初始时，</a:t>
            </a:r>
            <a:r>
              <a:rPr lang="en-US" altLang="zh-CN" sz="2400" dirty="0"/>
              <a:t>D</a:t>
            </a:r>
            <a:r>
              <a:rPr lang="zh-CN" altLang="en-US" sz="2400" dirty="0"/>
              <a:t>值为</a:t>
            </a:r>
            <a:r>
              <a:rPr lang="en-US" altLang="zh-CN" sz="2400" dirty="0"/>
              <a:t>v0</a:t>
            </a:r>
            <a:r>
              <a:rPr lang="zh-CN" altLang="en-US" sz="2400" dirty="0"/>
              <a:t>到各个终点的边（长度为权值）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kumimoji="1" lang="zh-CN" altLang="en-US" dirty="0">
                <a:latin typeface="+mn-ea"/>
              </a:rPr>
              <a:t>迪杰斯特拉</a:t>
            </a:r>
            <a:r>
              <a:rPr kumimoji="1" lang="en-US" altLang="zh-CN" dirty="0">
                <a:latin typeface="+mn-ea"/>
              </a:rPr>
              <a:t>(</a:t>
            </a:r>
            <a:r>
              <a:rPr kumimoji="1" lang="en-US" altLang="zh-CN" dirty="0" err="1">
                <a:latin typeface="+mn-ea"/>
              </a:rPr>
              <a:t>Dijkstra</a:t>
            </a:r>
            <a:r>
              <a:rPr kumimoji="1" lang="en-US" altLang="zh-CN" dirty="0">
                <a:latin typeface="+mn-ea"/>
              </a:rPr>
              <a:t>)</a:t>
            </a:r>
            <a:r>
              <a:rPr kumimoji="1" lang="zh-CN" altLang="en-US" dirty="0">
                <a:latin typeface="+mn-ea"/>
              </a:rPr>
              <a:t>算法</a:t>
            </a:r>
            <a:endParaRPr lang="zh-CN" altLang="en-US" dirty="0"/>
          </a:p>
        </p:txBody>
      </p:sp>
      <p:sp>
        <p:nvSpPr>
          <p:cNvPr id="87043" name="内容占位符 2"/>
          <p:cNvSpPr>
            <a:spLocks noGrp="1"/>
          </p:cNvSpPr>
          <p:nvPr>
            <p:ph idx="1"/>
          </p:nvPr>
        </p:nvSpPr>
        <p:spPr>
          <a:xfrm>
            <a:off x="468313" y="1125538"/>
            <a:ext cx="8207375" cy="1150937"/>
          </a:xfrm>
        </p:spPr>
        <p:txBody>
          <a:bodyPr/>
          <a:lstStyle/>
          <a:p>
            <a:r>
              <a:rPr lang="zh-CN" altLang="en-US" dirty="0"/>
              <a:t>从</a:t>
            </a:r>
            <a:r>
              <a:rPr lang="en-US" altLang="zh-CN" dirty="0"/>
              <a:t>v0</a:t>
            </a:r>
            <a:r>
              <a:rPr lang="zh-CN" altLang="en-US" dirty="0"/>
              <a:t>到各个终点的最短路径及其长度的求解过程</a:t>
            </a:r>
          </a:p>
        </p:txBody>
      </p:sp>
      <p:sp>
        <p:nvSpPr>
          <p:cNvPr id="87044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73AA8EA-B415-4596-B033-DF64798CC969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73</a:t>
            </a:fld>
            <a:endParaRPr lang="zh-CN" altLang="en-US" sz="1000"/>
          </a:p>
        </p:txBody>
      </p:sp>
      <p:grpSp>
        <p:nvGrpSpPr>
          <p:cNvPr id="28" name="Group 67"/>
          <p:cNvGrpSpPr>
            <a:grpSpLocks/>
          </p:cNvGrpSpPr>
          <p:nvPr/>
        </p:nvGrpSpPr>
        <p:grpSpPr bwMode="auto">
          <a:xfrm>
            <a:off x="468188" y="2924944"/>
            <a:ext cx="2590800" cy="2576512"/>
            <a:chOff x="144" y="1104"/>
            <a:chExt cx="1632" cy="1623"/>
          </a:xfrm>
        </p:grpSpPr>
        <p:sp>
          <p:nvSpPr>
            <p:cNvPr id="29" name="Oval 69"/>
            <p:cNvSpPr>
              <a:spLocks noChangeArrowheads="1"/>
            </p:cNvSpPr>
            <p:nvPr/>
          </p:nvSpPr>
          <p:spPr bwMode="auto">
            <a:xfrm>
              <a:off x="750" y="1104"/>
              <a:ext cx="233" cy="16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  <a:ea typeface="黑体" panose="02010609060101010101" pitchFamily="49" charset="-122"/>
                </a:rPr>
                <a:t>V5</a:t>
              </a:r>
            </a:p>
          </p:txBody>
        </p:sp>
        <p:sp>
          <p:nvSpPr>
            <p:cNvPr id="30" name="Oval 70"/>
            <p:cNvSpPr>
              <a:spLocks noChangeArrowheads="1"/>
            </p:cNvSpPr>
            <p:nvPr/>
          </p:nvSpPr>
          <p:spPr bwMode="auto">
            <a:xfrm>
              <a:off x="1544" y="1644"/>
              <a:ext cx="232" cy="18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  <a:ea typeface="黑体" panose="02010609060101010101" pitchFamily="49" charset="-122"/>
                </a:rPr>
                <a:t>V4</a:t>
              </a:r>
            </a:p>
          </p:txBody>
        </p:sp>
        <p:sp>
          <p:nvSpPr>
            <p:cNvPr id="31" name="Oval 71"/>
            <p:cNvSpPr>
              <a:spLocks noChangeArrowheads="1"/>
            </p:cNvSpPr>
            <p:nvPr/>
          </p:nvSpPr>
          <p:spPr bwMode="auto">
            <a:xfrm>
              <a:off x="144" y="1644"/>
              <a:ext cx="232" cy="16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1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V0</a:t>
              </a:r>
            </a:p>
          </p:txBody>
        </p:sp>
        <p:sp>
          <p:nvSpPr>
            <p:cNvPr id="32" name="Oval 72"/>
            <p:cNvSpPr>
              <a:spLocks noChangeArrowheads="1"/>
            </p:cNvSpPr>
            <p:nvPr/>
          </p:nvSpPr>
          <p:spPr bwMode="auto">
            <a:xfrm>
              <a:off x="1114" y="2148"/>
              <a:ext cx="233" cy="167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  <a:ea typeface="黑体" panose="02010609060101010101" pitchFamily="49" charset="-122"/>
                </a:rPr>
                <a:t>V3</a:t>
              </a:r>
            </a:p>
          </p:txBody>
        </p:sp>
        <p:sp>
          <p:nvSpPr>
            <p:cNvPr id="33" name="Oval 74"/>
            <p:cNvSpPr>
              <a:spLocks noChangeArrowheads="1"/>
            </p:cNvSpPr>
            <p:nvPr/>
          </p:nvSpPr>
          <p:spPr bwMode="auto">
            <a:xfrm>
              <a:off x="779" y="2511"/>
              <a:ext cx="232" cy="21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  <a:ea typeface="黑体" panose="02010609060101010101" pitchFamily="49" charset="-122"/>
                </a:rPr>
                <a:t>V2</a:t>
              </a:r>
            </a:p>
          </p:txBody>
        </p:sp>
        <p:sp>
          <p:nvSpPr>
            <p:cNvPr id="34" name="Line 75"/>
            <p:cNvSpPr>
              <a:spLocks noChangeShapeType="1"/>
            </p:cNvSpPr>
            <p:nvPr/>
          </p:nvSpPr>
          <p:spPr bwMode="auto">
            <a:xfrm flipH="1">
              <a:off x="265" y="1266"/>
              <a:ext cx="557" cy="37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Text Box 76"/>
            <p:cNvSpPr txBox="1">
              <a:spLocks noChangeArrowheads="1"/>
            </p:cNvSpPr>
            <p:nvPr/>
          </p:nvSpPr>
          <p:spPr bwMode="auto">
            <a:xfrm>
              <a:off x="204" y="1321"/>
              <a:ext cx="37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  <a:ea typeface="宋体" panose="02010600030101010101" pitchFamily="2" charset="-122"/>
                </a:rPr>
                <a:t>100</a:t>
              </a:r>
            </a:p>
          </p:txBody>
        </p:sp>
        <p:sp>
          <p:nvSpPr>
            <p:cNvPr id="36" name="Line 77"/>
            <p:cNvSpPr>
              <a:spLocks noChangeShapeType="1"/>
            </p:cNvSpPr>
            <p:nvPr/>
          </p:nvSpPr>
          <p:spPr bwMode="auto">
            <a:xfrm>
              <a:off x="952" y="1266"/>
              <a:ext cx="605" cy="37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sm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Text Box 78"/>
            <p:cNvSpPr txBox="1">
              <a:spLocks noChangeArrowheads="1"/>
            </p:cNvSpPr>
            <p:nvPr/>
          </p:nvSpPr>
          <p:spPr bwMode="auto">
            <a:xfrm>
              <a:off x="1208" y="1308"/>
              <a:ext cx="40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  <a:ea typeface="宋体" panose="02010600030101010101" pitchFamily="2" charset="-122"/>
                </a:rPr>
                <a:t>60</a:t>
              </a:r>
            </a:p>
          </p:txBody>
        </p:sp>
        <p:sp>
          <p:nvSpPr>
            <p:cNvPr id="38" name="Line 79"/>
            <p:cNvSpPr>
              <a:spLocks noChangeShapeType="1"/>
            </p:cNvSpPr>
            <p:nvPr/>
          </p:nvSpPr>
          <p:spPr bwMode="auto">
            <a:xfrm>
              <a:off x="346" y="1728"/>
              <a:ext cx="1207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Text Box 80"/>
            <p:cNvSpPr txBox="1">
              <a:spLocks noChangeArrowheads="1"/>
            </p:cNvSpPr>
            <p:nvPr/>
          </p:nvSpPr>
          <p:spPr bwMode="auto">
            <a:xfrm>
              <a:off x="481" y="1518"/>
              <a:ext cx="35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  <a:ea typeface="宋体" panose="02010600030101010101" pitchFamily="2" charset="-122"/>
                </a:rPr>
                <a:t>30</a:t>
              </a:r>
            </a:p>
          </p:txBody>
        </p:sp>
        <p:sp>
          <p:nvSpPr>
            <p:cNvPr id="40" name="Line 81"/>
            <p:cNvSpPr>
              <a:spLocks noChangeShapeType="1"/>
            </p:cNvSpPr>
            <p:nvPr/>
          </p:nvSpPr>
          <p:spPr bwMode="auto">
            <a:xfrm>
              <a:off x="280" y="1830"/>
              <a:ext cx="544" cy="7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Text Box 82"/>
            <p:cNvSpPr txBox="1">
              <a:spLocks noChangeArrowheads="1"/>
            </p:cNvSpPr>
            <p:nvPr/>
          </p:nvSpPr>
          <p:spPr bwMode="auto">
            <a:xfrm>
              <a:off x="280" y="2064"/>
              <a:ext cx="278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42" name="Line 83"/>
            <p:cNvSpPr>
              <a:spLocks noChangeShapeType="1"/>
            </p:cNvSpPr>
            <p:nvPr/>
          </p:nvSpPr>
          <p:spPr bwMode="auto">
            <a:xfrm>
              <a:off x="855" y="1258"/>
              <a:ext cx="331" cy="89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Text Box 84"/>
            <p:cNvSpPr txBox="1">
              <a:spLocks noChangeArrowheads="1"/>
            </p:cNvSpPr>
            <p:nvPr/>
          </p:nvSpPr>
          <p:spPr bwMode="auto">
            <a:xfrm>
              <a:off x="872" y="1854"/>
              <a:ext cx="278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44" name="Line 85"/>
            <p:cNvSpPr>
              <a:spLocks noChangeShapeType="1"/>
            </p:cNvSpPr>
            <p:nvPr/>
          </p:nvSpPr>
          <p:spPr bwMode="auto">
            <a:xfrm flipH="1">
              <a:off x="1277" y="1812"/>
              <a:ext cx="285" cy="3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Text Box 86"/>
            <p:cNvSpPr txBox="1">
              <a:spLocks noChangeArrowheads="1"/>
            </p:cNvSpPr>
            <p:nvPr/>
          </p:nvSpPr>
          <p:spPr bwMode="auto">
            <a:xfrm>
              <a:off x="1405" y="1911"/>
              <a:ext cx="32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  <a:ea typeface="宋体" panose="02010600030101010101" pitchFamily="2" charset="-122"/>
                </a:rPr>
                <a:t>20</a:t>
              </a:r>
            </a:p>
          </p:txBody>
        </p:sp>
        <p:sp>
          <p:nvSpPr>
            <p:cNvPr id="46" name="Line 87"/>
            <p:cNvSpPr>
              <a:spLocks noChangeShapeType="1"/>
            </p:cNvSpPr>
            <p:nvPr/>
          </p:nvSpPr>
          <p:spPr bwMode="auto">
            <a:xfrm flipV="1">
              <a:off x="952" y="2284"/>
              <a:ext cx="235" cy="2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Text Box 88"/>
            <p:cNvSpPr txBox="1">
              <a:spLocks noChangeArrowheads="1"/>
            </p:cNvSpPr>
            <p:nvPr/>
          </p:nvSpPr>
          <p:spPr bwMode="auto">
            <a:xfrm>
              <a:off x="993" y="2399"/>
              <a:ext cx="32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  <a:ea typeface="宋体" panose="02010600030101010101" pitchFamily="2" charset="-122"/>
                </a:rPr>
                <a:t>50</a:t>
              </a:r>
            </a:p>
          </p:txBody>
        </p:sp>
      </p:grpSp>
      <p:sp>
        <p:nvSpPr>
          <p:cNvPr id="48" name="Oval 134"/>
          <p:cNvSpPr>
            <a:spLocks noChangeArrowheads="1"/>
          </p:cNvSpPr>
          <p:nvPr/>
        </p:nvSpPr>
        <p:spPr bwMode="auto">
          <a:xfrm>
            <a:off x="468188" y="3763144"/>
            <a:ext cx="381000" cy="304800"/>
          </a:xfrm>
          <a:prstGeom prst="ellipse">
            <a:avLst/>
          </a:prstGeom>
          <a:noFill/>
          <a:ln w="38100">
            <a:solidFill>
              <a:srgbClr val="4C34FE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400">
              <a:ea typeface="宋体" panose="02010600030101010101" pitchFamily="2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231107" y="2200877"/>
            <a:ext cx="67094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D[</a:t>
            </a:r>
            <a:r>
              <a:rPr lang="en-US" altLang="zh-CN" sz="2400" i="1" dirty="0"/>
              <a:t>k</a:t>
            </a:r>
            <a:r>
              <a:rPr lang="en-US" altLang="zh-CN" sz="2400" dirty="0"/>
              <a:t>]+</a:t>
            </a:r>
            <a:r>
              <a:rPr lang="en-US" altLang="zh-CN" sz="2400" dirty="0" err="1"/>
              <a:t>G.arcs</a:t>
            </a:r>
            <a:r>
              <a:rPr lang="en-US" altLang="zh-CN" sz="2400" dirty="0"/>
              <a:t>[</a:t>
            </a:r>
            <a:r>
              <a:rPr lang="en-US" altLang="zh-CN" sz="2400" i="1" dirty="0"/>
              <a:t>k</a:t>
            </a:r>
            <a:r>
              <a:rPr lang="en-US" altLang="zh-CN" sz="2400" dirty="0"/>
              <a:t>][</a:t>
            </a:r>
            <a:r>
              <a:rPr lang="en-US" altLang="zh-CN" sz="2400" i="1" dirty="0" err="1"/>
              <a:t>i</a:t>
            </a:r>
            <a:r>
              <a:rPr lang="en-US" altLang="zh-CN" sz="2400" dirty="0"/>
              <a:t>]&lt;D[</a:t>
            </a:r>
            <a:r>
              <a:rPr lang="en-US" altLang="zh-CN" sz="2400" i="1" dirty="0" err="1"/>
              <a:t>i</a:t>
            </a:r>
            <a:r>
              <a:rPr lang="en-US" altLang="zh-CN" sz="2400" dirty="0"/>
              <a:t>]</a:t>
            </a:r>
            <a:r>
              <a:rPr lang="zh-CN" altLang="en-US" sz="2400" dirty="0"/>
              <a:t>，则</a:t>
            </a:r>
            <a:r>
              <a:rPr lang="en-US" altLang="zh-CN" sz="2400" dirty="0"/>
              <a:t>D[</a:t>
            </a:r>
            <a:r>
              <a:rPr lang="en-US" altLang="zh-CN" sz="2400" i="1" dirty="0" err="1"/>
              <a:t>i</a:t>
            </a:r>
            <a:r>
              <a:rPr lang="en-US" altLang="zh-CN" sz="2400" dirty="0"/>
              <a:t>]=D[</a:t>
            </a:r>
            <a:r>
              <a:rPr lang="en-US" altLang="zh-CN" sz="2400" i="1" dirty="0"/>
              <a:t>k</a:t>
            </a:r>
            <a:r>
              <a:rPr lang="en-US" altLang="zh-CN" sz="2400" dirty="0"/>
              <a:t>]+ </a:t>
            </a:r>
            <a:r>
              <a:rPr lang="en-US" altLang="zh-CN" sz="2400" dirty="0" err="1"/>
              <a:t>G.arcs</a:t>
            </a:r>
            <a:r>
              <a:rPr lang="en-US" altLang="zh-CN" sz="2400" dirty="0"/>
              <a:t>[</a:t>
            </a:r>
            <a:r>
              <a:rPr lang="en-US" altLang="zh-CN" sz="2400" i="1" dirty="0"/>
              <a:t>k</a:t>
            </a:r>
            <a:r>
              <a:rPr lang="en-US" altLang="zh-CN" sz="2400" dirty="0"/>
              <a:t>][</a:t>
            </a:r>
            <a:r>
              <a:rPr lang="en-US" altLang="zh-CN" sz="2400" i="1" dirty="0" err="1"/>
              <a:t>i</a:t>
            </a:r>
            <a:r>
              <a:rPr lang="en-US" altLang="zh-CN" sz="2400" dirty="0"/>
              <a:t>]</a:t>
            </a:r>
            <a:endParaRPr lang="zh-CN" altLang="en-US" sz="2400" dirty="0"/>
          </a:p>
        </p:txBody>
      </p:sp>
      <p:graphicFrame>
        <p:nvGraphicFramePr>
          <p:cNvPr id="49" name="表格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7216358"/>
              </p:ext>
            </p:extLst>
          </p:nvPr>
        </p:nvGraphicFramePr>
        <p:xfrm>
          <a:off x="3144155" y="2906296"/>
          <a:ext cx="5832168" cy="34750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8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6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0088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终点</a:t>
                      </a:r>
                      <a:endParaRPr lang="en-US" altLang="zh-CN" sz="1800" dirty="0"/>
                    </a:p>
                  </a:txBody>
                  <a:tcPr marL="91426" marR="91426" marT="45711" marB="457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从</a:t>
                      </a:r>
                      <a:r>
                        <a:rPr lang="en-US" altLang="zh-CN" sz="1800" dirty="0"/>
                        <a:t>v0</a:t>
                      </a:r>
                      <a:r>
                        <a:rPr lang="zh-CN" altLang="en-US" sz="1800" dirty="0"/>
                        <a:t>到各终点最短路径长度</a:t>
                      </a:r>
                      <a:r>
                        <a:rPr lang="en-US" altLang="zh-CN" sz="1800" dirty="0"/>
                        <a:t>D</a:t>
                      </a:r>
                      <a:r>
                        <a:rPr lang="zh-CN" altLang="en-US" sz="1800" dirty="0"/>
                        <a:t>及最短路径</a:t>
                      </a:r>
                    </a:p>
                  </a:txBody>
                  <a:tcPr marL="91426" marR="91426" marT="45711" marB="457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marL="91426" marR="91426" marT="45711" marB="45711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marL="91426" marR="91426" marT="45711" marB="45711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marL="91426" marR="91426" marT="45711" marB="45711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marL="91426" marR="91426" marT="45711" marB="4571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31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初始</a:t>
                      </a:r>
                    </a:p>
                  </a:txBody>
                  <a:tcPr marL="91426" marR="91426" marT="45711" marB="457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i</a:t>
                      </a:r>
                      <a:r>
                        <a:rPr lang="en-US" altLang="zh-CN" sz="1800" dirty="0"/>
                        <a:t>=1</a:t>
                      </a:r>
                      <a:endParaRPr lang="zh-CN" altLang="en-US" sz="18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i</a:t>
                      </a:r>
                      <a:r>
                        <a:rPr lang="en-US" altLang="zh-CN" sz="1800" dirty="0"/>
                        <a:t>=2</a:t>
                      </a:r>
                      <a:endParaRPr lang="zh-CN" altLang="en-US" sz="18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i</a:t>
                      </a:r>
                      <a:r>
                        <a:rPr lang="en-US" altLang="zh-CN" sz="1800" dirty="0"/>
                        <a:t>=3</a:t>
                      </a:r>
                      <a:endParaRPr lang="zh-CN" altLang="en-US" sz="18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i</a:t>
                      </a:r>
                      <a:r>
                        <a:rPr lang="en-US" altLang="zh-CN" sz="1800" dirty="0"/>
                        <a:t>=4</a:t>
                      </a:r>
                      <a:endParaRPr lang="zh-CN" altLang="en-US" sz="1800" dirty="0"/>
                    </a:p>
                  </a:txBody>
                  <a:tcPr marL="91426" marR="91426" marT="45711" marB="45711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5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Vk</a:t>
                      </a:r>
                      <a:endParaRPr lang="zh-CN" altLang="en-US" sz="1800" dirty="0"/>
                    </a:p>
                  </a:txBody>
                  <a:tcPr marL="91426" marR="91426" marT="45711" marB="4571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V2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5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S</a:t>
                      </a:r>
                      <a:endParaRPr lang="zh-CN" altLang="en-US" sz="1800" dirty="0"/>
                    </a:p>
                  </a:txBody>
                  <a:tcPr marL="91426" marR="91426" marT="45711" marB="4571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{v0}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{v0,</a:t>
                      </a:r>
                      <a:r>
                        <a:rPr lang="en-US" altLang="zh-CN" sz="1200" baseline="0" dirty="0"/>
                        <a:t> V2</a:t>
                      </a:r>
                      <a:r>
                        <a:rPr lang="en-US" altLang="zh-CN" sz="1200" dirty="0"/>
                        <a:t>}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5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v2</a:t>
                      </a:r>
                      <a:endParaRPr lang="zh-CN" altLang="en-US" sz="1800" dirty="0"/>
                    </a:p>
                  </a:txBody>
                  <a:tcPr marL="91426" marR="91426" marT="45711" marB="4571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10</a:t>
                      </a:r>
                    </a:p>
                    <a:p>
                      <a:pPr algn="ctr"/>
                      <a:r>
                        <a:rPr lang="en-US" altLang="zh-CN" sz="1200" dirty="0"/>
                        <a:t>(v0,v2)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确定</a:t>
                      </a:r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5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v3</a:t>
                      </a:r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/>
                        <a:t>Inf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60</a:t>
                      </a:r>
                    </a:p>
                    <a:p>
                      <a:pPr algn="ctr"/>
                      <a:r>
                        <a:rPr lang="en-US" altLang="zh-CN" sz="1200" dirty="0"/>
                        <a:t>(v0,</a:t>
                      </a:r>
                      <a:r>
                        <a:rPr lang="en-US" altLang="zh-CN" sz="1200" baseline="0" dirty="0"/>
                        <a:t>v2,v3)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5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v4</a:t>
                      </a:r>
                      <a:endParaRPr lang="zh-CN" altLang="en-US" sz="18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30</a:t>
                      </a:r>
                    </a:p>
                    <a:p>
                      <a:pPr algn="ctr"/>
                      <a:r>
                        <a:rPr lang="en-US" altLang="zh-CN" sz="1200" dirty="0"/>
                        <a:t>(v0,v4)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30</a:t>
                      </a:r>
                    </a:p>
                    <a:p>
                      <a:pPr algn="ctr"/>
                      <a:r>
                        <a:rPr lang="en-US" altLang="zh-CN" sz="1200" dirty="0"/>
                        <a:t>(v0,v4)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5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v5</a:t>
                      </a:r>
                      <a:endParaRPr lang="zh-CN" altLang="en-US" sz="18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100</a:t>
                      </a:r>
                    </a:p>
                    <a:p>
                      <a:pPr algn="ctr"/>
                      <a:r>
                        <a:rPr lang="en-US" altLang="zh-CN" sz="1200" dirty="0"/>
                        <a:t>(v0,v5)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100</a:t>
                      </a:r>
                    </a:p>
                    <a:p>
                      <a:pPr algn="ctr"/>
                      <a:r>
                        <a:rPr lang="en-US" altLang="zh-CN" sz="1200" dirty="0"/>
                        <a:t>(v0,v5)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919487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kumimoji="1" lang="zh-CN" altLang="en-US" dirty="0">
                <a:latin typeface="+mn-ea"/>
              </a:rPr>
              <a:t>迪杰斯特拉</a:t>
            </a:r>
            <a:r>
              <a:rPr kumimoji="1" lang="en-US" altLang="zh-CN" dirty="0">
                <a:latin typeface="+mn-ea"/>
              </a:rPr>
              <a:t>(</a:t>
            </a:r>
            <a:r>
              <a:rPr kumimoji="1" lang="en-US" altLang="zh-CN" dirty="0" err="1">
                <a:latin typeface="+mn-ea"/>
              </a:rPr>
              <a:t>Dijkstra</a:t>
            </a:r>
            <a:r>
              <a:rPr kumimoji="1" lang="en-US" altLang="zh-CN" dirty="0">
                <a:latin typeface="+mn-ea"/>
              </a:rPr>
              <a:t>)</a:t>
            </a:r>
            <a:r>
              <a:rPr kumimoji="1" lang="zh-CN" altLang="en-US" dirty="0">
                <a:latin typeface="+mn-ea"/>
              </a:rPr>
              <a:t>算法</a:t>
            </a:r>
            <a:endParaRPr lang="zh-CN" altLang="en-US" dirty="0"/>
          </a:p>
        </p:txBody>
      </p:sp>
      <p:sp>
        <p:nvSpPr>
          <p:cNvPr id="87043" name="内容占位符 2"/>
          <p:cNvSpPr>
            <a:spLocks noGrp="1"/>
          </p:cNvSpPr>
          <p:nvPr>
            <p:ph idx="1"/>
          </p:nvPr>
        </p:nvSpPr>
        <p:spPr>
          <a:xfrm>
            <a:off x="468313" y="1125538"/>
            <a:ext cx="8207375" cy="1150937"/>
          </a:xfrm>
        </p:spPr>
        <p:txBody>
          <a:bodyPr/>
          <a:lstStyle/>
          <a:p>
            <a:r>
              <a:rPr lang="zh-CN" altLang="en-US" dirty="0"/>
              <a:t>从</a:t>
            </a:r>
            <a:r>
              <a:rPr lang="en-US" altLang="zh-CN" dirty="0"/>
              <a:t>v0</a:t>
            </a:r>
            <a:r>
              <a:rPr lang="zh-CN" altLang="en-US" dirty="0"/>
              <a:t>到各个终点的最短路径及其长度的求解过程</a:t>
            </a:r>
          </a:p>
        </p:txBody>
      </p:sp>
      <p:sp>
        <p:nvSpPr>
          <p:cNvPr id="87044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73AA8EA-B415-4596-B033-DF64798CC969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74</a:t>
            </a:fld>
            <a:endParaRPr lang="zh-CN" altLang="en-US" sz="1000"/>
          </a:p>
        </p:txBody>
      </p:sp>
      <p:grpSp>
        <p:nvGrpSpPr>
          <p:cNvPr id="28" name="Group 67"/>
          <p:cNvGrpSpPr>
            <a:grpSpLocks/>
          </p:cNvGrpSpPr>
          <p:nvPr/>
        </p:nvGrpSpPr>
        <p:grpSpPr bwMode="auto">
          <a:xfrm>
            <a:off x="468188" y="2924944"/>
            <a:ext cx="2590800" cy="2576512"/>
            <a:chOff x="144" y="1104"/>
            <a:chExt cx="1632" cy="1623"/>
          </a:xfrm>
        </p:grpSpPr>
        <p:sp>
          <p:nvSpPr>
            <p:cNvPr id="29" name="Oval 69"/>
            <p:cNvSpPr>
              <a:spLocks noChangeArrowheads="1"/>
            </p:cNvSpPr>
            <p:nvPr/>
          </p:nvSpPr>
          <p:spPr bwMode="auto">
            <a:xfrm>
              <a:off x="750" y="1104"/>
              <a:ext cx="233" cy="16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  <a:ea typeface="黑体" panose="02010609060101010101" pitchFamily="49" charset="-122"/>
                </a:rPr>
                <a:t>V5</a:t>
              </a:r>
            </a:p>
          </p:txBody>
        </p:sp>
        <p:sp>
          <p:nvSpPr>
            <p:cNvPr id="30" name="Oval 70"/>
            <p:cNvSpPr>
              <a:spLocks noChangeArrowheads="1"/>
            </p:cNvSpPr>
            <p:nvPr/>
          </p:nvSpPr>
          <p:spPr bwMode="auto">
            <a:xfrm>
              <a:off x="1544" y="1644"/>
              <a:ext cx="232" cy="18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  <a:ea typeface="黑体" panose="02010609060101010101" pitchFamily="49" charset="-122"/>
                </a:rPr>
                <a:t>V4</a:t>
              </a:r>
            </a:p>
          </p:txBody>
        </p:sp>
        <p:sp>
          <p:nvSpPr>
            <p:cNvPr id="31" name="Oval 71"/>
            <p:cNvSpPr>
              <a:spLocks noChangeArrowheads="1"/>
            </p:cNvSpPr>
            <p:nvPr/>
          </p:nvSpPr>
          <p:spPr bwMode="auto">
            <a:xfrm>
              <a:off x="144" y="1644"/>
              <a:ext cx="232" cy="16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1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V0</a:t>
              </a:r>
            </a:p>
          </p:txBody>
        </p:sp>
        <p:sp>
          <p:nvSpPr>
            <p:cNvPr id="32" name="Oval 72"/>
            <p:cNvSpPr>
              <a:spLocks noChangeArrowheads="1"/>
            </p:cNvSpPr>
            <p:nvPr/>
          </p:nvSpPr>
          <p:spPr bwMode="auto">
            <a:xfrm>
              <a:off x="1114" y="2148"/>
              <a:ext cx="233" cy="167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  <a:ea typeface="黑体" panose="02010609060101010101" pitchFamily="49" charset="-122"/>
                </a:rPr>
                <a:t>V3</a:t>
              </a:r>
            </a:p>
          </p:txBody>
        </p:sp>
        <p:sp>
          <p:nvSpPr>
            <p:cNvPr id="33" name="Oval 74"/>
            <p:cNvSpPr>
              <a:spLocks noChangeArrowheads="1"/>
            </p:cNvSpPr>
            <p:nvPr/>
          </p:nvSpPr>
          <p:spPr bwMode="auto">
            <a:xfrm>
              <a:off x="779" y="2511"/>
              <a:ext cx="232" cy="21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  <a:ea typeface="黑体" panose="02010609060101010101" pitchFamily="49" charset="-122"/>
                </a:rPr>
                <a:t>V2</a:t>
              </a:r>
            </a:p>
          </p:txBody>
        </p:sp>
        <p:sp>
          <p:nvSpPr>
            <p:cNvPr id="34" name="Line 75"/>
            <p:cNvSpPr>
              <a:spLocks noChangeShapeType="1"/>
            </p:cNvSpPr>
            <p:nvPr/>
          </p:nvSpPr>
          <p:spPr bwMode="auto">
            <a:xfrm flipH="1">
              <a:off x="265" y="1266"/>
              <a:ext cx="557" cy="37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Text Box 76"/>
            <p:cNvSpPr txBox="1">
              <a:spLocks noChangeArrowheads="1"/>
            </p:cNvSpPr>
            <p:nvPr/>
          </p:nvSpPr>
          <p:spPr bwMode="auto">
            <a:xfrm>
              <a:off x="204" y="1321"/>
              <a:ext cx="37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  <a:ea typeface="宋体" panose="02010600030101010101" pitchFamily="2" charset="-122"/>
                </a:rPr>
                <a:t>100</a:t>
              </a:r>
            </a:p>
          </p:txBody>
        </p:sp>
        <p:sp>
          <p:nvSpPr>
            <p:cNvPr id="36" name="Line 77"/>
            <p:cNvSpPr>
              <a:spLocks noChangeShapeType="1"/>
            </p:cNvSpPr>
            <p:nvPr/>
          </p:nvSpPr>
          <p:spPr bwMode="auto">
            <a:xfrm>
              <a:off x="952" y="1266"/>
              <a:ext cx="605" cy="37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sm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Text Box 78"/>
            <p:cNvSpPr txBox="1">
              <a:spLocks noChangeArrowheads="1"/>
            </p:cNvSpPr>
            <p:nvPr/>
          </p:nvSpPr>
          <p:spPr bwMode="auto">
            <a:xfrm>
              <a:off x="1208" y="1308"/>
              <a:ext cx="40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  <a:ea typeface="宋体" panose="02010600030101010101" pitchFamily="2" charset="-122"/>
                </a:rPr>
                <a:t>60</a:t>
              </a:r>
            </a:p>
          </p:txBody>
        </p:sp>
        <p:sp>
          <p:nvSpPr>
            <p:cNvPr id="38" name="Line 79"/>
            <p:cNvSpPr>
              <a:spLocks noChangeShapeType="1"/>
            </p:cNvSpPr>
            <p:nvPr/>
          </p:nvSpPr>
          <p:spPr bwMode="auto">
            <a:xfrm>
              <a:off x="346" y="1728"/>
              <a:ext cx="1207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Text Box 80"/>
            <p:cNvSpPr txBox="1">
              <a:spLocks noChangeArrowheads="1"/>
            </p:cNvSpPr>
            <p:nvPr/>
          </p:nvSpPr>
          <p:spPr bwMode="auto">
            <a:xfrm>
              <a:off x="481" y="1518"/>
              <a:ext cx="35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  <a:ea typeface="宋体" panose="02010600030101010101" pitchFamily="2" charset="-122"/>
                </a:rPr>
                <a:t>30</a:t>
              </a:r>
            </a:p>
          </p:txBody>
        </p:sp>
        <p:sp>
          <p:nvSpPr>
            <p:cNvPr id="40" name="Line 81"/>
            <p:cNvSpPr>
              <a:spLocks noChangeShapeType="1"/>
            </p:cNvSpPr>
            <p:nvPr/>
          </p:nvSpPr>
          <p:spPr bwMode="auto">
            <a:xfrm>
              <a:off x="280" y="1830"/>
              <a:ext cx="544" cy="7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Text Box 82"/>
            <p:cNvSpPr txBox="1">
              <a:spLocks noChangeArrowheads="1"/>
            </p:cNvSpPr>
            <p:nvPr/>
          </p:nvSpPr>
          <p:spPr bwMode="auto">
            <a:xfrm>
              <a:off x="280" y="2064"/>
              <a:ext cx="278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42" name="Line 83"/>
            <p:cNvSpPr>
              <a:spLocks noChangeShapeType="1"/>
            </p:cNvSpPr>
            <p:nvPr/>
          </p:nvSpPr>
          <p:spPr bwMode="auto">
            <a:xfrm>
              <a:off x="855" y="1258"/>
              <a:ext cx="331" cy="89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Text Box 84"/>
            <p:cNvSpPr txBox="1">
              <a:spLocks noChangeArrowheads="1"/>
            </p:cNvSpPr>
            <p:nvPr/>
          </p:nvSpPr>
          <p:spPr bwMode="auto">
            <a:xfrm>
              <a:off x="872" y="1854"/>
              <a:ext cx="278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44" name="Line 85"/>
            <p:cNvSpPr>
              <a:spLocks noChangeShapeType="1"/>
            </p:cNvSpPr>
            <p:nvPr/>
          </p:nvSpPr>
          <p:spPr bwMode="auto">
            <a:xfrm flipH="1">
              <a:off x="1277" y="1812"/>
              <a:ext cx="285" cy="3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Text Box 86"/>
            <p:cNvSpPr txBox="1">
              <a:spLocks noChangeArrowheads="1"/>
            </p:cNvSpPr>
            <p:nvPr/>
          </p:nvSpPr>
          <p:spPr bwMode="auto">
            <a:xfrm>
              <a:off x="1405" y="1911"/>
              <a:ext cx="32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  <a:ea typeface="宋体" panose="02010600030101010101" pitchFamily="2" charset="-122"/>
                </a:rPr>
                <a:t>20</a:t>
              </a:r>
            </a:p>
          </p:txBody>
        </p:sp>
        <p:sp>
          <p:nvSpPr>
            <p:cNvPr id="46" name="Line 87"/>
            <p:cNvSpPr>
              <a:spLocks noChangeShapeType="1"/>
            </p:cNvSpPr>
            <p:nvPr/>
          </p:nvSpPr>
          <p:spPr bwMode="auto">
            <a:xfrm flipV="1">
              <a:off x="952" y="2284"/>
              <a:ext cx="235" cy="2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Text Box 88"/>
            <p:cNvSpPr txBox="1">
              <a:spLocks noChangeArrowheads="1"/>
            </p:cNvSpPr>
            <p:nvPr/>
          </p:nvSpPr>
          <p:spPr bwMode="auto">
            <a:xfrm>
              <a:off x="993" y="2399"/>
              <a:ext cx="32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  <a:ea typeface="宋体" panose="02010600030101010101" pitchFamily="2" charset="-122"/>
                </a:rPr>
                <a:t>50</a:t>
              </a:r>
            </a:p>
          </p:txBody>
        </p:sp>
      </p:grpSp>
      <p:sp>
        <p:nvSpPr>
          <p:cNvPr id="48" name="Oval 134"/>
          <p:cNvSpPr>
            <a:spLocks noChangeArrowheads="1"/>
          </p:cNvSpPr>
          <p:nvPr/>
        </p:nvSpPr>
        <p:spPr bwMode="auto">
          <a:xfrm>
            <a:off x="468188" y="3763144"/>
            <a:ext cx="381000" cy="304800"/>
          </a:xfrm>
          <a:prstGeom prst="ellipse">
            <a:avLst/>
          </a:prstGeom>
          <a:noFill/>
          <a:ln w="38100">
            <a:solidFill>
              <a:srgbClr val="4C34FE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400">
              <a:ea typeface="宋体" panose="02010600030101010101" pitchFamily="2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231107" y="2200877"/>
            <a:ext cx="67094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D[</a:t>
            </a:r>
            <a:r>
              <a:rPr lang="en-US" altLang="zh-CN" sz="2400" i="1" dirty="0"/>
              <a:t>k</a:t>
            </a:r>
            <a:r>
              <a:rPr lang="en-US" altLang="zh-CN" sz="2400" dirty="0"/>
              <a:t>]+</a:t>
            </a:r>
            <a:r>
              <a:rPr lang="en-US" altLang="zh-CN" sz="2400" dirty="0" err="1"/>
              <a:t>G.arcs</a:t>
            </a:r>
            <a:r>
              <a:rPr lang="en-US" altLang="zh-CN" sz="2400" dirty="0"/>
              <a:t>[</a:t>
            </a:r>
            <a:r>
              <a:rPr lang="en-US" altLang="zh-CN" sz="2400" i="1" dirty="0"/>
              <a:t>k</a:t>
            </a:r>
            <a:r>
              <a:rPr lang="en-US" altLang="zh-CN" sz="2400" dirty="0"/>
              <a:t>][</a:t>
            </a:r>
            <a:r>
              <a:rPr lang="en-US" altLang="zh-CN" sz="2400" i="1" dirty="0" err="1"/>
              <a:t>i</a:t>
            </a:r>
            <a:r>
              <a:rPr lang="en-US" altLang="zh-CN" sz="2400" dirty="0"/>
              <a:t>]&lt;D[</a:t>
            </a:r>
            <a:r>
              <a:rPr lang="en-US" altLang="zh-CN" sz="2400" i="1" dirty="0" err="1"/>
              <a:t>i</a:t>
            </a:r>
            <a:r>
              <a:rPr lang="en-US" altLang="zh-CN" sz="2400" dirty="0"/>
              <a:t>]</a:t>
            </a:r>
            <a:r>
              <a:rPr lang="zh-CN" altLang="en-US" sz="2400" dirty="0"/>
              <a:t>，则</a:t>
            </a:r>
            <a:r>
              <a:rPr lang="en-US" altLang="zh-CN" sz="2400" dirty="0"/>
              <a:t>D[</a:t>
            </a:r>
            <a:r>
              <a:rPr lang="en-US" altLang="zh-CN" sz="2400" i="1" dirty="0" err="1"/>
              <a:t>i</a:t>
            </a:r>
            <a:r>
              <a:rPr lang="en-US" altLang="zh-CN" sz="2400" dirty="0"/>
              <a:t>]=D[</a:t>
            </a:r>
            <a:r>
              <a:rPr lang="en-US" altLang="zh-CN" sz="2400" i="1" dirty="0"/>
              <a:t>k</a:t>
            </a:r>
            <a:r>
              <a:rPr lang="en-US" altLang="zh-CN" sz="2400" dirty="0"/>
              <a:t>]+ </a:t>
            </a:r>
            <a:r>
              <a:rPr lang="en-US" altLang="zh-CN" sz="2400" dirty="0" err="1"/>
              <a:t>G.arcs</a:t>
            </a:r>
            <a:r>
              <a:rPr lang="en-US" altLang="zh-CN" sz="2400" dirty="0"/>
              <a:t>[</a:t>
            </a:r>
            <a:r>
              <a:rPr lang="en-US" altLang="zh-CN" sz="2400" i="1" dirty="0"/>
              <a:t>k</a:t>
            </a:r>
            <a:r>
              <a:rPr lang="en-US" altLang="zh-CN" sz="2400" dirty="0"/>
              <a:t>][</a:t>
            </a:r>
            <a:r>
              <a:rPr lang="en-US" altLang="zh-CN" sz="2400" i="1" dirty="0" err="1"/>
              <a:t>i</a:t>
            </a:r>
            <a:r>
              <a:rPr lang="en-US" altLang="zh-CN" sz="2400" dirty="0"/>
              <a:t>]</a:t>
            </a:r>
            <a:endParaRPr lang="zh-CN" altLang="en-US" sz="2400" dirty="0"/>
          </a:p>
        </p:txBody>
      </p:sp>
      <p:graphicFrame>
        <p:nvGraphicFramePr>
          <p:cNvPr id="49" name="表格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4198630"/>
              </p:ext>
            </p:extLst>
          </p:nvPr>
        </p:nvGraphicFramePr>
        <p:xfrm>
          <a:off x="3144155" y="2906296"/>
          <a:ext cx="5832168" cy="34750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8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6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0088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终点</a:t>
                      </a:r>
                      <a:endParaRPr lang="en-US" altLang="zh-CN" sz="1800" dirty="0"/>
                    </a:p>
                  </a:txBody>
                  <a:tcPr marL="91426" marR="91426" marT="45711" marB="457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从</a:t>
                      </a:r>
                      <a:r>
                        <a:rPr lang="en-US" altLang="zh-CN" sz="1800" dirty="0"/>
                        <a:t>v0</a:t>
                      </a:r>
                      <a:r>
                        <a:rPr lang="zh-CN" altLang="en-US" sz="1800" dirty="0"/>
                        <a:t>到各终点最短路径长度</a:t>
                      </a:r>
                      <a:r>
                        <a:rPr lang="en-US" altLang="zh-CN" sz="1800" dirty="0"/>
                        <a:t>D</a:t>
                      </a:r>
                      <a:r>
                        <a:rPr lang="zh-CN" altLang="en-US" sz="1800" dirty="0"/>
                        <a:t>及最短路径</a:t>
                      </a:r>
                    </a:p>
                  </a:txBody>
                  <a:tcPr marL="91426" marR="91426" marT="45711" marB="457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marL="91426" marR="91426" marT="45711" marB="45711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marL="91426" marR="91426" marT="45711" marB="45711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marL="91426" marR="91426" marT="45711" marB="45711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marL="91426" marR="91426" marT="45711" marB="4571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31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初始</a:t>
                      </a:r>
                    </a:p>
                  </a:txBody>
                  <a:tcPr marL="91426" marR="91426" marT="45711" marB="457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i</a:t>
                      </a:r>
                      <a:r>
                        <a:rPr lang="en-US" altLang="zh-CN" sz="1800" dirty="0"/>
                        <a:t>=1</a:t>
                      </a:r>
                      <a:endParaRPr lang="zh-CN" altLang="en-US" sz="18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i</a:t>
                      </a:r>
                      <a:r>
                        <a:rPr lang="en-US" altLang="zh-CN" sz="1800" dirty="0"/>
                        <a:t>=2</a:t>
                      </a:r>
                      <a:endParaRPr lang="zh-CN" altLang="en-US" sz="18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i</a:t>
                      </a:r>
                      <a:r>
                        <a:rPr lang="en-US" altLang="zh-CN" sz="1800" dirty="0"/>
                        <a:t>=3</a:t>
                      </a:r>
                      <a:endParaRPr lang="zh-CN" altLang="en-US" sz="18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i</a:t>
                      </a:r>
                      <a:r>
                        <a:rPr lang="en-US" altLang="zh-CN" sz="1800" dirty="0"/>
                        <a:t>=4</a:t>
                      </a:r>
                      <a:endParaRPr lang="zh-CN" altLang="en-US" sz="1800" dirty="0"/>
                    </a:p>
                  </a:txBody>
                  <a:tcPr marL="91426" marR="91426" marT="45711" marB="45711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5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Vk</a:t>
                      </a:r>
                      <a:endParaRPr lang="zh-CN" altLang="en-US" sz="1800" dirty="0"/>
                    </a:p>
                  </a:txBody>
                  <a:tcPr marL="91426" marR="91426" marT="45711" marB="4571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V2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v4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5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S</a:t>
                      </a:r>
                      <a:endParaRPr lang="zh-CN" altLang="en-US" sz="1800" dirty="0"/>
                    </a:p>
                  </a:txBody>
                  <a:tcPr marL="91426" marR="91426" marT="45711" marB="4571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{v0}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{v0,</a:t>
                      </a:r>
                      <a:r>
                        <a:rPr lang="en-US" altLang="zh-CN" sz="1200" baseline="0" dirty="0"/>
                        <a:t> V2</a:t>
                      </a:r>
                      <a:r>
                        <a:rPr lang="en-US" altLang="zh-CN" sz="1200" dirty="0"/>
                        <a:t>}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{v0,v2,v4}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5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v2</a:t>
                      </a:r>
                      <a:endParaRPr lang="zh-CN" altLang="en-US" sz="1800" dirty="0"/>
                    </a:p>
                  </a:txBody>
                  <a:tcPr marL="91426" marR="91426" marT="45711" marB="4571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10</a:t>
                      </a:r>
                    </a:p>
                    <a:p>
                      <a:pPr algn="ctr"/>
                      <a:r>
                        <a:rPr lang="en-US" altLang="zh-CN" sz="1200" dirty="0"/>
                        <a:t>(v0,v2)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确定</a:t>
                      </a:r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5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v3</a:t>
                      </a:r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/>
                        <a:t>Inf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60</a:t>
                      </a:r>
                    </a:p>
                    <a:p>
                      <a:pPr algn="ctr"/>
                      <a:r>
                        <a:rPr lang="en-US" altLang="zh-CN" sz="1200" dirty="0"/>
                        <a:t>(v0,</a:t>
                      </a:r>
                      <a:r>
                        <a:rPr lang="en-US" altLang="zh-CN" sz="1200" baseline="0" dirty="0"/>
                        <a:t>v2,v3)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50</a:t>
                      </a:r>
                    </a:p>
                    <a:p>
                      <a:pPr algn="ctr"/>
                      <a:r>
                        <a:rPr lang="en-US" altLang="zh-CN" sz="1200" dirty="0"/>
                        <a:t>(v0,v4,v3)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5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v4</a:t>
                      </a:r>
                      <a:endParaRPr lang="zh-CN" altLang="en-US" sz="18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30</a:t>
                      </a:r>
                    </a:p>
                    <a:p>
                      <a:pPr algn="ctr"/>
                      <a:r>
                        <a:rPr lang="en-US" altLang="zh-CN" sz="1200" dirty="0"/>
                        <a:t>(v0,v4)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30</a:t>
                      </a:r>
                    </a:p>
                    <a:p>
                      <a:pPr algn="ctr"/>
                      <a:r>
                        <a:rPr lang="en-US" altLang="zh-CN" sz="1200" dirty="0"/>
                        <a:t>(v0,v4)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确定</a:t>
                      </a:r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5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v5</a:t>
                      </a:r>
                      <a:endParaRPr lang="zh-CN" altLang="en-US" sz="18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100</a:t>
                      </a:r>
                    </a:p>
                    <a:p>
                      <a:pPr algn="ctr"/>
                      <a:r>
                        <a:rPr lang="en-US" altLang="zh-CN" sz="1200" dirty="0"/>
                        <a:t>(v0,v5)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100</a:t>
                      </a:r>
                    </a:p>
                    <a:p>
                      <a:pPr algn="ctr"/>
                      <a:r>
                        <a:rPr lang="en-US" altLang="zh-CN" sz="1200" dirty="0"/>
                        <a:t>(v0,v5)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90</a:t>
                      </a:r>
                    </a:p>
                    <a:p>
                      <a:pPr algn="ctr"/>
                      <a:r>
                        <a:rPr lang="en-US" altLang="zh-CN" sz="1200" dirty="0"/>
                        <a:t>(v0,v4,v5)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415423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kumimoji="1" lang="zh-CN" altLang="en-US" dirty="0">
                <a:latin typeface="+mn-ea"/>
              </a:rPr>
              <a:t>迪杰斯特拉</a:t>
            </a:r>
            <a:r>
              <a:rPr kumimoji="1" lang="en-US" altLang="zh-CN" dirty="0">
                <a:latin typeface="+mn-ea"/>
              </a:rPr>
              <a:t>(</a:t>
            </a:r>
            <a:r>
              <a:rPr kumimoji="1" lang="en-US" altLang="zh-CN" dirty="0" err="1">
                <a:latin typeface="+mn-ea"/>
              </a:rPr>
              <a:t>Dijkstra</a:t>
            </a:r>
            <a:r>
              <a:rPr kumimoji="1" lang="en-US" altLang="zh-CN" dirty="0">
                <a:latin typeface="+mn-ea"/>
              </a:rPr>
              <a:t>)</a:t>
            </a:r>
            <a:r>
              <a:rPr kumimoji="1" lang="zh-CN" altLang="en-US" dirty="0">
                <a:latin typeface="+mn-ea"/>
              </a:rPr>
              <a:t>算法</a:t>
            </a:r>
            <a:endParaRPr lang="zh-CN" altLang="en-US" dirty="0"/>
          </a:p>
        </p:txBody>
      </p:sp>
      <p:sp>
        <p:nvSpPr>
          <p:cNvPr id="87043" name="内容占位符 2"/>
          <p:cNvSpPr>
            <a:spLocks noGrp="1"/>
          </p:cNvSpPr>
          <p:nvPr>
            <p:ph idx="1"/>
          </p:nvPr>
        </p:nvSpPr>
        <p:spPr>
          <a:xfrm>
            <a:off x="468313" y="1125538"/>
            <a:ext cx="8207375" cy="1150937"/>
          </a:xfrm>
        </p:spPr>
        <p:txBody>
          <a:bodyPr/>
          <a:lstStyle/>
          <a:p>
            <a:r>
              <a:rPr lang="zh-CN" altLang="en-US" dirty="0"/>
              <a:t>从</a:t>
            </a:r>
            <a:r>
              <a:rPr lang="en-US" altLang="zh-CN" dirty="0"/>
              <a:t>v0</a:t>
            </a:r>
            <a:r>
              <a:rPr lang="zh-CN" altLang="en-US" dirty="0"/>
              <a:t>到各个终点的最短路径及其长度的求解过程</a:t>
            </a:r>
          </a:p>
        </p:txBody>
      </p:sp>
      <p:sp>
        <p:nvSpPr>
          <p:cNvPr id="87044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73AA8EA-B415-4596-B033-DF64798CC969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75</a:t>
            </a:fld>
            <a:endParaRPr lang="zh-CN" altLang="en-US" sz="1000"/>
          </a:p>
        </p:txBody>
      </p:sp>
      <p:grpSp>
        <p:nvGrpSpPr>
          <p:cNvPr id="28" name="Group 67"/>
          <p:cNvGrpSpPr>
            <a:grpSpLocks/>
          </p:cNvGrpSpPr>
          <p:nvPr/>
        </p:nvGrpSpPr>
        <p:grpSpPr bwMode="auto">
          <a:xfrm>
            <a:off x="468188" y="2924944"/>
            <a:ext cx="2590800" cy="2576512"/>
            <a:chOff x="144" y="1104"/>
            <a:chExt cx="1632" cy="1623"/>
          </a:xfrm>
        </p:grpSpPr>
        <p:sp>
          <p:nvSpPr>
            <p:cNvPr id="29" name="Oval 69"/>
            <p:cNvSpPr>
              <a:spLocks noChangeArrowheads="1"/>
            </p:cNvSpPr>
            <p:nvPr/>
          </p:nvSpPr>
          <p:spPr bwMode="auto">
            <a:xfrm>
              <a:off x="750" y="1104"/>
              <a:ext cx="233" cy="16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  <a:ea typeface="黑体" panose="02010609060101010101" pitchFamily="49" charset="-122"/>
                </a:rPr>
                <a:t>V5</a:t>
              </a:r>
            </a:p>
          </p:txBody>
        </p:sp>
        <p:sp>
          <p:nvSpPr>
            <p:cNvPr id="30" name="Oval 70"/>
            <p:cNvSpPr>
              <a:spLocks noChangeArrowheads="1"/>
            </p:cNvSpPr>
            <p:nvPr/>
          </p:nvSpPr>
          <p:spPr bwMode="auto">
            <a:xfrm>
              <a:off x="1544" y="1644"/>
              <a:ext cx="232" cy="18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  <a:ea typeface="黑体" panose="02010609060101010101" pitchFamily="49" charset="-122"/>
                </a:rPr>
                <a:t>V4</a:t>
              </a:r>
            </a:p>
          </p:txBody>
        </p:sp>
        <p:sp>
          <p:nvSpPr>
            <p:cNvPr id="31" name="Oval 71"/>
            <p:cNvSpPr>
              <a:spLocks noChangeArrowheads="1"/>
            </p:cNvSpPr>
            <p:nvPr/>
          </p:nvSpPr>
          <p:spPr bwMode="auto">
            <a:xfrm>
              <a:off x="144" y="1644"/>
              <a:ext cx="232" cy="16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1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V0</a:t>
              </a:r>
            </a:p>
          </p:txBody>
        </p:sp>
        <p:sp>
          <p:nvSpPr>
            <p:cNvPr id="32" name="Oval 72"/>
            <p:cNvSpPr>
              <a:spLocks noChangeArrowheads="1"/>
            </p:cNvSpPr>
            <p:nvPr/>
          </p:nvSpPr>
          <p:spPr bwMode="auto">
            <a:xfrm>
              <a:off x="1114" y="2148"/>
              <a:ext cx="233" cy="167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  <a:ea typeface="黑体" panose="02010609060101010101" pitchFamily="49" charset="-122"/>
                </a:rPr>
                <a:t>V3</a:t>
              </a:r>
            </a:p>
          </p:txBody>
        </p:sp>
        <p:sp>
          <p:nvSpPr>
            <p:cNvPr id="33" name="Oval 74"/>
            <p:cNvSpPr>
              <a:spLocks noChangeArrowheads="1"/>
            </p:cNvSpPr>
            <p:nvPr/>
          </p:nvSpPr>
          <p:spPr bwMode="auto">
            <a:xfrm>
              <a:off x="779" y="2511"/>
              <a:ext cx="232" cy="21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  <a:ea typeface="黑体" panose="02010609060101010101" pitchFamily="49" charset="-122"/>
                </a:rPr>
                <a:t>V2</a:t>
              </a:r>
            </a:p>
          </p:txBody>
        </p:sp>
        <p:sp>
          <p:nvSpPr>
            <p:cNvPr id="34" name="Line 75"/>
            <p:cNvSpPr>
              <a:spLocks noChangeShapeType="1"/>
            </p:cNvSpPr>
            <p:nvPr/>
          </p:nvSpPr>
          <p:spPr bwMode="auto">
            <a:xfrm flipH="1">
              <a:off x="265" y="1266"/>
              <a:ext cx="557" cy="37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Text Box 76"/>
            <p:cNvSpPr txBox="1">
              <a:spLocks noChangeArrowheads="1"/>
            </p:cNvSpPr>
            <p:nvPr/>
          </p:nvSpPr>
          <p:spPr bwMode="auto">
            <a:xfrm>
              <a:off x="204" y="1321"/>
              <a:ext cx="37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  <a:ea typeface="宋体" panose="02010600030101010101" pitchFamily="2" charset="-122"/>
                </a:rPr>
                <a:t>100</a:t>
              </a:r>
            </a:p>
          </p:txBody>
        </p:sp>
        <p:sp>
          <p:nvSpPr>
            <p:cNvPr id="36" name="Line 77"/>
            <p:cNvSpPr>
              <a:spLocks noChangeShapeType="1"/>
            </p:cNvSpPr>
            <p:nvPr/>
          </p:nvSpPr>
          <p:spPr bwMode="auto">
            <a:xfrm>
              <a:off x="952" y="1266"/>
              <a:ext cx="605" cy="37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sm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Text Box 78"/>
            <p:cNvSpPr txBox="1">
              <a:spLocks noChangeArrowheads="1"/>
            </p:cNvSpPr>
            <p:nvPr/>
          </p:nvSpPr>
          <p:spPr bwMode="auto">
            <a:xfrm>
              <a:off x="1208" y="1308"/>
              <a:ext cx="40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  <a:ea typeface="宋体" panose="02010600030101010101" pitchFamily="2" charset="-122"/>
                </a:rPr>
                <a:t>60</a:t>
              </a:r>
            </a:p>
          </p:txBody>
        </p:sp>
        <p:sp>
          <p:nvSpPr>
            <p:cNvPr id="38" name="Line 79"/>
            <p:cNvSpPr>
              <a:spLocks noChangeShapeType="1"/>
            </p:cNvSpPr>
            <p:nvPr/>
          </p:nvSpPr>
          <p:spPr bwMode="auto">
            <a:xfrm>
              <a:off x="346" y="1728"/>
              <a:ext cx="1207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Text Box 80"/>
            <p:cNvSpPr txBox="1">
              <a:spLocks noChangeArrowheads="1"/>
            </p:cNvSpPr>
            <p:nvPr/>
          </p:nvSpPr>
          <p:spPr bwMode="auto">
            <a:xfrm>
              <a:off x="481" y="1518"/>
              <a:ext cx="35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  <a:ea typeface="宋体" panose="02010600030101010101" pitchFamily="2" charset="-122"/>
                </a:rPr>
                <a:t>30</a:t>
              </a:r>
            </a:p>
          </p:txBody>
        </p:sp>
        <p:sp>
          <p:nvSpPr>
            <p:cNvPr id="40" name="Line 81"/>
            <p:cNvSpPr>
              <a:spLocks noChangeShapeType="1"/>
            </p:cNvSpPr>
            <p:nvPr/>
          </p:nvSpPr>
          <p:spPr bwMode="auto">
            <a:xfrm>
              <a:off x="280" y="1830"/>
              <a:ext cx="544" cy="7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Text Box 82"/>
            <p:cNvSpPr txBox="1">
              <a:spLocks noChangeArrowheads="1"/>
            </p:cNvSpPr>
            <p:nvPr/>
          </p:nvSpPr>
          <p:spPr bwMode="auto">
            <a:xfrm>
              <a:off x="280" y="2064"/>
              <a:ext cx="278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42" name="Line 83"/>
            <p:cNvSpPr>
              <a:spLocks noChangeShapeType="1"/>
            </p:cNvSpPr>
            <p:nvPr/>
          </p:nvSpPr>
          <p:spPr bwMode="auto">
            <a:xfrm>
              <a:off x="855" y="1258"/>
              <a:ext cx="331" cy="89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Text Box 84"/>
            <p:cNvSpPr txBox="1">
              <a:spLocks noChangeArrowheads="1"/>
            </p:cNvSpPr>
            <p:nvPr/>
          </p:nvSpPr>
          <p:spPr bwMode="auto">
            <a:xfrm>
              <a:off x="872" y="1854"/>
              <a:ext cx="278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44" name="Line 85"/>
            <p:cNvSpPr>
              <a:spLocks noChangeShapeType="1"/>
            </p:cNvSpPr>
            <p:nvPr/>
          </p:nvSpPr>
          <p:spPr bwMode="auto">
            <a:xfrm flipH="1">
              <a:off x="1277" y="1812"/>
              <a:ext cx="285" cy="3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Text Box 86"/>
            <p:cNvSpPr txBox="1">
              <a:spLocks noChangeArrowheads="1"/>
            </p:cNvSpPr>
            <p:nvPr/>
          </p:nvSpPr>
          <p:spPr bwMode="auto">
            <a:xfrm>
              <a:off x="1405" y="1911"/>
              <a:ext cx="32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  <a:ea typeface="宋体" panose="02010600030101010101" pitchFamily="2" charset="-122"/>
                </a:rPr>
                <a:t>20</a:t>
              </a:r>
            </a:p>
          </p:txBody>
        </p:sp>
        <p:sp>
          <p:nvSpPr>
            <p:cNvPr id="46" name="Line 87"/>
            <p:cNvSpPr>
              <a:spLocks noChangeShapeType="1"/>
            </p:cNvSpPr>
            <p:nvPr/>
          </p:nvSpPr>
          <p:spPr bwMode="auto">
            <a:xfrm flipV="1">
              <a:off x="952" y="2284"/>
              <a:ext cx="235" cy="2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Text Box 88"/>
            <p:cNvSpPr txBox="1">
              <a:spLocks noChangeArrowheads="1"/>
            </p:cNvSpPr>
            <p:nvPr/>
          </p:nvSpPr>
          <p:spPr bwMode="auto">
            <a:xfrm>
              <a:off x="993" y="2399"/>
              <a:ext cx="32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  <a:ea typeface="宋体" panose="02010600030101010101" pitchFamily="2" charset="-122"/>
                </a:rPr>
                <a:t>50</a:t>
              </a:r>
            </a:p>
          </p:txBody>
        </p:sp>
      </p:grpSp>
      <p:sp>
        <p:nvSpPr>
          <p:cNvPr id="48" name="Oval 134"/>
          <p:cNvSpPr>
            <a:spLocks noChangeArrowheads="1"/>
          </p:cNvSpPr>
          <p:nvPr/>
        </p:nvSpPr>
        <p:spPr bwMode="auto">
          <a:xfrm>
            <a:off x="468188" y="3763144"/>
            <a:ext cx="381000" cy="304800"/>
          </a:xfrm>
          <a:prstGeom prst="ellipse">
            <a:avLst/>
          </a:prstGeom>
          <a:noFill/>
          <a:ln w="38100">
            <a:solidFill>
              <a:srgbClr val="4C34FE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400">
              <a:ea typeface="宋体" panose="02010600030101010101" pitchFamily="2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231107" y="2200877"/>
            <a:ext cx="67094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D[</a:t>
            </a:r>
            <a:r>
              <a:rPr lang="en-US" altLang="zh-CN" sz="2400" i="1" dirty="0"/>
              <a:t>k</a:t>
            </a:r>
            <a:r>
              <a:rPr lang="en-US" altLang="zh-CN" sz="2400" dirty="0"/>
              <a:t>]+</a:t>
            </a:r>
            <a:r>
              <a:rPr lang="en-US" altLang="zh-CN" sz="2400" dirty="0" err="1"/>
              <a:t>G.arcs</a:t>
            </a:r>
            <a:r>
              <a:rPr lang="en-US" altLang="zh-CN" sz="2400" dirty="0"/>
              <a:t>[</a:t>
            </a:r>
            <a:r>
              <a:rPr lang="en-US" altLang="zh-CN" sz="2400" i="1" dirty="0"/>
              <a:t>k</a:t>
            </a:r>
            <a:r>
              <a:rPr lang="en-US" altLang="zh-CN" sz="2400" dirty="0"/>
              <a:t>][</a:t>
            </a:r>
            <a:r>
              <a:rPr lang="en-US" altLang="zh-CN" sz="2400" i="1" dirty="0" err="1"/>
              <a:t>i</a:t>
            </a:r>
            <a:r>
              <a:rPr lang="en-US" altLang="zh-CN" sz="2400" dirty="0"/>
              <a:t>]&lt;D[</a:t>
            </a:r>
            <a:r>
              <a:rPr lang="en-US" altLang="zh-CN" sz="2400" i="1" dirty="0" err="1"/>
              <a:t>i</a:t>
            </a:r>
            <a:r>
              <a:rPr lang="en-US" altLang="zh-CN" sz="2400" dirty="0"/>
              <a:t>]</a:t>
            </a:r>
            <a:r>
              <a:rPr lang="zh-CN" altLang="en-US" sz="2400" dirty="0"/>
              <a:t>，则</a:t>
            </a:r>
            <a:r>
              <a:rPr lang="en-US" altLang="zh-CN" sz="2400" dirty="0"/>
              <a:t>D[</a:t>
            </a:r>
            <a:r>
              <a:rPr lang="en-US" altLang="zh-CN" sz="2400" i="1" dirty="0" err="1"/>
              <a:t>i</a:t>
            </a:r>
            <a:r>
              <a:rPr lang="en-US" altLang="zh-CN" sz="2400" dirty="0"/>
              <a:t>]=D[</a:t>
            </a:r>
            <a:r>
              <a:rPr lang="en-US" altLang="zh-CN" sz="2400" i="1" dirty="0"/>
              <a:t>k</a:t>
            </a:r>
            <a:r>
              <a:rPr lang="en-US" altLang="zh-CN" sz="2400" dirty="0"/>
              <a:t>]+ </a:t>
            </a:r>
            <a:r>
              <a:rPr lang="en-US" altLang="zh-CN" sz="2400" dirty="0" err="1"/>
              <a:t>G.arcs</a:t>
            </a:r>
            <a:r>
              <a:rPr lang="en-US" altLang="zh-CN" sz="2400" dirty="0"/>
              <a:t>[</a:t>
            </a:r>
            <a:r>
              <a:rPr lang="en-US" altLang="zh-CN" sz="2400" i="1" dirty="0"/>
              <a:t>k</a:t>
            </a:r>
            <a:r>
              <a:rPr lang="en-US" altLang="zh-CN" sz="2400" dirty="0"/>
              <a:t>][</a:t>
            </a:r>
            <a:r>
              <a:rPr lang="en-US" altLang="zh-CN" sz="2400" i="1" dirty="0" err="1"/>
              <a:t>i</a:t>
            </a:r>
            <a:r>
              <a:rPr lang="en-US" altLang="zh-CN" sz="2400" dirty="0"/>
              <a:t>]</a:t>
            </a:r>
            <a:endParaRPr lang="zh-CN" altLang="en-US" sz="2400" dirty="0"/>
          </a:p>
        </p:txBody>
      </p:sp>
      <p:graphicFrame>
        <p:nvGraphicFramePr>
          <p:cNvPr id="49" name="表格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6409385"/>
              </p:ext>
            </p:extLst>
          </p:nvPr>
        </p:nvGraphicFramePr>
        <p:xfrm>
          <a:off x="3144155" y="2906296"/>
          <a:ext cx="5832168" cy="34750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8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6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0088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终点</a:t>
                      </a:r>
                      <a:endParaRPr lang="en-US" altLang="zh-CN" sz="1800" dirty="0"/>
                    </a:p>
                  </a:txBody>
                  <a:tcPr marL="91426" marR="91426" marT="45711" marB="457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从</a:t>
                      </a:r>
                      <a:r>
                        <a:rPr lang="en-US" altLang="zh-CN" sz="1800" dirty="0"/>
                        <a:t>v0</a:t>
                      </a:r>
                      <a:r>
                        <a:rPr lang="zh-CN" altLang="en-US" sz="1800" dirty="0"/>
                        <a:t>到各终点最短路径长度</a:t>
                      </a:r>
                      <a:r>
                        <a:rPr lang="en-US" altLang="zh-CN" sz="1800" dirty="0"/>
                        <a:t>D</a:t>
                      </a:r>
                      <a:r>
                        <a:rPr lang="zh-CN" altLang="en-US" sz="1800" dirty="0"/>
                        <a:t>及最短路径</a:t>
                      </a:r>
                    </a:p>
                  </a:txBody>
                  <a:tcPr marL="91426" marR="91426" marT="45711" marB="457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marL="91426" marR="91426" marT="45711" marB="45711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marL="91426" marR="91426" marT="45711" marB="45711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marL="91426" marR="91426" marT="45711" marB="45711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marL="91426" marR="91426" marT="45711" marB="4571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31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初始</a:t>
                      </a:r>
                    </a:p>
                  </a:txBody>
                  <a:tcPr marL="91426" marR="91426" marT="45711" marB="457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i</a:t>
                      </a:r>
                      <a:r>
                        <a:rPr lang="en-US" altLang="zh-CN" sz="1800" dirty="0"/>
                        <a:t>=1</a:t>
                      </a:r>
                      <a:endParaRPr lang="zh-CN" altLang="en-US" sz="18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i</a:t>
                      </a:r>
                      <a:r>
                        <a:rPr lang="en-US" altLang="zh-CN" sz="1800" dirty="0"/>
                        <a:t>=3</a:t>
                      </a:r>
                      <a:endParaRPr lang="zh-CN" altLang="en-US" sz="18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i</a:t>
                      </a:r>
                      <a:r>
                        <a:rPr lang="en-US" altLang="zh-CN" sz="1800" dirty="0"/>
                        <a:t>=3</a:t>
                      </a:r>
                      <a:endParaRPr lang="zh-CN" altLang="en-US" sz="18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i</a:t>
                      </a:r>
                      <a:r>
                        <a:rPr lang="en-US" altLang="zh-CN" sz="1800" dirty="0"/>
                        <a:t>=4</a:t>
                      </a:r>
                      <a:endParaRPr lang="zh-CN" altLang="en-US" sz="1800" dirty="0"/>
                    </a:p>
                  </a:txBody>
                  <a:tcPr marL="91426" marR="91426" marT="45711" marB="45711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5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Vk</a:t>
                      </a:r>
                      <a:endParaRPr lang="zh-CN" altLang="en-US" sz="1800" dirty="0"/>
                    </a:p>
                  </a:txBody>
                  <a:tcPr marL="91426" marR="91426" marT="45711" marB="4571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V2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v4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v3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5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S</a:t>
                      </a:r>
                      <a:endParaRPr lang="zh-CN" altLang="en-US" sz="1800" dirty="0"/>
                    </a:p>
                  </a:txBody>
                  <a:tcPr marL="91426" marR="91426" marT="45711" marB="4571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{v0}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{v0,</a:t>
                      </a:r>
                      <a:r>
                        <a:rPr lang="en-US" altLang="zh-CN" sz="1200" baseline="0" dirty="0"/>
                        <a:t> V2</a:t>
                      </a:r>
                      <a:r>
                        <a:rPr lang="en-US" altLang="zh-CN" sz="1200" dirty="0"/>
                        <a:t>}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{v0,v2,v4}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{v0,v2,v4,v3}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5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v2</a:t>
                      </a:r>
                      <a:endParaRPr lang="zh-CN" altLang="en-US" sz="1800" dirty="0"/>
                    </a:p>
                  </a:txBody>
                  <a:tcPr marL="91426" marR="91426" marT="45711" marB="4571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10</a:t>
                      </a:r>
                    </a:p>
                    <a:p>
                      <a:pPr algn="ctr"/>
                      <a:r>
                        <a:rPr lang="en-US" altLang="zh-CN" sz="1200" dirty="0"/>
                        <a:t>(v0,v2)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确定</a:t>
                      </a:r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5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v3</a:t>
                      </a:r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/>
                        <a:t>Inf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60</a:t>
                      </a:r>
                    </a:p>
                    <a:p>
                      <a:pPr algn="ctr"/>
                      <a:r>
                        <a:rPr lang="en-US" altLang="zh-CN" sz="1200" dirty="0"/>
                        <a:t>(v0,</a:t>
                      </a:r>
                      <a:r>
                        <a:rPr lang="en-US" altLang="zh-CN" sz="1200" baseline="0" dirty="0"/>
                        <a:t>v2,v3)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50</a:t>
                      </a:r>
                    </a:p>
                    <a:p>
                      <a:pPr algn="ctr"/>
                      <a:r>
                        <a:rPr lang="en-US" altLang="zh-CN" sz="1200" dirty="0"/>
                        <a:t>(v0,v4,v3)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确定</a:t>
                      </a:r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5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v4</a:t>
                      </a:r>
                      <a:endParaRPr lang="zh-CN" altLang="en-US" sz="18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30</a:t>
                      </a:r>
                    </a:p>
                    <a:p>
                      <a:pPr algn="ctr"/>
                      <a:r>
                        <a:rPr lang="en-US" altLang="zh-CN" sz="1200" dirty="0"/>
                        <a:t>(v0,v4)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30</a:t>
                      </a:r>
                    </a:p>
                    <a:p>
                      <a:pPr algn="ctr"/>
                      <a:r>
                        <a:rPr lang="en-US" altLang="zh-CN" sz="1200" dirty="0"/>
                        <a:t>(v0,v4)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确定</a:t>
                      </a:r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5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v5</a:t>
                      </a:r>
                      <a:endParaRPr lang="zh-CN" altLang="en-US" sz="18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100</a:t>
                      </a:r>
                    </a:p>
                    <a:p>
                      <a:pPr algn="ctr"/>
                      <a:r>
                        <a:rPr lang="en-US" altLang="zh-CN" sz="1200" dirty="0"/>
                        <a:t>(v0,v5)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100</a:t>
                      </a:r>
                    </a:p>
                    <a:p>
                      <a:pPr algn="ctr"/>
                      <a:r>
                        <a:rPr lang="en-US" altLang="zh-CN" sz="1200" dirty="0"/>
                        <a:t>(v0,v5)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90</a:t>
                      </a:r>
                    </a:p>
                    <a:p>
                      <a:pPr algn="ctr"/>
                      <a:r>
                        <a:rPr lang="en-US" altLang="zh-CN" sz="1200" dirty="0"/>
                        <a:t>(v0,v4,v5)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60</a:t>
                      </a:r>
                    </a:p>
                    <a:p>
                      <a:pPr algn="ctr"/>
                      <a:r>
                        <a:rPr lang="en-US" altLang="zh-CN" sz="1200" dirty="0"/>
                        <a:t>(v0,v4,v3,v5)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647961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kumimoji="1" lang="zh-CN" altLang="en-US" dirty="0">
                <a:latin typeface="+mn-ea"/>
              </a:rPr>
              <a:t>迪杰斯特拉</a:t>
            </a:r>
            <a:r>
              <a:rPr kumimoji="1" lang="en-US" altLang="zh-CN" dirty="0">
                <a:latin typeface="+mn-ea"/>
              </a:rPr>
              <a:t>(</a:t>
            </a:r>
            <a:r>
              <a:rPr kumimoji="1" lang="en-US" altLang="zh-CN" dirty="0" err="1">
                <a:latin typeface="+mn-ea"/>
              </a:rPr>
              <a:t>Dijkstra</a:t>
            </a:r>
            <a:r>
              <a:rPr kumimoji="1" lang="en-US" altLang="zh-CN" dirty="0">
                <a:latin typeface="+mn-ea"/>
              </a:rPr>
              <a:t>)</a:t>
            </a:r>
            <a:r>
              <a:rPr kumimoji="1" lang="zh-CN" altLang="en-US" dirty="0">
                <a:latin typeface="+mn-ea"/>
              </a:rPr>
              <a:t>算法</a:t>
            </a:r>
            <a:endParaRPr lang="zh-CN" altLang="en-US" dirty="0"/>
          </a:p>
        </p:txBody>
      </p:sp>
      <p:sp>
        <p:nvSpPr>
          <p:cNvPr id="87043" name="内容占位符 2"/>
          <p:cNvSpPr>
            <a:spLocks noGrp="1"/>
          </p:cNvSpPr>
          <p:nvPr>
            <p:ph idx="1"/>
          </p:nvPr>
        </p:nvSpPr>
        <p:spPr>
          <a:xfrm>
            <a:off x="468313" y="1125538"/>
            <a:ext cx="8207375" cy="1150937"/>
          </a:xfrm>
        </p:spPr>
        <p:txBody>
          <a:bodyPr/>
          <a:lstStyle/>
          <a:p>
            <a:r>
              <a:rPr lang="zh-CN" altLang="en-US" dirty="0"/>
              <a:t>从</a:t>
            </a:r>
            <a:r>
              <a:rPr lang="en-US" altLang="zh-CN" dirty="0"/>
              <a:t>v0</a:t>
            </a:r>
            <a:r>
              <a:rPr lang="zh-CN" altLang="en-US" dirty="0"/>
              <a:t>到各个终点的最短路径及其长度的求解过程</a:t>
            </a:r>
          </a:p>
        </p:txBody>
      </p:sp>
      <p:sp>
        <p:nvSpPr>
          <p:cNvPr id="87044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73AA8EA-B415-4596-B033-DF64798CC969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76</a:t>
            </a:fld>
            <a:endParaRPr lang="zh-CN" altLang="en-US" sz="1000"/>
          </a:p>
        </p:txBody>
      </p:sp>
      <p:grpSp>
        <p:nvGrpSpPr>
          <p:cNvPr id="28" name="Group 67"/>
          <p:cNvGrpSpPr>
            <a:grpSpLocks/>
          </p:cNvGrpSpPr>
          <p:nvPr/>
        </p:nvGrpSpPr>
        <p:grpSpPr bwMode="auto">
          <a:xfrm>
            <a:off x="468188" y="2924944"/>
            <a:ext cx="2590800" cy="2576512"/>
            <a:chOff x="144" y="1104"/>
            <a:chExt cx="1632" cy="1623"/>
          </a:xfrm>
        </p:grpSpPr>
        <p:sp>
          <p:nvSpPr>
            <p:cNvPr id="29" name="Oval 69"/>
            <p:cNvSpPr>
              <a:spLocks noChangeArrowheads="1"/>
            </p:cNvSpPr>
            <p:nvPr/>
          </p:nvSpPr>
          <p:spPr bwMode="auto">
            <a:xfrm>
              <a:off x="750" y="1104"/>
              <a:ext cx="233" cy="16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  <a:ea typeface="黑体" panose="02010609060101010101" pitchFamily="49" charset="-122"/>
                </a:rPr>
                <a:t>V5</a:t>
              </a:r>
            </a:p>
          </p:txBody>
        </p:sp>
        <p:sp>
          <p:nvSpPr>
            <p:cNvPr id="30" name="Oval 70"/>
            <p:cNvSpPr>
              <a:spLocks noChangeArrowheads="1"/>
            </p:cNvSpPr>
            <p:nvPr/>
          </p:nvSpPr>
          <p:spPr bwMode="auto">
            <a:xfrm>
              <a:off x="1544" y="1644"/>
              <a:ext cx="232" cy="18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  <a:ea typeface="黑体" panose="02010609060101010101" pitchFamily="49" charset="-122"/>
                </a:rPr>
                <a:t>V4</a:t>
              </a:r>
            </a:p>
          </p:txBody>
        </p:sp>
        <p:sp>
          <p:nvSpPr>
            <p:cNvPr id="31" name="Oval 71"/>
            <p:cNvSpPr>
              <a:spLocks noChangeArrowheads="1"/>
            </p:cNvSpPr>
            <p:nvPr/>
          </p:nvSpPr>
          <p:spPr bwMode="auto">
            <a:xfrm>
              <a:off x="144" y="1644"/>
              <a:ext cx="232" cy="16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1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V0</a:t>
              </a:r>
            </a:p>
          </p:txBody>
        </p:sp>
        <p:sp>
          <p:nvSpPr>
            <p:cNvPr id="32" name="Oval 72"/>
            <p:cNvSpPr>
              <a:spLocks noChangeArrowheads="1"/>
            </p:cNvSpPr>
            <p:nvPr/>
          </p:nvSpPr>
          <p:spPr bwMode="auto">
            <a:xfrm>
              <a:off x="1114" y="2148"/>
              <a:ext cx="233" cy="167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  <a:ea typeface="黑体" panose="02010609060101010101" pitchFamily="49" charset="-122"/>
                </a:rPr>
                <a:t>V3</a:t>
              </a:r>
            </a:p>
          </p:txBody>
        </p:sp>
        <p:sp>
          <p:nvSpPr>
            <p:cNvPr id="33" name="Oval 74"/>
            <p:cNvSpPr>
              <a:spLocks noChangeArrowheads="1"/>
            </p:cNvSpPr>
            <p:nvPr/>
          </p:nvSpPr>
          <p:spPr bwMode="auto">
            <a:xfrm>
              <a:off x="779" y="2511"/>
              <a:ext cx="232" cy="21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  <a:ea typeface="黑体" panose="02010609060101010101" pitchFamily="49" charset="-122"/>
                </a:rPr>
                <a:t>V2</a:t>
              </a:r>
            </a:p>
          </p:txBody>
        </p:sp>
        <p:sp>
          <p:nvSpPr>
            <p:cNvPr id="34" name="Line 75"/>
            <p:cNvSpPr>
              <a:spLocks noChangeShapeType="1"/>
            </p:cNvSpPr>
            <p:nvPr/>
          </p:nvSpPr>
          <p:spPr bwMode="auto">
            <a:xfrm flipH="1">
              <a:off x="265" y="1266"/>
              <a:ext cx="557" cy="37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Text Box 76"/>
            <p:cNvSpPr txBox="1">
              <a:spLocks noChangeArrowheads="1"/>
            </p:cNvSpPr>
            <p:nvPr/>
          </p:nvSpPr>
          <p:spPr bwMode="auto">
            <a:xfrm>
              <a:off x="204" y="1321"/>
              <a:ext cx="37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  <a:ea typeface="宋体" panose="02010600030101010101" pitchFamily="2" charset="-122"/>
                </a:rPr>
                <a:t>100</a:t>
              </a:r>
            </a:p>
          </p:txBody>
        </p:sp>
        <p:sp>
          <p:nvSpPr>
            <p:cNvPr id="36" name="Line 77"/>
            <p:cNvSpPr>
              <a:spLocks noChangeShapeType="1"/>
            </p:cNvSpPr>
            <p:nvPr/>
          </p:nvSpPr>
          <p:spPr bwMode="auto">
            <a:xfrm>
              <a:off x="952" y="1266"/>
              <a:ext cx="605" cy="37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sm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Text Box 78"/>
            <p:cNvSpPr txBox="1">
              <a:spLocks noChangeArrowheads="1"/>
            </p:cNvSpPr>
            <p:nvPr/>
          </p:nvSpPr>
          <p:spPr bwMode="auto">
            <a:xfrm>
              <a:off x="1208" y="1308"/>
              <a:ext cx="40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  <a:ea typeface="宋体" panose="02010600030101010101" pitchFamily="2" charset="-122"/>
                </a:rPr>
                <a:t>60</a:t>
              </a:r>
            </a:p>
          </p:txBody>
        </p:sp>
        <p:sp>
          <p:nvSpPr>
            <p:cNvPr id="38" name="Line 79"/>
            <p:cNvSpPr>
              <a:spLocks noChangeShapeType="1"/>
            </p:cNvSpPr>
            <p:nvPr/>
          </p:nvSpPr>
          <p:spPr bwMode="auto">
            <a:xfrm>
              <a:off x="346" y="1728"/>
              <a:ext cx="1207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Text Box 80"/>
            <p:cNvSpPr txBox="1">
              <a:spLocks noChangeArrowheads="1"/>
            </p:cNvSpPr>
            <p:nvPr/>
          </p:nvSpPr>
          <p:spPr bwMode="auto">
            <a:xfrm>
              <a:off x="481" y="1518"/>
              <a:ext cx="35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  <a:ea typeface="宋体" panose="02010600030101010101" pitchFamily="2" charset="-122"/>
                </a:rPr>
                <a:t>30</a:t>
              </a:r>
            </a:p>
          </p:txBody>
        </p:sp>
        <p:sp>
          <p:nvSpPr>
            <p:cNvPr id="40" name="Line 81"/>
            <p:cNvSpPr>
              <a:spLocks noChangeShapeType="1"/>
            </p:cNvSpPr>
            <p:nvPr/>
          </p:nvSpPr>
          <p:spPr bwMode="auto">
            <a:xfrm>
              <a:off x="280" y="1830"/>
              <a:ext cx="544" cy="7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Text Box 82"/>
            <p:cNvSpPr txBox="1">
              <a:spLocks noChangeArrowheads="1"/>
            </p:cNvSpPr>
            <p:nvPr/>
          </p:nvSpPr>
          <p:spPr bwMode="auto">
            <a:xfrm>
              <a:off x="280" y="2064"/>
              <a:ext cx="278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42" name="Line 83"/>
            <p:cNvSpPr>
              <a:spLocks noChangeShapeType="1"/>
            </p:cNvSpPr>
            <p:nvPr/>
          </p:nvSpPr>
          <p:spPr bwMode="auto">
            <a:xfrm>
              <a:off x="855" y="1258"/>
              <a:ext cx="331" cy="89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Text Box 84"/>
            <p:cNvSpPr txBox="1">
              <a:spLocks noChangeArrowheads="1"/>
            </p:cNvSpPr>
            <p:nvPr/>
          </p:nvSpPr>
          <p:spPr bwMode="auto">
            <a:xfrm>
              <a:off x="872" y="1854"/>
              <a:ext cx="278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44" name="Line 85"/>
            <p:cNvSpPr>
              <a:spLocks noChangeShapeType="1"/>
            </p:cNvSpPr>
            <p:nvPr/>
          </p:nvSpPr>
          <p:spPr bwMode="auto">
            <a:xfrm flipH="1">
              <a:off x="1277" y="1812"/>
              <a:ext cx="285" cy="3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Text Box 86"/>
            <p:cNvSpPr txBox="1">
              <a:spLocks noChangeArrowheads="1"/>
            </p:cNvSpPr>
            <p:nvPr/>
          </p:nvSpPr>
          <p:spPr bwMode="auto">
            <a:xfrm>
              <a:off x="1405" y="1911"/>
              <a:ext cx="32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  <a:ea typeface="宋体" panose="02010600030101010101" pitchFamily="2" charset="-122"/>
                </a:rPr>
                <a:t>20</a:t>
              </a:r>
            </a:p>
          </p:txBody>
        </p:sp>
        <p:sp>
          <p:nvSpPr>
            <p:cNvPr id="46" name="Line 87"/>
            <p:cNvSpPr>
              <a:spLocks noChangeShapeType="1"/>
            </p:cNvSpPr>
            <p:nvPr/>
          </p:nvSpPr>
          <p:spPr bwMode="auto">
            <a:xfrm flipV="1">
              <a:off x="952" y="2284"/>
              <a:ext cx="235" cy="2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Text Box 88"/>
            <p:cNvSpPr txBox="1">
              <a:spLocks noChangeArrowheads="1"/>
            </p:cNvSpPr>
            <p:nvPr/>
          </p:nvSpPr>
          <p:spPr bwMode="auto">
            <a:xfrm>
              <a:off x="993" y="2399"/>
              <a:ext cx="32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400">
                  <a:latin typeface="Times New Roman" panose="02020603050405020304" pitchFamily="18" charset="0"/>
                  <a:ea typeface="宋体" panose="02010600030101010101" pitchFamily="2" charset="-122"/>
                </a:rPr>
                <a:t>50</a:t>
              </a:r>
            </a:p>
          </p:txBody>
        </p:sp>
      </p:grpSp>
      <p:sp>
        <p:nvSpPr>
          <p:cNvPr id="48" name="Oval 134"/>
          <p:cNvSpPr>
            <a:spLocks noChangeArrowheads="1"/>
          </p:cNvSpPr>
          <p:nvPr/>
        </p:nvSpPr>
        <p:spPr bwMode="auto">
          <a:xfrm>
            <a:off x="468188" y="3763144"/>
            <a:ext cx="381000" cy="304800"/>
          </a:xfrm>
          <a:prstGeom prst="ellipse">
            <a:avLst/>
          </a:prstGeom>
          <a:noFill/>
          <a:ln w="38100">
            <a:solidFill>
              <a:srgbClr val="4C34FE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400">
              <a:ea typeface="宋体" panose="02010600030101010101" pitchFamily="2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231107" y="2200877"/>
            <a:ext cx="67094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D[</a:t>
            </a:r>
            <a:r>
              <a:rPr lang="en-US" altLang="zh-CN" sz="2400" i="1" dirty="0"/>
              <a:t>k</a:t>
            </a:r>
            <a:r>
              <a:rPr lang="en-US" altLang="zh-CN" sz="2400" dirty="0"/>
              <a:t>]+</a:t>
            </a:r>
            <a:r>
              <a:rPr lang="en-US" altLang="zh-CN" sz="2400" dirty="0" err="1"/>
              <a:t>G.arcs</a:t>
            </a:r>
            <a:r>
              <a:rPr lang="en-US" altLang="zh-CN" sz="2400" dirty="0"/>
              <a:t>[</a:t>
            </a:r>
            <a:r>
              <a:rPr lang="en-US" altLang="zh-CN" sz="2400" i="1" dirty="0"/>
              <a:t>k</a:t>
            </a:r>
            <a:r>
              <a:rPr lang="en-US" altLang="zh-CN" sz="2400" dirty="0"/>
              <a:t>][</a:t>
            </a:r>
            <a:r>
              <a:rPr lang="en-US" altLang="zh-CN" sz="2400" i="1" dirty="0" err="1"/>
              <a:t>i</a:t>
            </a:r>
            <a:r>
              <a:rPr lang="en-US" altLang="zh-CN" sz="2400" dirty="0"/>
              <a:t>]&lt;D[</a:t>
            </a:r>
            <a:r>
              <a:rPr lang="en-US" altLang="zh-CN" sz="2400" i="1" dirty="0" err="1"/>
              <a:t>i</a:t>
            </a:r>
            <a:r>
              <a:rPr lang="en-US" altLang="zh-CN" sz="2400" dirty="0"/>
              <a:t>]</a:t>
            </a:r>
            <a:r>
              <a:rPr lang="zh-CN" altLang="en-US" sz="2400" dirty="0"/>
              <a:t>，则</a:t>
            </a:r>
            <a:r>
              <a:rPr lang="en-US" altLang="zh-CN" sz="2400" dirty="0"/>
              <a:t>D[</a:t>
            </a:r>
            <a:r>
              <a:rPr lang="en-US" altLang="zh-CN" sz="2400" i="1" dirty="0" err="1"/>
              <a:t>i</a:t>
            </a:r>
            <a:r>
              <a:rPr lang="en-US" altLang="zh-CN" sz="2400" dirty="0"/>
              <a:t>]=D[</a:t>
            </a:r>
            <a:r>
              <a:rPr lang="en-US" altLang="zh-CN" sz="2400" i="1" dirty="0"/>
              <a:t>k</a:t>
            </a:r>
            <a:r>
              <a:rPr lang="en-US" altLang="zh-CN" sz="2400" dirty="0"/>
              <a:t>]+ </a:t>
            </a:r>
            <a:r>
              <a:rPr lang="en-US" altLang="zh-CN" sz="2400" dirty="0" err="1"/>
              <a:t>G.arcs</a:t>
            </a:r>
            <a:r>
              <a:rPr lang="en-US" altLang="zh-CN" sz="2400" dirty="0"/>
              <a:t>[</a:t>
            </a:r>
            <a:r>
              <a:rPr lang="en-US" altLang="zh-CN" sz="2400" i="1" dirty="0"/>
              <a:t>k</a:t>
            </a:r>
            <a:r>
              <a:rPr lang="en-US" altLang="zh-CN" sz="2400" dirty="0"/>
              <a:t>][</a:t>
            </a:r>
            <a:r>
              <a:rPr lang="en-US" altLang="zh-CN" sz="2400" i="1" dirty="0" err="1"/>
              <a:t>i</a:t>
            </a:r>
            <a:r>
              <a:rPr lang="en-US" altLang="zh-CN" sz="2400" dirty="0"/>
              <a:t>]</a:t>
            </a:r>
            <a:endParaRPr lang="zh-CN" altLang="en-US" sz="2400" dirty="0"/>
          </a:p>
        </p:txBody>
      </p:sp>
      <p:graphicFrame>
        <p:nvGraphicFramePr>
          <p:cNvPr id="49" name="表格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8974896"/>
              </p:ext>
            </p:extLst>
          </p:nvPr>
        </p:nvGraphicFramePr>
        <p:xfrm>
          <a:off x="3144155" y="2906296"/>
          <a:ext cx="5832168" cy="34750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8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6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0088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终点</a:t>
                      </a:r>
                      <a:endParaRPr lang="en-US" altLang="zh-CN" sz="1800" dirty="0"/>
                    </a:p>
                  </a:txBody>
                  <a:tcPr marL="91426" marR="91426" marT="45711" marB="457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从</a:t>
                      </a:r>
                      <a:r>
                        <a:rPr lang="en-US" altLang="zh-CN" sz="1800" dirty="0"/>
                        <a:t>v0</a:t>
                      </a:r>
                      <a:r>
                        <a:rPr lang="zh-CN" altLang="en-US" sz="1800" dirty="0"/>
                        <a:t>到各终点最短路径长度</a:t>
                      </a:r>
                      <a:r>
                        <a:rPr lang="en-US" altLang="zh-CN" sz="1800" dirty="0"/>
                        <a:t>D</a:t>
                      </a:r>
                      <a:r>
                        <a:rPr lang="zh-CN" altLang="en-US" sz="1800" dirty="0"/>
                        <a:t>及最短路径</a:t>
                      </a:r>
                    </a:p>
                  </a:txBody>
                  <a:tcPr marL="91426" marR="91426" marT="45711" marB="457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marL="91426" marR="91426" marT="45711" marB="45711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marL="91426" marR="91426" marT="45711" marB="45711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marL="91426" marR="91426" marT="45711" marB="45711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marL="91426" marR="91426" marT="45711" marB="4571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31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初始</a:t>
                      </a:r>
                    </a:p>
                  </a:txBody>
                  <a:tcPr marL="91426" marR="91426" marT="45711" marB="457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i</a:t>
                      </a:r>
                      <a:r>
                        <a:rPr lang="en-US" altLang="zh-CN" sz="1800" dirty="0"/>
                        <a:t>=1</a:t>
                      </a:r>
                      <a:endParaRPr lang="zh-CN" altLang="en-US" sz="18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i</a:t>
                      </a:r>
                      <a:r>
                        <a:rPr lang="en-US" altLang="zh-CN" sz="1800" dirty="0"/>
                        <a:t>=3</a:t>
                      </a:r>
                      <a:endParaRPr lang="zh-CN" altLang="en-US" sz="18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i</a:t>
                      </a:r>
                      <a:r>
                        <a:rPr lang="en-US" altLang="zh-CN" sz="1800" dirty="0"/>
                        <a:t>=3</a:t>
                      </a:r>
                      <a:endParaRPr lang="zh-CN" altLang="en-US" sz="18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i</a:t>
                      </a:r>
                      <a:r>
                        <a:rPr lang="en-US" altLang="zh-CN" sz="1800" dirty="0"/>
                        <a:t>=4</a:t>
                      </a:r>
                      <a:endParaRPr lang="zh-CN" altLang="en-US" sz="1800" dirty="0"/>
                    </a:p>
                  </a:txBody>
                  <a:tcPr marL="91426" marR="91426" marT="45711" marB="45711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5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Vk</a:t>
                      </a:r>
                      <a:endParaRPr lang="zh-CN" altLang="en-US" sz="1800" dirty="0"/>
                    </a:p>
                  </a:txBody>
                  <a:tcPr marL="91426" marR="91426" marT="45711" marB="4571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V2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v4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v3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v5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5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S</a:t>
                      </a:r>
                      <a:endParaRPr lang="zh-CN" altLang="en-US" sz="1800" dirty="0"/>
                    </a:p>
                  </a:txBody>
                  <a:tcPr marL="91426" marR="91426" marT="45711" marB="4571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{v0}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{v0,</a:t>
                      </a:r>
                      <a:r>
                        <a:rPr lang="en-US" altLang="zh-CN" sz="1200" baseline="0" dirty="0"/>
                        <a:t> V2</a:t>
                      </a:r>
                      <a:r>
                        <a:rPr lang="en-US" altLang="zh-CN" sz="1200" dirty="0"/>
                        <a:t>}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{v0,v2,v4}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{v0,v2,v4,v3}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{v0,v2,v4,v3,v5}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5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v2</a:t>
                      </a:r>
                      <a:endParaRPr lang="zh-CN" altLang="en-US" sz="1800" dirty="0"/>
                    </a:p>
                  </a:txBody>
                  <a:tcPr marL="91426" marR="91426" marT="45711" marB="4571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10</a:t>
                      </a:r>
                    </a:p>
                    <a:p>
                      <a:pPr algn="ctr"/>
                      <a:r>
                        <a:rPr lang="en-US" altLang="zh-CN" sz="1200" dirty="0"/>
                        <a:t>(v0,v2)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确定</a:t>
                      </a:r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5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v3</a:t>
                      </a:r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/>
                        <a:t>Inf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60</a:t>
                      </a:r>
                    </a:p>
                    <a:p>
                      <a:pPr algn="ctr"/>
                      <a:r>
                        <a:rPr lang="en-US" altLang="zh-CN" sz="1200" dirty="0"/>
                        <a:t>(v0,</a:t>
                      </a:r>
                      <a:r>
                        <a:rPr lang="en-US" altLang="zh-CN" sz="1200" baseline="0" dirty="0"/>
                        <a:t>v2,v3)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50</a:t>
                      </a:r>
                    </a:p>
                    <a:p>
                      <a:pPr algn="ctr"/>
                      <a:r>
                        <a:rPr lang="en-US" altLang="zh-CN" sz="1200" dirty="0"/>
                        <a:t>(v0,v4,v3)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确定</a:t>
                      </a:r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5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v4</a:t>
                      </a:r>
                      <a:endParaRPr lang="zh-CN" altLang="en-US" sz="18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30</a:t>
                      </a:r>
                    </a:p>
                    <a:p>
                      <a:pPr algn="ctr"/>
                      <a:r>
                        <a:rPr lang="en-US" altLang="zh-CN" sz="1200" dirty="0"/>
                        <a:t>(v0,v4)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30</a:t>
                      </a:r>
                    </a:p>
                    <a:p>
                      <a:pPr algn="ctr"/>
                      <a:r>
                        <a:rPr lang="en-US" altLang="zh-CN" sz="1200" dirty="0"/>
                        <a:t>(v0,v4)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确定</a:t>
                      </a:r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5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v5</a:t>
                      </a:r>
                      <a:endParaRPr lang="zh-CN" altLang="en-US" sz="18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100</a:t>
                      </a:r>
                    </a:p>
                    <a:p>
                      <a:pPr algn="ctr"/>
                      <a:r>
                        <a:rPr lang="en-US" altLang="zh-CN" sz="1200" dirty="0"/>
                        <a:t>(v0,v5)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100</a:t>
                      </a:r>
                    </a:p>
                    <a:p>
                      <a:pPr algn="ctr"/>
                      <a:r>
                        <a:rPr lang="en-US" altLang="zh-CN" sz="1200" dirty="0"/>
                        <a:t>(v0,v5)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90</a:t>
                      </a:r>
                    </a:p>
                    <a:p>
                      <a:pPr algn="ctr"/>
                      <a:r>
                        <a:rPr lang="en-US" altLang="zh-CN" sz="1200" dirty="0"/>
                        <a:t>(v0,v4,v5)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60</a:t>
                      </a:r>
                    </a:p>
                    <a:p>
                      <a:pPr algn="ctr"/>
                      <a:r>
                        <a:rPr lang="en-US" altLang="zh-CN" sz="1200" dirty="0"/>
                        <a:t>(v0,v4,v3,v5)</a:t>
                      </a: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确定</a:t>
                      </a:r>
                    </a:p>
                  </a:txBody>
                  <a:tcPr marL="91426" marR="91426" marT="45711" marB="45711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69241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31640" y="2615406"/>
            <a:ext cx="6624736" cy="10795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练习 </a:t>
            </a:r>
            <a:r>
              <a:rPr lang="en-US" altLang="zh-CN" dirty="0"/>
              <a:t>6-7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84761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FC9BE59-6BE6-4719-943D-2F0BF22505B9}" type="slidenum">
              <a:rPr lang="zh-CN" altLang="en-US" smtClean="0"/>
              <a:pPr>
                <a:defRPr/>
              </a:pPr>
              <a:t>78</a:t>
            </a:fld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827584" y="982980"/>
            <a:ext cx="7315200" cy="107786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用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Dijkstra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算法，给出从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v0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到各个终点的最短路径及其长度的求解过程</a:t>
            </a:r>
          </a:p>
        </p:txBody>
      </p:sp>
      <p:sp>
        <p:nvSpPr>
          <p:cNvPr id="7" name="圆角矩形 6"/>
          <p:cNvSpPr/>
          <p:nvPr>
            <p:custDataLst>
              <p:tags r:id="rId3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3" name="矩形 12"/>
          <p:cNvSpPr/>
          <p:nvPr>
            <p:custDataLst>
              <p:tags r:id="rId4"/>
            </p:custDataLst>
          </p:nvPr>
        </p:nvSpPr>
        <p:spPr bwMode="auto">
          <a:xfrm>
            <a:off x="0" y="5849303"/>
            <a:ext cx="9144000" cy="365760"/>
          </a:xfrm>
          <a:prstGeom prst="rect">
            <a:avLst/>
          </a:prstGeom>
          <a:solidFill>
            <a:srgbClr val="FBFAE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eaLnBrk="1" hangingPunct="1"/>
            <a:r>
              <a:rPr kumimoji="0" lang="zh-CN" altLang="en-US" sz="1200" b="0" i="1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kumimoji="0" lang="en-US" altLang="zh-CN" sz="1200" b="0" i="1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kumimoji="0" lang="zh-CN" altLang="en-US" sz="1200" b="0" i="1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783864"/>
              </p:ext>
            </p:extLst>
          </p:nvPr>
        </p:nvGraphicFramePr>
        <p:xfrm>
          <a:off x="3586069" y="2060848"/>
          <a:ext cx="5172261" cy="30177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8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5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72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93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14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88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终点</a:t>
                      </a:r>
                      <a:endParaRPr lang="en-US" altLang="zh-CN" sz="1800" dirty="0"/>
                    </a:p>
                  </a:txBody>
                  <a:tcPr marL="91426" marR="91426" marT="45711" marB="457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从</a:t>
                      </a:r>
                      <a:r>
                        <a:rPr lang="en-US" altLang="zh-CN" sz="1800" dirty="0"/>
                        <a:t>v0</a:t>
                      </a:r>
                      <a:r>
                        <a:rPr lang="zh-CN" altLang="en-US" sz="1800" dirty="0"/>
                        <a:t>到各终点最短路径长度</a:t>
                      </a:r>
                      <a:r>
                        <a:rPr lang="en-US" altLang="zh-CN" sz="1800" dirty="0"/>
                        <a:t>D</a:t>
                      </a:r>
                      <a:r>
                        <a:rPr lang="zh-CN" altLang="en-US" sz="1800" dirty="0"/>
                        <a:t>及最短路径</a:t>
                      </a:r>
                    </a:p>
                  </a:txBody>
                  <a:tcPr marL="91426" marR="91426" marT="45711" marB="457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marL="91426" marR="91426" marT="45711" marB="45711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marL="91426" marR="91426" marT="45711" marB="45711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marL="91426" marR="91426" marT="45711" marB="4571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31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初始</a:t>
                      </a:r>
                    </a:p>
                  </a:txBody>
                  <a:tcPr marL="91426" marR="91426" marT="45711" marB="4571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i</a:t>
                      </a:r>
                      <a:r>
                        <a:rPr lang="en-US" altLang="zh-CN" sz="1800" dirty="0"/>
                        <a:t>=1</a:t>
                      </a:r>
                      <a:endParaRPr lang="zh-CN" altLang="en-US" sz="18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i</a:t>
                      </a:r>
                      <a:r>
                        <a:rPr lang="en-US" altLang="zh-CN" sz="1800" dirty="0"/>
                        <a:t>=2</a:t>
                      </a:r>
                      <a:endParaRPr lang="zh-CN" altLang="en-US" sz="18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i</a:t>
                      </a:r>
                      <a:r>
                        <a:rPr lang="en-US" altLang="zh-CN" sz="1800" dirty="0"/>
                        <a:t>=3</a:t>
                      </a:r>
                      <a:endParaRPr lang="zh-CN" altLang="en-US" sz="1800" dirty="0"/>
                    </a:p>
                  </a:txBody>
                  <a:tcPr marL="91426" marR="91426" marT="45711" marB="45711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5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/>
                        <a:t>Vk</a:t>
                      </a:r>
                      <a:endParaRPr lang="zh-CN" altLang="en-US" sz="1800" dirty="0"/>
                    </a:p>
                  </a:txBody>
                  <a:tcPr marL="91426" marR="91426" marT="45711" marB="4571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5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S</a:t>
                      </a:r>
                      <a:endParaRPr lang="zh-CN" altLang="en-US" sz="1800" dirty="0"/>
                    </a:p>
                  </a:txBody>
                  <a:tcPr marL="91426" marR="91426" marT="45711" marB="4571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5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v2</a:t>
                      </a:r>
                      <a:endParaRPr lang="zh-CN" altLang="en-US" sz="1800" dirty="0"/>
                    </a:p>
                  </a:txBody>
                  <a:tcPr marL="91426" marR="91426" marT="45711" marB="45711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5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v3</a:t>
                      </a:r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5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v4</a:t>
                      </a:r>
                      <a:endParaRPr lang="zh-CN" altLang="en-US" sz="18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91426" marR="91426" marT="45711" marB="45711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15" name="组合 14"/>
          <p:cNvGrpSpPr/>
          <p:nvPr/>
        </p:nvGrpSpPr>
        <p:grpSpPr>
          <a:xfrm>
            <a:off x="254000" y="2640779"/>
            <a:ext cx="3181838" cy="2355791"/>
            <a:chOff x="602501" y="3558732"/>
            <a:chExt cx="3181838" cy="2355791"/>
          </a:xfrm>
        </p:grpSpPr>
        <p:grpSp>
          <p:nvGrpSpPr>
            <p:cNvPr id="16" name="Group 25"/>
            <p:cNvGrpSpPr>
              <a:grpSpLocks/>
            </p:cNvGrpSpPr>
            <p:nvPr/>
          </p:nvGrpSpPr>
          <p:grpSpPr bwMode="auto">
            <a:xfrm>
              <a:off x="733456" y="3757918"/>
              <a:ext cx="2921532" cy="1822744"/>
              <a:chOff x="2470" y="3249"/>
              <a:chExt cx="937" cy="662"/>
            </a:xfrm>
          </p:grpSpPr>
          <p:sp>
            <p:nvSpPr>
              <p:cNvPr id="23" name="Oval 26"/>
              <p:cNvSpPr>
                <a:spLocks noChangeArrowheads="1"/>
              </p:cNvSpPr>
              <p:nvPr/>
            </p:nvSpPr>
            <p:spPr bwMode="auto">
              <a:xfrm>
                <a:off x="3229" y="3721"/>
                <a:ext cx="178" cy="17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V3</a:t>
                </a:r>
              </a:p>
            </p:txBody>
          </p:sp>
          <p:sp>
            <p:nvSpPr>
              <p:cNvPr id="24" name="Oval 27"/>
              <p:cNvSpPr>
                <a:spLocks noChangeArrowheads="1"/>
              </p:cNvSpPr>
              <p:nvPr/>
            </p:nvSpPr>
            <p:spPr bwMode="auto">
              <a:xfrm>
                <a:off x="3229" y="3249"/>
                <a:ext cx="178" cy="17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V1</a:t>
                </a:r>
              </a:p>
            </p:txBody>
          </p:sp>
          <p:sp>
            <p:nvSpPr>
              <p:cNvPr id="25" name="Oval 29"/>
              <p:cNvSpPr>
                <a:spLocks noChangeArrowheads="1"/>
              </p:cNvSpPr>
              <p:nvPr/>
            </p:nvSpPr>
            <p:spPr bwMode="auto">
              <a:xfrm>
                <a:off x="2470" y="3733"/>
                <a:ext cx="178" cy="17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V2</a:t>
                </a:r>
              </a:p>
            </p:txBody>
          </p:sp>
          <p:sp>
            <p:nvSpPr>
              <p:cNvPr id="26" name="Oval 32"/>
              <p:cNvSpPr>
                <a:spLocks noChangeArrowheads="1"/>
              </p:cNvSpPr>
              <p:nvPr/>
            </p:nvSpPr>
            <p:spPr bwMode="auto">
              <a:xfrm>
                <a:off x="2477" y="3252"/>
                <a:ext cx="178" cy="17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V0</a:t>
                </a:r>
              </a:p>
            </p:txBody>
          </p:sp>
          <p:sp>
            <p:nvSpPr>
              <p:cNvPr id="27" name="Line 33"/>
              <p:cNvSpPr>
                <a:spLocks noChangeShapeType="1"/>
              </p:cNvSpPr>
              <p:nvPr/>
            </p:nvSpPr>
            <p:spPr bwMode="auto">
              <a:xfrm>
                <a:off x="2569" y="3430"/>
                <a:ext cx="0" cy="30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" name="Line 36"/>
              <p:cNvSpPr>
                <a:spLocks noChangeShapeType="1"/>
              </p:cNvSpPr>
              <p:nvPr/>
            </p:nvSpPr>
            <p:spPr bwMode="auto">
              <a:xfrm flipV="1">
                <a:off x="2648" y="3339"/>
                <a:ext cx="58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" name="Line 38"/>
              <p:cNvSpPr>
                <a:spLocks noChangeShapeType="1"/>
              </p:cNvSpPr>
              <p:nvPr/>
            </p:nvSpPr>
            <p:spPr bwMode="auto">
              <a:xfrm flipV="1">
                <a:off x="2655" y="3810"/>
                <a:ext cx="57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" name="Line 40"/>
              <p:cNvSpPr>
                <a:spLocks noChangeShapeType="1"/>
              </p:cNvSpPr>
              <p:nvPr/>
            </p:nvSpPr>
            <p:spPr bwMode="auto">
              <a:xfrm flipH="1">
                <a:off x="3315" y="3432"/>
                <a:ext cx="1" cy="2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7" name="Text Box 43"/>
            <p:cNvSpPr txBox="1">
              <a:spLocks noChangeArrowheads="1"/>
            </p:cNvSpPr>
            <p:nvPr/>
          </p:nvSpPr>
          <p:spPr bwMode="auto">
            <a:xfrm>
              <a:off x="602501" y="4464199"/>
              <a:ext cx="439633" cy="399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18" name="Text Box 46"/>
            <p:cNvSpPr txBox="1">
              <a:spLocks noChangeArrowheads="1"/>
            </p:cNvSpPr>
            <p:nvPr/>
          </p:nvSpPr>
          <p:spPr bwMode="auto">
            <a:xfrm>
              <a:off x="2080456" y="5515281"/>
              <a:ext cx="614239" cy="399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19" name="Text Box 52"/>
            <p:cNvSpPr txBox="1">
              <a:spLocks noChangeArrowheads="1"/>
            </p:cNvSpPr>
            <p:nvPr/>
          </p:nvSpPr>
          <p:spPr bwMode="auto">
            <a:xfrm>
              <a:off x="3344706" y="4367794"/>
              <a:ext cx="439633" cy="399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29</a:t>
              </a:r>
            </a:p>
          </p:txBody>
        </p:sp>
        <p:sp>
          <p:nvSpPr>
            <p:cNvPr id="20" name="Line 40"/>
            <p:cNvSpPr>
              <a:spLocks noChangeShapeType="1"/>
            </p:cNvSpPr>
            <p:nvPr/>
          </p:nvSpPr>
          <p:spPr bwMode="auto">
            <a:xfrm flipH="1">
              <a:off x="1209026" y="4218434"/>
              <a:ext cx="1990740" cy="9387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Text Box 43"/>
            <p:cNvSpPr txBox="1">
              <a:spLocks noChangeArrowheads="1"/>
            </p:cNvSpPr>
            <p:nvPr/>
          </p:nvSpPr>
          <p:spPr bwMode="auto">
            <a:xfrm>
              <a:off x="1859883" y="4337509"/>
              <a:ext cx="44114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12</a:t>
              </a:r>
            </a:p>
          </p:txBody>
        </p:sp>
        <p:sp>
          <p:nvSpPr>
            <p:cNvPr id="22" name="Text Box 43"/>
            <p:cNvSpPr txBox="1">
              <a:spLocks noChangeArrowheads="1"/>
            </p:cNvSpPr>
            <p:nvPr/>
          </p:nvSpPr>
          <p:spPr bwMode="auto">
            <a:xfrm>
              <a:off x="1984562" y="3558732"/>
              <a:ext cx="44114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13</a:t>
              </a:r>
            </a:p>
          </p:txBody>
        </p:sp>
      </p:grpSp>
      <p:grpSp>
        <p:nvGrpSpPr>
          <p:cNvPr id="12" name="组合 11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8" name="TitleBackground"/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华文细黑" pitchFamily="2" charset="-122"/>
              </a:endParaRPr>
            </a:p>
          </p:txBody>
        </p:sp>
        <p:sp>
          <p:nvSpPr>
            <p:cNvPr id="9" name="ColorBlock"/>
            <p:cNvSpPr/>
            <p:nvPr>
              <p:custDataLst>
                <p:tags r:id="rId8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华文细黑" pitchFamily="2" charset="-122"/>
              </a:endParaRPr>
            </a:p>
          </p:txBody>
        </p:sp>
        <p:sp>
          <p:nvSpPr>
            <p:cNvPr id="10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1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6402360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有向无环图及</a:t>
            </a:r>
            <a:r>
              <a:rPr lang="en-US" altLang="zh-CN"/>
              <a:t>AOV-</a:t>
            </a:r>
            <a:r>
              <a:rPr lang="zh-CN" altLang="en-US"/>
              <a:t>网</a:t>
            </a:r>
          </a:p>
        </p:txBody>
      </p:sp>
      <p:sp>
        <p:nvSpPr>
          <p:cNvPr id="9421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有向无环图</a:t>
            </a:r>
            <a:r>
              <a:rPr lang="en-US" altLang="zh-CN"/>
              <a:t>(Directed Acyclic Graph, DAG)</a:t>
            </a:r>
            <a:r>
              <a:rPr lang="zh-CN" altLang="en-US"/>
              <a:t>是描述一项工程或系统的进行过程的有效工具</a:t>
            </a:r>
            <a:endParaRPr lang="en-US" altLang="zh-CN"/>
          </a:p>
          <a:p>
            <a:r>
              <a:rPr lang="zh-CN" altLang="en-US"/>
              <a:t>一般的工程都可以分成若干个称作活动</a:t>
            </a:r>
            <a:r>
              <a:rPr lang="en-US" altLang="zh-CN"/>
              <a:t>(Activity)</a:t>
            </a:r>
            <a:r>
              <a:rPr lang="zh-CN" altLang="en-US"/>
              <a:t>的子工程（顶点）</a:t>
            </a:r>
            <a:endParaRPr lang="en-US" altLang="zh-CN"/>
          </a:p>
          <a:p>
            <a:r>
              <a:rPr lang="zh-CN" altLang="en-US"/>
              <a:t>子工程之间通常有一定的约束（有向边）</a:t>
            </a:r>
            <a:endParaRPr lang="en-US" altLang="zh-CN"/>
          </a:p>
          <a:p>
            <a:pPr lvl="1"/>
            <a:r>
              <a:rPr lang="zh-CN" altLang="en-US"/>
              <a:t>选课</a:t>
            </a:r>
            <a:endParaRPr lang="en-US" altLang="zh-CN"/>
          </a:p>
          <a:p>
            <a:r>
              <a:rPr lang="en-US" altLang="zh-CN"/>
              <a:t>AOV-</a:t>
            </a:r>
            <a:r>
              <a:rPr lang="zh-CN" altLang="en-US"/>
              <a:t>网</a:t>
            </a:r>
            <a:r>
              <a:rPr lang="en-US" altLang="zh-CN"/>
              <a:t>(Activity On Vertex Network)</a:t>
            </a:r>
          </a:p>
          <a:p>
            <a:pPr lvl="1"/>
            <a:r>
              <a:rPr lang="zh-CN" altLang="en-US"/>
              <a:t>顶点表示活动，弧表示活动间的优先关系</a:t>
            </a:r>
          </a:p>
        </p:txBody>
      </p:sp>
      <p:sp>
        <p:nvSpPr>
          <p:cNvPr id="93188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F253D89-F5DB-4EC0-9464-CDBD4DBF2338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79</a:t>
            </a:fld>
            <a:endParaRPr lang="zh-CN" altLang="en-US" sz="1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4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选课问题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zh-CN" dirty="0">
                <a:latin typeface="+mn-ea"/>
              </a:rPr>
              <a:t>学生必须完成一系列规定的基础课和专业课才能毕业</a:t>
            </a:r>
            <a:endParaRPr lang="en-US" altLang="zh-CN" dirty="0">
              <a:latin typeface="+mn-ea"/>
            </a:endParaRPr>
          </a:p>
          <a:p>
            <a:pPr>
              <a:defRPr/>
            </a:pPr>
            <a:r>
              <a:rPr lang="zh-CN" altLang="zh-CN" dirty="0">
                <a:latin typeface="+mn-ea"/>
              </a:rPr>
              <a:t>这时工程就是完</a:t>
            </a:r>
            <a:endParaRPr lang="en-US" altLang="zh-CN" dirty="0">
              <a:latin typeface="+mn-ea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>
                <a:latin typeface="+mn-ea"/>
              </a:rPr>
              <a:t>   </a:t>
            </a:r>
            <a:r>
              <a:rPr lang="zh-CN" altLang="zh-CN" dirty="0">
                <a:latin typeface="+mn-ea"/>
              </a:rPr>
              <a:t>成给定的学习计</a:t>
            </a:r>
            <a:endParaRPr lang="en-US" altLang="zh-CN" dirty="0">
              <a:latin typeface="+mn-ea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>
                <a:latin typeface="+mn-ea"/>
              </a:rPr>
              <a:t>   </a:t>
            </a:r>
            <a:r>
              <a:rPr lang="zh-CN" altLang="zh-CN" dirty="0">
                <a:latin typeface="+mn-ea"/>
              </a:rPr>
              <a:t>划，而活动就是</a:t>
            </a:r>
            <a:endParaRPr lang="en-US" altLang="zh-CN" dirty="0">
              <a:latin typeface="+mn-ea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>
                <a:latin typeface="+mn-ea"/>
              </a:rPr>
              <a:t>   </a:t>
            </a:r>
            <a:r>
              <a:rPr lang="zh-CN" altLang="zh-CN" dirty="0">
                <a:latin typeface="+mn-ea"/>
              </a:rPr>
              <a:t>学习课程</a:t>
            </a:r>
            <a:endParaRPr lang="zh-CN" altLang="en-US" dirty="0">
              <a:latin typeface="+mn-ea"/>
            </a:endParaRPr>
          </a:p>
        </p:txBody>
      </p:sp>
      <p:sp>
        <p:nvSpPr>
          <p:cNvPr id="94212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91B6FB2-B331-4F77-A452-662C8517BC47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80</a:t>
            </a:fld>
            <a:endParaRPr lang="zh-CN" altLang="en-US" sz="1000"/>
          </a:p>
        </p:txBody>
      </p:sp>
      <p:pic>
        <p:nvPicPr>
          <p:cNvPr id="94213" name="Picture 2" descr="Ds_Tu_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300" y="2133600"/>
            <a:ext cx="5129213" cy="3630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选课问题</a:t>
            </a:r>
          </a:p>
        </p:txBody>
      </p:sp>
      <p:sp>
        <p:nvSpPr>
          <p:cNvPr id="9523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在</a:t>
            </a:r>
            <a:r>
              <a:rPr lang="en-US" altLang="zh-CN"/>
              <a:t>AOV</a:t>
            </a:r>
            <a:r>
              <a:rPr lang="zh-CN" altLang="en-US"/>
              <a:t>网中，用顶点表示课程，有向边表示课程之间的优先关系</a:t>
            </a:r>
          </a:p>
        </p:txBody>
      </p:sp>
      <p:sp>
        <p:nvSpPr>
          <p:cNvPr id="9523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7E61291-880B-42B9-BCC2-71E016F57B81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81</a:t>
            </a:fld>
            <a:endParaRPr lang="zh-CN" altLang="en-US" sz="1000"/>
          </a:p>
        </p:txBody>
      </p:sp>
      <p:pic>
        <p:nvPicPr>
          <p:cNvPr id="95237" name="Picture 74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07" t="54887" r="37006" b="12877"/>
          <a:stretch>
            <a:fillRect/>
          </a:stretch>
        </p:blipFill>
        <p:spPr bwMode="auto">
          <a:xfrm>
            <a:off x="1692275" y="2708275"/>
            <a:ext cx="5616575" cy="336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拓扑排序</a:t>
            </a:r>
          </a:p>
        </p:txBody>
      </p:sp>
      <p:sp>
        <p:nvSpPr>
          <p:cNvPr id="9625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对于一个</a:t>
            </a:r>
            <a:r>
              <a:rPr lang="en-US" altLang="zh-CN" dirty="0"/>
              <a:t>AOV</a:t>
            </a:r>
            <a:r>
              <a:rPr lang="zh-CN" altLang="en-US" dirty="0"/>
              <a:t>网，其所有顶点可以排成一个线性序列</a:t>
            </a:r>
            <a:r>
              <a:rPr lang="en-US" altLang="zh-CN" dirty="0"/>
              <a:t>v</a:t>
            </a:r>
            <a:r>
              <a:rPr lang="en-US" altLang="zh-CN" baseline="-25000" dirty="0"/>
              <a:t>i1</a:t>
            </a:r>
            <a:r>
              <a:rPr lang="zh-CN" altLang="en-US" dirty="0"/>
              <a:t>，</a:t>
            </a:r>
            <a:r>
              <a:rPr lang="en-US" altLang="zh-CN" dirty="0"/>
              <a:t>v</a:t>
            </a:r>
            <a:r>
              <a:rPr lang="en-US" altLang="zh-CN" baseline="-25000" dirty="0"/>
              <a:t>i2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dirty="0"/>
              <a:t>v</a:t>
            </a:r>
            <a:r>
              <a:rPr lang="en-US" altLang="zh-CN" baseline="-25000" dirty="0"/>
              <a:t>in</a:t>
            </a:r>
            <a:r>
              <a:rPr lang="zh-CN" altLang="en-US" dirty="0"/>
              <a:t>，</a:t>
            </a:r>
            <a:endParaRPr lang="en-US" altLang="zh-CN" dirty="0"/>
          </a:p>
          <a:p>
            <a:r>
              <a:rPr lang="zh-CN" altLang="en-US" dirty="0"/>
              <a:t>该线性序列具有以下性质∶如果在</a:t>
            </a:r>
            <a:r>
              <a:rPr lang="en-US" altLang="zh-CN" dirty="0"/>
              <a:t>AOV</a:t>
            </a:r>
            <a:r>
              <a:rPr lang="zh-CN" altLang="en-US" dirty="0"/>
              <a:t>网中，从顶点</a:t>
            </a:r>
            <a:r>
              <a:rPr lang="en-US" altLang="zh-CN" dirty="0"/>
              <a:t>vi</a:t>
            </a:r>
            <a:r>
              <a:rPr lang="zh-CN" altLang="en-US" dirty="0"/>
              <a:t>到顶点</a:t>
            </a:r>
            <a:r>
              <a:rPr lang="en-US" altLang="zh-CN" dirty="0" err="1"/>
              <a:t>vj</a:t>
            </a:r>
            <a:r>
              <a:rPr lang="zh-CN" altLang="en-US" dirty="0"/>
              <a:t>存在一条路径，则在线性序列中，顶点</a:t>
            </a:r>
            <a:r>
              <a:rPr lang="en-US" altLang="zh-CN" dirty="0"/>
              <a:t>vi</a:t>
            </a:r>
            <a:r>
              <a:rPr lang="zh-CN" altLang="en-US" dirty="0"/>
              <a:t>一定排在顶点</a:t>
            </a:r>
            <a:r>
              <a:rPr lang="en-US" altLang="zh-CN" dirty="0" err="1"/>
              <a:t>vj</a:t>
            </a:r>
            <a:r>
              <a:rPr lang="zh-CN" altLang="en-US" dirty="0"/>
              <a:t>之前</a:t>
            </a:r>
            <a:endParaRPr lang="en-US" altLang="zh-CN" dirty="0"/>
          </a:p>
          <a:p>
            <a:r>
              <a:rPr lang="zh-CN" altLang="en-US" dirty="0"/>
              <a:t>具有上述性质的线性序列称为</a:t>
            </a:r>
            <a:r>
              <a:rPr lang="zh-CN" altLang="en-US" dirty="0">
                <a:solidFill>
                  <a:srgbClr val="4C34FE"/>
                </a:solidFill>
              </a:rPr>
              <a:t>拓扑序列</a:t>
            </a:r>
            <a:r>
              <a:rPr lang="zh-CN" altLang="en-US" dirty="0"/>
              <a:t>，构造拓扑序列的操作称为</a:t>
            </a:r>
            <a:r>
              <a:rPr lang="zh-CN" altLang="en-US" dirty="0">
                <a:solidFill>
                  <a:srgbClr val="009900"/>
                </a:solidFill>
              </a:rPr>
              <a:t>拓扑排序</a:t>
            </a:r>
          </a:p>
        </p:txBody>
      </p:sp>
      <p:sp>
        <p:nvSpPr>
          <p:cNvPr id="96260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6C7207F-B395-4786-BBF6-2D4037361744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82</a:t>
            </a:fld>
            <a:endParaRPr lang="zh-CN" altLang="en-US" sz="100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拓扑排序举例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spcBef>
                <a:spcPct val="50000"/>
              </a:spcBef>
              <a:buClrTx/>
              <a:buFont typeface="Wingdings" panose="05000000000000000000" pitchFamily="2" charset="2"/>
              <a:buNone/>
              <a:defRPr/>
            </a:pPr>
            <a:r>
              <a:rPr lang="zh-CN" altLang="zh-CN" sz="2400" kern="1200" dirty="0">
                <a:solidFill>
                  <a:srgbClr val="000000"/>
                </a:solidFill>
                <a:latin typeface="+mn-ea"/>
              </a:rPr>
              <a:t>例：对下图中的AOV网进行拓扑排序得到的</a:t>
            </a:r>
          </a:p>
          <a:p>
            <a:pPr marL="0" indent="0" eaLnBrk="1" hangingPunct="1">
              <a:spcBef>
                <a:spcPct val="50000"/>
              </a:spcBef>
              <a:buClrTx/>
              <a:buFont typeface="Wingdings" panose="05000000000000000000" pitchFamily="2" charset="2"/>
              <a:buNone/>
              <a:defRPr/>
            </a:pPr>
            <a:r>
              <a:rPr lang="zh-CN" altLang="zh-CN" sz="2400" kern="1200" dirty="0">
                <a:solidFill>
                  <a:srgbClr val="000000"/>
                </a:solidFill>
                <a:latin typeface="+mn-ea"/>
              </a:rPr>
              <a:t>      一个拓扑序列：</a:t>
            </a:r>
            <a:r>
              <a:rPr lang="zh-CN" altLang="zh-CN" sz="2400" b="1" kern="1200" dirty="0">
                <a:solidFill>
                  <a:srgbClr val="FF33CC"/>
                </a:solidFill>
                <a:latin typeface="+mn-ea"/>
              </a:rPr>
              <a:t>C</a:t>
            </a:r>
            <a:r>
              <a:rPr lang="zh-CN" altLang="zh-CN" sz="2400" b="1" kern="1200" baseline="-25000" dirty="0">
                <a:solidFill>
                  <a:srgbClr val="FF33CC"/>
                </a:solidFill>
                <a:latin typeface="+mn-ea"/>
              </a:rPr>
              <a:t>0</a:t>
            </a:r>
            <a:r>
              <a:rPr lang="zh-CN" altLang="zh-CN" sz="2400" b="1" kern="1200" dirty="0">
                <a:solidFill>
                  <a:srgbClr val="FF33CC"/>
                </a:solidFill>
                <a:latin typeface="+mn-ea"/>
              </a:rPr>
              <a:t>, C</a:t>
            </a:r>
            <a:r>
              <a:rPr lang="zh-CN" altLang="zh-CN" sz="2400" b="1" kern="1200" baseline="-25000" dirty="0">
                <a:solidFill>
                  <a:srgbClr val="FF33CC"/>
                </a:solidFill>
                <a:latin typeface="+mn-ea"/>
              </a:rPr>
              <a:t>1</a:t>
            </a:r>
            <a:r>
              <a:rPr lang="zh-CN" altLang="zh-CN" sz="2400" b="1" kern="1200" dirty="0">
                <a:solidFill>
                  <a:srgbClr val="FF33CC"/>
                </a:solidFill>
                <a:latin typeface="+mn-ea"/>
              </a:rPr>
              <a:t>, C</a:t>
            </a:r>
            <a:r>
              <a:rPr lang="zh-CN" altLang="zh-CN" sz="2400" b="1" kern="1200" baseline="-25000" dirty="0">
                <a:solidFill>
                  <a:srgbClr val="FF33CC"/>
                </a:solidFill>
                <a:latin typeface="+mn-ea"/>
              </a:rPr>
              <a:t>2</a:t>
            </a:r>
            <a:r>
              <a:rPr lang="zh-CN" altLang="zh-CN" sz="2400" b="1" kern="1200" dirty="0">
                <a:solidFill>
                  <a:srgbClr val="FF33CC"/>
                </a:solidFill>
                <a:latin typeface="+mn-ea"/>
              </a:rPr>
              <a:t>, C</a:t>
            </a:r>
            <a:r>
              <a:rPr lang="zh-CN" altLang="zh-CN" sz="2400" b="1" kern="1200" baseline="-25000" dirty="0">
                <a:solidFill>
                  <a:srgbClr val="FF33CC"/>
                </a:solidFill>
                <a:latin typeface="+mn-ea"/>
              </a:rPr>
              <a:t>4</a:t>
            </a:r>
            <a:r>
              <a:rPr lang="zh-CN" altLang="zh-CN" sz="2400" b="1" kern="1200" dirty="0">
                <a:solidFill>
                  <a:srgbClr val="FF33CC"/>
                </a:solidFill>
                <a:latin typeface="+mn-ea"/>
              </a:rPr>
              <a:t>, C</a:t>
            </a:r>
            <a:r>
              <a:rPr lang="zh-CN" altLang="zh-CN" sz="2400" b="1" kern="1200" baseline="-25000" dirty="0">
                <a:solidFill>
                  <a:srgbClr val="FF33CC"/>
                </a:solidFill>
                <a:latin typeface="+mn-ea"/>
              </a:rPr>
              <a:t>3</a:t>
            </a:r>
            <a:r>
              <a:rPr lang="zh-CN" altLang="zh-CN" sz="2400" b="1" kern="1200" dirty="0">
                <a:solidFill>
                  <a:srgbClr val="FF33CC"/>
                </a:solidFill>
                <a:latin typeface="+mn-ea"/>
              </a:rPr>
              <a:t>, C</a:t>
            </a:r>
            <a:r>
              <a:rPr lang="zh-CN" altLang="zh-CN" sz="2400" b="1" kern="1200" baseline="-25000" dirty="0">
                <a:solidFill>
                  <a:srgbClr val="FF33CC"/>
                </a:solidFill>
                <a:latin typeface="+mn-ea"/>
              </a:rPr>
              <a:t>5</a:t>
            </a:r>
            <a:r>
              <a:rPr lang="zh-CN" altLang="zh-CN" sz="2400" b="1" kern="1200" dirty="0">
                <a:solidFill>
                  <a:srgbClr val="FF33CC"/>
                </a:solidFill>
                <a:latin typeface="+mn-ea"/>
              </a:rPr>
              <a:t>, C</a:t>
            </a:r>
            <a:r>
              <a:rPr lang="zh-CN" altLang="zh-CN" sz="2400" b="1" kern="1200" baseline="-25000" dirty="0">
                <a:solidFill>
                  <a:srgbClr val="FF33CC"/>
                </a:solidFill>
                <a:latin typeface="+mn-ea"/>
              </a:rPr>
              <a:t>7</a:t>
            </a:r>
            <a:r>
              <a:rPr lang="zh-CN" altLang="zh-CN" sz="2400" b="1" kern="1200" dirty="0">
                <a:solidFill>
                  <a:srgbClr val="FF33CC"/>
                </a:solidFill>
                <a:latin typeface="+mn-ea"/>
              </a:rPr>
              <a:t>, C</a:t>
            </a:r>
            <a:r>
              <a:rPr lang="zh-CN" altLang="zh-CN" sz="2400" b="1" kern="1200" baseline="-25000" dirty="0">
                <a:solidFill>
                  <a:srgbClr val="FF33CC"/>
                </a:solidFill>
                <a:latin typeface="+mn-ea"/>
              </a:rPr>
              <a:t>8</a:t>
            </a:r>
            <a:r>
              <a:rPr lang="zh-CN" altLang="zh-CN" sz="2400" b="1" kern="1200" dirty="0">
                <a:solidFill>
                  <a:srgbClr val="FF33CC"/>
                </a:solidFill>
                <a:latin typeface="+mn-ea"/>
              </a:rPr>
              <a:t>, C</a:t>
            </a:r>
            <a:r>
              <a:rPr lang="zh-CN" altLang="zh-CN" sz="2400" b="1" kern="1200" baseline="-25000" dirty="0">
                <a:solidFill>
                  <a:srgbClr val="FF33CC"/>
                </a:solidFill>
                <a:latin typeface="+mn-ea"/>
              </a:rPr>
              <a:t>6</a:t>
            </a:r>
            <a:r>
              <a:rPr lang="zh-CN" altLang="zh-CN" sz="2400" kern="1200" dirty="0">
                <a:solidFill>
                  <a:srgbClr val="000000"/>
                </a:solidFill>
                <a:latin typeface="+mn-ea"/>
              </a:rPr>
              <a:t> </a:t>
            </a:r>
          </a:p>
          <a:p>
            <a:pPr marL="0" indent="0" eaLnBrk="1" hangingPunct="1">
              <a:spcBef>
                <a:spcPct val="50000"/>
              </a:spcBef>
              <a:buClrTx/>
              <a:buFont typeface="Wingdings" panose="05000000000000000000" pitchFamily="2" charset="2"/>
              <a:buNone/>
              <a:defRPr/>
            </a:pPr>
            <a:r>
              <a:rPr lang="zh-CN" altLang="zh-CN" sz="2400" kern="1200" dirty="0">
                <a:solidFill>
                  <a:srgbClr val="000000"/>
                </a:solidFill>
                <a:latin typeface="+mn-ea"/>
              </a:rPr>
              <a:t>  另外一个拓扑序列: </a:t>
            </a:r>
            <a:r>
              <a:rPr lang="zh-CN" altLang="zh-CN" sz="2400" b="1" kern="1200" dirty="0">
                <a:solidFill>
                  <a:srgbClr val="FF33CC"/>
                </a:solidFill>
                <a:latin typeface="+mn-ea"/>
              </a:rPr>
              <a:t>C</a:t>
            </a:r>
            <a:r>
              <a:rPr lang="zh-CN" altLang="zh-CN" sz="2400" b="1" kern="1200" baseline="-25000" dirty="0">
                <a:solidFill>
                  <a:srgbClr val="FF33CC"/>
                </a:solidFill>
                <a:latin typeface="+mn-ea"/>
              </a:rPr>
              <a:t>0</a:t>
            </a:r>
            <a:r>
              <a:rPr lang="zh-CN" altLang="zh-CN" sz="2400" b="1" kern="1200" dirty="0">
                <a:solidFill>
                  <a:srgbClr val="FF33CC"/>
                </a:solidFill>
                <a:latin typeface="+mn-ea"/>
              </a:rPr>
              <a:t>, C</a:t>
            </a:r>
            <a:r>
              <a:rPr lang="zh-CN" altLang="zh-CN" sz="2400" b="1" kern="1200" baseline="-25000" dirty="0">
                <a:solidFill>
                  <a:srgbClr val="FF33CC"/>
                </a:solidFill>
                <a:latin typeface="+mn-ea"/>
              </a:rPr>
              <a:t>7</a:t>
            </a:r>
            <a:r>
              <a:rPr lang="zh-CN" altLang="zh-CN" sz="2400" b="1" kern="1200" dirty="0">
                <a:solidFill>
                  <a:srgbClr val="FF33CC"/>
                </a:solidFill>
                <a:latin typeface="+mn-ea"/>
              </a:rPr>
              <a:t>, C</a:t>
            </a:r>
            <a:r>
              <a:rPr lang="zh-CN" altLang="zh-CN" sz="2400" b="1" kern="1200" baseline="-25000" dirty="0">
                <a:solidFill>
                  <a:srgbClr val="FF33CC"/>
                </a:solidFill>
                <a:latin typeface="+mn-ea"/>
              </a:rPr>
              <a:t>8</a:t>
            </a:r>
            <a:r>
              <a:rPr lang="zh-CN" altLang="zh-CN" sz="2400" b="1" kern="1200" dirty="0">
                <a:solidFill>
                  <a:srgbClr val="FF33CC"/>
                </a:solidFill>
                <a:latin typeface="+mn-ea"/>
              </a:rPr>
              <a:t>, C</a:t>
            </a:r>
            <a:r>
              <a:rPr lang="zh-CN" altLang="zh-CN" sz="2400" b="1" kern="1200" baseline="-25000" dirty="0">
                <a:solidFill>
                  <a:srgbClr val="FF33CC"/>
                </a:solidFill>
                <a:latin typeface="+mn-ea"/>
              </a:rPr>
              <a:t>1</a:t>
            </a:r>
            <a:r>
              <a:rPr lang="zh-CN" altLang="zh-CN" sz="2400" b="1" kern="1200" dirty="0">
                <a:solidFill>
                  <a:srgbClr val="FF33CC"/>
                </a:solidFill>
                <a:latin typeface="+mn-ea"/>
              </a:rPr>
              <a:t>, C</a:t>
            </a:r>
            <a:r>
              <a:rPr lang="zh-CN" altLang="zh-CN" sz="2400" b="1" kern="1200" baseline="-25000" dirty="0">
                <a:solidFill>
                  <a:srgbClr val="FF33CC"/>
                </a:solidFill>
                <a:latin typeface="+mn-ea"/>
              </a:rPr>
              <a:t>4</a:t>
            </a:r>
            <a:r>
              <a:rPr lang="zh-CN" altLang="zh-CN" sz="2400" b="1" kern="1200" dirty="0">
                <a:solidFill>
                  <a:srgbClr val="FF33CC"/>
                </a:solidFill>
                <a:latin typeface="+mn-ea"/>
              </a:rPr>
              <a:t>, C</a:t>
            </a:r>
            <a:r>
              <a:rPr lang="zh-CN" altLang="zh-CN" sz="2400" b="1" kern="1200" baseline="-25000" dirty="0">
                <a:solidFill>
                  <a:srgbClr val="FF33CC"/>
                </a:solidFill>
                <a:latin typeface="+mn-ea"/>
              </a:rPr>
              <a:t>2</a:t>
            </a:r>
            <a:r>
              <a:rPr lang="zh-CN" altLang="zh-CN" sz="2400" b="1" kern="1200" dirty="0">
                <a:solidFill>
                  <a:srgbClr val="FF33CC"/>
                </a:solidFill>
                <a:latin typeface="+mn-ea"/>
              </a:rPr>
              <a:t>, C</a:t>
            </a:r>
            <a:r>
              <a:rPr lang="zh-CN" altLang="zh-CN" sz="2400" b="1" kern="1200" baseline="-25000" dirty="0">
                <a:solidFill>
                  <a:srgbClr val="FF33CC"/>
                </a:solidFill>
                <a:latin typeface="+mn-ea"/>
              </a:rPr>
              <a:t>3</a:t>
            </a:r>
            <a:r>
              <a:rPr lang="zh-CN" altLang="zh-CN" sz="2400" b="1" kern="1200" dirty="0">
                <a:solidFill>
                  <a:srgbClr val="FF33CC"/>
                </a:solidFill>
                <a:latin typeface="+mn-ea"/>
              </a:rPr>
              <a:t>, C</a:t>
            </a:r>
            <a:r>
              <a:rPr lang="zh-CN" altLang="zh-CN" sz="2400" b="1" kern="1200" baseline="-25000" dirty="0">
                <a:solidFill>
                  <a:srgbClr val="FF33CC"/>
                </a:solidFill>
                <a:latin typeface="+mn-ea"/>
              </a:rPr>
              <a:t>6</a:t>
            </a:r>
            <a:r>
              <a:rPr lang="zh-CN" altLang="zh-CN" sz="2400" b="1" kern="1200" dirty="0">
                <a:solidFill>
                  <a:srgbClr val="FF33CC"/>
                </a:solidFill>
                <a:latin typeface="+mn-ea"/>
              </a:rPr>
              <a:t>, C</a:t>
            </a:r>
            <a:r>
              <a:rPr lang="zh-CN" altLang="zh-CN" sz="2400" b="1" kern="1200" baseline="-25000" dirty="0">
                <a:solidFill>
                  <a:srgbClr val="FF33CC"/>
                </a:solidFill>
                <a:latin typeface="+mn-ea"/>
              </a:rPr>
              <a:t>5</a:t>
            </a:r>
          </a:p>
          <a:p>
            <a:pPr marL="0" indent="0" eaLnBrk="1" hangingPunct="1">
              <a:spcBef>
                <a:spcPct val="50000"/>
              </a:spcBef>
              <a:buClrTx/>
              <a:buFont typeface="Wingdings" panose="05000000000000000000" pitchFamily="2" charset="2"/>
              <a:buNone/>
              <a:defRPr/>
            </a:pPr>
            <a:r>
              <a:rPr lang="zh-CN" altLang="zh-CN" sz="2400" kern="1200" dirty="0">
                <a:solidFill>
                  <a:srgbClr val="000000"/>
                </a:solidFill>
                <a:latin typeface="+mn-ea"/>
              </a:rPr>
              <a:t>如果一个学生一学期只能选修四门课，则他必须按照</a:t>
            </a:r>
            <a:r>
              <a:rPr lang="zh-CN" altLang="zh-CN" sz="2400" kern="1200" dirty="0">
                <a:solidFill>
                  <a:srgbClr val="009900"/>
                </a:solidFill>
                <a:latin typeface="+mn-ea"/>
              </a:rPr>
              <a:t>某一个</a:t>
            </a:r>
            <a:r>
              <a:rPr lang="zh-CN" altLang="zh-CN" sz="2400" kern="1200" dirty="0">
                <a:solidFill>
                  <a:srgbClr val="000000"/>
                </a:solidFill>
                <a:latin typeface="+mn-ea"/>
              </a:rPr>
              <a:t>拓扑序列的次序学习，才能保证学习任何一门课时，其先修课程已学过</a:t>
            </a:r>
          </a:p>
          <a:p>
            <a:pPr>
              <a:defRPr/>
            </a:pPr>
            <a:endParaRPr lang="zh-CN" altLang="en-US" dirty="0"/>
          </a:p>
        </p:txBody>
      </p:sp>
      <p:sp>
        <p:nvSpPr>
          <p:cNvPr id="97284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E8134A3-1DD1-4FBD-BA90-8802C362E339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83</a:t>
            </a:fld>
            <a:endParaRPr lang="zh-CN" altLang="en-US" sz="1000"/>
          </a:p>
        </p:txBody>
      </p:sp>
      <p:pic>
        <p:nvPicPr>
          <p:cNvPr id="97285" name="Picture 3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07" t="54887" r="37006" b="12877"/>
          <a:stretch>
            <a:fillRect/>
          </a:stretch>
        </p:blipFill>
        <p:spPr bwMode="auto">
          <a:xfrm>
            <a:off x="2268538" y="3789363"/>
            <a:ext cx="4606925" cy="266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拓扑排序算法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算法步骤</a:t>
            </a:r>
            <a:endParaRPr lang="en-US" altLang="zh-CN" dirty="0"/>
          </a:p>
          <a:p>
            <a:pPr marL="971550" lvl="1" indent="-514350">
              <a:buFont typeface="+mj-lt"/>
              <a:buAutoNum type="arabicPeriod"/>
              <a:defRPr/>
            </a:pPr>
            <a:r>
              <a:rPr lang="zh-CN" altLang="en-US" dirty="0"/>
              <a:t>在有向图中选一个入度为</a:t>
            </a:r>
            <a:r>
              <a:rPr lang="en-US" altLang="zh-CN" dirty="0"/>
              <a:t>0</a:t>
            </a:r>
            <a:r>
              <a:rPr lang="zh-CN" altLang="en-US" dirty="0"/>
              <a:t>的顶点且输出它</a:t>
            </a:r>
            <a:endParaRPr lang="en-US" altLang="zh-CN" dirty="0"/>
          </a:p>
          <a:p>
            <a:pPr marL="971550" lvl="1" indent="-514350">
              <a:buFont typeface="+mj-lt"/>
              <a:buAutoNum type="arabicPeriod"/>
              <a:defRPr/>
            </a:pPr>
            <a:r>
              <a:rPr lang="zh-CN" altLang="en-US" dirty="0"/>
              <a:t>从图中删除该顶点和所有以它为起点（尾）的弧</a:t>
            </a:r>
            <a:r>
              <a:rPr lang="en-US" altLang="zh-CN" dirty="0"/>
              <a:t>/</a:t>
            </a:r>
            <a:r>
              <a:rPr lang="zh-CN" altLang="en-US" dirty="0"/>
              <a:t>边</a:t>
            </a:r>
            <a:endParaRPr lang="en-US" altLang="zh-CN" dirty="0"/>
          </a:p>
          <a:p>
            <a:pPr marL="971550" lvl="1" indent="-514350">
              <a:buFont typeface="+mj-lt"/>
              <a:buAutoNum type="arabicPeriod"/>
              <a:defRPr/>
            </a:pPr>
            <a:r>
              <a:rPr lang="zh-CN" altLang="en-US" dirty="0"/>
              <a:t>重复</a:t>
            </a:r>
            <a:r>
              <a:rPr lang="en-US" altLang="zh-CN" dirty="0"/>
              <a:t>1</a:t>
            </a:r>
            <a:r>
              <a:rPr lang="zh-CN" altLang="en-US" dirty="0"/>
              <a:t>和</a:t>
            </a:r>
            <a:r>
              <a:rPr lang="en-US" altLang="zh-CN" dirty="0"/>
              <a:t>2</a:t>
            </a:r>
            <a:r>
              <a:rPr lang="zh-CN" altLang="en-US" dirty="0"/>
              <a:t>，直至不存在入度为</a:t>
            </a:r>
            <a:r>
              <a:rPr lang="en-US" altLang="zh-CN" dirty="0"/>
              <a:t>0</a:t>
            </a:r>
            <a:r>
              <a:rPr lang="zh-CN" altLang="en-US" dirty="0"/>
              <a:t>的顶点</a:t>
            </a:r>
            <a:endParaRPr lang="en-US" altLang="zh-CN" dirty="0"/>
          </a:p>
          <a:p>
            <a:pPr marL="571500" indent="-514350">
              <a:defRPr/>
            </a:pPr>
            <a:r>
              <a:rPr lang="zh-CN" altLang="en-US" dirty="0"/>
              <a:t>若此时输出的顶点数小于有向图中的顶点数，则说明有想图中存在环</a:t>
            </a:r>
          </a:p>
        </p:txBody>
      </p:sp>
      <p:sp>
        <p:nvSpPr>
          <p:cNvPr id="98308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5D82547-5E71-4867-AF73-93C1B7C59104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84</a:t>
            </a:fld>
            <a:endParaRPr lang="zh-CN" altLang="en-US" sz="100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拓扑排序算法示例</a:t>
            </a:r>
          </a:p>
        </p:txBody>
      </p:sp>
      <p:sp>
        <p:nvSpPr>
          <p:cNvPr id="99331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9457A85-1FB1-42CC-A820-942C4A7A1EF3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85</a:t>
            </a:fld>
            <a:endParaRPr lang="zh-CN" altLang="en-US" sz="1000"/>
          </a:p>
        </p:txBody>
      </p:sp>
      <p:sp>
        <p:nvSpPr>
          <p:cNvPr id="99332" name="Rectangle 2"/>
          <p:cNvSpPr>
            <a:spLocks noChangeArrowheads="1"/>
          </p:cNvSpPr>
          <p:nvPr/>
        </p:nvSpPr>
        <p:spPr bwMode="auto">
          <a:xfrm>
            <a:off x="2124075" y="990600"/>
            <a:ext cx="7937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zh-CN" sz="250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9333" name="Rectangle 3"/>
          <p:cNvSpPr>
            <a:spLocks noChangeArrowheads="1"/>
          </p:cNvSpPr>
          <p:nvPr/>
        </p:nvSpPr>
        <p:spPr bwMode="auto">
          <a:xfrm>
            <a:off x="2279650" y="1031875"/>
            <a:ext cx="66675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zh-CN" sz="210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2409825" y="1031875"/>
            <a:ext cx="363538" cy="320675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zh-CN" sz="210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zh-CN" sz="2100" baseline="-2500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4213225" y="1058863"/>
            <a:ext cx="392113" cy="320675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zh-CN" sz="210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C</a:t>
            </a:r>
            <a:r>
              <a:rPr lang="zh-CN" altLang="zh-CN" sz="2100" baseline="-2500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5680075" y="1020763"/>
            <a:ext cx="333375" cy="320675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zh-CN" sz="210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C</a:t>
            </a:r>
            <a:r>
              <a:rPr lang="zh-CN" altLang="zh-CN" sz="2100" baseline="-2500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99337" name="Rectangle 7"/>
          <p:cNvSpPr>
            <a:spLocks noChangeArrowheads="1"/>
          </p:cNvSpPr>
          <p:nvPr/>
        </p:nvSpPr>
        <p:spPr bwMode="auto">
          <a:xfrm>
            <a:off x="6105525" y="1031875"/>
            <a:ext cx="466725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zh-CN" sz="210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</a:t>
            </a:r>
            <a:endParaRPr lang="zh-CN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7407275" y="1031875"/>
            <a:ext cx="333375" cy="320675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zh-CN" sz="210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C</a:t>
            </a:r>
            <a:r>
              <a:rPr lang="zh-CN" altLang="zh-CN" sz="2100" baseline="-2500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99339" name="Rectangle 9"/>
          <p:cNvSpPr>
            <a:spLocks noChangeArrowheads="1"/>
          </p:cNvSpPr>
          <p:nvPr/>
        </p:nvSpPr>
        <p:spPr bwMode="auto">
          <a:xfrm>
            <a:off x="2124075" y="1952625"/>
            <a:ext cx="66675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zh-CN" sz="210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9340" name="Rectangle 10"/>
          <p:cNvSpPr>
            <a:spLocks noChangeArrowheads="1"/>
          </p:cNvSpPr>
          <p:nvPr/>
        </p:nvSpPr>
        <p:spPr bwMode="auto">
          <a:xfrm>
            <a:off x="2259013" y="1952625"/>
            <a:ext cx="66675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zh-CN" sz="210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9341" name="Rectangle 11"/>
          <p:cNvSpPr>
            <a:spLocks noChangeArrowheads="1"/>
          </p:cNvSpPr>
          <p:nvPr/>
        </p:nvSpPr>
        <p:spPr bwMode="auto">
          <a:xfrm>
            <a:off x="2392363" y="1952625"/>
            <a:ext cx="5334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zh-CN" sz="210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endParaRPr lang="zh-CN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9342" name="Rectangle 12"/>
          <p:cNvSpPr>
            <a:spLocks noChangeArrowheads="1"/>
          </p:cNvSpPr>
          <p:nvPr/>
        </p:nvSpPr>
        <p:spPr bwMode="auto">
          <a:xfrm>
            <a:off x="2124075" y="2411413"/>
            <a:ext cx="1333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zh-CN" sz="210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endParaRPr lang="zh-CN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9343" name="Rectangle 13"/>
          <p:cNvSpPr>
            <a:spLocks noChangeArrowheads="1"/>
          </p:cNvSpPr>
          <p:nvPr/>
        </p:nvSpPr>
        <p:spPr bwMode="auto">
          <a:xfrm>
            <a:off x="2124075" y="3465513"/>
            <a:ext cx="23812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zh-CN" sz="250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endParaRPr lang="zh-CN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" name="Oval 14"/>
          <p:cNvSpPr>
            <a:spLocks noChangeArrowheads="1"/>
          </p:cNvSpPr>
          <p:nvPr/>
        </p:nvSpPr>
        <p:spPr bwMode="auto">
          <a:xfrm>
            <a:off x="7575550" y="1417638"/>
            <a:ext cx="92075" cy="92075"/>
          </a:xfrm>
          <a:prstGeom prst="ellipse">
            <a:avLst/>
          </a:prstGeom>
          <a:solidFill>
            <a:srgbClr val="FFFFFF"/>
          </a:solidFill>
          <a:ln w="20638">
            <a:solidFill>
              <a:srgbClr val="FFFF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sz="1800">
              <a:ea typeface="宋体" panose="02010600030101010101" pitchFamily="2" charset="-122"/>
            </a:endParaRPr>
          </a:p>
        </p:txBody>
      </p:sp>
      <p:sp>
        <p:nvSpPr>
          <p:cNvPr id="18" name="Oval 15"/>
          <p:cNvSpPr>
            <a:spLocks noChangeArrowheads="1"/>
          </p:cNvSpPr>
          <p:nvPr/>
        </p:nvSpPr>
        <p:spPr bwMode="auto">
          <a:xfrm>
            <a:off x="7515225" y="3044825"/>
            <a:ext cx="92075" cy="92075"/>
          </a:xfrm>
          <a:prstGeom prst="ellipse">
            <a:avLst/>
          </a:prstGeom>
          <a:solidFill>
            <a:srgbClr val="FFFFFF"/>
          </a:solidFill>
          <a:ln w="20638">
            <a:solidFill>
              <a:srgbClr val="FFFF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en-US" sz="1800">
              <a:ea typeface="宋体" panose="02010600030101010101" pitchFamily="2" charset="-122"/>
            </a:endParaRPr>
          </a:p>
        </p:txBody>
      </p:sp>
      <p:grpSp>
        <p:nvGrpSpPr>
          <p:cNvPr id="19" name="Group 16"/>
          <p:cNvGrpSpPr>
            <a:grpSpLocks/>
          </p:cNvGrpSpPr>
          <p:nvPr/>
        </p:nvGrpSpPr>
        <p:grpSpPr bwMode="auto">
          <a:xfrm>
            <a:off x="5100638" y="3052763"/>
            <a:ext cx="2414587" cy="403225"/>
            <a:chOff x="0" y="0"/>
            <a:chExt cx="1521" cy="254"/>
          </a:xfrm>
        </p:grpSpPr>
        <p:sp>
          <p:nvSpPr>
            <p:cNvPr id="99405" name="Oval 17"/>
            <p:cNvSpPr>
              <a:spLocks noChangeArrowheads="1"/>
            </p:cNvSpPr>
            <p:nvPr/>
          </p:nvSpPr>
          <p:spPr bwMode="auto">
            <a:xfrm>
              <a:off x="0" y="196"/>
              <a:ext cx="58" cy="58"/>
            </a:xfrm>
            <a:prstGeom prst="ellipse">
              <a:avLst/>
            </a:prstGeom>
            <a:solidFill>
              <a:srgbClr val="FFFFFF"/>
            </a:solidFill>
            <a:ln w="20638">
              <a:solidFill>
                <a:schemeClr val="hlink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1800">
                <a:ea typeface="宋体" panose="02010600030101010101" pitchFamily="2" charset="-122"/>
              </a:endParaRPr>
            </a:p>
          </p:txBody>
        </p:sp>
        <p:grpSp>
          <p:nvGrpSpPr>
            <p:cNvPr id="99406" name="Group 18"/>
            <p:cNvGrpSpPr>
              <a:grpSpLocks/>
            </p:cNvGrpSpPr>
            <p:nvPr/>
          </p:nvGrpSpPr>
          <p:grpSpPr bwMode="auto">
            <a:xfrm>
              <a:off x="56" y="0"/>
              <a:ext cx="1465" cy="233"/>
              <a:chOff x="0" y="0"/>
              <a:chExt cx="1465" cy="233"/>
            </a:xfrm>
          </p:grpSpPr>
          <p:sp>
            <p:nvSpPr>
              <p:cNvPr id="99407" name="Line 19"/>
              <p:cNvSpPr>
                <a:spLocks noChangeShapeType="1"/>
              </p:cNvSpPr>
              <p:nvPr/>
            </p:nvSpPr>
            <p:spPr bwMode="auto">
              <a:xfrm flipV="1">
                <a:off x="0" y="42"/>
                <a:ext cx="1405" cy="191"/>
              </a:xfrm>
              <a:prstGeom prst="line">
                <a:avLst/>
              </a:prstGeom>
              <a:noFill/>
              <a:ln w="206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408" name="未知"/>
              <p:cNvSpPr>
                <a:spLocks/>
              </p:cNvSpPr>
              <p:nvPr/>
            </p:nvSpPr>
            <p:spPr bwMode="auto">
              <a:xfrm>
                <a:off x="1367" y="0"/>
                <a:ext cx="98" cy="95"/>
              </a:xfrm>
              <a:custGeom>
                <a:avLst/>
                <a:gdLst>
                  <a:gd name="T0" fmla="*/ 11 w 98"/>
                  <a:gd name="T1" fmla="*/ 95 h 95"/>
                  <a:gd name="T2" fmla="*/ 98 w 98"/>
                  <a:gd name="T3" fmla="*/ 33 h 95"/>
                  <a:gd name="T4" fmla="*/ 0 w 98"/>
                  <a:gd name="T5" fmla="*/ 0 h 95"/>
                  <a:gd name="T6" fmla="*/ 34 w 98"/>
                  <a:gd name="T7" fmla="*/ 42 h 95"/>
                  <a:gd name="T8" fmla="*/ 11 w 98"/>
                  <a:gd name="T9" fmla="*/ 95 h 9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8" h="95">
                    <a:moveTo>
                      <a:pt x="11" y="95"/>
                    </a:moveTo>
                    <a:lnTo>
                      <a:pt x="98" y="33"/>
                    </a:lnTo>
                    <a:lnTo>
                      <a:pt x="0" y="0"/>
                    </a:lnTo>
                    <a:lnTo>
                      <a:pt x="34" y="42"/>
                    </a:lnTo>
                    <a:lnTo>
                      <a:pt x="11" y="95"/>
                    </a:lnTo>
                    <a:close/>
                  </a:path>
                </a:pathLst>
              </a:custGeom>
              <a:solidFill>
                <a:srgbClr val="FFFF00"/>
              </a:solidFill>
              <a:ln w="9525" cmpd="sng">
                <a:solidFill>
                  <a:schemeClr val="hlink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24" name="Group 21"/>
          <p:cNvGrpSpPr>
            <a:grpSpLocks/>
          </p:cNvGrpSpPr>
          <p:nvPr/>
        </p:nvGrpSpPr>
        <p:grpSpPr bwMode="auto">
          <a:xfrm>
            <a:off x="2625725" y="1411288"/>
            <a:ext cx="1736725" cy="152400"/>
            <a:chOff x="0" y="0"/>
            <a:chExt cx="1094" cy="96"/>
          </a:xfrm>
        </p:grpSpPr>
        <p:sp>
          <p:nvSpPr>
            <p:cNvPr id="99401" name="Oval 22"/>
            <p:cNvSpPr>
              <a:spLocks noChangeArrowheads="1"/>
            </p:cNvSpPr>
            <p:nvPr/>
          </p:nvSpPr>
          <p:spPr bwMode="auto">
            <a:xfrm>
              <a:off x="0" y="4"/>
              <a:ext cx="58" cy="58"/>
            </a:xfrm>
            <a:prstGeom prst="ellipse">
              <a:avLst/>
            </a:prstGeom>
            <a:solidFill>
              <a:srgbClr val="FFFFFF"/>
            </a:solidFill>
            <a:ln w="20638">
              <a:solidFill>
                <a:schemeClr val="hlink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1800">
                <a:ea typeface="宋体" panose="02010600030101010101" pitchFamily="2" charset="-122"/>
              </a:endParaRPr>
            </a:p>
          </p:txBody>
        </p:sp>
        <p:grpSp>
          <p:nvGrpSpPr>
            <p:cNvPr id="99402" name="Group 23"/>
            <p:cNvGrpSpPr>
              <a:grpSpLocks/>
            </p:cNvGrpSpPr>
            <p:nvPr/>
          </p:nvGrpSpPr>
          <p:grpSpPr bwMode="auto">
            <a:xfrm>
              <a:off x="56" y="0"/>
              <a:ext cx="1038" cy="96"/>
              <a:chOff x="0" y="0"/>
              <a:chExt cx="1038" cy="96"/>
            </a:xfrm>
          </p:grpSpPr>
          <p:sp>
            <p:nvSpPr>
              <p:cNvPr id="99403" name="Line 24"/>
              <p:cNvSpPr>
                <a:spLocks noChangeShapeType="1"/>
              </p:cNvSpPr>
              <p:nvPr/>
            </p:nvSpPr>
            <p:spPr bwMode="auto">
              <a:xfrm>
                <a:off x="0" y="47"/>
                <a:ext cx="978" cy="1"/>
              </a:xfrm>
              <a:prstGeom prst="line">
                <a:avLst/>
              </a:prstGeom>
              <a:noFill/>
              <a:ln w="206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404" name="未知"/>
              <p:cNvSpPr>
                <a:spLocks/>
              </p:cNvSpPr>
              <p:nvPr/>
            </p:nvSpPr>
            <p:spPr bwMode="auto">
              <a:xfrm>
                <a:off x="944" y="0"/>
                <a:ext cx="94" cy="96"/>
              </a:xfrm>
              <a:custGeom>
                <a:avLst/>
                <a:gdLst>
                  <a:gd name="T0" fmla="*/ 0 w 94"/>
                  <a:gd name="T1" fmla="*/ 96 h 96"/>
                  <a:gd name="T2" fmla="*/ 94 w 94"/>
                  <a:gd name="T3" fmla="*/ 47 h 96"/>
                  <a:gd name="T4" fmla="*/ 0 w 94"/>
                  <a:gd name="T5" fmla="*/ 0 h 96"/>
                  <a:gd name="T6" fmla="*/ 29 w 94"/>
                  <a:gd name="T7" fmla="*/ 47 h 96"/>
                  <a:gd name="T8" fmla="*/ 0 w 94"/>
                  <a:gd name="T9" fmla="*/ 96 h 9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4" h="96">
                    <a:moveTo>
                      <a:pt x="0" y="96"/>
                    </a:moveTo>
                    <a:lnTo>
                      <a:pt x="94" y="47"/>
                    </a:lnTo>
                    <a:lnTo>
                      <a:pt x="0" y="0"/>
                    </a:lnTo>
                    <a:lnTo>
                      <a:pt x="29" y="47"/>
                    </a:lnTo>
                    <a:lnTo>
                      <a:pt x="0" y="96"/>
                    </a:lnTo>
                    <a:close/>
                  </a:path>
                </a:pathLst>
              </a:custGeom>
              <a:solidFill>
                <a:srgbClr val="FFFF00"/>
              </a:solidFill>
              <a:ln w="9525" cmpd="sng">
                <a:solidFill>
                  <a:schemeClr val="hlink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29" name="Group 26"/>
          <p:cNvGrpSpPr>
            <a:grpSpLocks/>
          </p:cNvGrpSpPr>
          <p:nvPr/>
        </p:nvGrpSpPr>
        <p:grpSpPr bwMode="auto">
          <a:xfrm>
            <a:off x="2743200" y="3349625"/>
            <a:ext cx="2357438" cy="150813"/>
            <a:chOff x="0" y="0"/>
            <a:chExt cx="1485" cy="95"/>
          </a:xfrm>
        </p:grpSpPr>
        <p:sp>
          <p:nvSpPr>
            <p:cNvPr id="99399" name="Line 27"/>
            <p:cNvSpPr>
              <a:spLocks noChangeShapeType="1"/>
            </p:cNvSpPr>
            <p:nvPr/>
          </p:nvSpPr>
          <p:spPr bwMode="auto">
            <a:xfrm>
              <a:off x="0" y="46"/>
              <a:ext cx="1425" cy="1"/>
            </a:xfrm>
            <a:prstGeom prst="line">
              <a:avLst/>
            </a:prstGeom>
            <a:noFill/>
            <a:ln w="20638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400" name="未知"/>
            <p:cNvSpPr>
              <a:spLocks/>
            </p:cNvSpPr>
            <p:nvPr/>
          </p:nvSpPr>
          <p:spPr bwMode="auto">
            <a:xfrm>
              <a:off x="1392" y="0"/>
              <a:ext cx="93" cy="95"/>
            </a:xfrm>
            <a:custGeom>
              <a:avLst/>
              <a:gdLst>
                <a:gd name="T0" fmla="*/ 0 w 93"/>
                <a:gd name="T1" fmla="*/ 95 h 95"/>
                <a:gd name="T2" fmla="*/ 93 w 93"/>
                <a:gd name="T3" fmla="*/ 46 h 95"/>
                <a:gd name="T4" fmla="*/ 0 w 93"/>
                <a:gd name="T5" fmla="*/ 0 h 95"/>
                <a:gd name="T6" fmla="*/ 29 w 93"/>
                <a:gd name="T7" fmla="*/ 46 h 95"/>
                <a:gd name="T8" fmla="*/ 0 w 93"/>
                <a:gd name="T9" fmla="*/ 95 h 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3" h="95">
                  <a:moveTo>
                    <a:pt x="0" y="95"/>
                  </a:moveTo>
                  <a:lnTo>
                    <a:pt x="93" y="46"/>
                  </a:lnTo>
                  <a:lnTo>
                    <a:pt x="0" y="0"/>
                  </a:lnTo>
                  <a:lnTo>
                    <a:pt x="29" y="46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rgbClr val="FFFF00"/>
            </a:solidFill>
            <a:ln w="9525" cmpd="sng">
              <a:solidFill>
                <a:schemeClr val="hlink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2" name="Group 29"/>
          <p:cNvGrpSpPr>
            <a:grpSpLocks/>
          </p:cNvGrpSpPr>
          <p:nvPr/>
        </p:nvGrpSpPr>
        <p:grpSpPr bwMode="auto">
          <a:xfrm>
            <a:off x="5864225" y="1403350"/>
            <a:ext cx="1679575" cy="152400"/>
            <a:chOff x="0" y="0"/>
            <a:chExt cx="1058" cy="96"/>
          </a:xfrm>
        </p:grpSpPr>
        <p:grpSp>
          <p:nvGrpSpPr>
            <p:cNvPr id="99395" name="Group 30"/>
            <p:cNvGrpSpPr>
              <a:grpSpLocks/>
            </p:cNvGrpSpPr>
            <p:nvPr/>
          </p:nvGrpSpPr>
          <p:grpSpPr bwMode="auto">
            <a:xfrm>
              <a:off x="76" y="0"/>
              <a:ext cx="982" cy="96"/>
              <a:chOff x="0" y="0"/>
              <a:chExt cx="982" cy="96"/>
            </a:xfrm>
          </p:grpSpPr>
          <p:sp>
            <p:nvSpPr>
              <p:cNvPr id="99397" name="Line 31"/>
              <p:cNvSpPr>
                <a:spLocks noChangeShapeType="1"/>
              </p:cNvSpPr>
              <p:nvPr/>
            </p:nvSpPr>
            <p:spPr bwMode="auto">
              <a:xfrm>
                <a:off x="0" y="47"/>
                <a:ext cx="922" cy="1"/>
              </a:xfrm>
              <a:prstGeom prst="line">
                <a:avLst/>
              </a:prstGeom>
              <a:noFill/>
              <a:ln w="206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398" name="未知"/>
              <p:cNvSpPr>
                <a:spLocks/>
              </p:cNvSpPr>
              <p:nvPr/>
            </p:nvSpPr>
            <p:spPr bwMode="auto">
              <a:xfrm>
                <a:off x="889" y="0"/>
                <a:ext cx="93" cy="96"/>
              </a:xfrm>
              <a:custGeom>
                <a:avLst/>
                <a:gdLst>
                  <a:gd name="T0" fmla="*/ 0 w 93"/>
                  <a:gd name="T1" fmla="*/ 96 h 96"/>
                  <a:gd name="T2" fmla="*/ 93 w 93"/>
                  <a:gd name="T3" fmla="*/ 47 h 96"/>
                  <a:gd name="T4" fmla="*/ 0 w 93"/>
                  <a:gd name="T5" fmla="*/ 0 h 96"/>
                  <a:gd name="T6" fmla="*/ 28 w 93"/>
                  <a:gd name="T7" fmla="*/ 47 h 96"/>
                  <a:gd name="T8" fmla="*/ 0 w 93"/>
                  <a:gd name="T9" fmla="*/ 96 h 9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3" h="96">
                    <a:moveTo>
                      <a:pt x="0" y="96"/>
                    </a:moveTo>
                    <a:lnTo>
                      <a:pt x="93" y="47"/>
                    </a:lnTo>
                    <a:lnTo>
                      <a:pt x="0" y="0"/>
                    </a:lnTo>
                    <a:lnTo>
                      <a:pt x="28" y="47"/>
                    </a:lnTo>
                    <a:lnTo>
                      <a:pt x="0" y="96"/>
                    </a:lnTo>
                    <a:close/>
                  </a:path>
                </a:pathLst>
              </a:custGeom>
              <a:solidFill>
                <a:srgbClr val="FFFF00"/>
              </a:solidFill>
              <a:ln w="9525" cmpd="sng">
                <a:solidFill>
                  <a:schemeClr val="hlink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9396" name="Oval 33"/>
            <p:cNvSpPr>
              <a:spLocks noChangeArrowheads="1"/>
            </p:cNvSpPr>
            <p:nvPr/>
          </p:nvSpPr>
          <p:spPr bwMode="auto">
            <a:xfrm>
              <a:off x="0" y="14"/>
              <a:ext cx="58" cy="58"/>
            </a:xfrm>
            <a:prstGeom prst="ellipse">
              <a:avLst/>
            </a:prstGeom>
            <a:solidFill>
              <a:srgbClr val="FFFFFF"/>
            </a:solidFill>
            <a:ln w="20638">
              <a:solidFill>
                <a:schemeClr val="hlink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1800">
                <a:ea typeface="宋体" panose="02010600030101010101" pitchFamily="2" charset="-122"/>
              </a:endParaRPr>
            </a:p>
          </p:txBody>
        </p:sp>
      </p:grpSp>
      <p:grpSp>
        <p:nvGrpSpPr>
          <p:cNvPr id="37" name="Group 34"/>
          <p:cNvGrpSpPr>
            <a:grpSpLocks/>
          </p:cNvGrpSpPr>
          <p:nvPr/>
        </p:nvGrpSpPr>
        <p:grpSpPr bwMode="auto">
          <a:xfrm>
            <a:off x="4394200" y="1411288"/>
            <a:ext cx="1470025" cy="152400"/>
            <a:chOff x="0" y="0"/>
            <a:chExt cx="926" cy="96"/>
          </a:xfrm>
        </p:grpSpPr>
        <p:sp>
          <p:nvSpPr>
            <p:cNvPr id="99391" name="Oval 35"/>
            <p:cNvSpPr>
              <a:spLocks noChangeArrowheads="1"/>
            </p:cNvSpPr>
            <p:nvPr/>
          </p:nvSpPr>
          <p:spPr bwMode="auto">
            <a:xfrm>
              <a:off x="0" y="9"/>
              <a:ext cx="58" cy="58"/>
            </a:xfrm>
            <a:prstGeom prst="ellipse">
              <a:avLst/>
            </a:prstGeom>
            <a:solidFill>
              <a:srgbClr val="FFFFFF"/>
            </a:solidFill>
            <a:ln w="20638">
              <a:solidFill>
                <a:schemeClr val="hlink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1800">
                <a:ea typeface="宋体" panose="02010600030101010101" pitchFamily="2" charset="-122"/>
              </a:endParaRPr>
            </a:p>
          </p:txBody>
        </p:sp>
        <p:grpSp>
          <p:nvGrpSpPr>
            <p:cNvPr id="99392" name="Group 36"/>
            <p:cNvGrpSpPr>
              <a:grpSpLocks/>
            </p:cNvGrpSpPr>
            <p:nvPr/>
          </p:nvGrpSpPr>
          <p:grpSpPr bwMode="auto">
            <a:xfrm>
              <a:off x="55" y="0"/>
              <a:ext cx="871" cy="96"/>
              <a:chOff x="0" y="0"/>
              <a:chExt cx="871" cy="96"/>
            </a:xfrm>
          </p:grpSpPr>
          <p:sp>
            <p:nvSpPr>
              <p:cNvPr id="99393" name="Line 37"/>
              <p:cNvSpPr>
                <a:spLocks noChangeShapeType="1"/>
              </p:cNvSpPr>
              <p:nvPr/>
            </p:nvSpPr>
            <p:spPr bwMode="auto">
              <a:xfrm>
                <a:off x="0" y="47"/>
                <a:ext cx="811" cy="1"/>
              </a:xfrm>
              <a:prstGeom prst="line">
                <a:avLst/>
              </a:prstGeom>
              <a:noFill/>
              <a:ln w="206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394" name="未知"/>
              <p:cNvSpPr>
                <a:spLocks/>
              </p:cNvSpPr>
              <p:nvPr/>
            </p:nvSpPr>
            <p:spPr bwMode="auto">
              <a:xfrm>
                <a:off x="778" y="0"/>
                <a:ext cx="93" cy="96"/>
              </a:xfrm>
              <a:custGeom>
                <a:avLst/>
                <a:gdLst>
                  <a:gd name="T0" fmla="*/ 0 w 93"/>
                  <a:gd name="T1" fmla="*/ 96 h 96"/>
                  <a:gd name="T2" fmla="*/ 93 w 93"/>
                  <a:gd name="T3" fmla="*/ 47 h 96"/>
                  <a:gd name="T4" fmla="*/ 0 w 93"/>
                  <a:gd name="T5" fmla="*/ 0 h 96"/>
                  <a:gd name="T6" fmla="*/ 29 w 93"/>
                  <a:gd name="T7" fmla="*/ 47 h 96"/>
                  <a:gd name="T8" fmla="*/ 0 w 93"/>
                  <a:gd name="T9" fmla="*/ 96 h 9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3" h="96">
                    <a:moveTo>
                      <a:pt x="0" y="96"/>
                    </a:moveTo>
                    <a:lnTo>
                      <a:pt x="93" y="47"/>
                    </a:lnTo>
                    <a:lnTo>
                      <a:pt x="0" y="0"/>
                    </a:lnTo>
                    <a:lnTo>
                      <a:pt x="29" y="47"/>
                    </a:lnTo>
                    <a:lnTo>
                      <a:pt x="0" y="96"/>
                    </a:lnTo>
                    <a:close/>
                  </a:path>
                </a:pathLst>
              </a:custGeom>
              <a:solidFill>
                <a:srgbClr val="FFFF00"/>
              </a:solidFill>
              <a:ln w="9525" cmpd="sng">
                <a:solidFill>
                  <a:schemeClr val="hlink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42" name="Group 39"/>
          <p:cNvGrpSpPr>
            <a:grpSpLocks/>
          </p:cNvGrpSpPr>
          <p:nvPr/>
        </p:nvGrpSpPr>
        <p:grpSpPr bwMode="auto">
          <a:xfrm>
            <a:off x="2682875" y="1512888"/>
            <a:ext cx="677863" cy="912812"/>
            <a:chOff x="0" y="0"/>
            <a:chExt cx="427" cy="575"/>
          </a:xfrm>
        </p:grpSpPr>
        <p:sp>
          <p:nvSpPr>
            <p:cNvPr id="99389" name="Line 40"/>
            <p:cNvSpPr>
              <a:spLocks noChangeShapeType="1"/>
            </p:cNvSpPr>
            <p:nvPr/>
          </p:nvSpPr>
          <p:spPr bwMode="auto">
            <a:xfrm>
              <a:off x="0" y="0"/>
              <a:ext cx="394" cy="528"/>
            </a:xfrm>
            <a:prstGeom prst="line">
              <a:avLst/>
            </a:prstGeom>
            <a:noFill/>
            <a:ln w="20638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90" name="未知"/>
            <p:cNvSpPr>
              <a:spLocks/>
            </p:cNvSpPr>
            <p:nvPr/>
          </p:nvSpPr>
          <p:spPr bwMode="auto">
            <a:xfrm>
              <a:off x="332" y="473"/>
              <a:ext cx="95" cy="102"/>
            </a:xfrm>
            <a:custGeom>
              <a:avLst/>
              <a:gdLst>
                <a:gd name="T0" fmla="*/ 0 w 95"/>
                <a:gd name="T1" fmla="*/ 55 h 102"/>
                <a:gd name="T2" fmla="*/ 95 w 95"/>
                <a:gd name="T3" fmla="*/ 102 h 102"/>
                <a:gd name="T4" fmla="*/ 78 w 95"/>
                <a:gd name="T5" fmla="*/ 0 h 102"/>
                <a:gd name="T6" fmla="*/ 58 w 95"/>
                <a:gd name="T7" fmla="*/ 51 h 102"/>
                <a:gd name="T8" fmla="*/ 0 w 95"/>
                <a:gd name="T9" fmla="*/ 55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5" h="102">
                  <a:moveTo>
                    <a:pt x="0" y="55"/>
                  </a:moveTo>
                  <a:lnTo>
                    <a:pt x="95" y="102"/>
                  </a:lnTo>
                  <a:lnTo>
                    <a:pt x="78" y="0"/>
                  </a:lnTo>
                  <a:lnTo>
                    <a:pt x="58" y="51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FFFF00"/>
            </a:solidFill>
            <a:ln w="9525" cmpd="sng">
              <a:solidFill>
                <a:schemeClr val="hlink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5" name="Group 42"/>
          <p:cNvGrpSpPr>
            <a:grpSpLocks/>
          </p:cNvGrpSpPr>
          <p:nvPr/>
        </p:nvGrpSpPr>
        <p:grpSpPr bwMode="auto">
          <a:xfrm>
            <a:off x="2625725" y="2486025"/>
            <a:ext cx="735013" cy="969963"/>
            <a:chOff x="0" y="0"/>
            <a:chExt cx="463" cy="611"/>
          </a:xfrm>
        </p:grpSpPr>
        <p:sp>
          <p:nvSpPr>
            <p:cNvPr id="99385" name="Oval 43"/>
            <p:cNvSpPr>
              <a:spLocks noChangeArrowheads="1"/>
            </p:cNvSpPr>
            <p:nvPr/>
          </p:nvSpPr>
          <p:spPr bwMode="auto">
            <a:xfrm>
              <a:off x="0" y="553"/>
              <a:ext cx="58" cy="58"/>
            </a:xfrm>
            <a:prstGeom prst="ellipse">
              <a:avLst/>
            </a:prstGeom>
            <a:solidFill>
              <a:srgbClr val="FFFFFF"/>
            </a:solidFill>
            <a:ln w="20638">
              <a:solidFill>
                <a:schemeClr val="hlink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1800">
                <a:ea typeface="宋体" panose="02010600030101010101" pitchFamily="2" charset="-122"/>
              </a:endParaRPr>
            </a:p>
          </p:txBody>
        </p:sp>
        <p:grpSp>
          <p:nvGrpSpPr>
            <p:cNvPr id="99386" name="Group 44"/>
            <p:cNvGrpSpPr>
              <a:grpSpLocks/>
            </p:cNvGrpSpPr>
            <p:nvPr/>
          </p:nvGrpSpPr>
          <p:grpSpPr bwMode="auto">
            <a:xfrm>
              <a:off x="36" y="0"/>
              <a:ext cx="427" cy="553"/>
              <a:chOff x="0" y="0"/>
              <a:chExt cx="427" cy="553"/>
            </a:xfrm>
          </p:grpSpPr>
          <p:sp>
            <p:nvSpPr>
              <p:cNvPr id="99387" name="Line 45"/>
              <p:cNvSpPr>
                <a:spLocks noChangeShapeType="1"/>
              </p:cNvSpPr>
              <p:nvPr/>
            </p:nvSpPr>
            <p:spPr bwMode="auto">
              <a:xfrm flipV="1">
                <a:off x="0" y="47"/>
                <a:ext cx="392" cy="506"/>
              </a:xfrm>
              <a:prstGeom prst="line">
                <a:avLst/>
              </a:prstGeom>
              <a:noFill/>
              <a:ln w="206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388" name="未知"/>
              <p:cNvSpPr>
                <a:spLocks/>
              </p:cNvSpPr>
              <p:nvPr/>
            </p:nvSpPr>
            <p:spPr bwMode="auto">
              <a:xfrm>
                <a:off x="334" y="0"/>
                <a:ext cx="93" cy="105"/>
              </a:xfrm>
              <a:custGeom>
                <a:avLst/>
                <a:gdLst>
                  <a:gd name="T0" fmla="*/ 73 w 93"/>
                  <a:gd name="T1" fmla="*/ 105 h 105"/>
                  <a:gd name="T2" fmla="*/ 93 w 93"/>
                  <a:gd name="T3" fmla="*/ 0 h 105"/>
                  <a:gd name="T4" fmla="*/ 0 w 93"/>
                  <a:gd name="T5" fmla="*/ 45 h 105"/>
                  <a:gd name="T6" fmla="*/ 53 w 93"/>
                  <a:gd name="T7" fmla="*/ 51 h 105"/>
                  <a:gd name="T8" fmla="*/ 73 w 93"/>
                  <a:gd name="T9" fmla="*/ 105 h 10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3" h="105">
                    <a:moveTo>
                      <a:pt x="73" y="105"/>
                    </a:moveTo>
                    <a:lnTo>
                      <a:pt x="93" y="0"/>
                    </a:lnTo>
                    <a:lnTo>
                      <a:pt x="0" y="45"/>
                    </a:lnTo>
                    <a:lnTo>
                      <a:pt x="53" y="51"/>
                    </a:lnTo>
                    <a:lnTo>
                      <a:pt x="73" y="105"/>
                    </a:lnTo>
                    <a:close/>
                  </a:path>
                </a:pathLst>
              </a:custGeom>
              <a:solidFill>
                <a:srgbClr val="FFFF00"/>
              </a:solidFill>
              <a:ln w="9525" cmpd="sng">
                <a:solidFill>
                  <a:schemeClr val="hlink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50" name="Group 47"/>
          <p:cNvGrpSpPr>
            <a:grpSpLocks/>
          </p:cNvGrpSpPr>
          <p:nvPr/>
        </p:nvGrpSpPr>
        <p:grpSpPr bwMode="auto">
          <a:xfrm>
            <a:off x="2743200" y="2468563"/>
            <a:ext cx="2414588" cy="927100"/>
            <a:chOff x="0" y="0"/>
            <a:chExt cx="1521" cy="584"/>
          </a:xfrm>
        </p:grpSpPr>
        <p:sp>
          <p:nvSpPr>
            <p:cNvPr id="99383" name="Line 48"/>
            <p:cNvSpPr>
              <a:spLocks noChangeShapeType="1"/>
            </p:cNvSpPr>
            <p:nvPr/>
          </p:nvSpPr>
          <p:spPr bwMode="auto">
            <a:xfrm flipV="1">
              <a:off x="0" y="33"/>
              <a:ext cx="1465" cy="551"/>
            </a:xfrm>
            <a:prstGeom prst="line">
              <a:avLst/>
            </a:prstGeom>
            <a:noFill/>
            <a:ln w="20638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84" name="未知"/>
            <p:cNvSpPr>
              <a:spLocks/>
            </p:cNvSpPr>
            <p:nvPr/>
          </p:nvSpPr>
          <p:spPr bwMode="auto">
            <a:xfrm>
              <a:off x="1416" y="0"/>
              <a:ext cx="105" cy="89"/>
            </a:xfrm>
            <a:custGeom>
              <a:avLst/>
              <a:gdLst>
                <a:gd name="T0" fmla="*/ 34 w 105"/>
                <a:gd name="T1" fmla="*/ 89 h 89"/>
                <a:gd name="T2" fmla="*/ 105 w 105"/>
                <a:gd name="T3" fmla="*/ 11 h 89"/>
                <a:gd name="T4" fmla="*/ 0 w 105"/>
                <a:gd name="T5" fmla="*/ 0 h 89"/>
                <a:gd name="T6" fmla="*/ 45 w 105"/>
                <a:gd name="T7" fmla="*/ 33 h 89"/>
                <a:gd name="T8" fmla="*/ 34 w 105"/>
                <a:gd name="T9" fmla="*/ 89 h 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5" h="89">
                  <a:moveTo>
                    <a:pt x="34" y="89"/>
                  </a:moveTo>
                  <a:lnTo>
                    <a:pt x="105" y="11"/>
                  </a:lnTo>
                  <a:lnTo>
                    <a:pt x="0" y="0"/>
                  </a:lnTo>
                  <a:lnTo>
                    <a:pt x="45" y="33"/>
                  </a:lnTo>
                  <a:lnTo>
                    <a:pt x="34" y="89"/>
                  </a:lnTo>
                  <a:close/>
                </a:path>
              </a:pathLst>
            </a:custGeom>
            <a:solidFill>
              <a:srgbClr val="FFFF00"/>
            </a:solidFill>
            <a:ln w="9525" cmpd="sng">
              <a:solidFill>
                <a:schemeClr val="hlink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3" name="Group 50"/>
          <p:cNvGrpSpPr>
            <a:grpSpLocks/>
          </p:cNvGrpSpPr>
          <p:nvPr/>
        </p:nvGrpSpPr>
        <p:grpSpPr bwMode="auto">
          <a:xfrm>
            <a:off x="3333750" y="2382838"/>
            <a:ext cx="1855788" cy="152400"/>
            <a:chOff x="0" y="0"/>
            <a:chExt cx="1169" cy="96"/>
          </a:xfrm>
        </p:grpSpPr>
        <p:sp>
          <p:nvSpPr>
            <p:cNvPr id="99379" name="Oval 51"/>
            <p:cNvSpPr>
              <a:spLocks noChangeArrowheads="1"/>
            </p:cNvSpPr>
            <p:nvPr/>
          </p:nvSpPr>
          <p:spPr bwMode="auto">
            <a:xfrm>
              <a:off x="0" y="9"/>
              <a:ext cx="58" cy="58"/>
            </a:xfrm>
            <a:prstGeom prst="ellipse">
              <a:avLst/>
            </a:prstGeom>
            <a:solidFill>
              <a:srgbClr val="FFFFFF"/>
            </a:solidFill>
            <a:ln w="20638">
              <a:solidFill>
                <a:schemeClr val="hlink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1800">
                <a:ea typeface="宋体" panose="02010600030101010101" pitchFamily="2" charset="-122"/>
              </a:endParaRPr>
            </a:p>
          </p:txBody>
        </p:sp>
        <p:grpSp>
          <p:nvGrpSpPr>
            <p:cNvPr id="99380" name="Group 52"/>
            <p:cNvGrpSpPr>
              <a:grpSpLocks/>
            </p:cNvGrpSpPr>
            <p:nvPr/>
          </p:nvGrpSpPr>
          <p:grpSpPr bwMode="auto">
            <a:xfrm>
              <a:off x="55" y="0"/>
              <a:ext cx="1114" cy="96"/>
              <a:chOff x="0" y="0"/>
              <a:chExt cx="1114" cy="96"/>
            </a:xfrm>
          </p:grpSpPr>
          <p:sp>
            <p:nvSpPr>
              <p:cNvPr id="99381" name="Line 53"/>
              <p:cNvSpPr>
                <a:spLocks noChangeShapeType="1"/>
              </p:cNvSpPr>
              <p:nvPr/>
            </p:nvSpPr>
            <p:spPr bwMode="auto">
              <a:xfrm>
                <a:off x="0" y="47"/>
                <a:ext cx="1054" cy="1"/>
              </a:xfrm>
              <a:prstGeom prst="line">
                <a:avLst/>
              </a:prstGeom>
              <a:noFill/>
              <a:ln w="206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382" name="未知"/>
              <p:cNvSpPr>
                <a:spLocks/>
              </p:cNvSpPr>
              <p:nvPr/>
            </p:nvSpPr>
            <p:spPr bwMode="auto">
              <a:xfrm>
                <a:off x="1020" y="0"/>
                <a:ext cx="94" cy="96"/>
              </a:xfrm>
              <a:custGeom>
                <a:avLst/>
                <a:gdLst>
                  <a:gd name="T0" fmla="*/ 0 w 94"/>
                  <a:gd name="T1" fmla="*/ 96 h 96"/>
                  <a:gd name="T2" fmla="*/ 94 w 94"/>
                  <a:gd name="T3" fmla="*/ 47 h 96"/>
                  <a:gd name="T4" fmla="*/ 0 w 94"/>
                  <a:gd name="T5" fmla="*/ 0 h 96"/>
                  <a:gd name="T6" fmla="*/ 29 w 94"/>
                  <a:gd name="T7" fmla="*/ 47 h 96"/>
                  <a:gd name="T8" fmla="*/ 0 w 94"/>
                  <a:gd name="T9" fmla="*/ 96 h 9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4" h="96">
                    <a:moveTo>
                      <a:pt x="0" y="96"/>
                    </a:moveTo>
                    <a:lnTo>
                      <a:pt x="94" y="47"/>
                    </a:lnTo>
                    <a:lnTo>
                      <a:pt x="0" y="0"/>
                    </a:lnTo>
                    <a:lnTo>
                      <a:pt x="29" y="47"/>
                    </a:lnTo>
                    <a:lnTo>
                      <a:pt x="0" y="96"/>
                    </a:lnTo>
                    <a:close/>
                  </a:path>
                </a:pathLst>
              </a:custGeom>
              <a:solidFill>
                <a:srgbClr val="FFFF00"/>
              </a:solidFill>
              <a:ln w="9525" cmpd="sng">
                <a:solidFill>
                  <a:schemeClr val="hlink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58" name="Group 55"/>
          <p:cNvGrpSpPr>
            <a:grpSpLocks/>
          </p:cNvGrpSpPr>
          <p:nvPr/>
        </p:nvGrpSpPr>
        <p:grpSpPr bwMode="auto">
          <a:xfrm>
            <a:off x="5189538" y="1466850"/>
            <a:ext cx="2414587" cy="1022350"/>
            <a:chOff x="0" y="0"/>
            <a:chExt cx="1521" cy="644"/>
          </a:xfrm>
        </p:grpSpPr>
        <p:sp>
          <p:nvSpPr>
            <p:cNvPr id="99375" name="Oval 56"/>
            <p:cNvSpPr>
              <a:spLocks noChangeArrowheads="1"/>
            </p:cNvSpPr>
            <p:nvPr/>
          </p:nvSpPr>
          <p:spPr bwMode="auto">
            <a:xfrm>
              <a:off x="0" y="586"/>
              <a:ext cx="58" cy="58"/>
            </a:xfrm>
            <a:prstGeom prst="ellipse">
              <a:avLst/>
            </a:prstGeom>
            <a:solidFill>
              <a:srgbClr val="FFFFFF"/>
            </a:solidFill>
            <a:ln w="20638">
              <a:solidFill>
                <a:schemeClr val="hlink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en-US" sz="1800">
                <a:ea typeface="宋体" panose="02010600030101010101" pitchFamily="2" charset="-122"/>
              </a:endParaRPr>
            </a:p>
          </p:txBody>
        </p:sp>
        <p:grpSp>
          <p:nvGrpSpPr>
            <p:cNvPr id="99376" name="Group 57"/>
            <p:cNvGrpSpPr>
              <a:grpSpLocks/>
            </p:cNvGrpSpPr>
            <p:nvPr/>
          </p:nvGrpSpPr>
          <p:grpSpPr bwMode="auto">
            <a:xfrm>
              <a:off x="35" y="0"/>
              <a:ext cx="1486" cy="586"/>
              <a:chOff x="0" y="0"/>
              <a:chExt cx="1486" cy="586"/>
            </a:xfrm>
          </p:grpSpPr>
          <p:sp>
            <p:nvSpPr>
              <p:cNvPr id="99377" name="Line 58"/>
              <p:cNvSpPr>
                <a:spLocks noChangeShapeType="1"/>
              </p:cNvSpPr>
              <p:nvPr/>
            </p:nvSpPr>
            <p:spPr bwMode="auto">
              <a:xfrm flipV="1">
                <a:off x="0" y="34"/>
                <a:ext cx="1430" cy="552"/>
              </a:xfrm>
              <a:prstGeom prst="line">
                <a:avLst/>
              </a:prstGeom>
              <a:noFill/>
              <a:ln w="20638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378" name="未知"/>
              <p:cNvSpPr>
                <a:spLocks/>
              </p:cNvSpPr>
              <p:nvPr/>
            </p:nvSpPr>
            <p:spPr bwMode="auto">
              <a:xfrm>
                <a:off x="1381" y="0"/>
                <a:ext cx="105" cy="90"/>
              </a:xfrm>
              <a:custGeom>
                <a:avLst/>
                <a:gdLst>
                  <a:gd name="T0" fmla="*/ 34 w 105"/>
                  <a:gd name="T1" fmla="*/ 90 h 90"/>
                  <a:gd name="T2" fmla="*/ 105 w 105"/>
                  <a:gd name="T3" fmla="*/ 12 h 90"/>
                  <a:gd name="T4" fmla="*/ 0 w 105"/>
                  <a:gd name="T5" fmla="*/ 0 h 90"/>
                  <a:gd name="T6" fmla="*/ 45 w 105"/>
                  <a:gd name="T7" fmla="*/ 34 h 90"/>
                  <a:gd name="T8" fmla="*/ 34 w 105"/>
                  <a:gd name="T9" fmla="*/ 90 h 9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5" h="90">
                    <a:moveTo>
                      <a:pt x="34" y="90"/>
                    </a:moveTo>
                    <a:lnTo>
                      <a:pt x="105" y="12"/>
                    </a:lnTo>
                    <a:lnTo>
                      <a:pt x="0" y="0"/>
                    </a:lnTo>
                    <a:lnTo>
                      <a:pt x="45" y="34"/>
                    </a:lnTo>
                    <a:lnTo>
                      <a:pt x="34" y="90"/>
                    </a:lnTo>
                    <a:close/>
                  </a:path>
                </a:pathLst>
              </a:custGeom>
              <a:solidFill>
                <a:srgbClr val="FFFF00"/>
              </a:solidFill>
              <a:ln w="9525" cmpd="sng">
                <a:solidFill>
                  <a:schemeClr val="hlink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63" name="Group 60"/>
          <p:cNvGrpSpPr>
            <a:grpSpLocks/>
          </p:cNvGrpSpPr>
          <p:nvPr/>
        </p:nvGrpSpPr>
        <p:grpSpPr bwMode="auto">
          <a:xfrm>
            <a:off x="5278438" y="2457450"/>
            <a:ext cx="2236787" cy="627063"/>
            <a:chOff x="0" y="0"/>
            <a:chExt cx="1409" cy="395"/>
          </a:xfrm>
        </p:grpSpPr>
        <p:sp>
          <p:nvSpPr>
            <p:cNvPr id="99373" name="Line 61"/>
            <p:cNvSpPr>
              <a:spLocks noChangeShapeType="1"/>
            </p:cNvSpPr>
            <p:nvPr/>
          </p:nvSpPr>
          <p:spPr bwMode="auto">
            <a:xfrm>
              <a:off x="0" y="0"/>
              <a:ext cx="1351" cy="354"/>
            </a:xfrm>
            <a:prstGeom prst="line">
              <a:avLst/>
            </a:prstGeom>
            <a:noFill/>
            <a:ln w="20638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74" name="未知"/>
            <p:cNvSpPr>
              <a:spLocks/>
            </p:cNvSpPr>
            <p:nvPr/>
          </p:nvSpPr>
          <p:spPr bwMode="auto">
            <a:xfrm>
              <a:off x="1307" y="301"/>
              <a:ext cx="102" cy="94"/>
            </a:xfrm>
            <a:custGeom>
              <a:avLst/>
              <a:gdLst>
                <a:gd name="T0" fmla="*/ 0 w 102"/>
                <a:gd name="T1" fmla="*/ 94 h 94"/>
                <a:gd name="T2" fmla="*/ 102 w 102"/>
                <a:gd name="T3" fmla="*/ 69 h 94"/>
                <a:gd name="T4" fmla="*/ 22 w 102"/>
                <a:gd name="T5" fmla="*/ 0 h 94"/>
                <a:gd name="T6" fmla="*/ 40 w 102"/>
                <a:gd name="T7" fmla="*/ 53 h 94"/>
                <a:gd name="T8" fmla="*/ 0 w 102"/>
                <a:gd name="T9" fmla="*/ 94 h 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2" h="94">
                  <a:moveTo>
                    <a:pt x="0" y="94"/>
                  </a:moveTo>
                  <a:lnTo>
                    <a:pt x="102" y="69"/>
                  </a:lnTo>
                  <a:lnTo>
                    <a:pt x="22" y="0"/>
                  </a:lnTo>
                  <a:lnTo>
                    <a:pt x="40" y="53"/>
                  </a:lnTo>
                  <a:lnTo>
                    <a:pt x="0" y="94"/>
                  </a:lnTo>
                  <a:close/>
                </a:path>
              </a:pathLst>
            </a:custGeom>
            <a:solidFill>
              <a:srgbClr val="FFFF00"/>
            </a:solidFill>
            <a:ln w="9525" cmpd="sng">
              <a:solidFill>
                <a:schemeClr val="hlink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6" name="Rectangle 63"/>
          <p:cNvSpPr>
            <a:spLocks noChangeArrowheads="1"/>
          </p:cNvSpPr>
          <p:nvPr/>
        </p:nvSpPr>
        <p:spPr bwMode="auto">
          <a:xfrm>
            <a:off x="3349625" y="1955800"/>
            <a:ext cx="392113" cy="320675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zh-CN" sz="210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C</a:t>
            </a:r>
            <a:r>
              <a:rPr lang="zh-CN" altLang="zh-CN" sz="2100" baseline="-2500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67" name="Rectangle 64"/>
          <p:cNvSpPr>
            <a:spLocks noChangeArrowheads="1"/>
          </p:cNvSpPr>
          <p:nvPr/>
        </p:nvSpPr>
        <p:spPr bwMode="auto">
          <a:xfrm>
            <a:off x="4860925" y="2028825"/>
            <a:ext cx="392113" cy="320675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zh-CN" sz="210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C</a:t>
            </a:r>
            <a:r>
              <a:rPr lang="zh-CN" altLang="zh-CN" sz="2100" baseline="-2500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68" name="Rectangle 65"/>
          <p:cNvSpPr>
            <a:spLocks noChangeArrowheads="1"/>
          </p:cNvSpPr>
          <p:nvPr/>
        </p:nvSpPr>
        <p:spPr bwMode="auto">
          <a:xfrm>
            <a:off x="2557463" y="3540125"/>
            <a:ext cx="392112" cy="320675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zh-CN" sz="210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C</a:t>
            </a:r>
            <a:r>
              <a:rPr lang="zh-CN" altLang="zh-CN" sz="2100" baseline="-2500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69" name="Rectangle 66"/>
          <p:cNvSpPr>
            <a:spLocks noChangeArrowheads="1"/>
          </p:cNvSpPr>
          <p:nvPr/>
        </p:nvSpPr>
        <p:spPr bwMode="auto">
          <a:xfrm>
            <a:off x="4932363" y="3540125"/>
            <a:ext cx="392112" cy="320675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zh-CN" sz="210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C</a:t>
            </a:r>
            <a:r>
              <a:rPr lang="zh-CN" altLang="zh-CN" sz="2100" baseline="-2500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70" name="Rectangle 67"/>
          <p:cNvSpPr>
            <a:spLocks noChangeArrowheads="1"/>
          </p:cNvSpPr>
          <p:nvPr/>
        </p:nvSpPr>
        <p:spPr bwMode="auto">
          <a:xfrm>
            <a:off x="7453313" y="3252788"/>
            <a:ext cx="392112" cy="320675"/>
          </a:xfrm>
          <a:prstGeom prst="rect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zh-CN" sz="210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C</a:t>
            </a:r>
            <a:r>
              <a:rPr lang="zh-CN" altLang="zh-CN" sz="2100" baseline="-2500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71" name="Text Box 68"/>
          <p:cNvSpPr txBox="1">
            <a:spLocks noChangeArrowheads="1"/>
          </p:cNvSpPr>
          <p:nvPr/>
        </p:nvSpPr>
        <p:spPr bwMode="auto">
          <a:xfrm>
            <a:off x="539750" y="3786188"/>
            <a:ext cx="26733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zh-CN" sz="3200" dirty="0">
                <a:latin typeface="+mn-ea"/>
                <a:ea typeface="+mn-ea"/>
              </a:rPr>
              <a:t>拓扑序列为：</a:t>
            </a:r>
          </a:p>
        </p:txBody>
      </p:sp>
      <p:sp>
        <p:nvSpPr>
          <p:cNvPr id="72" name="Text Box 69"/>
          <p:cNvSpPr txBox="1">
            <a:spLocks noChangeArrowheads="1"/>
          </p:cNvSpPr>
          <p:nvPr/>
        </p:nvSpPr>
        <p:spPr bwMode="auto">
          <a:xfrm>
            <a:off x="3059113" y="3908425"/>
            <a:ext cx="649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zh-CN" altLang="zh-CN" sz="1800" b="1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zh-CN" sz="1800" b="1" baseline="-250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73" name="Text Box 70"/>
          <p:cNvSpPr txBox="1">
            <a:spLocks noChangeArrowheads="1"/>
          </p:cNvSpPr>
          <p:nvPr/>
        </p:nvSpPr>
        <p:spPr bwMode="auto">
          <a:xfrm>
            <a:off x="3563938" y="3908425"/>
            <a:ext cx="649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zh-CN" altLang="zh-CN" sz="1800" b="1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zh-CN" sz="1800" b="1" baseline="-250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74" name="Text Box 71"/>
          <p:cNvSpPr txBox="1">
            <a:spLocks noChangeArrowheads="1"/>
          </p:cNvSpPr>
          <p:nvPr/>
        </p:nvSpPr>
        <p:spPr bwMode="auto">
          <a:xfrm>
            <a:off x="4140200" y="3908425"/>
            <a:ext cx="649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zh-CN" altLang="zh-CN" sz="1800" b="1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zh-CN" sz="1800" b="1" baseline="-250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75" name="Text Box 72"/>
          <p:cNvSpPr txBox="1">
            <a:spLocks noChangeArrowheads="1"/>
          </p:cNvSpPr>
          <p:nvPr/>
        </p:nvSpPr>
        <p:spPr bwMode="auto">
          <a:xfrm>
            <a:off x="4643438" y="3908425"/>
            <a:ext cx="649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zh-CN" altLang="zh-CN" sz="1800" b="1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zh-CN" sz="1800" b="1" baseline="-250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76" name="Text Box 73"/>
          <p:cNvSpPr txBox="1">
            <a:spLocks noChangeArrowheads="1"/>
          </p:cNvSpPr>
          <p:nvPr/>
        </p:nvSpPr>
        <p:spPr bwMode="auto">
          <a:xfrm>
            <a:off x="5146675" y="3908425"/>
            <a:ext cx="649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zh-CN" altLang="zh-CN" sz="1800" b="1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zh-CN" sz="1800" b="1" baseline="-250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77" name="Text Box 74"/>
          <p:cNvSpPr txBox="1">
            <a:spLocks noChangeArrowheads="1"/>
          </p:cNvSpPr>
          <p:nvPr/>
        </p:nvSpPr>
        <p:spPr bwMode="auto">
          <a:xfrm>
            <a:off x="5722938" y="3908425"/>
            <a:ext cx="649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zh-CN" altLang="zh-CN" sz="1800" b="1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zh-CN" sz="1800" b="1" baseline="-250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78" name="Text Box 75"/>
          <p:cNvSpPr txBox="1">
            <a:spLocks noChangeArrowheads="1"/>
          </p:cNvSpPr>
          <p:nvPr/>
        </p:nvSpPr>
        <p:spPr bwMode="auto">
          <a:xfrm>
            <a:off x="6154738" y="3908425"/>
            <a:ext cx="649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zh-CN" altLang="zh-CN" sz="1800" b="1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zh-CN" sz="1800" b="1" baseline="-250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79" name="Text Box 76"/>
          <p:cNvSpPr txBox="1">
            <a:spLocks noChangeArrowheads="1"/>
          </p:cNvSpPr>
          <p:nvPr/>
        </p:nvSpPr>
        <p:spPr bwMode="auto">
          <a:xfrm>
            <a:off x="6802438" y="3908425"/>
            <a:ext cx="649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zh-CN" altLang="zh-CN" sz="1800" b="1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zh-CN" sz="1800" b="1" baseline="-250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80" name="Text Box 77"/>
          <p:cNvSpPr txBox="1">
            <a:spLocks noChangeArrowheads="1"/>
          </p:cNvSpPr>
          <p:nvPr/>
        </p:nvSpPr>
        <p:spPr bwMode="auto">
          <a:xfrm>
            <a:off x="7378700" y="3908425"/>
            <a:ext cx="649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zh-CN" altLang="zh-CN" sz="1800" b="1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zh-CN" sz="1800" b="1" baseline="-250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</a:p>
        </p:txBody>
      </p:sp>
      <p:pic>
        <p:nvPicPr>
          <p:cNvPr id="99372" name="Picture 79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34" t="60745" r="31693" b="12877"/>
          <a:stretch>
            <a:fillRect/>
          </a:stretch>
        </p:blipFill>
        <p:spPr bwMode="auto">
          <a:xfrm>
            <a:off x="2555875" y="4365625"/>
            <a:ext cx="5041900" cy="243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xit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0" fill="hold">
                                          <p:stCondLst>
                                            <p:cond delay="49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0" fill="hold">
                                          <p:stCondLst>
                                            <p:cond delay="49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0" fill="hold">
                                          <p:stCondLst>
                                            <p:cond delay="494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5" presetClass="exit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0" fill="hold">
                                          <p:stCondLst>
                                            <p:cond delay="494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0" fill="hold">
                                          <p:stCondLst>
                                            <p:cond delay="494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4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0" fill="hold">
                                          <p:stCondLst>
                                            <p:cond delay="494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8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0" fill="hold">
                                          <p:stCondLst>
                                            <p:cond delay="49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3" presetClass="exit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0" fill="hold">
                                          <p:stCondLst>
                                            <p:cond delay="494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1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5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0" fill="hold">
                                          <p:stCondLst>
                                            <p:cond delay="494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5" presetClass="exit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0" fill="hold">
                                          <p:stCondLst>
                                            <p:cond delay="49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4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0" fill="hold">
                                          <p:stCondLst>
                                            <p:cond delay="494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5" presetClass="exit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7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0" fill="hold">
                                          <p:stCondLst>
                                            <p:cond delay="49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7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7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0" fill="hold">
                                          <p:stCondLst>
                                            <p:cond delay="49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5" presetClass="exit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8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0" fill="hold">
                                          <p:stCondLst>
                                            <p:cond delay="494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0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9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0" fill="hold">
                                          <p:stCondLst>
                                            <p:cond delay="494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4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9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0" fill="hold">
                                          <p:stCondLst>
                                            <p:cond delay="494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3" presetID="5" presetClass="exit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0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0" fill="hold">
                                          <p:stCondLst>
                                            <p:cond delay="494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7" presetID="5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0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0" fill="hold">
                                          <p:stCondLst>
                                            <p:cond delay="49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6" presetID="5" presetClass="exit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0" fill="hold">
                                          <p:stCondLst>
                                            <p:cond delay="49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0" presetID="5" presetClass="exit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0" fill="hold">
                                          <p:stCondLst>
                                            <p:cond delay="49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9" presetID="5" presetClass="exit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3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0" fill="hold">
                                          <p:stCondLst>
                                            <p:cond delay="494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3" presetID="5" presetClass="exit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0" fill="hold">
                                          <p:stCondLst>
                                            <p:cond delay="49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 autoUpdateAnimBg="0"/>
      <p:bldP spid="8" grpId="0" animBg="1" autoUpdateAnimBg="0"/>
      <p:bldP spid="9" grpId="0" animBg="1" autoUpdateAnimBg="0"/>
      <p:bldP spid="11" grpId="0" animBg="1" autoUpdateAnimBg="0"/>
      <p:bldP spid="17" grpId="0" animBg="1"/>
      <p:bldP spid="18" grpId="0" animBg="1"/>
      <p:bldP spid="66" grpId="0" animBg="1" autoUpdateAnimBg="0"/>
      <p:bldP spid="67" grpId="0" animBg="1" autoUpdateAnimBg="0"/>
      <p:bldP spid="68" grpId="0" animBg="1" autoUpdateAnimBg="0"/>
      <p:bldP spid="69" grpId="0" animBg="1" autoUpdateAnimBg="0"/>
      <p:bldP spid="70" grpId="0" animBg="1" autoUpdateAnimBg="0"/>
      <p:bldP spid="72" grpId="0" autoUpdateAnimBg="0"/>
      <p:bldP spid="73" grpId="0" autoUpdateAnimBg="0"/>
      <p:bldP spid="74" grpId="0" autoUpdateAnimBg="0"/>
      <p:bldP spid="75" grpId="0" autoUpdateAnimBg="0"/>
      <p:bldP spid="76" grpId="0" autoUpdateAnimBg="0"/>
      <p:bldP spid="77" grpId="0" autoUpdateAnimBg="0"/>
      <p:bldP spid="78" grpId="0" autoUpdateAnimBg="0"/>
      <p:bldP spid="79" grpId="0" autoUpdateAnimBg="0"/>
      <p:bldP spid="80" grpId="0" autoUpdateAnimBg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31640" y="2615406"/>
            <a:ext cx="6624736" cy="10795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练习 </a:t>
            </a:r>
            <a:r>
              <a:rPr lang="en-US" altLang="zh-CN" dirty="0"/>
              <a:t>6-8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712186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FC9BE59-6BE6-4719-943D-2F0BF22505B9}" type="slidenum">
              <a:rPr lang="zh-CN" altLang="en-US" smtClean="0"/>
              <a:pPr>
                <a:defRPr/>
              </a:pPr>
              <a:t>87</a:t>
            </a:fld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827584" y="1000760"/>
            <a:ext cx="7315200" cy="921792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给出下面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AOE-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网的一个拓扑排序</a:t>
            </a:r>
          </a:p>
        </p:txBody>
      </p:sp>
      <p:sp>
        <p:nvSpPr>
          <p:cNvPr id="7" name="圆角矩形 6"/>
          <p:cNvSpPr/>
          <p:nvPr>
            <p:custDataLst>
              <p:tags r:id="rId3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1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3" name="矩形 12"/>
          <p:cNvSpPr/>
          <p:nvPr>
            <p:custDataLst>
              <p:tags r:id="rId4"/>
            </p:custDataLst>
          </p:nvPr>
        </p:nvSpPr>
        <p:spPr bwMode="auto">
          <a:xfrm>
            <a:off x="0" y="5849303"/>
            <a:ext cx="9144000" cy="365760"/>
          </a:xfrm>
          <a:prstGeom prst="rect">
            <a:avLst/>
          </a:prstGeom>
          <a:solidFill>
            <a:srgbClr val="FBFAE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eaLnBrk="1" hangingPunct="1"/>
            <a:r>
              <a:rPr kumimoji="0" lang="zh-CN" altLang="en-US" sz="1200" b="0" i="1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kumimoji="0" lang="en-US" altLang="zh-CN" sz="1200" b="0" i="1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kumimoji="0" lang="zh-CN" altLang="en-US" sz="1200" b="0" i="1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4" name="组合 40"/>
          <p:cNvGrpSpPr>
            <a:grpSpLocks/>
          </p:cNvGrpSpPr>
          <p:nvPr/>
        </p:nvGrpSpPr>
        <p:grpSpPr bwMode="auto">
          <a:xfrm>
            <a:off x="1780273" y="2337664"/>
            <a:ext cx="5903912" cy="2160587"/>
            <a:chOff x="1115616" y="2564904"/>
            <a:chExt cx="5904656" cy="2160240"/>
          </a:xfrm>
        </p:grpSpPr>
        <p:grpSp>
          <p:nvGrpSpPr>
            <p:cNvPr id="15" name="组合 6"/>
            <p:cNvGrpSpPr>
              <a:grpSpLocks/>
            </p:cNvGrpSpPr>
            <p:nvPr/>
          </p:nvGrpSpPr>
          <p:grpSpPr bwMode="auto">
            <a:xfrm>
              <a:off x="1115616" y="3429000"/>
              <a:ext cx="576064" cy="576064"/>
              <a:chOff x="1259632" y="3140968"/>
              <a:chExt cx="576064" cy="576064"/>
            </a:xfrm>
          </p:grpSpPr>
          <p:sp>
            <p:nvSpPr>
              <p:cNvPr id="39" name="椭圆 4"/>
              <p:cNvSpPr>
                <a:spLocks noChangeArrowheads="1"/>
              </p:cNvSpPr>
              <p:nvPr/>
            </p:nvSpPr>
            <p:spPr bwMode="auto">
              <a:xfrm>
                <a:off x="1259632" y="3140968"/>
                <a:ext cx="576064" cy="576064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i="1"/>
              </a:p>
            </p:txBody>
          </p:sp>
          <p:sp>
            <p:nvSpPr>
              <p:cNvPr id="40" name="文本框 5"/>
              <p:cNvSpPr txBox="1">
                <a:spLocks noChangeArrowheads="1"/>
              </p:cNvSpPr>
              <p:nvPr/>
            </p:nvSpPr>
            <p:spPr bwMode="auto">
              <a:xfrm>
                <a:off x="1367644" y="3244334"/>
                <a:ext cx="36004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>
                    <a:ea typeface="宋体" panose="02010600030101010101" pitchFamily="2" charset="-122"/>
                  </a:rPr>
                  <a:t>A</a:t>
                </a: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6" name="组合 7"/>
            <p:cNvGrpSpPr>
              <a:grpSpLocks/>
            </p:cNvGrpSpPr>
            <p:nvPr/>
          </p:nvGrpSpPr>
          <p:grpSpPr bwMode="auto">
            <a:xfrm>
              <a:off x="2339752" y="2564904"/>
              <a:ext cx="576064" cy="576064"/>
              <a:chOff x="1259632" y="3140968"/>
              <a:chExt cx="576064" cy="576064"/>
            </a:xfrm>
          </p:grpSpPr>
          <p:sp>
            <p:nvSpPr>
              <p:cNvPr id="37" name="椭圆 8"/>
              <p:cNvSpPr>
                <a:spLocks noChangeArrowheads="1"/>
              </p:cNvSpPr>
              <p:nvPr/>
            </p:nvSpPr>
            <p:spPr bwMode="auto">
              <a:xfrm>
                <a:off x="1259632" y="3140968"/>
                <a:ext cx="576064" cy="576064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i="1"/>
              </a:p>
            </p:txBody>
          </p:sp>
          <p:sp>
            <p:nvSpPr>
              <p:cNvPr id="38" name="文本框 9"/>
              <p:cNvSpPr txBox="1">
                <a:spLocks noChangeArrowheads="1"/>
              </p:cNvSpPr>
              <p:nvPr/>
            </p:nvSpPr>
            <p:spPr bwMode="auto">
              <a:xfrm>
                <a:off x="1367644" y="3244334"/>
                <a:ext cx="36004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>
                    <a:ea typeface="宋体" panose="02010600030101010101" pitchFamily="2" charset="-122"/>
                  </a:rPr>
                  <a:t>B</a:t>
                </a: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7" name="组合 10"/>
            <p:cNvGrpSpPr>
              <a:grpSpLocks/>
            </p:cNvGrpSpPr>
            <p:nvPr/>
          </p:nvGrpSpPr>
          <p:grpSpPr bwMode="auto">
            <a:xfrm>
              <a:off x="2339752" y="4149080"/>
              <a:ext cx="576064" cy="576064"/>
              <a:chOff x="1259632" y="3140968"/>
              <a:chExt cx="576064" cy="576064"/>
            </a:xfrm>
          </p:grpSpPr>
          <p:sp>
            <p:nvSpPr>
              <p:cNvPr id="35" name="椭圆 11"/>
              <p:cNvSpPr>
                <a:spLocks noChangeArrowheads="1"/>
              </p:cNvSpPr>
              <p:nvPr/>
            </p:nvSpPr>
            <p:spPr bwMode="auto">
              <a:xfrm>
                <a:off x="1259632" y="3140968"/>
                <a:ext cx="576064" cy="576064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i="1"/>
              </a:p>
            </p:txBody>
          </p:sp>
          <p:sp>
            <p:nvSpPr>
              <p:cNvPr id="36" name="文本框 12"/>
              <p:cNvSpPr txBox="1">
                <a:spLocks noChangeArrowheads="1"/>
              </p:cNvSpPr>
              <p:nvPr/>
            </p:nvSpPr>
            <p:spPr bwMode="auto">
              <a:xfrm>
                <a:off x="1367644" y="3244334"/>
                <a:ext cx="36004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>
                    <a:ea typeface="宋体" panose="02010600030101010101" pitchFamily="2" charset="-122"/>
                  </a:rPr>
                  <a:t>D</a:t>
                </a: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8" name="组合 13"/>
            <p:cNvGrpSpPr>
              <a:grpSpLocks/>
            </p:cNvGrpSpPr>
            <p:nvPr/>
          </p:nvGrpSpPr>
          <p:grpSpPr bwMode="auto">
            <a:xfrm>
              <a:off x="4535587" y="2564904"/>
              <a:ext cx="576064" cy="576064"/>
              <a:chOff x="1259632" y="3140968"/>
              <a:chExt cx="576064" cy="576064"/>
            </a:xfrm>
          </p:grpSpPr>
          <p:sp>
            <p:nvSpPr>
              <p:cNvPr id="33" name="椭圆 14"/>
              <p:cNvSpPr>
                <a:spLocks noChangeArrowheads="1"/>
              </p:cNvSpPr>
              <p:nvPr/>
            </p:nvSpPr>
            <p:spPr bwMode="auto">
              <a:xfrm>
                <a:off x="1259632" y="3140968"/>
                <a:ext cx="576064" cy="576064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i="1"/>
              </a:p>
            </p:txBody>
          </p:sp>
          <p:sp>
            <p:nvSpPr>
              <p:cNvPr id="34" name="文本框 15"/>
              <p:cNvSpPr txBox="1">
                <a:spLocks noChangeArrowheads="1"/>
              </p:cNvSpPr>
              <p:nvPr/>
            </p:nvSpPr>
            <p:spPr bwMode="auto">
              <a:xfrm>
                <a:off x="1367644" y="3244334"/>
                <a:ext cx="36004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>
                    <a:ea typeface="宋体" panose="02010600030101010101" pitchFamily="2" charset="-122"/>
                  </a:rPr>
                  <a:t>C</a:t>
                </a: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9" name="组合 16"/>
            <p:cNvGrpSpPr>
              <a:grpSpLocks/>
            </p:cNvGrpSpPr>
            <p:nvPr/>
          </p:nvGrpSpPr>
          <p:grpSpPr bwMode="auto">
            <a:xfrm>
              <a:off x="4535587" y="4149080"/>
              <a:ext cx="576064" cy="576064"/>
              <a:chOff x="1259632" y="3140968"/>
              <a:chExt cx="576064" cy="576064"/>
            </a:xfrm>
          </p:grpSpPr>
          <p:sp>
            <p:nvSpPr>
              <p:cNvPr id="31" name="椭圆 17"/>
              <p:cNvSpPr>
                <a:spLocks noChangeArrowheads="1"/>
              </p:cNvSpPr>
              <p:nvPr/>
            </p:nvSpPr>
            <p:spPr bwMode="auto">
              <a:xfrm>
                <a:off x="1259632" y="3140968"/>
                <a:ext cx="576064" cy="576064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i="1"/>
              </a:p>
            </p:txBody>
          </p:sp>
          <p:sp>
            <p:nvSpPr>
              <p:cNvPr id="32" name="文本框 18"/>
              <p:cNvSpPr txBox="1">
                <a:spLocks noChangeArrowheads="1"/>
              </p:cNvSpPr>
              <p:nvPr/>
            </p:nvSpPr>
            <p:spPr bwMode="auto">
              <a:xfrm>
                <a:off x="1367644" y="3244334"/>
                <a:ext cx="36004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>
                    <a:ea typeface="宋体" panose="02010600030101010101" pitchFamily="2" charset="-122"/>
                  </a:rPr>
                  <a:t>E</a:t>
                </a: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0" name="组合 19"/>
            <p:cNvGrpSpPr>
              <a:grpSpLocks/>
            </p:cNvGrpSpPr>
            <p:nvPr/>
          </p:nvGrpSpPr>
          <p:grpSpPr bwMode="auto">
            <a:xfrm>
              <a:off x="6444208" y="3429000"/>
              <a:ext cx="576064" cy="576064"/>
              <a:chOff x="1259632" y="3140968"/>
              <a:chExt cx="576064" cy="576064"/>
            </a:xfrm>
          </p:grpSpPr>
          <p:sp>
            <p:nvSpPr>
              <p:cNvPr id="29" name="椭圆 20"/>
              <p:cNvSpPr>
                <a:spLocks noChangeArrowheads="1"/>
              </p:cNvSpPr>
              <p:nvPr/>
            </p:nvSpPr>
            <p:spPr bwMode="auto">
              <a:xfrm>
                <a:off x="1259632" y="3140968"/>
                <a:ext cx="576064" cy="576064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i="1"/>
              </a:p>
            </p:txBody>
          </p:sp>
          <p:sp>
            <p:nvSpPr>
              <p:cNvPr id="30" name="文本框 21"/>
              <p:cNvSpPr txBox="1">
                <a:spLocks noChangeArrowheads="1"/>
              </p:cNvSpPr>
              <p:nvPr/>
            </p:nvSpPr>
            <p:spPr bwMode="auto">
              <a:xfrm>
                <a:off x="1367644" y="3244334"/>
                <a:ext cx="36004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华文细黑" panose="0201060004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>
                    <a:ea typeface="宋体" panose="02010600030101010101" pitchFamily="2" charset="-122"/>
                  </a:rPr>
                  <a:t>F</a:t>
                </a: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21" name="直接箭头连接符 23"/>
            <p:cNvCxnSpPr>
              <a:cxnSpLocks noChangeShapeType="1"/>
              <a:stCxn id="39" idx="7"/>
              <a:endCxn id="37" idx="3"/>
            </p:cNvCxnSpPr>
            <p:nvPr/>
          </p:nvCxnSpPr>
          <p:spPr bwMode="auto">
            <a:xfrm flipV="1">
              <a:off x="1607317" y="3056605"/>
              <a:ext cx="816798" cy="45675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直接箭头连接符 25"/>
            <p:cNvCxnSpPr>
              <a:cxnSpLocks noChangeShapeType="1"/>
              <a:stCxn id="39" idx="5"/>
              <a:endCxn id="35" idx="1"/>
            </p:cNvCxnSpPr>
            <p:nvPr/>
          </p:nvCxnSpPr>
          <p:spPr bwMode="auto">
            <a:xfrm>
              <a:off x="1607317" y="3920701"/>
              <a:ext cx="816798" cy="312742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" name="直接箭头连接符 27"/>
            <p:cNvCxnSpPr>
              <a:cxnSpLocks noChangeShapeType="1"/>
              <a:stCxn id="35" idx="0"/>
              <a:endCxn id="37" idx="4"/>
            </p:cNvCxnSpPr>
            <p:nvPr/>
          </p:nvCxnSpPr>
          <p:spPr bwMode="auto">
            <a:xfrm flipV="1">
              <a:off x="2627784" y="3140968"/>
              <a:ext cx="0" cy="1008112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" name="直接箭头连接符 29"/>
            <p:cNvCxnSpPr>
              <a:cxnSpLocks noChangeShapeType="1"/>
              <a:stCxn id="35" idx="6"/>
              <a:endCxn id="31" idx="2"/>
            </p:cNvCxnSpPr>
            <p:nvPr/>
          </p:nvCxnSpPr>
          <p:spPr bwMode="auto">
            <a:xfrm>
              <a:off x="2915816" y="4437112"/>
              <a:ext cx="1619771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" name="直接箭头连接符 31"/>
            <p:cNvCxnSpPr>
              <a:cxnSpLocks noChangeShapeType="1"/>
              <a:stCxn id="37" idx="6"/>
              <a:endCxn id="33" idx="2"/>
            </p:cNvCxnSpPr>
            <p:nvPr/>
          </p:nvCxnSpPr>
          <p:spPr bwMode="auto">
            <a:xfrm>
              <a:off x="2915816" y="2852936"/>
              <a:ext cx="1619771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" name="直接箭头连接符 33"/>
            <p:cNvCxnSpPr>
              <a:cxnSpLocks noChangeShapeType="1"/>
              <a:stCxn id="37" idx="5"/>
            </p:cNvCxnSpPr>
            <p:nvPr/>
          </p:nvCxnSpPr>
          <p:spPr bwMode="auto">
            <a:xfrm>
              <a:off x="2831453" y="3056605"/>
              <a:ext cx="1812146" cy="1195841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" name="直接箭头连接符 37"/>
            <p:cNvCxnSpPr>
              <a:cxnSpLocks noChangeShapeType="1"/>
              <a:stCxn id="33" idx="6"/>
              <a:endCxn id="29" idx="1"/>
            </p:cNvCxnSpPr>
            <p:nvPr/>
          </p:nvCxnSpPr>
          <p:spPr bwMode="auto">
            <a:xfrm>
              <a:off x="5111651" y="2852936"/>
              <a:ext cx="1416920" cy="660427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" name="直接箭头连接符 39"/>
            <p:cNvCxnSpPr>
              <a:cxnSpLocks noChangeShapeType="1"/>
              <a:stCxn id="31" idx="6"/>
              <a:endCxn id="29" idx="3"/>
            </p:cNvCxnSpPr>
            <p:nvPr/>
          </p:nvCxnSpPr>
          <p:spPr bwMode="auto">
            <a:xfrm flipV="1">
              <a:off x="5111651" y="3920701"/>
              <a:ext cx="1416920" cy="516411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2" name="组合 11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8" name="TitleBackground"/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华文细黑" pitchFamily="2" charset="-122"/>
              </a:endParaRPr>
            </a:p>
          </p:txBody>
        </p:sp>
        <p:sp>
          <p:nvSpPr>
            <p:cNvPr id="9" name="ColorBlock"/>
            <p:cNvSpPr/>
            <p:nvPr>
              <p:custDataLst>
                <p:tags r:id="rId8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华文细黑" pitchFamily="2" charset="-122"/>
              </a:endParaRPr>
            </a:p>
          </p:txBody>
        </p:sp>
        <p:sp>
          <p:nvSpPr>
            <p:cNvPr id="10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1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2673400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AOE-</a:t>
            </a:r>
            <a:r>
              <a:rPr lang="zh-CN" altLang="en-US"/>
              <a:t>网</a:t>
            </a:r>
          </a:p>
        </p:txBody>
      </p:sp>
      <p:sp>
        <p:nvSpPr>
          <p:cNvPr id="10137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AOE-</a:t>
            </a:r>
            <a:r>
              <a:rPr lang="zh-CN" altLang="en-US"/>
              <a:t>网（</a:t>
            </a:r>
            <a:r>
              <a:rPr lang="en-US" altLang="zh-CN"/>
              <a:t>Activity On Edge</a:t>
            </a:r>
            <a:r>
              <a:rPr lang="zh-CN" altLang="en-US"/>
              <a:t>）是一个带权的有向无环图，通常可用来估算工程的完成时间</a:t>
            </a:r>
            <a:endParaRPr lang="en-US" altLang="zh-CN"/>
          </a:p>
          <a:p>
            <a:pPr lvl="1"/>
            <a:r>
              <a:rPr lang="zh-CN" altLang="en-US"/>
              <a:t>弧表示活动</a:t>
            </a:r>
            <a:endParaRPr lang="en-US" altLang="zh-CN"/>
          </a:p>
          <a:p>
            <a:pPr lvl="1"/>
            <a:r>
              <a:rPr lang="zh-CN" altLang="en-US"/>
              <a:t>顶点表示事件</a:t>
            </a:r>
            <a:endParaRPr lang="en-US" altLang="zh-CN"/>
          </a:p>
          <a:p>
            <a:pPr lvl="2"/>
            <a:r>
              <a:rPr lang="zh-CN" altLang="en-US"/>
              <a:t>每个事件表示在它</a:t>
            </a:r>
            <a:endParaRPr lang="en-US" altLang="zh-CN"/>
          </a:p>
          <a:p>
            <a:pPr lvl="2">
              <a:buFont typeface="Wingdings" panose="05000000000000000000" pitchFamily="2" charset="2"/>
              <a:buNone/>
            </a:pPr>
            <a:r>
              <a:rPr lang="en-US" altLang="zh-CN"/>
              <a:t>	</a:t>
            </a:r>
            <a:r>
              <a:rPr lang="zh-CN" altLang="en-US"/>
              <a:t>之前的活动已经完成，</a:t>
            </a:r>
            <a:endParaRPr lang="en-US" altLang="zh-CN"/>
          </a:p>
          <a:p>
            <a:pPr lvl="2">
              <a:buFont typeface="Wingdings" panose="05000000000000000000" pitchFamily="2" charset="2"/>
              <a:buNone/>
            </a:pPr>
            <a:r>
              <a:rPr lang="en-US" altLang="zh-CN"/>
              <a:t>	</a:t>
            </a:r>
            <a:r>
              <a:rPr lang="zh-CN" altLang="en-US"/>
              <a:t>在它之后的事件可以开始</a:t>
            </a:r>
            <a:endParaRPr lang="en-US" altLang="zh-CN"/>
          </a:p>
          <a:p>
            <a:pPr lvl="1"/>
            <a:r>
              <a:rPr lang="zh-CN" altLang="en-US"/>
              <a:t>权表示活动持续时间</a:t>
            </a:r>
            <a:endParaRPr lang="en-US" altLang="zh-CN"/>
          </a:p>
          <a:p>
            <a:endParaRPr lang="zh-CN" altLang="en-US"/>
          </a:p>
        </p:txBody>
      </p:sp>
      <p:sp>
        <p:nvSpPr>
          <p:cNvPr id="101380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F2BBD9C-F34D-4054-A6D7-EC3E9C1629B9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88</a:t>
            </a:fld>
            <a:endParaRPr lang="zh-CN" altLang="en-US" sz="1000"/>
          </a:p>
        </p:txBody>
      </p:sp>
      <p:grpSp>
        <p:nvGrpSpPr>
          <p:cNvPr id="101381" name="组合 31"/>
          <p:cNvGrpSpPr>
            <a:grpSpLocks/>
          </p:cNvGrpSpPr>
          <p:nvPr/>
        </p:nvGrpSpPr>
        <p:grpSpPr bwMode="auto">
          <a:xfrm>
            <a:off x="5114925" y="2908300"/>
            <a:ext cx="3505200" cy="2133600"/>
            <a:chOff x="5115272" y="2908176"/>
            <a:chExt cx="3505200" cy="2133600"/>
          </a:xfrm>
        </p:grpSpPr>
        <p:sp>
          <p:nvSpPr>
            <p:cNvPr id="101382" name="Oval 4"/>
            <p:cNvSpPr>
              <a:spLocks noChangeArrowheads="1"/>
            </p:cNvSpPr>
            <p:nvPr/>
          </p:nvSpPr>
          <p:spPr bwMode="auto">
            <a:xfrm>
              <a:off x="5115272" y="3746376"/>
              <a:ext cx="457200" cy="381000"/>
            </a:xfrm>
            <a:prstGeom prst="ellipse">
              <a:avLst/>
            </a:prstGeom>
            <a:solidFill>
              <a:srgbClr val="FF0000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>
                  <a:ea typeface="宋体" panose="02010600030101010101" pitchFamily="2" charset="-122"/>
                </a:rPr>
                <a:t>V1</a:t>
              </a:r>
              <a:endParaRPr lang="en-US" altLang="zh-CN" sz="1200" u="sng">
                <a:ea typeface="宋体" panose="02010600030101010101" pitchFamily="2" charset="-122"/>
              </a:endParaRPr>
            </a:p>
          </p:txBody>
        </p:sp>
        <p:sp>
          <p:nvSpPr>
            <p:cNvPr id="101383" name="Line 5"/>
            <p:cNvSpPr>
              <a:spLocks noChangeShapeType="1"/>
            </p:cNvSpPr>
            <p:nvPr/>
          </p:nvSpPr>
          <p:spPr bwMode="auto">
            <a:xfrm>
              <a:off x="6410672" y="3136776"/>
              <a:ext cx="990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384" name="Oval 6"/>
            <p:cNvSpPr>
              <a:spLocks noChangeArrowheads="1"/>
            </p:cNvSpPr>
            <p:nvPr/>
          </p:nvSpPr>
          <p:spPr bwMode="auto">
            <a:xfrm>
              <a:off x="5953472" y="3822576"/>
              <a:ext cx="457200" cy="381000"/>
            </a:xfrm>
            <a:prstGeom prst="ellipse">
              <a:avLst/>
            </a:prstGeom>
            <a:solidFill>
              <a:srgbClr val="FF0000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>
                  <a:ea typeface="宋体" panose="02010600030101010101" pitchFamily="2" charset="-122"/>
                </a:rPr>
                <a:t>V3</a:t>
              </a:r>
              <a:endParaRPr lang="en-US" altLang="zh-CN" sz="1200" u="sng">
                <a:ea typeface="宋体" panose="02010600030101010101" pitchFamily="2" charset="-122"/>
              </a:endParaRPr>
            </a:p>
          </p:txBody>
        </p:sp>
        <p:sp>
          <p:nvSpPr>
            <p:cNvPr id="101385" name="Line 7"/>
            <p:cNvSpPr>
              <a:spLocks noChangeShapeType="1"/>
            </p:cNvSpPr>
            <p:nvPr/>
          </p:nvSpPr>
          <p:spPr bwMode="auto">
            <a:xfrm flipH="1">
              <a:off x="6410672" y="4127376"/>
              <a:ext cx="1828800" cy="762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386" name="Oval 8"/>
            <p:cNvSpPr>
              <a:spLocks noChangeArrowheads="1"/>
            </p:cNvSpPr>
            <p:nvPr/>
          </p:nvSpPr>
          <p:spPr bwMode="auto">
            <a:xfrm>
              <a:off x="5953472" y="2984376"/>
              <a:ext cx="457200" cy="381000"/>
            </a:xfrm>
            <a:prstGeom prst="ellipse">
              <a:avLst/>
            </a:prstGeom>
            <a:solidFill>
              <a:srgbClr val="FF0000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>
                  <a:ea typeface="宋体" panose="02010600030101010101" pitchFamily="2" charset="-122"/>
                </a:rPr>
                <a:t>V2</a:t>
              </a:r>
              <a:endParaRPr lang="en-US" altLang="zh-CN" sz="1200" u="sng">
                <a:ea typeface="宋体" panose="02010600030101010101" pitchFamily="2" charset="-122"/>
              </a:endParaRPr>
            </a:p>
          </p:txBody>
        </p:sp>
        <p:sp>
          <p:nvSpPr>
            <p:cNvPr id="101387" name="Line 10"/>
            <p:cNvSpPr>
              <a:spLocks noChangeShapeType="1"/>
            </p:cNvSpPr>
            <p:nvPr/>
          </p:nvSpPr>
          <p:spPr bwMode="auto">
            <a:xfrm>
              <a:off x="5420072" y="4127376"/>
              <a:ext cx="533400" cy="685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388" name="Oval 11"/>
            <p:cNvSpPr>
              <a:spLocks noChangeArrowheads="1"/>
            </p:cNvSpPr>
            <p:nvPr/>
          </p:nvSpPr>
          <p:spPr bwMode="auto">
            <a:xfrm>
              <a:off x="7401272" y="2908176"/>
              <a:ext cx="457200" cy="381000"/>
            </a:xfrm>
            <a:prstGeom prst="ellipse">
              <a:avLst/>
            </a:prstGeom>
            <a:solidFill>
              <a:srgbClr val="FF0000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>
                  <a:ea typeface="宋体" panose="02010600030101010101" pitchFamily="2" charset="-122"/>
                </a:rPr>
                <a:t>V5</a:t>
              </a:r>
              <a:endParaRPr lang="en-US" altLang="zh-CN" sz="1200" u="sng">
                <a:ea typeface="宋体" panose="02010600030101010101" pitchFamily="2" charset="-122"/>
              </a:endParaRPr>
            </a:p>
          </p:txBody>
        </p:sp>
        <p:sp>
          <p:nvSpPr>
            <p:cNvPr id="101389" name="Oval 12"/>
            <p:cNvSpPr>
              <a:spLocks noChangeArrowheads="1"/>
            </p:cNvSpPr>
            <p:nvPr/>
          </p:nvSpPr>
          <p:spPr bwMode="auto">
            <a:xfrm>
              <a:off x="8163272" y="3822576"/>
              <a:ext cx="457200" cy="381000"/>
            </a:xfrm>
            <a:prstGeom prst="ellipse">
              <a:avLst/>
            </a:prstGeom>
            <a:solidFill>
              <a:srgbClr val="FF0000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>
                  <a:ea typeface="宋体" panose="02010600030101010101" pitchFamily="2" charset="-122"/>
                </a:rPr>
                <a:t>V6</a:t>
              </a:r>
              <a:endParaRPr lang="en-US" altLang="zh-CN" sz="1200" u="sng">
                <a:ea typeface="宋体" panose="02010600030101010101" pitchFamily="2" charset="-122"/>
              </a:endParaRPr>
            </a:p>
          </p:txBody>
        </p:sp>
        <p:sp>
          <p:nvSpPr>
            <p:cNvPr id="101390" name="Line 13"/>
            <p:cNvSpPr>
              <a:spLocks noChangeShapeType="1"/>
            </p:cNvSpPr>
            <p:nvPr/>
          </p:nvSpPr>
          <p:spPr bwMode="auto">
            <a:xfrm>
              <a:off x="5572472" y="3974976"/>
              <a:ext cx="381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391" name="Line 14"/>
            <p:cNvSpPr>
              <a:spLocks noChangeShapeType="1"/>
            </p:cNvSpPr>
            <p:nvPr/>
          </p:nvSpPr>
          <p:spPr bwMode="auto">
            <a:xfrm flipH="1">
              <a:off x="6182072" y="3365376"/>
              <a:ext cx="0" cy="533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392" name="Oval 15"/>
            <p:cNvSpPr>
              <a:spLocks noChangeArrowheads="1"/>
            </p:cNvSpPr>
            <p:nvPr/>
          </p:nvSpPr>
          <p:spPr bwMode="auto">
            <a:xfrm>
              <a:off x="5953472" y="4660776"/>
              <a:ext cx="457200" cy="381000"/>
            </a:xfrm>
            <a:prstGeom prst="ellipse">
              <a:avLst/>
            </a:prstGeom>
            <a:solidFill>
              <a:srgbClr val="FF0000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>
                  <a:ea typeface="宋体" panose="02010600030101010101" pitchFamily="2" charset="-122"/>
                </a:rPr>
                <a:t>V4</a:t>
              </a:r>
              <a:endParaRPr lang="en-US" altLang="zh-CN" sz="1200" u="sng">
                <a:ea typeface="宋体" panose="02010600030101010101" pitchFamily="2" charset="-122"/>
              </a:endParaRPr>
            </a:p>
          </p:txBody>
        </p:sp>
        <p:sp>
          <p:nvSpPr>
            <p:cNvPr id="101393" name="Line 16"/>
            <p:cNvSpPr>
              <a:spLocks noChangeShapeType="1"/>
            </p:cNvSpPr>
            <p:nvPr/>
          </p:nvSpPr>
          <p:spPr bwMode="auto">
            <a:xfrm>
              <a:off x="6410672" y="3974976"/>
              <a:ext cx="1752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394" name="Line 17"/>
            <p:cNvSpPr>
              <a:spLocks noChangeShapeType="1"/>
            </p:cNvSpPr>
            <p:nvPr/>
          </p:nvSpPr>
          <p:spPr bwMode="auto">
            <a:xfrm flipV="1">
              <a:off x="5496272" y="3289176"/>
              <a:ext cx="533400" cy="457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395" name="Line 18"/>
            <p:cNvSpPr>
              <a:spLocks noChangeShapeType="1"/>
            </p:cNvSpPr>
            <p:nvPr/>
          </p:nvSpPr>
          <p:spPr bwMode="auto">
            <a:xfrm>
              <a:off x="7706072" y="3289176"/>
              <a:ext cx="533400" cy="5334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396" name="Line 20"/>
            <p:cNvSpPr>
              <a:spLocks noChangeShapeType="1"/>
            </p:cNvSpPr>
            <p:nvPr/>
          </p:nvSpPr>
          <p:spPr bwMode="auto">
            <a:xfrm flipV="1">
              <a:off x="6334472" y="3212976"/>
              <a:ext cx="1143000" cy="1524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397" name="Line 28"/>
            <p:cNvSpPr>
              <a:spLocks noChangeShapeType="1"/>
            </p:cNvSpPr>
            <p:nvPr/>
          </p:nvSpPr>
          <p:spPr bwMode="auto">
            <a:xfrm flipH="1">
              <a:off x="6182072" y="4203576"/>
              <a:ext cx="0" cy="533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398" name="Text Box 30"/>
            <p:cNvSpPr txBox="1">
              <a:spLocks noChangeArrowheads="1"/>
            </p:cNvSpPr>
            <p:nvPr/>
          </p:nvSpPr>
          <p:spPr bwMode="auto">
            <a:xfrm>
              <a:off x="5420072" y="3140968"/>
              <a:ext cx="533400" cy="16619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200"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</a:p>
            <a:p>
              <a:pPr algn="ctr">
                <a:spcBef>
                  <a:spcPct val="50000"/>
                </a:spcBef>
                <a:buClrTx/>
                <a:buFontTx/>
                <a:buNone/>
              </a:pPr>
              <a:endParaRPr lang="en-US" altLang="zh-CN" sz="120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200">
                  <a:latin typeface="宋体" panose="02010600030101010101" pitchFamily="2" charset="-122"/>
                  <a:ea typeface="宋体" panose="02010600030101010101" pitchFamily="2" charset="-122"/>
                </a:rPr>
                <a:t>3</a:t>
              </a:r>
            </a:p>
            <a:p>
              <a:pPr algn="ctr">
                <a:spcBef>
                  <a:spcPct val="50000"/>
                </a:spcBef>
                <a:buClrTx/>
                <a:buFontTx/>
                <a:buNone/>
              </a:pPr>
              <a:endParaRPr lang="en-US" altLang="zh-CN" sz="120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>
                <a:spcBef>
                  <a:spcPct val="50000"/>
                </a:spcBef>
                <a:buClrTx/>
                <a:buFontTx/>
                <a:buNone/>
              </a:pPr>
              <a:endParaRPr lang="en-US" altLang="zh-CN" sz="120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200">
                  <a:latin typeface="宋体" panose="02010600030101010101" pitchFamily="2" charset="-122"/>
                  <a:ea typeface="宋体" panose="02010600030101010101" pitchFamily="2" charset="-122"/>
                </a:rPr>
                <a:t>5</a:t>
              </a:r>
              <a:endParaRPr lang="en-US" altLang="zh-CN" sz="1200">
                <a:latin typeface="Botanical" pitchFamily="2" charset="2"/>
                <a:ea typeface="宋体" panose="02010600030101010101" pitchFamily="2" charset="-122"/>
              </a:endParaRPr>
            </a:p>
          </p:txBody>
        </p:sp>
        <p:sp>
          <p:nvSpPr>
            <p:cNvPr id="101399" name="Text Box 31"/>
            <p:cNvSpPr txBox="1">
              <a:spLocks noChangeArrowheads="1"/>
            </p:cNvSpPr>
            <p:nvPr/>
          </p:nvSpPr>
          <p:spPr bwMode="auto">
            <a:xfrm>
              <a:off x="6012160" y="3429000"/>
              <a:ext cx="533400" cy="11079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200"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</a:p>
            <a:p>
              <a:pPr algn="ctr">
                <a:spcBef>
                  <a:spcPct val="50000"/>
                </a:spcBef>
                <a:buClrTx/>
                <a:buFontTx/>
                <a:buNone/>
              </a:pPr>
              <a:endParaRPr lang="en-US" altLang="zh-CN" sz="120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>
                <a:spcBef>
                  <a:spcPct val="50000"/>
                </a:spcBef>
                <a:buClrTx/>
                <a:buFontTx/>
                <a:buNone/>
              </a:pPr>
              <a:endParaRPr lang="en-US" altLang="zh-CN" sz="120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200"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  <a:endParaRPr lang="en-US" altLang="zh-CN" sz="1200">
                <a:latin typeface="Botanical" pitchFamily="2" charset="2"/>
                <a:ea typeface="宋体" panose="02010600030101010101" pitchFamily="2" charset="-122"/>
              </a:endParaRPr>
            </a:p>
          </p:txBody>
        </p:sp>
        <p:sp>
          <p:nvSpPr>
            <p:cNvPr id="101400" name="Text Box 33"/>
            <p:cNvSpPr txBox="1">
              <a:spLocks noChangeArrowheads="1"/>
            </p:cNvSpPr>
            <p:nvPr/>
          </p:nvSpPr>
          <p:spPr bwMode="auto">
            <a:xfrm>
              <a:off x="7668344" y="3212976"/>
              <a:ext cx="533400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200"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</a:p>
            <a:p>
              <a:pPr algn="ctr">
                <a:spcBef>
                  <a:spcPct val="50000"/>
                </a:spcBef>
                <a:buClrTx/>
                <a:buFontTx/>
                <a:buNone/>
              </a:pPr>
              <a:endParaRPr lang="en-US" altLang="zh-CN" sz="120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200"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endParaRPr lang="en-US" altLang="zh-CN" sz="1200">
                <a:latin typeface="Botanical" pitchFamily="2" charset="2"/>
                <a:ea typeface="宋体" panose="02010600030101010101" pitchFamily="2" charset="-122"/>
              </a:endParaRPr>
            </a:p>
          </p:txBody>
        </p:sp>
        <p:sp>
          <p:nvSpPr>
            <p:cNvPr id="101401" name="Text Box 54"/>
            <p:cNvSpPr txBox="1">
              <a:spLocks noChangeArrowheads="1"/>
            </p:cNvSpPr>
            <p:nvPr/>
          </p:nvSpPr>
          <p:spPr bwMode="auto">
            <a:xfrm>
              <a:off x="6660232" y="2924944"/>
              <a:ext cx="533400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200"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endParaRPr lang="en-US" altLang="zh-CN" sz="1200">
                <a:latin typeface="Botanical" pitchFamily="2" charset="2"/>
                <a:ea typeface="宋体" panose="02010600030101010101" pitchFamily="2" charset="-122"/>
              </a:endParaRPr>
            </a:p>
          </p:txBody>
        </p:sp>
        <p:sp>
          <p:nvSpPr>
            <p:cNvPr id="101402" name="Text Box 56"/>
            <p:cNvSpPr txBox="1">
              <a:spLocks noChangeArrowheads="1"/>
            </p:cNvSpPr>
            <p:nvPr/>
          </p:nvSpPr>
          <p:spPr bwMode="auto">
            <a:xfrm>
              <a:off x="7596336" y="4293096"/>
              <a:ext cx="533400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200"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endParaRPr lang="en-US" altLang="zh-CN" sz="1200">
                <a:latin typeface="Botanical" pitchFamily="2" charset="2"/>
                <a:ea typeface="宋体" panose="02010600030101010101" pitchFamily="2" charset="-122"/>
              </a:endParaRPr>
            </a:p>
          </p:txBody>
        </p:sp>
        <p:sp>
          <p:nvSpPr>
            <p:cNvPr id="101403" name="Text Box 59"/>
            <p:cNvSpPr txBox="1">
              <a:spLocks noChangeArrowheads="1"/>
            </p:cNvSpPr>
            <p:nvPr/>
          </p:nvSpPr>
          <p:spPr bwMode="auto">
            <a:xfrm>
              <a:off x="6804248" y="3429000"/>
              <a:ext cx="533400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200"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  <a:endParaRPr lang="en-US" altLang="zh-CN" sz="1200">
                <a:latin typeface="Botanical" pitchFamily="2" charset="2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关键路径</a:t>
            </a:r>
          </a:p>
        </p:txBody>
      </p:sp>
      <p:sp>
        <p:nvSpPr>
          <p:cNvPr id="9728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只有一个入度为零的点</a:t>
            </a:r>
            <a:r>
              <a:rPr lang="en-US" altLang="zh-CN"/>
              <a:t>--</a:t>
            </a:r>
            <a:r>
              <a:rPr lang="zh-CN" altLang="en-US"/>
              <a:t>源点</a:t>
            </a:r>
            <a:endParaRPr lang="en-US" altLang="zh-CN"/>
          </a:p>
          <a:p>
            <a:r>
              <a:rPr lang="zh-CN" altLang="en-US"/>
              <a:t>只有一个出度为零的点</a:t>
            </a:r>
            <a:r>
              <a:rPr lang="en-US" altLang="zh-CN"/>
              <a:t>--</a:t>
            </a:r>
            <a:r>
              <a:rPr lang="zh-CN" altLang="en-US"/>
              <a:t>汇点</a:t>
            </a:r>
            <a:endParaRPr lang="en-US" altLang="zh-CN"/>
          </a:p>
          <a:p>
            <a:r>
              <a:rPr lang="zh-CN" altLang="en-US"/>
              <a:t>一条路径各弧上的权值之和称为该路径的带权路径长度</a:t>
            </a:r>
            <a:endParaRPr lang="en-US" altLang="zh-CN"/>
          </a:p>
          <a:p>
            <a:r>
              <a:rPr lang="zh-CN" altLang="en-US"/>
              <a:t>要估算整项工程完成的最短时间，就是要找一条从源点到汇点带权路径长度</a:t>
            </a:r>
            <a:r>
              <a:rPr lang="zh-CN" altLang="en-US">
                <a:solidFill>
                  <a:srgbClr val="4C34FE"/>
                </a:solidFill>
              </a:rPr>
              <a:t>最长的路径</a:t>
            </a:r>
            <a:r>
              <a:rPr lang="zh-CN" altLang="en-US"/>
              <a:t>，称为</a:t>
            </a:r>
            <a:r>
              <a:rPr lang="zh-CN" altLang="en-US">
                <a:solidFill>
                  <a:srgbClr val="FF0000"/>
                </a:solidFill>
              </a:rPr>
              <a:t>关键路径</a:t>
            </a:r>
            <a:endParaRPr lang="en-US" altLang="zh-CN">
              <a:solidFill>
                <a:srgbClr val="FF0000"/>
              </a:solidFill>
            </a:endParaRPr>
          </a:p>
          <a:p>
            <a:r>
              <a:rPr lang="zh-CN" altLang="en-US"/>
              <a:t>关键路径上的活动叫做关键活动</a:t>
            </a:r>
            <a:endParaRPr lang="en-US" altLang="zh-CN"/>
          </a:p>
          <a:p>
            <a:pPr lvl="1"/>
            <a:r>
              <a:rPr lang="zh-CN" altLang="en-US"/>
              <a:t>影响工程进度的关键，他们的提前或拖延将使整个工程提前或拖延</a:t>
            </a:r>
          </a:p>
        </p:txBody>
      </p:sp>
      <p:sp>
        <p:nvSpPr>
          <p:cNvPr id="102404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DE2DB88-05DB-499F-8010-8D5A46A86896}" type="slidenum">
              <a:rPr lang="zh-CN" altLang="en-US" sz="1000" smtClean="0"/>
              <a:pPr>
                <a:spcBef>
                  <a:spcPct val="0"/>
                </a:spcBef>
                <a:buClrTx/>
                <a:buFontTx/>
                <a:buNone/>
              </a:pPr>
              <a:t>89</a:t>
            </a:fld>
            <a:endParaRPr lang="zh-CN" altLang="en-US" sz="1000"/>
          </a:p>
        </p:txBody>
      </p:sp>
      <p:grpSp>
        <p:nvGrpSpPr>
          <p:cNvPr id="102405" name="组合 32"/>
          <p:cNvGrpSpPr>
            <a:grpSpLocks/>
          </p:cNvGrpSpPr>
          <p:nvPr/>
        </p:nvGrpSpPr>
        <p:grpSpPr bwMode="auto">
          <a:xfrm>
            <a:off x="6588125" y="908050"/>
            <a:ext cx="2105025" cy="1385888"/>
            <a:chOff x="5115272" y="2791157"/>
            <a:chExt cx="3505200" cy="2250619"/>
          </a:xfrm>
        </p:grpSpPr>
        <p:sp>
          <p:nvSpPr>
            <p:cNvPr id="102406" name="Oval 4"/>
            <p:cNvSpPr>
              <a:spLocks noChangeArrowheads="1"/>
            </p:cNvSpPr>
            <p:nvPr/>
          </p:nvSpPr>
          <p:spPr bwMode="auto">
            <a:xfrm>
              <a:off x="5115272" y="3746376"/>
              <a:ext cx="457200" cy="381000"/>
            </a:xfrm>
            <a:prstGeom prst="ellipse">
              <a:avLst/>
            </a:prstGeom>
            <a:solidFill>
              <a:srgbClr val="FF0000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>
                  <a:ea typeface="宋体" panose="02010600030101010101" pitchFamily="2" charset="-122"/>
                </a:rPr>
                <a:t>V1</a:t>
              </a:r>
              <a:endParaRPr lang="en-US" altLang="zh-CN" sz="1200" u="sng">
                <a:ea typeface="宋体" panose="02010600030101010101" pitchFamily="2" charset="-122"/>
              </a:endParaRPr>
            </a:p>
          </p:txBody>
        </p:sp>
        <p:sp>
          <p:nvSpPr>
            <p:cNvPr id="102407" name="Line 5"/>
            <p:cNvSpPr>
              <a:spLocks noChangeShapeType="1"/>
            </p:cNvSpPr>
            <p:nvPr/>
          </p:nvSpPr>
          <p:spPr bwMode="auto">
            <a:xfrm>
              <a:off x="6410672" y="3136776"/>
              <a:ext cx="990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408" name="Oval 6"/>
            <p:cNvSpPr>
              <a:spLocks noChangeArrowheads="1"/>
            </p:cNvSpPr>
            <p:nvPr/>
          </p:nvSpPr>
          <p:spPr bwMode="auto">
            <a:xfrm>
              <a:off x="5953472" y="3822576"/>
              <a:ext cx="457200" cy="381000"/>
            </a:xfrm>
            <a:prstGeom prst="ellipse">
              <a:avLst/>
            </a:prstGeom>
            <a:solidFill>
              <a:srgbClr val="FF0000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>
                  <a:ea typeface="宋体" panose="02010600030101010101" pitchFamily="2" charset="-122"/>
                </a:rPr>
                <a:t>V3</a:t>
              </a:r>
              <a:endParaRPr lang="en-US" altLang="zh-CN" sz="1200" u="sng">
                <a:ea typeface="宋体" panose="02010600030101010101" pitchFamily="2" charset="-122"/>
              </a:endParaRPr>
            </a:p>
          </p:txBody>
        </p:sp>
        <p:sp>
          <p:nvSpPr>
            <p:cNvPr id="102409" name="Line 7"/>
            <p:cNvSpPr>
              <a:spLocks noChangeShapeType="1"/>
            </p:cNvSpPr>
            <p:nvPr/>
          </p:nvSpPr>
          <p:spPr bwMode="auto">
            <a:xfrm flipH="1">
              <a:off x="6410672" y="4127376"/>
              <a:ext cx="1828800" cy="762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410" name="Oval 8"/>
            <p:cNvSpPr>
              <a:spLocks noChangeArrowheads="1"/>
            </p:cNvSpPr>
            <p:nvPr/>
          </p:nvSpPr>
          <p:spPr bwMode="auto">
            <a:xfrm>
              <a:off x="5953472" y="2984376"/>
              <a:ext cx="457200" cy="381000"/>
            </a:xfrm>
            <a:prstGeom prst="ellipse">
              <a:avLst/>
            </a:prstGeom>
            <a:solidFill>
              <a:srgbClr val="FF0000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>
                  <a:ea typeface="宋体" panose="02010600030101010101" pitchFamily="2" charset="-122"/>
                </a:rPr>
                <a:t>V2</a:t>
              </a:r>
              <a:endParaRPr lang="en-US" altLang="zh-CN" sz="1200" u="sng">
                <a:ea typeface="宋体" panose="02010600030101010101" pitchFamily="2" charset="-122"/>
              </a:endParaRPr>
            </a:p>
          </p:txBody>
        </p:sp>
        <p:sp>
          <p:nvSpPr>
            <p:cNvPr id="102411" name="Line 10"/>
            <p:cNvSpPr>
              <a:spLocks noChangeShapeType="1"/>
            </p:cNvSpPr>
            <p:nvPr/>
          </p:nvSpPr>
          <p:spPr bwMode="auto">
            <a:xfrm>
              <a:off x="5420072" y="4127376"/>
              <a:ext cx="533400" cy="685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412" name="Oval 11"/>
            <p:cNvSpPr>
              <a:spLocks noChangeArrowheads="1"/>
            </p:cNvSpPr>
            <p:nvPr/>
          </p:nvSpPr>
          <p:spPr bwMode="auto">
            <a:xfrm>
              <a:off x="7401272" y="2908176"/>
              <a:ext cx="457200" cy="381000"/>
            </a:xfrm>
            <a:prstGeom prst="ellipse">
              <a:avLst/>
            </a:prstGeom>
            <a:solidFill>
              <a:srgbClr val="FF0000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>
                  <a:ea typeface="宋体" panose="02010600030101010101" pitchFamily="2" charset="-122"/>
                </a:rPr>
                <a:t>V5</a:t>
              </a:r>
              <a:endParaRPr lang="en-US" altLang="zh-CN" sz="1200" u="sng">
                <a:ea typeface="宋体" panose="02010600030101010101" pitchFamily="2" charset="-122"/>
              </a:endParaRPr>
            </a:p>
          </p:txBody>
        </p:sp>
        <p:sp>
          <p:nvSpPr>
            <p:cNvPr id="102413" name="Oval 12"/>
            <p:cNvSpPr>
              <a:spLocks noChangeArrowheads="1"/>
            </p:cNvSpPr>
            <p:nvPr/>
          </p:nvSpPr>
          <p:spPr bwMode="auto">
            <a:xfrm>
              <a:off x="8163272" y="3822576"/>
              <a:ext cx="457200" cy="381000"/>
            </a:xfrm>
            <a:prstGeom prst="ellipse">
              <a:avLst/>
            </a:prstGeom>
            <a:solidFill>
              <a:srgbClr val="FF0000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>
                  <a:ea typeface="宋体" panose="02010600030101010101" pitchFamily="2" charset="-122"/>
                </a:rPr>
                <a:t>V6</a:t>
              </a:r>
              <a:endParaRPr lang="en-US" altLang="zh-CN" sz="1200" u="sng">
                <a:ea typeface="宋体" panose="02010600030101010101" pitchFamily="2" charset="-122"/>
              </a:endParaRPr>
            </a:p>
          </p:txBody>
        </p:sp>
        <p:sp>
          <p:nvSpPr>
            <p:cNvPr id="102414" name="Line 13"/>
            <p:cNvSpPr>
              <a:spLocks noChangeShapeType="1"/>
            </p:cNvSpPr>
            <p:nvPr/>
          </p:nvSpPr>
          <p:spPr bwMode="auto">
            <a:xfrm>
              <a:off x="5572472" y="3974976"/>
              <a:ext cx="381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415" name="Line 14"/>
            <p:cNvSpPr>
              <a:spLocks noChangeShapeType="1"/>
            </p:cNvSpPr>
            <p:nvPr/>
          </p:nvSpPr>
          <p:spPr bwMode="auto">
            <a:xfrm flipH="1">
              <a:off x="6182072" y="3365376"/>
              <a:ext cx="0" cy="533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416" name="Oval 15"/>
            <p:cNvSpPr>
              <a:spLocks noChangeArrowheads="1"/>
            </p:cNvSpPr>
            <p:nvPr/>
          </p:nvSpPr>
          <p:spPr bwMode="auto">
            <a:xfrm>
              <a:off x="5953472" y="4660776"/>
              <a:ext cx="457200" cy="381000"/>
            </a:xfrm>
            <a:prstGeom prst="ellipse">
              <a:avLst/>
            </a:prstGeom>
            <a:solidFill>
              <a:srgbClr val="FF0000"/>
            </a:solidFill>
            <a:ln w="1905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>
                  <a:ea typeface="宋体" panose="02010600030101010101" pitchFamily="2" charset="-122"/>
                </a:rPr>
                <a:t>V4</a:t>
              </a:r>
              <a:endParaRPr lang="en-US" altLang="zh-CN" sz="1200" u="sng">
                <a:ea typeface="宋体" panose="02010600030101010101" pitchFamily="2" charset="-122"/>
              </a:endParaRPr>
            </a:p>
          </p:txBody>
        </p:sp>
        <p:sp>
          <p:nvSpPr>
            <p:cNvPr id="102417" name="Line 16"/>
            <p:cNvSpPr>
              <a:spLocks noChangeShapeType="1"/>
            </p:cNvSpPr>
            <p:nvPr/>
          </p:nvSpPr>
          <p:spPr bwMode="auto">
            <a:xfrm>
              <a:off x="6410672" y="3974976"/>
              <a:ext cx="1752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418" name="Line 17"/>
            <p:cNvSpPr>
              <a:spLocks noChangeShapeType="1"/>
            </p:cNvSpPr>
            <p:nvPr/>
          </p:nvSpPr>
          <p:spPr bwMode="auto">
            <a:xfrm flipV="1">
              <a:off x="5496272" y="3289176"/>
              <a:ext cx="533400" cy="457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419" name="Line 18"/>
            <p:cNvSpPr>
              <a:spLocks noChangeShapeType="1"/>
            </p:cNvSpPr>
            <p:nvPr/>
          </p:nvSpPr>
          <p:spPr bwMode="auto">
            <a:xfrm>
              <a:off x="7706072" y="3289176"/>
              <a:ext cx="533400" cy="5334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420" name="Line 20"/>
            <p:cNvSpPr>
              <a:spLocks noChangeShapeType="1"/>
            </p:cNvSpPr>
            <p:nvPr/>
          </p:nvSpPr>
          <p:spPr bwMode="auto">
            <a:xfrm flipV="1">
              <a:off x="6334472" y="3212976"/>
              <a:ext cx="1143000" cy="1524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421" name="Line 28"/>
            <p:cNvSpPr>
              <a:spLocks noChangeShapeType="1"/>
            </p:cNvSpPr>
            <p:nvPr/>
          </p:nvSpPr>
          <p:spPr bwMode="auto">
            <a:xfrm flipH="1">
              <a:off x="6182072" y="4203576"/>
              <a:ext cx="0" cy="533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422" name="Text Box 30"/>
            <p:cNvSpPr txBox="1">
              <a:spLocks noChangeArrowheads="1"/>
            </p:cNvSpPr>
            <p:nvPr/>
          </p:nvSpPr>
          <p:spPr bwMode="auto">
            <a:xfrm>
              <a:off x="5420072" y="3140970"/>
              <a:ext cx="533400" cy="18005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200"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</a:p>
            <a:p>
              <a:pPr algn="ctr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200">
                  <a:latin typeface="宋体" panose="02010600030101010101" pitchFamily="2" charset="-122"/>
                  <a:ea typeface="宋体" panose="02010600030101010101" pitchFamily="2" charset="-122"/>
                </a:rPr>
                <a:t>3</a:t>
              </a:r>
            </a:p>
            <a:p>
              <a:pPr algn="ctr">
                <a:spcBef>
                  <a:spcPct val="50000"/>
                </a:spcBef>
                <a:buClrTx/>
                <a:buFontTx/>
                <a:buNone/>
              </a:pPr>
              <a:endParaRPr lang="en-US" altLang="zh-CN" sz="120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200">
                  <a:latin typeface="宋体" panose="02010600030101010101" pitchFamily="2" charset="-122"/>
                  <a:ea typeface="宋体" panose="02010600030101010101" pitchFamily="2" charset="-122"/>
                </a:rPr>
                <a:t>5</a:t>
              </a:r>
              <a:endParaRPr lang="en-US" altLang="zh-CN" sz="1200">
                <a:latin typeface="Botanical" pitchFamily="2" charset="2"/>
                <a:ea typeface="宋体" panose="02010600030101010101" pitchFamily="2" charset="-122"/>
              </a:endParaRPr>
            </a:p>
          </p:txBody>
        </p:sp>
        <p:sp>
          <p:nvSpPr>
            <p:cNvPr id="102423" name="Text Box 31"/>
            <p:cNvSpPr txBox="1">
              <a:spLocks noChangeArrowheads="1"/>
            </p:cNvSpPr>
            <p:nvPr/>
          </p:nvSpPr>
          <p:spPr bwMode="auto">
            <a:xfrm>
              <a:off x="6012159" y="3259235"/>
              <a:ext cx="533400" cy="13504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200"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</a:p>
            <a:p>
              <a:pPr algn="ctr">
                <a:spcBef>
                  <a:spcPct val="50000"/>
                </a:spcBef>
                <a:buClrTx/>
                <a:buFontTx/>
                <a:buNone/>
              </a:pPr>
              <a:endParaRPr lang="en-US" altLang="zh-CN" sz="120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200"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  <a:endParaRPr lang="en-US" altLang="zh-CN" sz="1200">
                <a:latin typeface="Botanical" pitchFamily="2" charset="2"/>
                <a:ea typeface="宋体" panose="02010600030101010101" pitchFamily="2" charset="-122"/>
              </a:endParaRPr>
            </a:p>
          </p:txBody>
        </p:sp>
        <p:sp>
          <p:nvSpPr>
            <p:cNvPr id="102424" name="Text Box 33"/>
            <p:cNvSpPr txBox="1">
              <a:spLocks noChangeArrowheads="1"/>
            </p:cNvSpPr>
            <p:nvPr/>
          </p:nvSpPr>
          <p:spPr bwMode="auto">
            <a:xfrm>
              <a:off x="7634191" y="3142215"/>
              <a:ext cx="533400" cy="9002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200"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</a:p>
            <a:p>
              <a:pPr algn="ctr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200"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endParaRPr lang="en-US" altLang="zh-CN" sz="1200">
                <a:latin typeface="Botanical" pitchFamily="2" charset="2"/>
                <a:ea typeface="宋体" panose="02010600030101010101" pitchFamily="2" charset="-122"/>
              </a:endParaRPr>
            </a:p>
          </p:txBody>
        </p:sp>
        <p:sp>
          <p:nvSpPr>
            <p:cNvPr id="102425" name="Text Box 54"/>
            <p:cNvSpPr txBox="1">
              <a:spLocks noChangeArrowheads="1"/>
            </p:cNvSpPr>
            <p:nvPr/>
          </p:nvSpPr>
          <p:spPr bwMode="auto">
            <a:xfrm>
              <a:off x="6674603" y="2791157"/>
              <a:ext cx="533400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200"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endParaRPr lang="en-US" altLang="zh-CN" sz="1200">
                <a:latin typeface="Botanical" pitchFamily="2" charset="2"/>
                <a:ea typeface="宋体" panose="02010600030101010101" pitchFamily="2" charset="-122"/>
              </a:endParaRPr>
            </a:p>
          </p:txBody>
        </p:sp>
        <p:sp>
          <p:nvSpPr>
            <p:cNvPr id="102426" name="Text Box 56"/>
            <p:cNvSpPr txBox="1">
              <a:spLocks noChangeArrowheads="1"/>
            </p:cNvSpPr>
            <p:nvPr/>
          </p:nvSpPr>
          <p:spPr bwMode="auto">
            <a:xfrm>
              <a:off x="7596336" y="4293096"/>
              <a:ext cx="533400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200">
                  <a:latin typeface="宋体" panose="02010600030101010101" pitchFamily="2" charset="-122"/>
                  <a:ea typeface="宋体" panose="02010600030101010101" pitchFamily="2" charset="-122"/>
                </a:rPr>
                <a:t>2</a:t>
              </a:r>
              <a:endParaRPr lang="en-US" altLang="zh-CN" sz="1200">
                <a:latin typeface="Botanical" pitchFamily="2" charset="2"/>
                <a:ea typeface="宋体" panose="02010600030101010101" pitchFamily="2" charset="-122"/>
              </a:endParaRPr>
            </a:p>
          </p:txBody>
        </p:sp>
        <p:sp>
          <p:nvSpPr>
            <p:cNvPr id="102427" name="Text Box 59"/>
            <p:cNvSpPr txBox="1">
              <a:spLocks noChangeArrowheads="1"/>
            </p:cNvSpPr>
            <p:nvPr/>
          </p:nvSpPr>
          <p:spPr bwMode="auto">
            <a:xfrm>
              <a:off x="6804248" y="3429000"/>
              <a:ext cx="533400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华文细黑" panose="0201060004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200"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  <a:endParaRPr lang="en-US" altLang="zh-CN" sz="1200">
                <a:latin typeface="Botanical" pitchFamily="2" charset="2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演示设计">
  <a:themeElements>
    <a:clrScheme name="演示设计 3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5B8CC1"/>
      </a:accent1>
      <a:accent2>
        <a:srgbClr val="2A5682"/>
      </a:accent2>
      <a:accent3>
        <a:srgbClr val="FFFFFF"/>
      </a:accent3>
      <a:accent4>
        <a:srgbClr val="000000"/>
      </a:accent4>
      <a:accent5>
        <a:srgbClr val="B5C5DD"/>
      </a:accent5>
      <a:accent6>
        <a:srgbClr val="254D75"/>
      </a:accent6>
      <a:hlink>
        <a:srgbClr val="002850"/>
      </a:hlink>
      <a:folHlink>
        <a:srgbClr val="2A94FE"/>
      </a:folHlink>
    </a:clrScheme>
    <a:fontScheme name="演示设计">
      <a:majorFont>
        <a:latin typeface="Arial"/>
        <a:ea typeface="华文细黑"/>
        <a:cs typeface=""/>
      </a:majorFont>
      <a:minorFont>
        <a:latin typeface="Arial"/>
        <a:ea typeface="华文细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华文细黑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华文细黑" pitchFamily="2" charset="-122"/>
          </a:defRPr>
        </a:defPPr>
      </a:lstStyle>
    </a:lnDef>
  </a:objectDefaults>
  <a:extraClrSchemeLst>
    <a:extraClrScheme>
      <a:clrScheme name="演示设计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00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E78A2D"/>
        </a:accent6>
        <a:hlink>
          <a:srgbClr val="463900"/>
        </a:hlink>
        <a:folHlink>
          <a:srgbClr val="FFE6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设计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9021"/>
        </a:accent1>
        <a:accent2>
          <a:srgbClr val="DA5800"/>
        </a:accent2>
        <a:accent3>
          <a:srgbClr val="FFFFFF"/>
        </a:accent3>
        <a:accent4>
          <a:srgbClr val="000000"/>
        </a:accent4>
        <a:accent5>
          <a:srgbClr val="FFC6AB"/>
        </a:accent5>
        <a:accent6>
          <a:srgbClr val="C54F00"/>
        </a:accent6>
        <a:hlink>
          <a:srgbClr val="963D00"/>
        </a:hlink>
        <a:folHlink>
          <a:srgbClr val="FFAD5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设计 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5B8CC1"/>
        </a:accent1>
        <a:accent2>
          <a:srgbClr val="2A5682"/>
        </a:accent2>
        <a:accent3>
          <a:srgbClr val="FFFFFF"/>
        </a:accent3>
        <a:accent4>
          <a:srgbClr val="000000"/>
        </a:accent4>
        <a:accent5>
          <a:srgbClr val="B5C5DD"/>
        </a:accent5>
        <a:accent6>
          <a:srgbClr val="254D75"/>
        </a:accent6>
        <a:hlink>
          <a:srgbClr val="002850"/>
        </a:hlink>
        <a:folHlink>
          <a:srgbClr val="2A94F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设计 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B2B2B2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555555"/>
        </a:accent6>
        <a:hlink>
          <a:srgbClr val="1C1C1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设计 5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BF59B8"/>
        </a:accent1>
        <a:accent2>
          <a:srgbClr val="884183"/>
        </a:accent2>
        <a:accent3>
          <a:srgbClr val="FFFFFF"/>
        </a:accent3>
        <a:accent4>
          <a:srgbClr val="000000"/>
        </a:accent4>
        <a:accent5>
          <a:srgbClr val="DCB5D8"/>
        </a:accent5>
        <a:accent6>
          <a:srgbClr val="7B3A76"/>
        </a:accent6>
        <a:hlink>
          <a:srgbClr val="371535"/>
        </a:hlink>
        <a:folHlink>
          <a:srgbClr val="C468B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设计 6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FF0517"/>
        </a:accent1>
        <a:accent2>
          <a:srgbClr val="BC000D"/>
        </a:accent2>
        <a:accent3>
          <a:srgbClr val="FFFFFF"/>
        </a:accent3>
        <a:accent4>
          <a:srgbClr val="000000"/>
        </a:accent4>
        <a:accent5>
          <a:srgbClr val="FFAAAB"/>
        </a:accent5>
        <a:accent6>
          <a:srgbClr val="AA000B"/>
        </a:accent6>
        <a:hlink>
          <a:srgbClr val="3A0004"/>
        </a:hlink>
        <a:folHlink>
          <a:srgbClr val="FF3B3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设计 7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DFE0BE"/>
        </a:accent1>
        <a:accent2>
          <a:srgbClr val="D1D46B"/>
        </a:accent2>
        <a:accent3>
          <a:srgbClr val="FFFFFF"/>
        </a:accent3>
        <a:accent4>
          <a:srgbClr val="000000"/>
        </a:accent4>
        <a:accent5>
          <a:srgbClr val="ECEDDB"/>
        </a:accent5>
        <a:accent6>
          <a:srgbClr val="BDC060"/>
        </a:accent6>
        <a:hlink>
          <a:srgbClr val="3A3B11"/>
        </a:hlink>
        <a:folHlink>
          <a:srgbClr val="DDDF9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设计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6FC01E"/>
        </a:accent1>
        <a:accent2>
          <a:srgbClr val="4F7913"/>
        </a:accent2>
        <a:accent3>
          <a:srgbClr val="FFFFFF"/>
        </a:accent3>
        <a:accent4>
          <a:srgbClr val="000000"/>
        </a:accent4>
        <a:accent5>
          <a:srgbClr val="BBDCAB"/>
        </a:accent5>
        <a:accent6>
          <a:srgbClr val="476D10"/>
        </a:accent6>
        <a:hlink>
          <a:srgbClr val="26420A"/>
        </a:hlink>
        <a:folHlink>
          <a:srgbClr val="7BD52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ppt模板IT</Template>
  <TotalTime>23950</TotalTime>
  <Words>7206</Words>
  <Application>Microsoft Macintosh PowerPoint</Application>
  <PresentationFormat>全屏显示(4:3)</PresentationFormat>
  <Paragraphs>1452</Paragraphs>
  <Slides>89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89</vt:i4>
      </vt:variant>
    </vt:vector>
  </HeadingPairs>
  <TitlesOfParts>
    <vt:vector size="103" baseType="lpstr">
      <vt:lpstr>仿宋_GB2312</vt:lpstr>
      <vt:lpstr>黑体</vt:lpstr>
      <vt:lpstr>华文细黑</vt:lpstr>
      <vt:lpstr>楷体_GB2312</vt:lpstr>
      <vt:lpstr>隶书</vt:lpstr>
      <vt:lpstr>宋体</vt:lpstr>
      <vt:lpstr>Microsoft Yahei</vt:lpstr>
      <vt:lpstr>Botanical</vt:lpstr>
      <vt:lpstr>Arial</vt:lpstr>
      <vt:lpstr>Calibri</vt:lpstr>
      <vt:lpstr>Cambria Math</vt:lpstr>
      <vt:lpstr>Times New Roman</vt:lpstr>
      <vt:lpstr>Wingdings</vt:lpstr>
      <vt:lpstr>演示设计</vt:lpstr>
      <vt:lpstr>Ch6 图</vt:lpstr>
      <vt:lpstr>本章内容</vt:lpstr>
      <vt:lpstr>图的定义</vt:lpstr>
      <vt:lpstr>图的定义</vt:lpstr>
      <vt:lpstr>图的定义</vt:lpstr>
      <vt:lpstr>基本术语</vt:lpstr>
      <vt:lpstr>基本术语</vt:lpstr>
      <vt:lpstr>基本术语</vt:lpstr>
      <vt:lpstr>基本术语</vt:lpstr>
      <vt:lpstr>基本术语</vt:lpstr>
      <vt:lpstr>基本术语</vt:lpstr>
      <vt:lpstr>基本术语</vt:lpstr>
      <vt:lpstr>基本术语</vt:lpstr>
      <vt:lpstr>基本术语</vt:lpstr>
      <vt:lpstr>练习 6-1</vt:lpstr>
      <vt:lpstr>PowerPoint 演示文稿</vt:lpstr>
      <vt:lpstr>PowerPoint 演示文稿</vt:lpstr>
      <vt:lpstr>图的基本操作</vt:lpstr>
      <vt:lpstr>图的存储结构</vt:lpstr>
      <vt:lpstr>邻接矩阵</vt:lpstr>
      <vt:lpstr>图的邻接矩阵</vt:lpstr>
      <vt:lpstr>图的邻接矩阵</vt:lpstr>
      <vt:lpstr>邻接矩阵的类型定义</vt:lpstr>
      <vt:lpstr>邻接矩阵特点</vt:lpstr>
      <vt:lpstr>邻接矩阵表示法的优缺点</vt:lpstr>
      <vt:lpstr>练习 6-2</vt:lpstr>
      <vt:lpstr>PowerPoint 演示文稿</vt:lpstr>
      <vt:lpstr>邻接表</vt:lpstr>
      <vt:lpstr>邻接表</vt:lpstr>
      <vt:lpstr>邻接表</vt:lpstr>
      <vt:lpstr>邻接表</vt:lpstr>
      <vt:lpstr>邻接表举例</vt:lpstr>
      <vt:lpstr>邻接表表示法</vt:lpstr>
      <vt:lpstr>练习 6-3</vt:lpstr>
      <vt:lpstr>PowerPoint 演示文稿</vt:lpstr>
      <vt:lpstr>邻接表表示法的特点</vt:lpstr>
      <vt:lpstr>邻接矩阵与邻接表表示法的关系</vt:lpstr>
      <vt:lpstr>邻接矩阵与邻接表表示法的关系</vt:lpstr>
      <vt:lpstr>创建无向图</vt:lpstr>
      <vt:lpstr>图的遍历</vt:lpstr>
      <vt:lpstr>图的遍历</vt:lpstr>
      <vt:lpstr>DFS</vt:lpstr>
      <vt:lpstr>DFS示例</vt:lpstr>
      <vt:lpstr>练习 6-4</vt:lpstr>
      <vt:lpstr>PowerPoint 演示文稿</vt:lpstr>
      <vt:lpstr>DFS算法实现</vt:lpstr>
      <vt:lpstr>DFS算法实现</vt:lpstr>
      <vt:lpstr>DFS算法实现</vt:lpstr>
      <vt:lpstr>DFS算法实现</vt:lpstr>
      <vt:lpstr>邻接表表示法</vt:lpstr>
      <vt:lpstr>DFS算法效率分析</vt:lpstr>
      <vt:lpstr>BFS</vt:lpstr>
      <vt:lpstr>BFS示例</vt:lpstr>
      <vt:lpstr>练习 6-5</vt:lpstr>
      <vt:lpstr>PowerPoint 演示文稿</vt:lpstr>
      <vt:lpstr>BFS算法实现</vt:lpstr>
      <vt:lpstr>BFS实现</vt:lpstr>
      <vt:lpstr>生成树</vt:lpstr>
      <vt:lpstr>最小生成树</vt:lpstr>
      <vt:lpstr>最小生成树</vt:lpstr>
      <vt:lpstr>最小生成树</vt:lpstr>
      <vt:lpstr>普里姆算法(Prim)</vt:lpstr>
      <vt:lpstr>普里姆算法(Prim)</vt:lpstr>
      <vt:lpstr>克鲁斯卡尔算法(Kruskal)</vt:lpstr>
      <vt:lpstr>克鲁斯卡尔算法(Kruskal)</vt:lpstr>
      <vt:lpstr>练习 6-6</vt:lpstr>
      <vt:lpstr>练习：克鲁斯卡尔算法</vt:lpstr>
      <vt:lpstr>最短路径</vt:lpstr>
      <vt:lpstr>最短路径</vt:lpstr>
      <vt:lpstr>迪杰斯特拉(Dijkstra)算法</vt:lpstr>
      <vt:lpstr>迪杰斯特拉(Dijkstra)算法</vt:lpstr>
      <vt:lpstr>迪杰斯特拉(Dijkstra)算法</vt:lpstr>
      <vt:lpstr>迪杰斯特拉(Dijkstra)算法</vt:lpstr>
      <vt:lpstr>迪杰斯特拉(Dijkstra)算法</vt:lpstr>
      <vt:lpstr>迪杰斯特拉(Dijkstra)算法</vt:lpstr>
      <vt:lpstr>迪杰斯特拉(Dijkstra)算法</vt:lpstr>
      <vt:lpstr>练习 6-7</vt:lpstr>
      <vt:lpstr>PowerPoint 演示文稿</vt:lpstr>
      <vt:lpstr>有向无环图及AOV-网</vt:lpstr>
      <vt:lpstr>选课问题</vt:lpstr>
      <vt:lpstr>选课问题</vt:lpstr>
      <vt:lpstr>拓扑排序</vt:lpstr>
      <vt:lpstr>拓扑排序举例</vt:lpstr>
      <vt:lpstr>拓扑排序算法</vt:lpstr>
      <vt:lpstr>拓扑排序算法示例</vt:lpstr>
      <vt:lpstr>练习 6-8</vt:lpstr>
      <vt:lpstr>PowerPoint 演示文稿</vt:lpstr>
      <vt:lpstr>AOE-网</vt:lpstr>
      <vt:lpstr>关键路径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软件测试自动化</dc:title>
  <dc:creator>acer</dc:creator>
  <cp:lastModifiedBy>Liu Xinyi</cp:lastModifiedBy>
  <cp:revision>1209</cp:revision>
  <dcterms:created xsi:type="dcterms:W3CDTF">2012-09-10T06:31:36Z</dcterms:created>
  <dcterms:modified xsi:type="dcterms:W3CDTF">2020-05-26T13:01:40Z</dcterms:modified>
</cp:coreProperties>
</file>